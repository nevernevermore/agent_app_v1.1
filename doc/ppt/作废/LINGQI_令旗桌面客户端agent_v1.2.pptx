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78" r:id="rId14"/>
    <p:sldId id="279" r:id="rId15"/>
    <p:sldId id="280" r:id="rId16"/>
    <p:sldId id="281" r:id="rId17"/>
    <p:sldId id="282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2000" cy="6858000"/>
  <p:notesSz cx="12192000" cy="6858000"/>
  <p:embeddedFontLst>
    <p:embeddedFont>
      <p:font typeface="微软雅黑" panose="020B0503020204020204" charset="-122"/>
      <p:regular r:id="rId33"/>
      <p:bold r:id="rId3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4" Type="http://schemas.openxmlformats.org/officeDocument/2006/relationships/font" Target="fonts/font2.fntdata"/><Relationship Id="rId33" Type="http://schemas.openxmlformats.org/officeDocument/2006/relationships/font" Target="fonts/font1.fntdata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1" Type="http://schemas.openxmlformats.org/officeDocument/2006/relationships/slideLayout" Target="../slideLayouts/slideLayout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0" Type="http://schemas.openxmlformats.org/officeDocument/2006/relationships/slideLayout" Target="../slideLayouts/slideLayout1.xml"/><Relationship Id="rId1" Type="http://schemas.openxmlformats.org/officeDocument/2006/relationships/tags" Target="../tags/tag2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yline"/>
          <p:cNvPicPr/>
          <p:nvPr/>
        </p:nvPicPr>
        <p:blipFill>
          <a:blip r:embed="rId1"/>
          <a:stretch>
            <a:fillRect/>
          </a:stretch>
        </p:blipFill>
        <p:spPr>
          <a:xfrm>
            <a:off x="949960" y="2180590"/>
            <a:ext cx="10337800" cy="2679700"/>
          </a:xfrm>
          <a:prstGeom prst="rect">
            <a:avLst/>
          </a:prstGeom>
          <a:ln>
            <a:noFill/>
          </a:ln>
        </p:spPr>
      </p:pic>
      <p:sp>
        <p:nvSpPr>
          <p:cNvPr id="3" name="navy-bar"/>
          <p:cNvSpPr/>
          <p:nvPr/>
        </p:nvSpPr>
        <p:spPr>
          <a:xfrm>
            <a:off x="0" y="4292600"/>
            <a:ext cx="12192000" cy="2565400"/>
          </a:xfrm>
          <a:prstGeom prst="rect">
            <a:avLst/>
          </a:prstGeom>
          <a:solidFill>
            <a:srgbClr val="223962"/>
          </a:solidFill>
          <a:ln>
            <a:noFill/>
          </a:ln>
        </p:spPr>
      </p:sp>
      <p:sp>
        <p:nvSpPr>
          <p:cNvPr id="4" name="title-box"/>
          <p:cNvSpPr/>
          <p:nvPr/>
        </p:nvSpPr>
        <p:spPr>
          <a:xfrm>
            <a:off x="904240" y="1671320"/>
            <a:ext cx="10172700" cy="787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0C0"/>
            </a:solidFill>
          </a:ln>
        </p:spPr>
      </p:sp>
      <p:sp>
        <p:nvSpPr>
          <p:cNvPr id="5" name="title"/>
          <p:cNvSpPr txBox="1"/>
          <p:nvPr/>
        </p:nvSpPr>
        <p:spPr>
          <a:xfrm>
            <a:off x="904240" y="1671320"/>
            <a:ext cx="10172700" cy="787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800" noProof="1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</a:rPr>
              <a:t>LINGQI 令旗桌面客户端 Agent</a:t>
            </a:r>
            <a:endParaRPr lang="en-US" sz="3800" noProof="1"/>
          </a:p>
        </p:txBody>
      </p:sp>
      <p:sp>
        <p:nvSpPr>
          <p:cNvPr id="6" name="subtitle"/>
          <p:cNvSpPr txBox="1"/>
          <p:nvPr/>
        </p:nvSpPr>
        <p:spPr>
          <a:xfrm>
            <a:off x="904240" y="2600960"/>
            <a:ext cx="10172700" cy="4902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noProof="1">
                <a:solidFill>
                  <a:srgbClr val="000000"/>
                </a:solidFill>
                <a:latin typeface="MiSans" charset="-122"/>
                <a:ea typeface="MiSans" charset="-122"/>
              </a:rPr>
              <a:t>--本地桌面 Agent 工作台</a:t>
            </a:r>
            <a:endParaRPr lang="en-US" sz="2000" noProof="1"/>
          </a:p>
        </p:txBody>
      </p:sp>
      <p:sp>
        <p:nvSpPr>
          <p:cNvPr id="7" name="subtitle-2"/>
          <p:cNvSpPr txBox="1"/>
          <p:nvPr/>
        </p:nvSpPr>
        <p:spPr>
          <a:xfrm>
            <a:off x="904240" y="835660"/>
            <a:ext cx="10172700" cy="7086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让大模型在本地受控地完成工作 · 连接文件、工具与企业知识</a:t>
            </a:r>
            <a:endParaRPr lang="en-US" sz="2200" noProof="1"/>
          </a:p>
        </p:txBody>
      </p:sp>
      <p:sp>
        <p:nvSpPr>
          <p:cNvPr id="8" name="company"/>
          <p:cNvSpPr txBox="1"/>
          <p:nvPr/>
        </p:nvSpPr>
        <p:spPr>
          <a:xfrm>
            <a:off x="2649220" y="3509010"/>
            <a:ext cx="6432550" cy="492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3200" noProof="1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</a:rPr>
              <a:t>北京四方上行软件技术有限公司</a:t>
            </a:r>
            <a:endParaRPr lang="en-US" sz="3200" noProof="1"/>
          </a:p>
        </p:txBody>
      </p:sp>
      <p:sp>
        <p:nvSpPr>
          <p:cNvPr id="9" name="slogan"/>
          <p:cNvSpPr txBox="1"/>
          <p:nvPr/>
        </p:nvSpPr>
        <p:spPr>
          <a:xfrm>
            <a:off x="121920" y="5689600"/>
            <a:ext cx="1194816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kern="0" spc="200" noProof="1">
                <a:solidFill>
                  <a:srgbClr val="BFBFBF"/>
                </a:solidFill>
                <a:latin typeface="Arial" panose="020B0604020202020204"/>
                <a:ea typeface="微软雅黑" panose="020B0503020204020204" charset="-122"/>
              </a:rPr>
              <a:t>用桌面 Agent 连接本地文件、工具与大模型，让每个人都能安全、高效地完成业务工作</a:t>
            </a:r>
            <a:endParaRPr lang="en-US" sz="1500" noProof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tri1"/>
          <p:cNvSpPr/>
          <p:nvPr/>
        </p:nvSpPr>
        <p:spPr>
          <a:xfrm>
            <a:off x="0" y="0"/>
            <a:ext cx="527050" cy="444500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  <p:txBody>
          <a:bodyPr/>
          <a:p/>
        </p:txBody>
      </p:sp>
      <p:sp>
        <p:nvSpPr>
          <p:cNvPr id="3" name="hd-tri2"/>
          <p:cNvSpPr/>
          <p:nvPr/>
        </p:nvSpPr>
        <p:spPr>
          <a:xfrm rot="5400000">
            <a:off x="349250" y="538480"/>
            <a:ext cx="175260" cy="179070"/>
          </a:xfrm>
          <a:prstGeom prst="triangle">
            <a:avLst/>
          </a:prstGeom>
          <a:solidFill>
            <a:srgbClr val="E89924"/>
          </a:solidFill>
          <a:ln>
            <a:noFill/>
          </a:ln>
        </p:spPr>
        <p:txBody>
          <a:bodyPr/>
          <a:p/>
        </p:txBody>
      </p:sp>
      <p:sp>
        <p:nvSpPr>
          <p:cNvPr id="4" name="hd-line1"/>
          <p:cNvSpPr/>
          <p:nvPr/>
        </p:nvSpPr>
        <p:spPr>
          <a:xfrm>
            <a:off x="0" y="985520"/>
            <a:ext cx="8839200" cy="4318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/>
          <a:p/>
        </p:txBody>
      </p:sp>
      <p:sp>
        <p:nvSpPr>
          <p:cNvPr id="5" name="hd-line2"/>
          <p:cNvSpPr/>
          <p:nvPr/>
        </p:nvSpPr>
        <p:spPr>
          <a:xfrm>
            <a:off x="8829040" y="985520"/>
            <a:ext cx="3362960" cy="43180"/>
          </a:xfrm>
          <a:prstGeom prst="rect">
            <a:avLst/>
          </a:prstGeom>
          <a:solidFill>
            <a:srgbClr val="E89924"/>
          </a:solidFill>
          <a:ln>
            <a:noFill/>
          </a:ln>
        </p:spPr>
        <p:txBody>
          <a:bodyPr/>
          <a:p/>
        </p:txBody>
      </p:sp>
      <p:sp>
        <p:nvSpPr>
          <p:cNvPr id="6" name="hd-title"/>
          <p:cNvSpPr txBox="1"/>
          <p:nvPr/>
        </p:nvSpPr>
        <p:spPr>
          <a:xfrm>
            <a:off x="701040" y="254000"/>
            <a:ext cx="88900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000" noProof="1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</a:rPr>
              <a:t>公司简介</a:t>
            </a:r>
            <a:endParaRPr lang="en-US" sz="3000" noProof="1"/>
          </a:p>
        </p:txBody>
      </p:sp>
      <p:sp>
        <p:nvSpPr>
          <p:cNvPr id="7" name="logo"/>
          <p:cNvSpPr txBox="1"/>
          <p:nvPr/>
        </p:nvSpPr>
        <p:spPr>
          <a:xfrm>
            <a:off x="9652000" y="304800"/>
            <a:ext cx="2159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四方上行</a:t>
            </a:r>
            <a:endParaRPr lang="en-US" sz="1600" noProof="1"/>
          </a:p>
        </p:txBody>
      </p:sp>
      <p:sp>
        <p:nvSpPr>
          <p:cNvPr id="8" name="intro"/>
          <p:cNvSpPr txBox="1"/>
          <p:nvPr/>
        </p:nvSpPr>
        <p:spPr>
          <a:xfrm>
            <a:off x="701040" y="1270000"/>
            <a:ext cx="10795000" cy="139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北京四方上行软件技术有限公司成立于2021年1月，注册资本1000万元，是国家级高新技术企业。公司团队骨干由多年耕耘金融科技领域的业务专家和技术专家组成，目前有员工30人左右。</a:t>
            </a:r>
            <a:endParaRPr lang="en-US" sz="1600" noProof="1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6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在AI领域，四方上行致力于用AI技术为金融机构提供业务解决方案和技术解决方案，促进客户的数字化转型。目前已取得或正在申请的知识产权包括：</a:t>
            </a:r>
            <a:endParaRPr lang="en-US" sz="1600" noProof="1"/>
          </a:p>
        </p:txBody>
      </p:sp>
      <p:sp>
        <p:nvSpPr>
          <p:cNvPr id="9" name="ip-box"/>
          <p:cNvSpPr/>
          <p:nvPr/>
        </p:nvSpPr>
        <p:spPr>
          <a:xfrm>
            <a:off x="641350" y="3020695"/>
            <a:ext cx="10795000" cy="3327400"/>
          </a:xfrm>
          <a:prstGeom prst="roundRect">
            <a:avLst>
              <a:gd name="adj" fmla="val 4000"/>
            </a:avLst>
          </a:prstGeom>
          <a:solidFill>
            <a:srgbClr val="F4F9FE"/>
          </a:solidFill>
          <a:ln w="12700">
            <a:solidFill>
              <a:srgbClr val="BDD7EE"/>
            </a:solidFill>
          </a:ln>
        </p:spPr>
        <p:txBody>
          <a:bodyPr/>
          <a:p/>
        </p:txBody>
      </p:sp>
      <p:sp>
        <p:nvSpPr>
          <p:cNvPr id="10" name="ip-list"/>
          <p:cNvSpPr txBox="1"/>
          <p:nvPr/>
        </p:nvSpPr>
        <p:spPr>
          <a:xfrm>
            <a:off x="956310" y="3198495"/>
            <a:ext cx="10160000" cy="304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r>
              <a:rPr>
                <a:latin typeface="微软雅黑" panose="020B0503020204020204" charset="-122"/>
              </a:rPr>
              <a:t>标准知识库系统（可建设审计、合规、会计、风险、监管规定、公司制度等）</a:t>
            </a:r>
            <a:endParaRPr>
              <a:latin typeface="微软雅黑" panose="020B0503020204020204" charset="-122"/>
            </a:endParaRPr>
          </a:p>
          <a:p>
            <a:r>
              <a:rPr>
                <a:latin typeface="微软雅黑" panose="020B0503020204020204" charset="-122"/>
              </a:rPr>
              <a:t>银行历史技术资产库管理（历史源代码、文档、脚本、数据字典随查随用）</a:t>
            </a:r>
            <a:endParaRPr>
              <a:latin typeface="微软雅黑" panose="020B0503020204020204" charset="-122"/>
            </a:endParaRPr>
          </a:p>
          <a:p>
            <a:r>
              <a:rPr>
                <a:latin typeface="微软雅黑" panose="020B0503020204020204" charset="-122"/>
              </a:rPr>
              <a:t>测试案例生成（RAG+知识库）／网银（复杂办公系统）智能功能导航</a:t>
            </a:r>
            <a:endParaRPr>
              <a:latin typeface="微软雅黑" panose="020B0503020204020204" charset="-122"/>
            </a:endParaRPr>
          </a:p>
          <a:p>
            <a:r>
              <a:rPr>
                <a:latin typeface="微软雅黑" panose="020B0503020204020204" charset="-122"/>
              </a:rPr>
              <a:t>AI驱动超级（财务）出纳（多银行账户现金管理，AI+RPA）</a:t>
            </a:r>
            <a:endParaRPr>
              <a:latin typeface="微软雅黑" panose="020B0503020204020204" charset="-122"/>
            </a:endParaRPr>
          </a:p>
          <a:p>
            <a:r>
              <a:rPr>
                <a:latin typeface="微软雅黑" panose="020B0503020204020204" charset="-122"/>
              </a:rPr>
              <a:t>自然语言驱动多行资金管理（企业端超级网银，AI+RPA）</a:t>
            </a:r>
            <a:endParaRPr>
              <a:latin typeface="微软雅黑" panose="020B0503020204020204" charset="-122"/>
            </a:endParaRPr>
          </a:p>
          <a:p>
            <a:r>
              <a:rPr>
                <a:latin typeface="微软雅黑" panose="020B0503020204020204" charset="-122"/>
              </a:rPr>
              <a:t>领导（管理）驾驶舱（简约办公AGENT，NLP+知识库+传统数据库+RPA+接口）</a:t>
            </a:r>
            <a:endParaRPr>
              <a:latin typeface="微软雅黑" panose="020B0503020204020204" charset="-122"/>
            </a:endParaRPr>
          </a:p>
          <a:p>
            <a:r>
              <a:rPr>
                <a:latin typeface="微软雅黑" panose="020B0503020204020204" charset="-122"/>
              </a:rPr>
              <a:t>LINGQI（令旗）桌面客户端版AGENT工具（基础版，可开放源代码，含服务器版口令、权限控制中心）</a:t>
            </a:r>
            <a:endParaRPr>
              <a:latin typeface="微软雅黑" panose="020B0503020204020204" charset="-122"/>
            </a:endParaRPr>
          </a:p>
        </p:txBody>
      </p:sp>
      <p:sp>
        <p:nvSpPr>
          <p:cNvPr id="11" name="footer-note"/>
          <p:cNvSpPr txBox="1"/>
          <p:nvPr/>
        </p:nvSpPr>
        <p:spPr>
          <a:xfrm>
            <a:off x="701040" y="6248400"/>
            <a:ext cx="10795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noProof="1">
                <a:solidFill>
                  <a:srgbClr val="7F7F7F"/>
                </a:solidFill>
                <a:latin typeface="MiSans" charset="-122"/>
                <a:ea typeface="MiSans" charset="-122"/>
              </a:rPr>
              <a:t>公司秉承「传统+前沿」发展模式：以传统技术服务业务为基础，以AI技术、RPA技术、区块链技术等赋能客户新的创新解决方案模式。</a:t>
            </a:r>
            <a:endParaRPr lang="en-US" sz="1300" noProof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>
              <a:alphaModFix amt="30000"/>
            </a:blip>
            <a:stretch>
              <a:fillRect/>
            </a:stretch>
          </a:blipFill>
          <a:ln>
            <a:noFill/>
          </a:ln>
        </p:spPr>
      </p:sp>
      <p:sp>
        <p:nvSpPr>
          <p:cNvPr id="3" name="band"/>
          <p:cNvSpPr/>
          <p:nvPr/>
        </p:nvSpPr>
        <p:spPr>
          <a:xfrm>
            <a:off x="0" y="2865120"/>
            <a:ext cx="12192000" cy="1136650"/>
          </a:xfrm>
          <a:prstGeom prst="rect">
            <a:avLst/>
          </a:prstGeom>
          <a:solidFill>
            <a:srgbClr val="5B9BD5"/>
          </a:solidFill>
          <a:ln>
            <a:noFill/>
          </a:ln>
        </p:spPr>
      </p:sp>
      <p:sp>
        <p:nvSpPr>
          <p:cNvPr id="4" name="num-box"/>
          <p:cNvSpPr/>
          <p:nvPr/>
        </p:nvSpPr>
        <p:spPr>
          <a:xfrm>
            <a:off x="1351280" y="2306320"/>
            <a:ext cx="1651000" cy="2306320"/>
          </a:xfrm>
          <a:prstGeom prst="roundRect">
            <a:avLst/>
          </a:prstGeom>
          <a:noFill/>
          <a:ln w="38100">
            <a:solidFill>
              <a:srgbClr val="5B9BD5"/>
            </a:solidFill>
          </a:ln>
          <a:effectLst>
            <a:outerShdw blurRad="63500" algn="bl" rotWithShape="0">
              <a:srgbClr val="000000">
                <a:alpha val="40000"/>
              </a:srgbClr>
            </a:outerShdw>
          </a:effectLst>
        </p:spPr>
      </p:sp>
      <p:sp>
        <p:nvSpPr>
          <p:cNvPr id="5" name="num"/>
          <p:cNvSpPr txBox="1"/>
          <p:nvPr/>
        </p:nvSpPr>
        <p:spPr>
          <a:xfrm>
            <a:off x="1473200" y="2848610"/>
            <a:ext cx="1409700" cy="1231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7600" noProof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</a:rPr>
              <a:t>01</a:t>
            </a:r>
            <a:endParaRPr lang="en-US" sz="7600" noProof="1"/>
          </a:p>
        </p:txBody>
      </p:sp>
      <p:sp>
        <p:nvSpPr>
          <p:cNvPr id="6" name="ch-title"/>
          <p:cNvSpPr txBox="1"/>
          <p:nvPr/>
        </p:nvSpPr>
        <p:spPr>
          <a:xfrm>
            <a:off x="3723640" y="3048000"/>
            <a:ext cx="7874000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000" b="1" noProof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</a:rPr>
              <a:t>        产品背景与定位</a:t>
            </a:r>
            <a:endParaRPr lang="en-US" sz="4000" noProof="1"/>
          </a:p>
        </p:txBody>
      </p:sp>
      <p:sp>
        <p:nvSpPr>
          <p:cNvPr id="7" name="logo"/>
          <p:cNvSpPr txBox="1"/>
          <p:nvPr/>
        </p:nvSpPr>
        <p:spPr>
          <a:xfrm>
            <a:off x="9652000" y="304800"/>
            <a:ext cx="2159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四方上行</a:t>
            </a:r>
            <a:endParaRPr lang="en-US" sz="1600" noProof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tri1"/>
          <p:cNvSpPr/>
          <p:nvPr/>
        </p:nvSpPr>
        <p:spPr>
          <a:xfrm>
            <a:off x="0" y="0"/>
            <a:ext cx="527050" cy="444500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3" name="hd-tri2"/>
          <p:cNvSpPr/>
          <p:nvPr/>
        </p:nvSpPr>
        <p:spPr>
          <a:xfrm rot="5400000">
            <a:off x="349250" y="538480"/>
            <a:ext cx="175260" cy="179070"/>
          </a:xfrm>
          <a:prstGeom prst="triangle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4" name="hd-line1"/>
          <p:cNvSpPr/>
          <p:nvPr/>
        </p:nvSpPr>
        <p:spPr>
          <a:xfrm>
            <a:off x="0" y="985520"/>
            <a:ext cx="8839200" cy="43180"/>
          </a:xfrm>
          <a:prstGeom prst="rect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5" name="hd-line2"/>
          <p:cNvSpPr/>
          <p:nvPr/>
        </p:nvSpPr>
        <p:spPr>
          <a:xfrm>
            <a:off x="8829040" y="985520"/>
            <a:ext cx="3362960" cy="43180"/>
          </a:xfrm>
          <a:prstGeom prst="rect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6" name="hd-title"/>
          <p:cNvSpPr txBox="1"/>
          <p:nvPr/>
        </p:nvSpPr>
        <p:spPr>
          <a:xfrm>
            <a:off x="701040" y="254000"/>
            <a:ext cx="88900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zh-CN" sz="30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前言</a:t>
            </a:r>
            <a:endParaRPr lang="en-US" sz="3000" noProof="1"/>
          </a:p>
        </p:txBody>
      </p:sp>
      <p:sp>
        <p:nvSpPr>
          <p:cNvPr id="7" name="logo"/>
          <p:cNvSpPr txBox="1"/>
          <p:nvPr/>
        </p:nvSpPr>
        <p:spPr>
          <a:xfrm>
            <a:off x="9652000" y="304800"/>
            <a:ext cx="2159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四方上行</a:t>
            </a:r>
            <a:endParaRPr lang="en-US" sz="1600" noProof="1"/>
          </a:p>
        </p:txBody>
      </p:sp>
      <p:sp>
        <p:nvSpPr>
          <p:cNvPr id="8" name="lead"/>
          <p:cNvSpPr txBox="1"/>
          <p:nvPr/>
        </p:nvSpPr>
        <p:spPr>
          <a:xfrm>
            <a:off x="741680" y="1162050"/>
            <a:ext cx="107950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企业真实工作并不只发生在网页对话框中。业务资料、</a:t>
            </a:r>
            <a:r>
              <a:rPr lang="zh-CN" altLang="en-US" sz="14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工具</a:t>
            </a:r>
            <a:r>
              <a:rPr lang="en-US" sz="14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、</a:t>
            </a:r>
            <a:r>
              <a:rPr lang="zh-CN" altLang="en-US" sz="14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状态与人工确认的连续流程</a:t>
            </a:r>
            <a:r>
              <a:rPr lang="en-US" sz="14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往往保存在本机或受控目录内，</a:t>
            </a:r>
            <a:r>
              <a:rPr lang="zh-CN" altLang="en-US" sz="14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而纯网页对话框无法打通本地资产、执行动作与任务上下文，难以支撑完整的工作闭环。</a:t>
            </a:r>
            <a:endParaRPr lang="zh-CN" altLang="en-US" sz="1400" noProof="1">
              <a:solidFill>
                <a:srgbClr val="262626"/>
              </a:solidFill>
              <a:latin typeface="MiSans" charset="-122"/>
              <a:ea typeface="MiSans" charset="-122"/>
            </a:endParaRPr>
          </a:p>
        </p:txBody>
      </p:sp>
      <p:sp>
        <p:nvSpPr>
          <p:cNvPr id="9" name="card0"/>
          <p:cNvSpPr/>
          <p:nvPr>
            <p:custDataLst>
              <p:tags r:id="rId1"/>
            </p:custDataLst>
          </p:nvPr>
        </p:nvSpPr>
        <p:spPr>
          <a:xfrm>
            <a:off x="635000" y="2006600"/>
            <a:ext cx="5186680" cy="2095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5B9BD5"/>
            </a:solidFill>
          </a:ln>
          <a:effectLst>
            <a:outerShdw blurRad="7620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0" name="card-top0"/>
          <p:cNvSpPr/>
          <p:nvPr>
            <p:custDataLst>
              <p:tags r:id="rId2"/>
            </p:custDataLst>
          </p:nvPr>
        </p:nvSpPr>
        <p:spPr>
          <a:xfrm>
            <a:off x="635000" y="2006600"/>
            <a:ext cx="5186680" cy="77470"/>
          </a:xfrm>
          <a:prstGeom prst="rect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11" name="num0"/>
          <p:cNvSpPr txBox="1"/>
          <p:nvPr>
            <p:custDataLst>
              <p:tags r:id="rId3"/>
            </p:custDataLst>
          </p:nvPr>
        </p:nvSpPr>
        <p:spPr>
          <a:xfrm>
            <a:off x="939800" y="2286000"/>
            <a:ext cx="886460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400" b="1" noProof="1">
                <a:solidFill>
                  <a:srgbClr val="D0E4F5"/>
                </a:solidFill>
                <a:latin typeface="Arial" panose="020B0604020202020204"/>
                <a:ea typeface="微软雅黑" panose="020B0503020204020204" charset="-122"/>
              </a:rPr>
              <a:t>01</a:t>
            </a:r>
            <a:endParaRPr lang="en-US" sz="3400" noProof="1"/>
          </a:p>
        </p:txBody>
      </p:sp>
      <p:sp>
        <p:nvSpPr>
          <p:cNvPr id="12" name="t0"/>
          <p:cNvSpPr txBox="1"/>
          <p:nvPr>
            <p:custDataLst>
              <p:tags r:id="rId4"/>
            </p:custDataLst>
          </p:nvPr>
        </p:nvSpPr>
        <p:spPr>
          <a:xfrm>
            <a:off x="1905000" y="2286000"/>
            <a:ext cx="3669030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工作上下文分散</a:t>
            </a:r>
            <a:endParaRPr lang="en-US" sz="2000" noProof="1"/>
          </a:p>
        </p:txBody>
      </p:sp>
      <p:sp>
        <p:nvSpPr>
          <p:cNvPr id="13" name="d0"/>
          <p:cNvSpPr txBox="1"/>
          <p:nvPr>
            <p:custDataLst>
              <p:tags r:id="rId5"/>
            </p:custDataLst>
          </p:nvPr>
        </p:nvSpPr>
        <p:spPr>
          <a:xfrm>
            <a:off x="939800" y="2971800"/>
            <a:ext cx="4579620" cy="9829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模型、文件、检索、工具和业务系统之间需要人工来回切换，流程难以串联。</a:t>
            </a:r>
            <a:endParaRPr lang="en-US" sz="1400" noProof="1"/>
          </a:p>
        </p:txBody>
      </p:sp>
      <p:sp>
        <p:nvSpPr>
          <p:cNvPr id="14" name="card1"/>
          <p:cNvSpPr/>
          <p:nvPr>
            <p:custDataLst>
              <p:tags r:id="rId6"/>
            </p:custDataLst>
          </p:nvPr>
        </p:nvSpPr>
        <p:spPr>
          <a:xfrm>
            <a:off x="6350000" y="2006600"/>
            <a:ext cx="5186680" cy="2095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5B9BD5"/>
            </a:solidFill>
          </a:ln>
          <a:effectLst>
            <a:outerShdw blurRad="7620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5" name="card-top1"/>
          <p:cNvSpPr/>
          <p:nvPr>
            <p:custDataLst>
              <p:tags r:id="rId7"/>
            </p:custDataLst>
          </p:nvPr>
        </p:nvSpPr>
        <p:spPr>
          <a:xfrm>
            <a:off x="6350000" y="2006600"/>
            <a:ext cx="5186680" cy="77470"/>
          </a:xfrm>
          <a:prstGeom prst="rect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16" name="num1"/>
          <p:cNvSpPr txBox="1"/>
          <p:nvPr>
            <p:custDataLst>
              <p:tags r:id="rId8"/>
            </p:custDataLst>
          </p:nvPr>
        </p:nvSpPr>
        <p:spPr>
          <a:xfrm>
            <a:off x="6654800" y="2286000"/>
            <a:ext cx="886460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400" b="1" noProof="1">
                <a:solidFill>
                  <a:srgbClr val="D0E4F5"/>
                </a:solidFill>
                <a:latin typeface="Arial" panose="020B0604020202020204"/>
                <a:ea typeface="微软雅黑" panose="020B0503020204020204" charset="-122"/>
              </a:rPr>
              <a:t>02</a:t>
            </a:r>
            <a:endParaRPr lang="en-US" sz="3400" noProof="1"/>
          </a:p>
        </p:txBody>
      </p:sp>
      <p:sp>
        <p:nvSpPr>
          <p:cNvPr id="17" name="t1"/>
          <p:cNvSpPr txBox="1"/>
          <p:nvPr>
            <p:custDataLst>
              <p:tags r:id="rId9"/>
            </p:custDataLst>
          </p:nvPr>
        </p:nvSpPr>
        <p:spPr>
          <a:xfrm>
            <a:off x="7620000" y="2286000"/>
            <a:ext cx="3669030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本地文件使用门槛高</a:t>
            </a:r>
            <a:endParaRPr lang="en-US" sz="2000" noProof="1"/>
          </a:p>
        </p:txBody>
      </p:sp>
      <p:sp>
        <p:nvSpPr>
          <p:cNvPr id="18" name="d1"/>
          <p:cNvSpPr txBox="1"/>
          <p:nvPr>
            <p:custDataLst>
              <p:tags r:id="rId10"/>
            </p:custDataLst>
          </p:nvPr>
        </p:nvSpPr>
        <p:spPr>
          <a:xfrm>
            <a:off x="6654800" y="2971800"/>
            <a:ext cx="4579620" cy="9829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用户需要先整理、上传、转换文件，再向模型描述任务，操作链路长。</a:t>
            </a:r>
            <a:endParaRPr lang="en-US" sz="1400" noProof="1"/>
          </a:p>
        </p:txBody>
      </p:sp>
      <p:sp>
        <p:nvSpPr>
          <p:cNvPr id="19" name="card2"/>
          <p:cNvSpPr/>
          <p:nvPr>
            <p:custDataLst>
              <p:tags r:id="rId11"/>
            </p:custDataLst>
          </p:nvPr>
        </p:nvSpPr>
        <p:spPr>
          <a:xfrm>
            <a:off x="635000" y="4356100"/>
            <a:ext cx="5186680" cy="2095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5B9BD5"/>
            </a:solidFill>
          </a:ln>
          <a:effectLst>
            <a:outerShdw blurRad="7620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0" name="card-top2"/>
          <p:cNvSpPr/>
          <p:nvPr>
            <p:custDataLst>
              <p:tags r:id="rId12"/>
            </p:custDataLst>
          </p:nvPr>
        </p:nvSpPr>
        <p:spPr>
          <a:xfrm>
            <a:off x="635000" y="4356100"/>
            <a:ext cx="5186680" cy="77470"/>
          </a:xfrm>
          <a:prstGeom prst="rect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21" name="num2"/>
          <p:cNvSpPr txBox="1"/>
          <p:nvPr>
            <p:custDataLst>
              <p:tags r:id="rId13"/>
            </p:custDataLst>
          </p:nvPr>
        </p:nvSpPr>
        <p:spPr>
          <a:xfrm>
            <a:off x="939800" y="4635500"/>
            <a:ext cx="886460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400" b="1" noProof="1">
                <a:solidFill>
                  <a:srgbClr val="D0E4F5"/>
                </a:solidFill>
                <a:latin typeface="Arial" panose="020B0604020202020204"/>
                <a:ea typeface="微软雅黑" panose="020B0503020204020204" charset="-122"/>
              </a:rPr>
              <a:t>03</a:t>
            </a:r>
            <a:endParaRPr lang="en-US" sz="3400" noProof="1"/>
          </a:p>
        </p:txBody>
      </p:sp>
      <p:sp>
        <p:nvSpPr>
          <p:cNvPr id="22" name="t2"/>
          <p:cNvSpPr txBox="1"/>
          <p:nvPr>
            <p:custDataLst>
              <p:tags r:id="rId14"/>
            </p:custDataLst>
          </p:nvPr>
        </p:nvSpPr>
        <p:spPr>
          <a:xfrm>
            <a:off x="1905000" y="4635500"/>
            <a:ext cx="3669030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敏感数据安全压力大</a:t>
            </a:r>
            <a:endParaRPr lang="en-US" sz="2000" noProof="1"/>
          </a:p>
        </p:txBody>
      </p:sp>
      <p:sp>
        <p:nvSpPr>
          <p:cNvPr id="23" name="d2"/>
          <p:cNvSpPr txBox="1"/>
          <p:nvPr>
            <p:custDataLst>
              <p:tags r:id="rId15"/>
            </p:custDataLst>
          </p:nvPr>
        </p:nvSpPr>
        <p:spPr>
          <a:xfrm>
            <a:off x="939800" y="5321300"/>
            <a:ext cx="4579620" cy="9829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内部文档和任务过程不适合无边界地交给外部平台。</a:t>
            </a:r>
            <a:endParaRPr lang="en-US" sz="1400" noProof="1"/>
          </a:p>
        </p:txBody>
      </p:sp>
      <p:sp>
        <p:nvSpPr>
          <p:cNvPr id="24" name="card3"/>
          <p:cNvSpPr/>
          <p:nvPr>
            <p:custDataLst>
              <p:tags r:id="rId16"/>
            </p:custDataLst>
          </p:nvPr>
        </p:nvSpPr>
        <p:spPr>
          <a:xfrm>
            <a:off x="6350000" y="4356100"/>
            <a:ext cx="5186680" cy="2095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5B9BD5"/>
            </a:solidFill>
          </a:ln>
          <a:effectLst>
            <a:outerShdw blurRad="7620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5" name="card-top3"/>
          <p:cNvSpPr/>
          <p:nvPr>
            <p:custDataLst>
              <p:tags r:id="rId17"/>
            </p:custDataLst>
          </p:nvPr>
        </p:nvSpPr>
        <p:spPr>
          <a:xfrm>
            <a:off x="6350000" y="4356100"/>
            <a:ext cx="5186680" cy="77470"/>
          </a:xfrm>
          <a:prstGeom prst="rect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26" name="num3"/>
          <p:cNvSpPr txBox="1"/>
          <p:nvPr>
            <p:custDataLst>
              <p:tags r:id="rId18"/>
            </p:custDataLst>
          </p:nvPr>
        </p:nvSpPr>
        <p:spPr>
          <a:xfrm>
            <a:off x="6654800" y="4635500"/>
            <a:ext cx="886460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400" b="1" noProof="1">
                <a:solidFill>
                  <a:srgbClr val="D0E4F5"/>
                </a:solidFill>
                <a:latin typeface="Arial" panose="020B0604020202020204"/>
                <a:ea typeface="微软雅黑" panose="020B0503020204020204" charset="-122"/>
              </a:rPr>
              <a:t>04</a:t>
            </a:r>
            <a:endParaRPr lang="en-US" sz="3400" noProof="1"/>
          </a:p>
        </p:txBody>
      </p:sp>
      <p:sp>
        <p:nvSpPr>
          <p:cNvPr id="27" name="t3"/>
          <p:cNvSpPr txBox="1"/>
          <p:nvPr>
            <p:custDataLst>
              <p:tags r:id="rId19"/>
            </p:custDataLst>
          </p:nvPr>
        </p:nvSpPr>
        <p:spPr>
          <a:xfrm>
            <a:off x="7620000" y="4635500"/>
            <a:ext cx="3669030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长任务缺乏可恢复性</a:t>
            </a:r>
            <a:endParaRPr lang="en-US" sz="2000" noProof="1"/>
          </a:p>
        </p:txBody>
      </p:sp>
      <p:sp>
        <p:nvSpPr>
          <p:cNvPr id="28" name="d3"/>
          <p:cNvSpPr txBox="1"/>
          <p:nvPr>
            <p:custDataLst>
              <p:tags r:id="rId20"/>
            </p:custDataLst>
          </p:nvPr>
        </p:nvSpPr>
        <p:spPr>
          <a:xfrm>
            <a:off x="6654800" y="5321300"/>
            <a:ext cx="4579620" cy="9829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网络波动、工具失败或用户停止后，任务容易从头开始，过程不可追踪。</a:t>
            </a:r>
            <a:endParaRPr lang="en-US" sz="1400" noProof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tri1"/>
          <p:cNvSpPr/>
          <p:nvPr/>
        </p:nvSpPr>
        <p:spPr>
          <a:xfrm>
            <a:off x="0" y="0"/>
            <a:ext cx="527050" cy="444500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3" name="hd-tri2"/>
          <p:cNvSpPr/>
          <p:nvPr/>
        </p:nvSpPr>
        <p:spPr>
          <a:xfrm rot="5400000">
            <a:off x="349250" y="538480"/>
            <a:ext cx="175260" cy="179070"/>
          </a:xfrm>
          <a:prstGeom prst="triangle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4" name="hd-line1"/>
          <p:cNvSpPr/>
          <p:nvPr/>
        </p:nvSpPr>
        <p:spPr>
          <a:xfrm>
            <a:off x="0" y="985520"/>
            <a:ext cx="8839200" cy="43180"/>
          </a:xfrm>
          <a:prstGeom prst="rect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5" name="hd-line2"/>
          <p:cNvSpPr/>
          <p:nvPr/>
        </p:nvSpPr>
        <p:spPr>
          <a:xfrm>
            <a:off x="8829040" y="985520"/>
            <a:ext cx="3362960" cy="43180"/>
          </a:xfrm>
          <a:prstGeom prst="rect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6" name="hd-title"/>
          <p:cNvSpPr txBox="1"/>
          <p:nvPr/>
        </p:nvSpPr>
        <p:spPr>
          <a:xfrm>
            <a:off x="701040" y="254000"/>
            <a:ext cx="88900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000" noProof="1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</a:rPr>
              <a:t>产品定位与产品价值</a:t>
            </a:r>
            <a:endParaRPr lang="en-US" sz="3000" noProof="1"/>
          </a:p>
        </p:txBody>
      </p:sp>
      <p:sp>
        <p:nvSpPr>
          <p:cNvPr id="7" name="logo"/>
          <p:cNvSpPr txBox="1"/>
          <p:nvPr/>
        </p:nvSpPr>
        <p:spPr>
          <a:xfrm>
            <a:off x="9652000" y="304800"/>
            <a:ext cx="2159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四方上行</a:t>
            </a:r>
            <a:endParaRPr lang="en-US" sz="1600" noProof="1"/>
          </a:p>
        </p:txBody>
      </p:sp>
      <p:sp>
        <p:nvSpPr>
          <p:cNvPr id="8" name="pos-box"/>
          <p:cNvSpPr/>
          <p:nvPr/>
        </p:nvSpPr>
        <p:spPr>
          <a:xfrm>
            <a:off x="701040" y="1244600"/>
            <a:ext cx="10795000" cy="1371600"/>
          </a:xfrm>
          <a:prstGeom prst="roundRect">
            <a:avLst>
              <a:gd name="adj" fmla="val 5000"/>
            </a:avLst>
          </a:prstGeom>
          <a:solidFill>
            <a:srgbClr val="F4F9FE"/>
          </a:solidFill>
          <a:ln w="12700">
            <a:solidFill>
              <a:srgbClr val="BDD7EE"/>
            </a:solidFill>
          </a:ln>
        </p:spPr>
      </p:sp>
      <p:sp>
        <p:nvSpPr>
          <p:cNvPr id="9" name="pos-tag"/>
          <p:cNvSpPr/>
          <p:nvPr/>
        </p:nvSpPr>
        <p:spPr>
          <a:xfrm>
            <a:off x="701040" y="1244600"/>
            <a:ext cx="101600" cy="1371600"/>
          </a:xfrm>
          <a:prstGeom prst="rect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10" name="pos-text"/>
          <p:cNvSpPr txBox="1"/>
          <p:nvPr/>
        </p:nvSpPr>
        <p:spPr>
          <a:xfrm>
            <a:off x="1016000" y="1371600"/>
            <a:ext cx="1016000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1500" b="1" noProof="1">
                <a:solidFill>
                  <a:srgbClr val="0070C0"/>
                </a:solidFill>
                <a:latin typeface="MiSans" charset="-122"/>
                <a:ea typeface="MiSans" charset="-122"/>
              </a:rPr>
              <a:t>产品定位：</a:t>
            </a:r>
            <a:r>
              <a:rPr lang="en-US" sz="15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令旗是一个</a:t>
            </a:r>
            <a:r>
              <a:rPr lang="en-US" sz="1500" b="1" noProof="1">
                <a:solidFill>
                  <a:srgbClr val="262626"/>
                </a:solidFill>
                <a:latin typeface="MiSans" charset="-122"/>
                <a:ea typeface="MiSans" charset="-122"/>
              </a:rPr>
              <a:t>本地优先的桌面 Agent 工作台</a:t>
            </a:r>
            <a:r>
              <a:rPr lang="en-US" sz="15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，以 Electron 桌面客户端为载体，将大模型、会话、项目目录、文件附件、工具、MCP 服务、Skill 和权限审批统一到一个可追踪的工作空间中。</a:t>
            </a:r>
            <a:endParaRPr lang="en-US" sz="1500" noProof="1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5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它不替代企业现有业务系统，而是作为</a:t>
            </a:r>
            <a:r>
              <a:rPr lang="en-US" sz="1500" b="1" noProof="1">
                <a:solidFill>
                  <a:srgbClr val="262626"/>
                </a:solidFill>
                <a:latin typeface="MiSans" charset="-122"/>
                <a:ea typeface="MiSans" charset="-122"/>
              </a:rPr>
              <a:t>连接本地文件、企业知识和受控工具的通用 Agent 入口</a:t>
            </a:r>
            <a:r>
              <a:rPr lang="en-US" sz="15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，补足临时性、非固定性和跨文件的工作需求。</a:t>
            </a:r>
            <a:endParaRPr lang="en-US" sz="1500" noProof="1"/>
          </a:p>
        </p:txBody>
      </p:sp>
      <p:sp>
        <p:nvSpPr>
          <p:cNvPr id="11" name="val-title"/>
          <p:cNvSpPr txBox="1"/>
          <p:nvPr/>
        </p:nvSpPr>
        <p:spPr>
          <a:xfrm>
            <a:off x="701040" y="2819400"/>
            <a:ext cx="5080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产品价值</a:t>
            </a:r>
            <a:endParaRPr lang="en-US" sz="2000" noProof="1"/>
          </a:p>
        </p:txBody>
      </p:sp>
      <p:graphicFrame>
        <p:nvGraphicFramePr>
          <p:cNvPr id="12" name="val-table"/>
          <p:cNvGraphicFramePr>
            <a:graphicFrameLocks noGrp="1"/>
          </p:cNvGraphicFramePr>
          <p:nvPr/>
        </p:nvGraphicFramePr>
        <p:xfrm>
          <a:off x="701040" y="3276600"/>
          <a:ext cx="10795000" cy="3200400"/>
        </p:xfrm>
        <a:graphic>
          <a:graphicData uri="http://schemas.openxmlformats.org/drawingml/2006/table">
            <a:tbl>
              <a:tblPr/>
              <a:tblGrid>
                <a:gridCol w="1943100"/>
                <a:gridCol w="8851900"/>
              </a:tblGrid>
              <a:tr h="534467"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500" b="1" noProof="1">
                          <a:solidFill>
                            <a:srgbClr val="FFFFFF"/>
                          </a:solidFill>
                          <a:latin typeface="MiSans" charset="-122"/>
                          <a:ea typeface="MiSans" charset="-122"/>
                        </a:rPr>
                        <a:t>价值</a:t>
                      </a:r>
                      <a:endParaRPr lang="en-US" sz="1500" b="1" noProof="1">
                        <a:solidFill>
                          <a:srgbClr val="FFFFFF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0070C0"/>
                      </a:solidFill>
                    </a:lnL>
                    <a:lnR w="12700">
                      <a:solidFill>
                        <a:srgbClr val="0070C0"/>
                      </a:solidFill>
                    </a:lnR>
                    <a:lnT w="12700">
                      <a:solidFill>
                        <a:srgbClr val="0070C0"/>
                      </a:solidFill>
                    </a:lnT>
                    <a:lnB w="12700">
                      <a:solidFill>
                        <a:srgbClr val="0070C0"/>
                      </a:solidFill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500" b="1" noProof="1">
                          <a:solidFill>
                            <a:srgbClr val="FFFFFF"/>
                          </a:solidFill>
                          <a:latin typeface="MiSans" charset="-122"/>
                          <a:ea typeface="MiSans" charset="-122"/>
                        </a:rPr>
                        <a:t>说明</a:t>
                      </a:r>
                      <a:endParaRPr lang="en-US" sz="1500" b="1" noProof="1">
                        <a:solidFill>
                          <a:srgbClr val="FFFFFF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0070C0"/>
                      </a:solidFill>
                    </a:lnL>
                    <a:lnR w="12700">
                      <a:solidFill>
                        <a:srgbClr val="0070C0"/>
                      </a:solidFill>
                    </a:lnR>
                    <a:lnT w="12700">
                      <a:solidFill>
                        <a:srgbClr val="0070C0"/>
                      </a:solidFill>
                    </a:lnT>
                    <a:lnB w="12700">
                      <a:solidFill>
                        <a:srgbClr val="0070C0"/>
                      </a:solidFill>
                    </a:lnB>
                    <a:solidFill>
                      <a:srgbClr val="0070C0"/>
                    </a:solidFill>
                  </a:tcPr>
                </a:tc>
              </a:tr>
              <a:tr h="534467"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300" noProof="1">
                          <a:solidFill>
                            <a:srgbClr val="262626"/>
                          </a:solidFill>
                          <a:latin typeface="MiSans" charset="-122"/>
                          <a:ea typeface="MiSans" charset="-122"/>
                        </a:rPr>
                        <a:t>本地优先</a:t>
                      </a:r>
                      <a:endParaRPr lang="en-US" sz="1300" noProof="1">
                        <a:solidFill>
                          <a:srgbClr val="262626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BDD7EE"/>
                      </a:solidFill>
                    </a:lnL>
                    <a:lnR w="12700">
                      <a:solidFill>
                        <a:srgbClr val="BDD7EE"/>
                      </a:solidFill>
                    </a:lnR>
                    <a:lnT w="12700">
                      <a:solidFill>
                        <a:srgbClr val="BDD7EE"/>
                      </a:solidFill>
                    </a:lnT>
                    <a:lnB w="12700">
                      <a:solidFill>
                        <a:srgbClr val="BDD7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300" noProof="1">
                          <a:solidFill>
                            <a:srgbClr val="262626"/>
                          </a:solidFill>
                          <a:latin typeface="MiSans" charset="-122"/>
                          <a:ea typeface="MiSans" charset="-122"/>
                        </a:rPr>
                        <a:t>文件处理和工具执行在本机完成，适合对数据边界有要求的场景。</a:t>
                      </a:r>
                      <a:endParaRPr lang="en-US" sz="1300" noProof="1">
                        <a:solidFill>
                          <a:srgbClr val="262626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BDD7EE"/>
                      </a:solidFill>
                    </a:lnL>
                    <a:lnR w="12700">
                      <a:solidFill>
                        <a:srgbClr val="BDD7EE"/>
                      </a:solidFill>
                    </a:lnR>
                    <a:lnT w="12700">
                      <a:solidFill>
                        <a:srgbClr val="BDD7EE"/>
                      </a:solidFill>
                    </a:lnT>
                    <a:lnB w="12700">
                      <a:solidFill>
                        <a:srgbClr val="BDD7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4467"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300" noProof="1">
                          <a:solidFill>
                            <a:srgbClr val="262626"/>
                          </a:solidFill>
                          <a:latin typeface="MiSans" charset="-122"/>
                          <a:ea typeface="MiSans" charset="-122"/>
                        </a:rPr>
                        <a:t>使用简单</a:t>
                      </a:r>
                      <a:endParaRPr lang="en-US" sz="1300" noProof="1">
                        <a:solidFill>
                          <a:srgbClr val="262626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BDD7EE"/>
                      </a:solidFill>
                    </a:lnL>
                    <a:lnR w="12700">
                      <a:solidFill>
                        <a:srgbClr val="BDD7EE"/>
                      </a:solidFill>
                    </a:lnR>
                    <a:lnT w="12700">
                      <a:solidFill>
                        <a:srgbClr val="BDD7EE"/>
                      </a:solidFill>
                    </a:lnT>
                    <a:lnB w="12700">
                      <a:solidFill>
                        <a:srgbClr val="BDD7EE"/>
                      </a:solidFill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300" noProof="1">
                          <a:solidFill>
                            <a:srgbClr val="262626"/>
                          </a:solidFill>
                          <a:latin typeface="MiSans" charset="-122"/>
                          <a:ea typeface="MiSans" charset="-122"/>
                        </a:rPr>
                        <a:t>用户以自然语言描述任务，无需先掌握复杂工具命令。</a:t>
                      </a:r>
                      <a:endParaRPr lang="en-US" sz="1300" noProof="1">
                        <a:solidFill>
                          <a:srgbClr val="262626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BDD7EE"/>
                      </a:solidFill>
                    </a:lnL>
                    <a:lnR w="12700">
                      <a:solidFill>
                        <a:srgbClr val="BDD7EE"/>
                      </a:solidFill>
                    </a:lnR>
                    <a:lnT w="12700">
                      <a:solidFill>
                        <a:srgbClr val="BDD7EE"/>
                      </a:solidFill>
                    </a:lnT>
                    <a:lnB w="12700">
                      <a:solidFill>
                        <a:srgbClr val="BDD7EE"/>
                      </a:solidFill>
                    </a:lnB>
                    <a:solidFill>
                      <a:srgbClr val="EAF3FB"/>
                    </a:solidFill>
                  </a:tcPr>
                </a:tc>
              </a:tr>
              <a:tr h="534467"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300" noProof="1">
                          <a:solidFill>
                            <a:srgbClr val="262626"/>
                          </a:solidFill>
                          <a:latin typeface="MiSans" charset="-122"/>
                          <a:ea typeface="MiSans" charset="-122"/>
                        </a:rPr>
                        <a:t>能力可扩展</a:t>
                      </a:r>
                      <a:endParaRPr lang="en-US" sz="1300" noProof="1">
                        <a:solidFill>
                          <a:srgbClr val="262626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BDD7EE"/>
                      </a:solidFill>
                    </a:lnL>
                    <a:lnR w="12700">
                      <a:solidFill>
                        <a:srgbClr val="BDD7EE"/>
                      </a:solidFill>
                    </a:lnR>
                    <a:lnT w="12700">
                      <a:solidFill>
                        <a:srgbClr val="BDD7EE"/>
                      </a:solidFill>
                    </a:lnT>
                    <a:lnB w="12700">
                      <a:solidFill>
                        <a:srgbClr val="BDD7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300" noProof="1">
                          <a:solidFill>
                            <a:srgbClr val="262626"/>
                          </a:solidFill>
                          <a:latin typeface="MiSans" charset="-122"/>
                          <a:ea typeface="MiSans" charset="-122"/>
                        </a:rPr>
                        <a:t>内置工具、MCP 服务和 Markdown Skill 可以持续增加专业能力。</a:t>
                      </a:r>
                      <a:endParaRPr lang="en-US" sz="1300" noProof="1">
                        <a:solidFill>
                          <a:srgbClr val="262626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BDD7EE"/>
                      </a:solidFill>
                    </a:lnL>
                    <a:lnR w="12700">
                      <a:solidFill>
                        <a:srgbClr val="BDD7EE"/>
                      </a:solidFill>
                    </a:lnR>
                    <a:lnT w="12700">
                      <a:solidFill>
                        <a:srgbClr val="BDD7EE"/>
                      </a:solidFill>
                    </a:lnT>
                    <a:lnB w="12700">
                      <a:solidFill>
                        <a:srgbClr val="BDD7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1266"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300" noProof="1">
                          <a:solidFill>
                            <a:srgbClr val="262626"/>
                          </a:solidFill>
                          <a:latin typeface="MiSans" charset="-122"/>
                          <a:ea typeface="MiSans" charset="-122"/>
                        </a:rPr>
                        <a:t>过程可控</a:t>
                      </a:r>
                      <a:endParaRPr lang="en-US" sz="1300" noProof="1">
                        <a:solidFill>
                          <a:srgbClr val="262626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BDD7EE"/>
                      </a:solidFill>
                    </a:lnL>
                    <a:lnR w="12700">
                      <a:solidFill>
                        <a:srgbClr val="BDD7EE"/>
                      </a:solidFill>
                    </a:lnR>
                    <a:lnT w="12700">
                      <a:solidFill>
                        <a:srgbClr val="BDD7EE"/>
                      </a:solidFill>
                    </a:lnT>
                    <a:lnB w="12700">
                      <a:solidFill>
                        <a:srgbClr val="BDD7EE"/>
                      </a:solidFill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300" noProof="1">
                          <a:solidFill>
                            <a:srgbClr val="262626"/>
                          </a:solidFill>
                          <a:latin typeface="MiSans" charset="-122"/>
                          <a:ea typeface="MiSans" charset="-122"/>
                        </a:rPr>
                        <a:t>工具按 read、write、dangerous 分级，写入操作可要求用户审批。</a:t>
                      </a:r>
                      <a:endParaRPr lang="en-US" sz="1300" noProof="1">
                        <a:solidFill>
                          <a:srgbClr val="262626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BDD7EE"/>
                      </a:solidFill>
                    </a:lnL>
                    <a:lnR w="12700">
                      <a:solidFill>
                        <a:srgbClr val="BDD7EE"/>
                      </a:solidFill>
                    </a:lnR>
                    <a:lnT w="12700">
                      <a:solidFill>
                        <a:srgbClr val="BDD7EE"/>
                      </a:solidFill>
                    </a:lnT>
                    <a:lnB w="12700">
                      <a:solidFill>
                        <a:srgbClr val="BDD7EE"/>
                      </a:solidFill>
                    </a:lnB>
                    <a:solidFill>
                      <a:srgbClr val="EAF3FB"/>
                    </a:solidFill>
                  </a:tcPr>
                </a:tc>
              </a:tr>
              <a:tr h="531266"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300" noProof="1">
                          <a:solidFill>
                            <a:srgbClr val="262626"/>
                          </a:solidFill>
                          <a:latin typeface="MiSans" charset="-122"/>
                          <a:ea typeface="MiSans" charset="-122"/>
                        </a:rPr>
                        <a:t>任务可追踪</a:t>
                      </a:r>
                      <a:endParaRPr lang="en-US" sz="1300" noProof="1">
                        <a:solidFill>
                          <a:srgbClr val="262626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BDD7EE"/>
                      </a:solidFill>
                    </a:lnL>
                    <a:lnR w="12700">
                      <a:solidFill>
                        <a:srgbClr val="BDD7EE"/>
                      </a:solidFill>
                    </a:lnR>
                    <a:lnT w="12700">
                      <a:solidFill>
                        <a:srgbClr val="BDD7EE"/>
                      </a:solidFill>
                    </a:lnT>
                    <a:lnB w="12700">
                      <a:solidFill>
                        <a:srgbClr val="BDD7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300" noProof="1">
                          <a:solidFill>
                            <a:srgbClr val="262626"/>
                          </a:solidFill>
                          <a:latin typeface="MiSans" charset="-122"/>
                          <a:ea typeface="MiSans" charset="-122"/>
                        </a:rPr>
                        <a:t>会话、工具调用、任务状态、审批状态和错误信息在界面中可见。</a:t>
                      </a:r>
                      <a:endParaRPr lang="en-US" sz="1300" noProof="1">
                        <a:solidFill>
                          <a:srgbClr val="262626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BDD7EE"/>
                      </a:solidFill>
                    </a:lnL>
                    <a:lnR w="12700">
                      <a:solidFill>
                        <a:srgbClr val="BDD7EE"/>
                      </a:solidFill>
                    </a:lnR>
                    <a:lnT w="12700">
                      <a:solidFill>
                        <a:srgbClr val="BDD7EE"/>
                      </a:solidFill>
                    </a:lnT>
                    <a:lnB w="12700">
                      <a:solidFill>
                        <a:srgbClr val="BDD7EE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>
              <a:alphaModFix amt="30000"/>
            </a:blip>
            <a:stretch>
              <a:fillRect/>
            </a:stretch>
          </a:blipFill>
          <a:ln>
            <a:noFill/>
          </a:ln>
        </p:spPr>
      </p:sp>
      <p:sp>
        <p:nvSpPr>
          <p:cNvPr id="3" name="band"/>
          <p:cNvSpPr/>
          <p:nvPr/>
        </p:nvSpPr>
        <p:spPr>
          <a:xfrm>
            <a:off x="0" y="2865120"/>
            <a:ext cx="12192000" cy="1136650"/>
          </a:xfrm>
          <a:prstGeom prst="rect">
            <a:avLst/>
          </a:prstGeom>
          <a:solidFill>
            <a:srgbClr val="5B9BD5"/>
          </a:solidFill>
          <a:ln>
            <a:noFill/>
          </a:ln>
        </p:spPr>
      </p:sp>
      <p:sp>
        <p:nvSpPr>
          <p:cNvPr id="4" name="num-box"/>
          <p:cNvSpPr/>
          <p:nvPr/>
        </p:nvSpPr>
        <p:spPr>
          <a:xfrm>
            <a:off x="1351280" y="2306320"/>
            <a:ext cx="1651000" cy="2306320"/>
          </a:xfrm>
          <a:prstGeom prst="roundRect">
            <a:avLst/>
          </a:prstGeom>
          <a:noFill/>
          <a:ln w="38100">
            <a:solidFill>
              <a:srgbClr val="5B9BD5"/>
            </a:solidFill>
          </a:ln>
          <a:effectLst>
            <a:outerShdw blurRad="63500" algn="bl" rotWithShape="0">
              <a:srgbClr val="000000">
                <a:alpha val="40000"/>
              </a:srgbClr>
            </a:outerShdw>
          </a:effectLst>
        </p:spPr>
      </p:sp>
      <p:sp>
        <p:nvSpPr>
          <p:cNvPr id="5" name="num"/>
          <p:cNvSpPr txBox="1"/>
          <p:nvPr/>
        </p:nvSpPr>
        <p:spPr>
          <a:xfrm>
            <a:off x="1473200" y="2848610"/>
            <a:ext cx="1409700" cy="1231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7600" noProof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</a:rPr>
              <a:t>02</a:t>
            </a:r>
            <a:endParaRPr lang="en-US" sz="7600" noProof="1"/>
          </a:p>
        </p:txBody>
      </p:sp>
      <p:sp>
        <p:nvSpPr>
          <p:cNvPr id="6" name="ch-title"/>
          <p:cNvSpPr txBox="1"/>
          <p:nvPr/>
        </p:nvSpPr>
        <p:spPr>
          <a:xfrm>
            <a:off x="3723640" y="3048000"/>
            <a:ext cx="7874000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000" b="1" noProof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</a:rPr>
              <a:t>        客户端功能全景</a:t>
            </a:r>
            <a:endParaRPr lang="en-US" sz="4000" noProof="1"/>
          </a:p>
        </p:txBody>
      </p:sp>
      <p:sp>
        <p:nvSpPr>
          <p:cNvPr id="7" name="logo"/>
          <p:cNvSpPr txBox="1"/>
          <p:nvPr/>
        </p:nvSpPr>
        <p:spPr>
          <a:xfrm>
            <a:off x="9652000" y="304800"/>
            <a:ext cx="2159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四方上行</a:t>
            </a:r>
            <a:endParaRPr lang="en-US" sz="1600" noProof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tri1"/>
          <p:cNvSpPr/>
          <p:nvPr/>
        </p:nvSpPr>
        <p:spPr>
          <a:xfrm>
            <a:off x="0" y="0"/>
            <a:ext cx="527050" cy="444500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3" name="hd-tri2"/>
          <p:cNvSpPr/>
          <p:nvPr/>
        </p:nvSpPr>
        <p:spPr>
          <a:xfrm rot="5400000">
            <a:off x="349250" y="538480"/>
            <a:ext cx="175260" cy="179070"/>
          </a:xfrm>
          <a:prstGeom prst="triangle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4" name="hd-line1"/>
          <p:cNvSpPr/>
          <p:nvPr/>
        </p:nvSpPr>
        <p:spPr>
          <a:xfrm>
            <a:off x="0" y="985520"/>
            <a:ext cx="8839200" cy="43180"/>
          </a:xfrm>
          <a:prstGeom prst="rect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5" name="hd-line2"/>
          <p:cNvSpPr/>
          <p:nvPr/>
        </p:nvSpPr>
        <p:spPr>
          <a:xfrm>
            <a:off x="8829040" y="985520"/>
            <a:ext cx="3362960" cy="43180"/>
          </a:xfrm>
          <a:prstGeom prst="rect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6" name="hd-title"/>
          <p:cNvSpPr txBox="1"/>
          <p:nvPr/>
        </p:nvSpPr>
        <p:spPr>
          <a:xfrm>
            <a:off x="701040" y="254000"/>
            <a:ext cx="88900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000" noProof="1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</a:rPr>
              <a:t>模型与对话 · 会话工作台</a:t>
            </a:r>
            <a:endParaRPr lang="en-US" sz="3000" noProof="1"/>
          </a:p>
        </p:txBody>
      </p:sp>
      <p:sp>
        <p:nvSpPr>
          <p:cNvPr id="7" name="logo"/>
          <p:cNvSpPr txBox="1"/>
          <p:nvPr/>
        </p:nvSpPr>
        <p:spPr>
          <a:xfrm>
            <a:off x="9652000" y="304800"/>
            <a:ext cx="2159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四方上行</a:t>
            </a:r>
            <a:endParaRPr lang="en-US" sz="1600" noProof="1"/>
          </a:p>
        </p:txBody>
      </p:sp>
      <p:sp>
        <p:nvSpPr>
          <p:cNvPr id="8" name="chat-box"/>
          <p:cNvSpPr/>
          <p:nvPr/>
        </p:nvSpPr>
        <p:spPr>
          <a:xfrm>
            <a:off x="635000" y="1333500"/>
            <a:ext cx="5270500" cy="508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5B9BD5"/>
            </a:solidFill>
          </a:ln>
          <a:effectLst>
            <a:outerShdw blurRad="7620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9" name="chat-head"/>
          <p:cNvSpPr/>
          <p:nvPr/>
        </p:nvSpPr>
        <p:spPr>
          <a:xfrm>
            <a:off x="635000" y="1333500"/>
            <a:ext cx="5270500" cy="50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10" name="chat-title"/>
          <p:cNvSpPr txBox="1"/>
          <p:nvPr/>
        </p:nvSpPr>
        <p:spPr>
          <a:xfrm>
            <a:off x="863600" y="1333500"/>
            <a:ext cx="48133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noProof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</a:rPr>
              <a:t>模型与对话</a:t>
            </a:r>
            <a:endParaRPr lang="en-US" sz="1800" noProof="1"/>
          </a:p>
        </p:txBody>
      </p:sp>
      <p:sp>
        <p:nvSpPr>
          <p:cNvPr id="11" name="chat-body"/>
          <p:cNvSpPr txBox="1"/>
          <p:nvPr/>
        </p:nvSpPr>
        <p:spPr>
          <a:xfrm>
            <a:off x="863600" y="1993900"/>
            <a:ext cx="4813300" cy="426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5000"/>
              </a:lnSpc>
              <a:spcBef>
                <a:spcPts val="10"/>
              </a:spcBef>
              <a:buChar char="•"/>
            </a:pPr>
            <a:r>
              <a:rPr lang="en-US" sz="14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支持 OpenAI 兼容协议和 Anthropic 协议</a:t>
            </a:r>
            <a:endParaRPr lang="en-US" sz="1400" noProof="1"/>
          </a:p>
          <a:p>
            <a:pPr algn="l">
              <a:lnSpc>
                <a:spcPct val="155000"/>
              </a:lnSpc>
              <a:spcBef>
                <a:spcPts val="10"/>
              </a:spcBef>
              <a:buChar char="•"/>
            </a:pPr>
            <a:r>
              <a:rPr lang="en-US" sz="14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Base URL、API Key、模型 ID 和协议独立配置</a:t>
            </a:r>
            <a:endParaRPr lang="en-US" sz="1400" noProof="1"/>
          </a:p>
          <a:p>
            <a:pPr algn="l">
              <a:lnSpc>
                <a:spcPct val="155000"/>
              </a:lnSpc>
              <a:spcBef>
                <a:spcPts val="10"/>
              </a:spcBef>
              <a:buChar char="•"/>
            </a:pPr>
            <a:r>
              <a:rPr lang="en-US" sz="14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SSE 流式输出，实时显示模型生成内容</a:t>
            </a:r>
            <a:endParaRPr lang="en-US" sz="1400" noProof="1"/>
          </a:p>
          <a:p>
            <a:pPr algn="l">
              <a:lnSpc>
                <a:spcPct val="155000"/>
              </a:lnSpc>
              <a:spcBef>
                <a:spcPts val="10"/>
              </a:spcBef>
              <a:buChar char="•"/>
            </a:pPr>
            <a:r>
              <a:rPr lang="en-US" sz="14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支持停止生成、失败重试和联通性检测</a:t>
            </a:r>
            <a:endParaRPr lang="en-US" sz="1400" noProof="1"/>
          </a:p>
          <a:p>
            <a:pPr algn="l">
              <a:lnSpc>
                <a:spcPct val="155000"/>
              </a:lnSpc>
              <a:spcBef>
                <a:spcPts val="10"/>
              </a:spcBef>
              <a:buChar char="•"/>
            </a:pPr>
            <a:r>
              <a:rPr lang="en-US" sz="14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对话通过 Electron 主进程发起，避免渲染进程直接处理密钥请求</a:t>
            </a:r>
            <a:endParaRPr lang="en-US" sz="1400" noProof="1"/>
          </a:p>
        </p:txBody>
      </p:sp>
      <p:sp>
        <p:nvSpPr>
          <p:cNvPr id="12" name="bench-box"/>
          <p:cNvSpPr/>
          <p:nvPr/>
        </p:nvSpPr>
        <p:spPr>
          <a:xfrm>
            <a:off x="6286500" y="1333500"/>
            <a:ext cx="5270500" cy="508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5B9BD5"/>
            </a:solidFill>
          </a:ln>
          <a:effectLst>
            <a:outerShdw blurRad="7620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3" name="bench-head"/>
          <p:cNvSpPr/>
          <p:nvPr/>
        </p:nvSpPr>
        <p:spPr>
          <a:xfrm>
            <a:off x="6286500" y="1333500"/>
            <a:ext cx="5270500" cy="508000"/>
          </a:xfrm>
          <a:prstGeom prst="rect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14" name="bench-title"/>
          <p:cNvSpPr txBox="1"/>
          <p:nvPr/>
        </p:nvSpPr>
        <p:spPr>
          <a:xfrm>
            <a:off x="6515100" y="1333500"/>
            <a:ext cx="48133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noProof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</a:rPr>
              <a:t>会话工作台</a:t>
            </a:r>
            <a:endParaRPr lang="en-US" sz="1800" noProof="1"/>
          </a:p>
        </p:txBody>
      </p:sp>
      <p:sp>
        <p:nvSpPr>
          <p:cNvPr id="15" name="bench-body"/>
          <p:cNvSpPr txBox="1"/>
          <p:nvPr/>
        </p:nvSpPr>
        <p:spPr>
          <a:xfrm>
            <a:off x="6515100" y="1993900"/>
            <a:ext cx="4813300" cy="426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5000"/>
              </a:lnSpc>
              <a:spcBef>
                <a:spcPts val="10"/>
              </a:spcBef>
              <a:buChar char="•"/>
            </a:pPr>
            <a:r>
              <a:rPr lang="en-US" sz="14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新建、切换、重命名和删除会话</a:t>
            </a:r>
            <a:endParaRPr lang="en-US" sz="1400" noProof="1"/>
          </a:p>
          <a:p>
            <a:pPr algn="l">
              <a:lnSpc>
                <a:spcPct val="155000"/>
              </a:lnSpc>
              <a:spcBef>
                <a:spcPts val="10"/>
              </a:spcBef>
              <a:buChar char="•"/>
            </a:pPr>
            <a:r>
              <a:rPr lang="en-US" sz="14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会话保存消息上下文、项目目录、权限模式和当前启用的 Skill</a:t>
            </a:r>
            <a:endParaRPr lang="en-US" sz="1400" noProof="1"/>
          </a:p>
          <a:p>
            <a:pPr algn="l">
              <a:lnSpc>
                <a:spcPct val="155000"/>
              </a:lnSpc>
              <a:spcBef>
                <a:spcPts val="10"/>
              </a:spcBef>
              <a:buChar char="•"/>
            </a:pPr>
            <a:r>
              <a:rPr lang="en-US" sz="14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支持将会话关联到一个本地项目文件夹</a:t>
            </a:r>
            <a:endParaRPr lang="en-US" sz="1400" noProof="1"/>
          </a:p>
          <a:p>
            <a:pPr algn="l">
              <a:lnSpc>
                <a:spcPct val="155000"/>
              </a:lnSpc>
              <a:spcBef>
                <a:spcPts val="10"/>
              </a:spcBef>
              <a:buChar char="•"/>
            </a:pPr>
            <a:r>
              <a:rPr lang="en-US" sz="14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会话状态通过 localStorage 持久化，重启后恢复历史会话</a:t>
            </a:r>
            <a:endParaRPr lang="en-US" sz="1400" noProof="1"/>
          </a:p>
          <a:p>
            <a:pPr algn="l">
              <a:lnSpc>
                <a:spcPct val="155000"/>
              </a:lnSpc>
              <a:spcBef>
                <a:spcPts val="10"/>
              </a:spcBef>
              <a:buChar char="•"/>
            </a:pPr>
            <a:r>
              <a:rPr lang="en-US" sz="14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左侧边栏统一提供 Chat、Tools、Skills 和 MCP 入口</a:t>
            </a:r>
            <a:endParaRPr lang="en-US" sz="1400" noProof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tri1"/>
          <p:cNvSpPr/>
          <p:nvPr/>
        </p:nvSpPr>
        <p:spPr>
          <a:xfrm>
            <a:off x="0" y="0"/>
            <a:ext cx="527050" cy="444500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3" name="hd-tri2"/>
          <p:cNvSpPr/>
          <p:nvPr/>
        </p:nvSpPr>
        <p:spPr>
          <a:xfrm rot="5400000">
            <a:off x="349250" y="538480"/>
            <a:ext cx="175260" cy="179070"/>
          </a:xfrm>
          <a:prstGeom prst="triangle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4" name="hd-line1"/>
          <p:cNvSpPr/>
          <p:nvPr/>
        </p:nvSpPr>
        <p:spPr>
          <a:xfrm>
            <a:off x="0" y="985520"/>
            <a:ext cx="8839200" cy="43180"/>
          </a:xfrm>
          <a:prstGeom prst="rect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5" name="hd-line2"/>
          <p:cNvSpPr/>
          <p:nvPr/>
        </p:nvSpPr>
        <p:spPr>
          <a:xfrm>
            <a:off x="8829040" y="985520"/>
            <a:ext cx="3362960" cy="43180"/>
          </a:xfrm>
          <a:prstGeom prst="rect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6" name="hd-title"/>
          <p:cNvSpPr txBox="1"/>
          <p:nvPr/>
        </p:nvSpPr>
        <p:spPr>
          <a:xfrm>
            <a:off x="701040" y="254000"/>
            <a:ext cx="88900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000" noProof="1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</a:rPr>
              <a:t>文件上传与分析</a:t>
            </a:r>
            <a:endParaRPr lang="en-US" sz="3000" noProof="1"/>
          </a:p>
        </p:txBody>
      </p:sp>
      <p:sp>
        <p:nvSpPr>
          <p:cNvPr id="7" name="logo"/>
          <p:cNvSpPr txBox="1"/>
          <p:nvPr/>
        </p:nvSpPr>
        <p:spPr>
          <a:xfrm>
            <a:off x="9652000" y="304800"/>
            <a:ext cx="2159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四方上行</a:t>
            </a:r>
            <a:endParaRPr lang="en-US" sz="1600" noProof="1"/>
          </a:p>
        </p:txBody>
      </p:sp>
      <p:sp>
        <p:nvSpPr>
          <p:cNvPr id="8" name="types-box"/>
          <p:cNvSpPr/>
          <p:nvPr/>
        </p:nvSpPr>
        <p:spPr>
          <a:xfrm>
            <a:off x="635000" y="1333500"/>
            <a:ext cx="4191000" cy="4191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5B9BD5"/>
            </a:solidFill>
          </a:ln>
          <a:effectLst>
            <a:outerShdw blurRad="7620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9" name="types-head"/>
          <p:cNvSpPr/>
          <p:nvPr/>
        </p:nvSpPr>
        <p:spPr>
          <a:xfrm>
            <a:off x="635000" y="1333500"/>
            <a:ext cx="4191000" cy="50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10" name="types-title"/>
          <p:cNvSpPr txBox="1"/>
          <p:nvPr/>
        </p:nvSpPr>
        <p:spPr>
          <a:xfrm>
            <a:off x="863600" y="1333500"/>
            <a:ext cx="37338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noProof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</a:rPr>
              <a:t>支持的主要文件类型</a:t>
            </a:r>
            <a:endParaRPr lang="en-US" sz="1800" noProof="1"/>
          </a:p>
        </p:txBody>
      </p:sp>
      <p:sp>
        <p:nvSpPr>
          <p:cNvPr id="11" name="types-body"/>
          <p:cNvSpPr txBox="1"/>
          <p:nvPr/>
        </p:nvSpPr>
        <p:spPr>
          <a:xfrm>
            <a:off x="863600" y="1993900"/>
            <a:ext cx="3733800" cy="337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5000"/>
              </a:lnSpc>
              <a:spcBef>
                <a:spcPts val="10"/>
              </a:spcBef>
              <a:buChar char="•"/>
            </a:pPr>
            <a:r>
              <a:rPr lang="en-US" sz="1400" b="1" noProof="1">
                <a:solidFill>
                  <a:srgbClr val="262626"/>
                </a:solidFill>
                <a:latin typeface="MiSans" charset="-122"/>
                <a:ea typeface="MiSans" charset="-122"/>
              </a:rPr>
              <a:t>文本和代码</a:t>
            </a:r>
            <a:r>
              <a:rPr lang="en-US" sz="14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：.txt、.md、.json、.csv 及常见代码文件</a:t>
            </a:r>
            <a:endParaRPr lang="en-US" sz="1400" noProof="1"/>
          </a:p>
          <a:p>
            <a:pPr algn="l">
              <a:lnSpc>
                <a:spcPct val="155000"/>
              </a:lnSpc>
              <a:spcBef>
                <a:spcPts val="10"/>
              </a:spcBef>
              <a:buChar char="•"/>
            </a:pPr>
            <a:r>
              <a:rPr lang="en-US" sz="1400" b="1" noProof="1">
                <a:solidFill>
                  <a:srgbClr val="262626"/>
                </a:solidFill>
                <a:latin typeface="MiSans" charset="-122"/>
                <a:ea typeface="MiSans" charset="-122"/>
              </a:rPr>
              <a:t>图片</a:t>
            </a:r>
            <a:r>
              <a:rPr lang="en-US" sz="14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：.png、.jpg、.jpeg、.webp</a:t>
            </a:r>
            <a:endParaRPr lang="en-US" sz="1400" noProof="1"/>
          </a:p>
          <a:p>
            <a:pPr algn="l">
              <a:lnSpc>
                <a:spcPct val="155000"/>
              </a:lnSpc>
              <a:spcBef>
                <a:spcPts val="10"/>
              </a:spcBef>
              <a:buChar char="•"/>
            </a:pPr>
            <a:r>
              <a:rPr lang="en-US" sz="1400" b="1" noProof="1">
                <a:solidFill>
                  <a:srgbClr val="262626"/>
                </a:solidFill>
                <a:latin typeface="MiSans" charset="-122"/>
                <a:ea typeface="MiSans" charset="-122"/>
              </a:rPr>
              <a:t>文档</a:t>
            </a:r>
            <a:r>
              <a:rPr lang="en-US" sz="14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：.pdf、.docx</a:t>
            </a:r>
            <a:endParaRPr lang="en-US" sz="1400" noProof="1"/>
          </a:p>
          <a:p>
            <a:pPr algn="l">
              <a:lnSpc>
                <a:spcPct val="155000"/>
              </a:lnSpc>
              <a:spcBef>
                <a:spcPts val="10"/>
              </a:spcBef>
              <a:buChar char="•"/>
            </a:pPr>
            <a:r>
              <a:rPr lang="en-US" sz="1400" b="1" noProof="1">
                <a:solidFill>
                  <a:srgbClr val="262626"/>
                </a:solidFill>
                <a:latin typeface="MiSans" charset="-122"/>
                <a:ea typeface="MiSans" charset="-122"/>
              </a:rPr>
              <a:t>表格</a:t>
            </a:r>
            <a:r>
              <a:rPr lang="en-US" sz="14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：.xlsx、.xls</a:t>
            </a:r>
            <a:endParaRPr lang="en-US" sz="1400" noProof="1"/>
          </a:p>
          <a:p>
            <a:pPr algn="l">
              <a:lnSpc>
                <a:spcPct val="155000"/>
              </a:lnSpc>
              <a:spcBef>
                <a:spcPts val="10"/>
              </a:spcBef>
              <a:buChar char="•"/>
            </a:pPr>
            <a:r>
              <a:rPr lang="en-US" sz="1400" b="1" noProof="1">
                <a:solidFill>
                  <a:srgbClr val="262626"/>
                </a:solidFill>
                <a:latin typeface="MiSans" charset="-122"/>
                <a:ea typeface="MiSans" charset="-122"/>
              </a:rPr>
              <a:t>演示文档</a:t>
            </a:r>
            <a:r>
              <a:rPr lang="en-US" sz="14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：.pptx</a:t>
            </a:r>
            <a:endParaRPr lang="en-US" sz="1400" noProof="1"/>
          </a:p>
        </p:txBody>
      </p:sp>
      <p:sp>
        <p:nvSpPr>
          <p:cNvPr id="12" name="flow-title"/>
          <p:cNvSpPr txBox="1"/>
          <p:nvPr/>
        </p:nvSpPr>
        <p:spPr>
          <a:xfrm>
            <a:off x="5334000" y="1333500"/>
            <a:ext cx="6223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附件处理流程</a:t>
            </a:r>
            <a:endParaRPr lang="en-US" sz="1800" noProof="1"/>
          </a:p>
        </p:txBody>
      </p:sp>
      <p:sp>
        <p:nvSpPr>
          <p:cNvPr id="13" name="step0"/>
          <p:cNvSpPr/>
          <p:nvPr/>
        </p:nvSpPr>
        <p:spPr>
          <a:xfrm>
            <a:off x="5334000" y="1841500"/>
            <a:ext cx="6223000" cy="482600"/>
          </a:xfrm>
          <a:prstGeom prst="roundRect">
            <a:avLst>
              <a:gd name="adj" fmla="val 12000"/>
            </a:avLst>
          </a:prstGeom>
          <a:solidFill>
            <a:srgbClr val="EAF3FB"/>
          </a:solidFill>
          <a:ln w="12700">
            <a:solidFill>
              <a:srgbClr val="5B9BD5"/>
            </a:solidFill>
          </a:ln>
        </p:spPr>
      </p:sp>
      <p:sp>
        <p:nvSpPr>
          <p:cNvPr id="14" name="step0-t"/>
          <p:cNvSpPr txBox="1"/>
          <p:nvPr/>
        </p:nvSpPr>
        <p:spPr>
          <a:xfrm>
            <a:off x="5588000" y="1841500"/>
            <a:ext cx="57150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noProof="1">
                <a:solidFill>
                  <a:srgbClr val="0070C0"/>
                </a:solidFill>
                <a:latin typeface="MiSans" charset="-122"/>
                <a:ea typeface="MiSans" charset="-122"/>
              </a:rPr>
              <a:t>1</a:t>
            </a:r>
            <a:r>
              <a:rPr lang="en-US" sz="14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　选择或拖拽文件</a:t>
            </a:r>
            <a:endParaRPr lang="en-US" sz="1400" noProof="1"/>
          </a:p>
        </p:txBody>
      </p:sp>
      <p:sp>
        <p:nvSpPr>
          <p:cNvPr id="15" name="arr0"/>
          <p:cNvSpPr/>
          <p:nvPr/>
        </p:nvSpPr>
        <p:spPr>
          <a:xfrm>
            <a:off x="8318500" y="2324100"/>
            <a:ext cx="203200" cy="127000"/>
          </a:xfrm>
          <a:custGeom>
            <a:avLst/>
            <a:gdLst/>
            <a:ahLst/>
            <a:cxnLst/>
            <a:rect l="l" t="t" r="r" b="b"/>
            <a:pathLst>
              <a:path w="384" h="512">
                <a:moveTo>
                  <a:pt x="169" y="375"/>
                </a:moveTo>
                <a:cubicBezTo>
                  <a:pt x="182" y="387"/>
                  <a:pt x="202" y="387"/>
                  <a:pt x="215" y="375"/>
                </a:cubicBezTo>
                <a:lnTo>
                  <a:pt x="375" y="215"/>
                </a:lnTo>
                <a:cubicBezTo>
                  <a:pt x="387" y="202"/>
                  <a:pt x="387" y="182"/>
                  <a:pt x="375" y="169"/>
                </a:cubicBezTo>
                <a:cubicBezTo>
                  <a:pt x="362" y="157"/>
                  <a:pt x="342" y="157"/>
                  <a:pt x="329" y="169"/>
                </a:cubicBezTo>
                <a:lnTo>
                  <a:pt x="192" y="307"/>
                </a:lnTo>
                <a:lnTo>
                  <a:pt x="55" y="169"/>
                </a:lnTo>
                <a:cubicBezTo>
                  <a:pt x="42" y="157"/>
                  <a:pt x="22" y="157"/>
                  <a:pt x="9" y="169"/>
                </a:cubicBezTo>
                <a:cubicBezTo>
                  <a:pt x="-3" y="182"/>
                  <a:pt x="-3" y="202"/>
                  <a:pt x="9" y="215"/>
                </a:cubicBezTo>
                <a:lnTo>
                  <a:pt x="169" y="375"/>
                </a:lnTo>
                <a:close/>
              </a:path>
            </a:pathLst>
          </a:custGeom>
          <a:solidFill>
            <a:srgbClr val="5B9BD5"/>
          </a:solidFill>
          <a:ln>
            <a:noFill/>
          </a:ln>
        </p:spPr>
      </p:sp>
      <p:sp>
        <p:nvSpPr>
          <p:cNvPr id="16" name="step1"/>
          <p:cNvSpPr/>
          <p:nvPr/>
        </p:nvSpPr>
        <p:spPr>
          <a:xfrm>
            <a:off x="5334000" y="2451100"/>
            <a:ext cx="6223000" cy="482600"/>
          </a:xfrm>
          <a:prstGeom prst="roundRect">
            <a:avLst>
              <a:gd name="adj" fmla="val 12000"/>
            </a:avLst>
          </a:prstGeom>
          <a:solidFill>
            <a:srgbClr val="FDF3E3"/>
          </a:solidFill>
          <a:ln w="12700">
            <a:solidFill>
              <a:srgbClr val="E89924"/>
            </a:solidFill>
          </a:ln>
        </p:spPr>
      </p:sp>
      <p:sp>
        <p:nvSpPr>
          <p:cNvPr id="17" name="step1-t"/>
          <p:cNvSpPr txBox="1"/>
          <p:nvPr/>
        </p:nvSpPr>
        <p:spPr>
          <a:xfrm>
            <a:off x="5588000" y="2451100"/>
            <a:ext cx="57150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noProof="1">
                <a:solidFill>
                  <a:srgbClr val="0070C0"/>
                </a:solidFill>
                <a:latin typeface="MiSans" charset="-122"/>
                <a:ea typeface="MiSans" charset="-122"/>
              </a:rPr>
              <a:t>2</a:t>
            </a:r>
            <a:r>
              <a:rPr lang="en-US" sz="14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　校验扩展名、文件头、数量和大小</a:t>
            </a:r>
            <a:endParaRPr lang="en-US" sz="1400" noProof="1"/>
          </a:p>
        </p:txBody>
      </p:sp>
      <p:sp>
        <p:nvSpPr>
          <p:cNvPr id="18" name="arr1"/>
          <p:cNvSpPr/>
          <p:nvPr/>
        </p:nvSpPr>
        <p:spPr>
          <a:xfrm>
            <a:off x="8318500" y="2933700"/>
            <a:ext cx="203200" cy="127000"/>
          </a:xfrm>
          <a:custGeom>
            <a:avLst/>
            <a:gdLst/>
            <a:ahLst/>
            <a:cxnLst/>
            <a:rect l="l" t="t" r="r" b="b"/>
            <a:pathLst>
              <a:path w="384" h="512">
                <a:moveTo>
                  <a:pt x="169" y="375"/>
                </a:moveTo>
                <a:cubicBezTo>
                  <a:pt x="182" y="387"/>
                  <a:pt x="202" y="387"/>
                  <a:pt x="215" y="375"/>
                </a:cubicBezTo>
                <a:lnTo>
                  <a:pt x="375" y="215"/>
                </a:lnTo>
                <a:cubicBezTo>
                  <a:pt x="387" y="202"/>
                  <a:pt x="387" y="182"/>
                  <a:pt x="375" y="169"/>
                </a:cubicBezTo>
                <a:cubicBezTo>
                  <a:pt x="362" y="157"/>
                  <a:pt x="342" y="157"/>
                  <a:pt x="329" y="169"/>
                </a:cubicBezTo>
                <a:lnTo>
                  <a:pt x="192" y="307"/>
                </a:lnTo>
                <a:lnTo>
                  <a:pt x="55" y="169"/>
                </a:lnTo>
                <a:cubicBezTo>
                  <a:pt x="42" y="157"/>
                  <a:pt x="22" y="157"/>
                  <a:pt x="9" y="169"/>
                </a:cubicBezTo>
                <a:cubicBezTo>
                  <a:pt x="-3" y="182"/>
                  <a:pt x="-3" y="202"/>
                  <a:pt x="9" y="215"/>
                </a:cubicBezTo>
                <a:lnTo>
                  <a:pt x="169" y="375"/>
                </a:lnTo>
                <a:close/>
              </a:path>
            </a:pathLst>
          </a:custGeom>
          <a:solidFill>
            <a:srgbClr val="5B9BD5"/>
          </a:solidFill>
          <a:ln>
            <a:noFill/>
          </a:ln>
        </p:spPr>
      </p:sp>
      <p:sp>
        <p:nvSpPr>
          <p:cNvPr id="19" name="step2"/>
          <p:cNvSpPr/>
          <p:nvPr/>
        </p:nvSpPr>
        <p:spPr>
          <a:xfrm>
            <a:off x="5334000" y="3060700"/>
            <a:ext cx="6223000" cy="482600"/>
          </a:xfrm>
          <a:prstGeom prst="roundRect">
            <a:avLst>
              <a:gd name="adj" fmla="val 12000"/>
            </a:avLst>
          </a:prstGeom>
          <a:solidFill>
            <a:srgbClr val="EAF3FB"/>
          </a:solidFill>
          <a:ln w="12700">
            <a:solidFill>
              <a:srgbClr val="5B9BD5"/>
            </a:solidFill>
          </a:ln>
        </p:spPr>
      </p:sp>
      <p:sp>
        <p:nvSpPr>
          <p:cNvPr id="20" name="step2-t"/>
          <p:cNvSpPr txBox="1"/>
          <p:nvPr/>
        </p:nvSpPr>
        <p:spPr>
          <a:xfrm>
            <a:off x="5588000" y="3060700"/>
            <a:ext cx="57150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noProof="1">
                <a:solidFill>
                  <a:srgbClr val="0070C0"/>
                </a:solidFill>
                <a:latin typeface="MiSans" charset="-122"/>
                <a:ea typeface="MiSans" charset="-122"/>
              </a:rPr>
              <a:t>3</a:t>
            </a:r>
            <a:r>
              <a:rPr lang="en-US" sz="14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　复制到 Electron 临时目录</a:t>
            </a:r>
            <a:endParaRPr lang="en-US" sz="1400" noProof="1"/>
          </a:p>
        </p:txBody>
      </p:sp>
      <p:sp>
        <p:nvSpPr>
          <p:cNvPr id="21" name="arr2"/>
          <p:cNvSpPr/>
          <p:nvPr/>
        </p:nvSpPr>
        <p:spPr>
          <a:xfrm>
            <a:off x="8318500" y="3543300"/>
            <a:ext cx="203200" cy="127000"/>
          </a:xfrm>
          <a:custGeom>
            <a:avLst/>
            <a:gdLst/>
            <a:ahLst/>
            <a:cxnLst/>
            <a:rect l="l" t="t" r="r" b="b"/>
            <a:pathLst>
              <a:path w="384" h="512">
                <a:moveTo>
                  <a:pt x="169" y="375"/>
                </a:moveTo>
                <a:cubicBezTo>
                  <a:pt x="182" y="387"/>
                  <a:pt x="202" y="387"/>
                  <a:pt x="215" y="375"/>
                </a:cubicBezTo>
                <a:lnTo>
                  <a:pt x="375" y="215"/>
                </a:lnTo>
                <a:cubicBezTo>
                  <a:pt x="387" y="202"/>
                  <a:pt x="387" y="182"/>
                  <a:pt x="375" y="169"/>
                </a:cubicBezTo>
                <a:cubicBezTo>
                  <a:pt x="362" y="157"/>
                  <a:pt x="342" y="157"/>
                  <a:pt x="329" y="169"/>
                </a:cubicBezTo>
                <a:lnTo>
                  <a:pt x="192" y="307"/>
                </a:lnTo>
                <a:lnTo>
                  <a:pt x="55" y="169"/>
                </a:lnTo>
                <a:cubicBezTo>
                  <a:pt x="42" y="157"/>
                  <a:pt x="22" y="157"/>
                  <a:pt x="9" y="169"/>
                </a:cubicBezTo>
                <a:cubicBezTo>
                  <a:pt x="-3" y="182"/>
                  <a:pt x="-3" y="202"/>
                  <a:pt x="9" y="215"/>
                </a:cubicBezTo>
                <a:lnTo>
                  <a:pt x="169" y="375"/>
                </a:lnTo>
                <a:close/>
              </a:path>
            </a:pathLst>
          </a:custGeom>
          <a:solidFill>
            <a:srgbClr val="5B9BD5"/>
          </a:solidFill>
          <a:ln>
            <a:noFill/>
          </a:ln>
        </p:spPr>
      </p:sp>
      <p:sp>
        <p:nvSpPr>
          <p:cNvPr id="22" name="step3"/>
          <p:cNvSpPr/>
          <p:nvPr/>
        </p:nvSpPr>
        <p:spPr>
          <a:xfrm>
            <a:off x="5334000" y="3670300"/>
            <a:ext cx="6223000" cy="482600"/>
          </a:xfrm>
          <a:prstGeom prst="roundRect">
            <a:avLst>
              <a:gd name="adj" fmla="val 12000"/>
            </a:avLst>
          </a:prstGeom>
          <a:solidFill>
            <a:srgbClr val="FDF3E3"/>
          </a:solidFill>
          <a:ln w="12700">
            <a:solidFill>
              <a:srgbClr val="E89924"/>
            </a:solidFill>
          </a:ln>
        </p:spPr>
      </p:sp>
      <p:sp>
        <p:nvSpPr>
          <p:cNvPr id="23" name="step3-t"/>
          <p:cNvSpPr txBox="1"/>
          <p:nvPr/>
        </p:nvSpPr>
        <p:spPr>
          <a:xfrm>
            <a:off x="5588000" y="3670300"/>
            <a:ext cx="57150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noProof="1">
                <a:solidFill>
                  <a:srgbClr val="0070C0"/>
                </a:solidFill>
                <a:latin typeface="MiSans" charset="-122"/>
                <a:ea typeface="MiSans" charset="-122"/>
              </a:rPr>
              <a:t>4</a:t>
            </a:r>
            <a:r>
              <a:rPr lang="en-US" sz="14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　主进程本地解析</a:t>
            </a:r>
            <a:endParaRPr lang="en-US" sz="1400" noProof="1"/>
          </a:p>
        </p:txBody>
      </p:sp>
      <p:sp>
        <p:nvSpPr>
          <p:cNvPr id="24" name="arr3"/>
          <p:cNvSpPr/>
          <p:nvPr/>
        </p:nvSpPr>
        <p:spPr>
          <a:xfrm>
            <a:off x="8318500" y="4152900"/>
            <a:ext cx="203200" cy="127000"/>
          </a:xfrm>
          <a:custGeom>
            <a:avLst/>
            <a:gdLst/>
            <a:ahLst/>
            <a:cxnLst/>
            <a:rect l="l" t="t" r="r" b="b"/>
            <a:pathLst>
              <a:path w="384" h="512">
                <a:moveTo>
                  <a:pt x="169" y="375"/>
                </a:moveTo>
                <a:cubicBezTo>
                  <a:pt x="182" y="387"/>
                  <a:pt x="202" y="387"/>
                  <a:pt x="215" y="375"/>
                </a:cubicBezTo>
                <a:lnTo>
                  <a:pt x="375" y="215"/>
                </a:lnTo>
                <a:cubicBezTo>
                  <a:pt x="387" y="202"/>
                  <a:pt x="387" y="182"/>
                  <a:pt x="375" y="169"/>
                </a:cubicBezTo>
                <a:cubicBezTo>
                  <a:pt x="362" y="157"/>
                  <a:pt x="342" y="157"/>
                  <a:pt x="329" y="169"/>
                </a:cubicBezTo>
                <a:lnTo>
                  <a:pt x="192" y="307"/>
                </a:lnTo>
                <a:lnTo>
                  <a:pt x="55" y="169"/>
                </a:lnTo>
                <a:cubicBezTo>
                  <a:pt x="42" y="157"/>
                  <a:pt x="22" y="157"/>
                  <a:pt x="9" y="169"/>
                </a:cubicBezTo>
                <a:cubicBezTo>
                  <a:pt x="-3" y="182"/>
                  <a:pt x="-3" y="202"/>
                  <a:pt x="9" y="215"/>
                </a:cubicBezTo>
                <a:lnTo>
                  <a:pt x="169" y="375"/>
                </a:lnTo>
                <a:close/>
              </a:path>
            </a:pathLst>
          </a:custGeom>
          <a:solidFill>
            <a:srgbClr val="5B9BD5"/>
          </a:solidFill>
          <a:ln>
            <a:noFill/>
          </a:ln>
        </p:spPr>
      </p:sp>
      <p:sp>
        <p:nvSpPr>
          <p:cNvPr id="25" name="step4"/>
          <p:cNvSpPr/>
          <p:nvPr/>
        </p:nvSpPr>
        <p:spPr>
          <a:xfrm>
            <a:off x="5334000" y="4279900"/>
            <a:ext cx="6223000" cy="482600"/>
          </a:xfrm>
          <a:prstGeom prst="roundRect">
            <a:avLst>
              <a:gd name="adj" fmla="val 12000"/>
            </a:avLst>
          </a:prstGeom>
          <a:solidFill>
            <a:srgbClr val="EAF3FB"/>
          </a:solidFill>
          <a:ln w="12700">
            <a:solidFill>
              <a:srgbClr val="5B9BD5"/>
            </a:solidFill>
          </a:ln>
        </p:spPr>
      </p:sp>
      <p:sp>
        <p:nvSpPr>
          <p:cNvPr id="26" name="step4-t"/>
          <p:cNvSpPr txBox="1"/>
          <p:nvPr/>
        </p:nvSpPr>
        <p:spPr>
          <a:xfrm>
            <a:off x="5588000" y="4279900"/>
            <a:ext cx="57150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noProof="1">
                <a:solidFill>
                  <a:srgbClr val="0070C0"/>
                </a:solidFill>
                <a:latin typeface="MiSans" charset="-122"/>
                <a:ea typeface="MiSans" charset="-122"/>
              </a:rPr>
              <a:t>5</a:t>
            </a:r>
            <a:r>
              <a:rPr lang="en-US" sz="14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　文本或图片上下文注入模型请求</a:t>
            </a:r>
            <a:endParaRPr lang="en-US" sz="1400" noProof="1"/>
          </a:p>
        </p:txBody>
      </p:sp>
      <p:sp>
        <p:nvSpPr>
          <p:cNvPr id="27" name="arr4"/>
          <p:cNvSpPr/>
          <p:nvPr/>
        </p:nvSpPr>
        <p:spPr>
          <a:xfrm>
            <a:off x="8318500" y="4762500"/>
            <a:ext cx="203200" cy="127000"/>
          </a:xfrm>
          <a:custGeom>
            <a:avLst/>
            <a:gdLst/>
            <a:ahLst/>
            <a:cxnLst/>
            <a:rect l="l" t="t" r="r" b="b"/>
            <a:pathLst>
              <a:path w="384" h="512">
                <a:moveTo>
                  <a:pt x="169" y="375"/>
                </a:moveTo>
                <a:cubicBezTo>
                  <a:pt x="182" y="387"/>
                  <a:pt x="202" y="387"/>
                  <a:pt x="215" y="375"/>
                </a:cubicBezTo>
                <a:lnTo>
                  <a:pt x="375" y="215"/>
                </a:lnTo>
                <a:cubicBezTo>
                  <a:pt x="387" y="202"/>
                  <a:pt x="387" y="182"/>
                  <a:pt x="375" y="169"/>
                </a:cubicBezTo>
                <a:cubicBezTo>
                  <a:pt x="362" y="157"/>
                  <a:pt x="342" y="157"/>
                  <a:pt x="329" y="169"/>
                </a:cubicBezTo>
                <a:lnTo>
                  <a:pt x="192" y="307"/>
                </a:lnTo>
                <a:lnTo>
                  <a:pt x="55" y="169"/>
                </a:lnTo>
                <a:cubicBezTo>
                  <a:pt x="42" y="157"/>
                  <a:pt x="22" y="157"/>
                  <a:pt x="9" y="169"/>
                </a:cubicBezTo>
                <a:cubicBezTo>
                  <a:pt x="-3" y="182"/>
                  <a:pt x="-3" y="202"/>
                  <a:pt x="9" y="215"/>
                </a:cubicBezTo>
                <a:lnTo>
                  <a:pt x="169" y="375"/>
                </a:lnTo>
                <a:close/>
              </a:path>
            </a:pathLst>
          </a:custGeom>
          <a:solidFill>
            <a:srgbClr val="5B9BD5"/>
          </a:solidFill>
          <a:ln>
            <a:noFill/>
          </a:ln>
        </p:spPr>
      </p:sp>
      <p:sp>
        <p:nvSpPr>
          <p:cNvPr id="28" name="step5"/>
          <p:cNvSpPr/>
          <p:nvPr/>
        </p:nvSpPr>
        <p:spPr>
          <a:xfrm>
            <a:off x="5334000" y="4889500"/>
            <a:ext cx="6223000" cy="482600"/>
          </a:xfrm>
          <a:prstGeom prst="roundRect">
            <a:avLst>
              <a:gd name="adj" fmla="val 12000"/>
            </a:avLst>
          </a:prstGeom>
          <a:solidFill>
            <a:srgbClr val="FDF3E3"/>
          </a:solidFill>
          <a:ln w="12700">
            <a:solidFill>
              <a:srgbClr val="E89924"/>
            </a:solidFill>
          </a:ln>
        </p:spPr>
      </p:sp>
      <p:sp>
        <p:nvSpPr>
          <p:cNvPr id="29" name="step5-t"/>
          <p:cNvSpPr txBox="1"/>
          <p:nvPr/>
        </p:nvSpPr>
        <p:spPr>
          <a:xfrm>
            <a:off x="5588000" y="4889500"/>
            <a:ext cx="57150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noProof="1">
                <a:solidFill>
                  <a:srgbClr val="0070C0"/>
                </a:solidFill>
                <a:latin typeface="MiSans" charset="-122"/>
                <a:ea typeface="MiSans" charset="-122"/>
              </a:rPr>
              <a:t>6</a:t>
            </a:r>
            <a:r>
              <a:rPr lang="en-US" sz="14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　任务完成后清理临时文件</a:t>
            </a:r>
            <a:endParaRPr lang="en-US" sz="1400" noProof="1"/>
          </a:p>
        </p:txBody>
      </p:sp>
      <p:sp>
        <p:nvSpPr>
          <p:cNvPr id="30" name="boundary-bar"/>
          <p:cNvSpPr/>
          <p:nvPr/>
        </p:nvSpPr>
        <p:spPr>
          <a:xfrm>
            <a:off x="635000" y="5842000"/>
            <a:ext cx="10922000" cy="660400"/>
          </a:xfrm>
          <a:prstGeom prst="rect">
            <a:avLst/>
          </a:prstGeom>
          <a:solidFill>
            <a:srgbClr val="223962"/>
          </a:solidFill>
          <a:ln>
            <a:noFill/>
          </a:ln>
        </p:spPr>
      </p:sp>
      <p:sp>
        <p:nvSpPr>
          <p:cNvPr id="31" name="boundary-text"/>
          <p:cNvSpPr txBox="1"/>
          <p:nvPr/>
        </p:nvSpPr>
        <p:spPr>
          <a:xfrm>
            <a:off x="889000" y="5842000"/>
            <a:ext cx="104140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noProof="1">
                <a:solidFill>
                  <a:srgbClr val="E89924"/>
                </a:solidFill>
                <a:latin typeface="MiSans" charset="-122"/>
                <a:ea typeface="MiSans" charset="-122"/>
              </a:rPr>
              <a:t>当前边界：</a:t>
            </a:r>
            <a:r>
              <a:rPr lang="en-US" sz="1300" noProof="1">
                <a:solidFill>
                  <a:srgbClr val="FFFFFF"/>
                </a:solidFill>
                <a:latin typeface="MiSans" charset="-122"/>
                <a:ea typeface="MiSans" charset="-122"/>
              </a:rPr>
              <a:t>单文件最大 20MB，单次最多 5 个附件；单文件文本提取最多 100,000 字符，全部附件合计最多 180,000 字符。Office 文件本地解析，失败仅提示错误，不影响其他会话能力。</a:t>
            </a:r>
            <a:endParaRPr lang="en-US" sz="1300" noProof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tri1"/>
          <p:cNvSpPr/>
          <p:nvPr/>
        </p:nvSpPr>
        <p:spPr>
          <a:xfrm>
            <a:off x="0" y="0"/>
            <a:ext cx="527050" cy="444500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3" name="hd-tri2"/>
          <p:cNvSpPr/>
          <p:nvPr/>
        </p:nvSpPr>
        <p:spPr>
          <a:xfrm rot="5400000">
            <a:off x="349250" y="538480"/>
            <a:ext cx="175260" cy="179070"/>
          </a:xfrm>
          <a:prstGeom prst="triangle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4" name="hd-line1"/>
          <p:cNvSpPr/>
          <p:nvPr/>
        </p:nvSpPr>
        <p:spPr>
          <a:xfrm>
            <a:off x="0" y="985520"/>
            <a:ext cx="8839200" cy="43180"/>
          </a:xfrm>
          <a:prstGeom prst="rect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5" name="hd-line2"/>
          <p:cNvSpPr/>
          <p:nvPr/>
        </p:nvSpPr>
        <p:spPr>
          <a:xfrm>
            <a:off x="8829040" y="985520"/>
            <a:ext cx="3362960" cy="43180"/>
          </a:xfrm>
          <a:prstGeom prst="rect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6" name="hd-title"/>
          <p:cNvSpPr txBox="1"/>
          <p:nvPr/>
        </p:nvSpPr>
        <p:spPr>
          <a:xfrm>
            <a:off x="701040" y="254000"/>
            <a:ext cx="88900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000" noProof="1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</a:rPr>
              <a:t>工具系统</a:t>
            </a:r>
            <a:endParaRPr lang="en-US" sz="3000" noProof="1"/>
          </a:p>
        </p:txBody>
      </p:sp>
      <p:sp>
        <p:nvSpPr>
          <p:cNvPr id="7" name="logo"/>
          <p:cNvSpPr txBox="1"/>
          <p:nvPr/>
        </p:nvSpPr>
        <p:spPr>
          <a:xfrm>
            <a:off x="9652000" y="304800"/>
            <a:ext cx="2159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四方上行</a:t>
            </a:r>
            <a:endParaRPr lang="en-US" sz="1600" noProof="1"/>
          </a:p>
        </p:txBody>
      </p:sp>
      <p:graphicFrame>
        <p:nvGraphicFramePr>
          <p:cNvPr id="8" name="tool-table"/>
          <p:cNvGraphicFramePr>
            <a:graphicFrameLocks noGrp="1"/>
          </p:cNvGraphicFramePr>
          <p:nvPr/>
        </p:nvGraphicFramePr>
        <p:xfrm>
          <a:off x="701040" y="1333500"/>
          <a:ext cx="10795000" cy="3810000"/>
        </p:xfrm>
        <a:graphic>
          <a:graphicData uri="http://schemas.openxmlformats.org/drawingml/2006/table">
            <a:tbl>
              <a:tblPr/>
              <a:tblGrid>
                <a:gridCol w="2590800"/>
                <a:gridCol w="1403350"/>
                <a:gridCol w="6800850"/>
              </a:tblGrid>
              <a:tr h="544830"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500" b="1" noProof="1">
                          <a:solidFill>
                            <a:srgbClr val="FFFFFF"/>
                          </a:solidFill>
                          <a:latin typeface="MiSans" charset="-122"/>
                          <a:ea typeface="MiSans" charset="-122"/>
                        </a:rPr>
                        <a:t>内置工具</a:t>
                      </a:r>
                      <a:endParaRPr lang="en-US" sz="1500" b="1" noProof="1">
                        <a:solidFill>
                          <a:srgbClr val="FFFFFF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0070C0"/>
                      </a:solidFill>
                    </a:lnL>
                    <a:lnR w="12700">
                      <a:solidFill>
                        <a:srgbClr val="0070C0"/>
                      </a:solidFill>
                    </a:lnR>
                    <a:lnT w="12700">
                      <a:solidFill>
                        <a:srgbClr val="0070C0"/>
                      </a:solidFill>
                    </a:lnT>
                    <a:lnB w="12700">
                      <a:solidFill>
                        <a:srgbClr val="0070C0"/>
                      </a:solidFill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500" b="1" noProof="1">
                          <a:solidFill>
                            <a:srgbClr val="FFFFFF"/>
                          </a:solidFill>
                          <a:latin typeface="MiSans" charset="-122"/>
                          <a:ea typeface="MiSans" charset="-122"/>
                        </a:rPr>
                        <a:t>权限</a:t>
                      </a:r>
                      <a:endParaRPr lang="en-US" sz="1500" b="1" noProof="1">
                        <a:solidFill>
                          <a:srgbClr val="FFFFFF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0070C0"/>
                      </a:solidFill>
                    </a:lnL>
                    <a:lnR w="12700">
                      <a:solidFill>
                        <a:srgbClr val="0070C0"/>
                      </a:solidFill>
                    </a:lnR>
                    <a:lnT w="12700">
                      <a:solidFill>
                        <a:srgbClr val="0070C0"/>
                      </a:solidFill>
                    </a:lnT>
                    <a:lnB w="12700">
                      <a:solidFill>
                        <a:srgbClr val="0070C0"/>
                      </a:solidFill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500" b="1" noProof="1">
                          <a:solidFill>
                            <a:srgbClr val="FFFFFF"/>
                          </a:solidFill>
                          <a:latin typeface="MiSans" charset="-122"/>
                          <a:ea typeface="MiSans" charset="-122"/>
                        </a:rPr>
                        <a:t>用途</a:t>
                      </a:r>
                      <a:endParaRPr lang="en-US" sz="1500" b="1" noProof="1">
                        <a:solidFill>
                          <a:srgbClr val="FFFFFF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0070C0"/>
                      </a:solidFill>
                    </a:lnL>
                    <a:lnR w="12700">
                      <a:solidFill>
                        <a:srgbClr val="0070C0"/>
                      </a:solidFill>
                    </a:lnR>
                    <a:lnT w="12700">
                      <a:solidFill>
                        <a:srgbClr val="0070C0"/>
                      </a:solidFill>
                    </a:lnT>
                    <a:lnB w="12700">
                      <a:solidFill>
                        <a:srgbClr val="0070C0"/>
                      </a:solidFill>
                    </a:lnB>
                    <a:solidFill>
                      <a:srgbClr val="0070C0"/>
                    </a:solidFill>
                  </a:tcPr>
                </a:tc>
              </a:tr>
              <a:tr h="544830"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300" noProof="1">
                          <a:solidFill>
                            <a:srgbClr val="262626"/>
                          </a:solidFill>
                          <a:latin typeface="MiSans" charset="-122"/>
                          <a:ea typeface="MiSans" charset="-122"/>
                        </a:rPr>
                        <a:t>time_current</a:t>
                      </a:r>
                      <a:endParaRPr lang="en-US" sz="1300" noProof="1">
                        <a:solidFill>
                          <a:srgbClr val="262626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BDD7EE"/>
                      </a:solidFill>
                    </a:lnL>
                    <a:lnR w="12700">
                      <a:solidFill>
                        <a:srgbClr val="BDD7EE"/>
                      </a:solidFill>
                    </a:lnR>
                    <a:lnT w="12700">
                      <a:solidFill>
                        <a:srgbClr val="BDD7EE"/>
                      </a:solidFill>
                    </a:lnT>
                    <a:lnB w="12700">
                      <a:solidFill>
                        <a:srgbClr val="BDD7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300" noProof="1">
                          <a:solidFill>
                            <a:srgbClr val="262626"/>
                          </a:solidFill>
                          <a:latin typeface="MiSans" charset="-122"/>
                          <a:ea typeface="MiSans" charset="-122"/>
                        </a:rPr>
                        <a:t>read</a:t>
                      </a:r>
                      <a:endParaRPr lang="en-US" sz="1300" noProof="1">
                        <a:solidFill>
                          <a:srgbClr val="262626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BDD7EE"/>
                      </a:solidFill>
                    </a:lnL>
                    <a:lnR w="12700">
                      <a:solidFill>
                        <a:srgbClr val="BDD7EE"/>
                      </a:solidFill>
                    </a:lnR>
                    <a:lnT w="12700">
                      <a:solidFill>
                        <a:srgbClr val="BDD7EE"/>
                      </a:solidFill>
                    </a:lnT>
                    <a:lnB w="12700">
                      <a:solidFill>
                        <a:srgbClr val="BDD7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300" noProof="1">
                          <a:solidFill>
                            <a:srgbClr val="262626"/>
                          </a:solidFill>
                          <a:latin typeface="MiSans" charset="-122"/>
                          <a:ea typeface="MiSans" charset="-122"/>
                        </a:rPr>
                        <a:t>获取当前时间。</a:t>
                      </a:r>
                      <a:endParaRPr lang="en-US" sz="1300" noProof="1">
                        <a:solidFill>
                          <a:srgbClr val="262626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BDD7EE"/>
                      </a:solidFill>
                    </a:lnL>
                    <a:lnR w="12700">
                      <a:solidFill>
                        <a:srgbClr val="BDD7EE"/>
                      </a:solidFill>
                    </a:lnR>
                    <a:lnT w="12700">
                      <a:solidFill>
                        <a:srgbClr val="BDD7EE"/>
                      </a:solidFill>
                    </a:lnT>
                    <a:lnB w="12700">
                      <a:solidFill>
                        <a:srgbClr val="BDD7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4830"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300" noProof="1">
                          <a:solidFill>
                            <a:srgbClr val="262626"/>
                          </a:solidFill>
                          <a:latin typeface="MiSans" charset="-122"/>
                          <a:ea typeface="MiSans" charset="-122"/>
                        </a:rPr>
                        <a:t>calculator_calculate</a:t>
                      </a:r>
                      <a:endParaRPr lang="en-US" sz="1300" noProof="1">
                        <a:solidFill>
                          <a:srgbClr val="262626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BDD7EE"/>
                      </a:solidFill>
                    </a:lnL>
                    <a:lnR w="12700">
                      <a:solidFill>
                        <a:srgbClr val="BDD7EE"/>
                      </a:solidFill>
                    </a:lnR>
                    <a:lnT w="12700">
                      <a:solidFill>
                        <a:srgbClr val="BDD7EE"/>
                      </a:solidFill>
                    </a:lnT>
                    <a:lnB w="12700">
                      <a:solidFill>
                        <a:srgbClr val="BDD7EE"/>
                      </a:solidFill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300" noProof="1">
                          <a:solidFill>
                            <a:srgbClr val="262626"/>
                          </a:solidFill>
                          <a:latin typeface="MiSans" charset="-122"/>
                          <a:ea typeface="MiSans" charset="-122"/>
                        </a:rPr>
                        <a:t>read</a:t>
                      </a:r>
                      <a:endParaRPr lang="en-US" sz="1300" noProof="1">
                        <a:solidFill>
                          <a:srgbClr val="262626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BDD7EE"/>
                      </a:solidFill>
                    </a:lnL>
                    <a:lnR w="12700">
                      <a:solidFill>
                        <a:srgbClr val="BDD7EE"/>
                      </a:solidFill>
                    </a:lnR>
                    <a:lnT w="12700">
                      <a:solidFill>
                        <a:srgbClr val="BDD7EE"/>
                      </a:solidFill>
                    </a:lnT>
                    <a:lnB w="12700">
                      <a:solidFill>
                        <a:srgbClr val="BDD7EE"/>
                      </a:solidFill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300" noProof="1">
                          <a:solidFill>
                            <a:srgbClr val="262626"/>
                          </a:solidFill>
                          <a:latin typeface="MiSans" charset="-122"/>
                          <a:ea typeface="MiSans" charset="-122"/>
                        </a:rPr>
                        <a:t>计算数学表达式，不使用 eval。</a:t>
                      </a:r>
                      <a:endParaRPr lang="en-US" sz="1300" noProof="1">
                        <a:solidFill>
                          <a:srgbClr val="262626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BDD7EE"/>
                      </a:solidFill>
                    </a:lnL>
                    <a:lnR w="12700">
                      <a:solidFill>
                        <a:srgbClr val="BDD7EE"/>
                      </a:solidFill>
                    </a:lnR>
                    <a:lnT w="12700">
                      <a:solidFill>
                        <a:srgbClr val="BDD7EE"/>
                      </a:solidFill>
                    </a:lnT>
                    <a:lnB w="12700">
                      <a:solidFill>
                        <a:srgbClr val="BDD7EE"/>
                      </a:solidFill>
                    </a:lnB>
                    <a:solidFill>
                      <a:srgbClr val="EAF3FB"/>
                    </a:solidFill>
                  </a:tcPr>
                </a:tc>
              </a:tr>
              <a:tr h="544830"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300" noProof="1">
                          <a:solidFill>
                            <a:srgbClr val="262626"/>
                          </a:solidFill>
                          <a:latin typeface="MiSans" charset="-122"/>
                          <a:ea typeface="MiSans" charset="-122"/>
                        </a:rPr>
                        <a:t>file_list</a:t>
                      </a:r>
                      <a:endParaRPr lang="en-US" sz="1300" noProof="1">
                        <a:solidFill>
                          <a:srgbClr val="262626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BDD7EE"/>
                      </a:solidFill>
                    </a:lnL>
                    <a:lnR w="12700">
                      <a:solidFill>
                        <a:srgbClr val="BDD7EE"/>
                      </a:solidFill>
                    </a:lnR>
                    <a:lnT w="12700">
                      <a:solidFill>
                        <a:srgbClr val="BDD7EE"/>
                      </a:solidFill>
                    </a:lnT>
                    <a:lnB w="12700">
                      <a:solidFill>
                        <a:srgbClr val="BDD7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300" noProof="1">
                          <a:solidFill>
                            <a:srgbClr val="262626"/>
                          </a:solidFill>
                          <a:latin typeface="MiSans" charset="-122"/>
                          <a:ea typeface="MiSans" charset="-122"/>
                        </a:rPr>
                        <a:t>read</a:t>
                      </a:r>
                      <a:endParaRPr lang="en-US" sz="1300" noProof="1">
                        <a:solidFill>
                          <a:srgbClr val="262626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BDD7EE"/>
                      </a:solidFill>
                    </a:lnL>
                    <a:lnR w="12700">
                      <a:solidFill>
                        <a:srgbClr val="BDD7EE"/>
                      </a:solidFill>
                    </a:lnR>
                    <a:lnT w="12700">
                      <a:solidFill>
                        <a:srgbClr val="BDD7EE"/>
                      </a:solidFill>
                    </a:lnT>
                    <a:lnB w="12700">
                      <a:solidFill>
                        <a:srgbClr val="BDD7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300" noProof="1">
                          <a:solidFill>
                            <a:srgbClr val="262626"/>
                          </a:solidFill>
                          <a:latin typeface="MiSans" charset="-122"/>
                          <a:ea typeface="MiSans" charset="-122"/>
                        </a:rPr>
                        <a:t>列出项目目录内容。</a:t>
                      </a:r>
                      <a:endParaRPr lang="en-US" sz="1300" noProof="1">
                        <a:solidFill>
                          <a:srgbClr val="262626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BDD7EE"/>
                      </a:solidFill>
                    </a:lnL>
                    <a:lnR w="12700">
                      <a:solidFill>
                        <a:srgbClr val="BDD7EE"/>
                      </a:solidFill>
                    </a:lnR>
                    <a:lnT w="12700">
                      <a:solidFill>
                        <a:srgbClr val="BDD7EE"/>
                      </a:solidFill>
                    </a:lnT>
                    <a:lnB w="12700">
                      <a:solidFill>
                        <a:srgbClr val="BDD7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4830"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300" noProof="1">
                          <a:solidFill>
                            <a:srgbClr val="262626"/>
                          </a:solidFill>
                          <a:latin typeface="MiSans" charset="-122"/>
                          <a:ea typeface="MiSans" charset="-122"/>
                        </a:rPr>
                        <a:t>file_read</a:t>
                      </a:r>
                      <a:endParaRPr lang="en-US" sz="1300" noProof="1">
                        <a:solidFill>
                          <a:srgbClr val="262626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BDD7EE"/>
                      </a:solidFill>
                    </a:lnL>
                    <a:lnR w="12700">
                      <a:solidFill>
                        <a:srgbClr val="BDD7EE"/>
                      </a:solidFill>
                    </a:lnR>
                    <a:lnT w="12700">
                      <a:solidFill>
                        <a:srgbClr val="BDD7EE"/>
                      </a:solidFill>
                    </a:lnT>
                    <a:lnB w="12700">
                      <a:solidFill>
                        <a:srgbClr val="BDD7EE"/>
                      </a:solidFill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300" noProof="1">
                          <a:solidFill>
                            <a:srgbClr val="262626"/>
                          </a:solidFill>
                          <a:latin typeface="MiSans" charset="-122"/>
                          <a:ea typeface="MiSans" charset="-122"/>
                        </a:rPr>
                        <a:t>read</a:t>
                      </a:r>
                      <a:endParaRPr lang="en-US" sz="1300" noProof="1">
                        <a:solidFill>
                          <a:srgbClr val="262626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BDD7EE"/>
                      </a:solidFill>
                    </a:lnL>
                    <a:lnR w="12700">
                      <a:solidFill>
                        <a:srgbClr val="BDD7EE"/>
                      </a:solidFill>
                    </a:lnR>
                    <a:lnT w="12700">
                      <a:solidFill>
                        <a:srgbClr val="BDD7EE"/>
                      </a:solidFill>
                    </a:lnT>
                    <a:lnB w="12700">
                      <a:solidFill>
                        <a:srgbClr val="BDD7EE"/>
                      </a:solidFill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300" noProof="1">
                          <a:solidFill>
                            <a:srgbClr val="262626"/>
                          </a:solidFill>
                          <a:latin typeface="MiSans" charset="-122"/>
                          <a:ea typeface="MiSans" charset="-122"/>
                        </a:rPr>
                        <a:t>读取项目目录内文本文件，限制读取长度。</a:t>
                      </a:r>
                      <a:endParaRPr lang="en-US" sz="1300" noProof="1">
                        <a:solidFill>
                          <a:srgbClr val="262626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BDD7EE"/>
                      </a:solidFill>
                    </a:lnL>
                    <a:lnR w="12700">
                      <a:solidFill>
                        <a:srgbClr val="BDD7EE"/>
                      </a:solidFill>
                    </a:lnR>
                    <a:lnT w="12700">
                      <a:solidFill>
                        <a:srgbClr val="BDD7EE"/>
                      </a:solidFill>
                    </a:lnT>
                    <a:lnB w="12700">
                      <a:solidFill>
                        <a:srgbClr val="BDD7EE"/>
                      </a:solidFill>
                    </a:lnB>
                    <a:solidFill>
                      <a:srgbClr val="EAF3FB"/>
                    </a:solidFill>
                  </a:tcPr>
                </a:tc>
              </a:tr>
              <a:tr h="544830"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300" noProof="1">
                          <a:solidFill>
                            <a:srgbClr val="262626"/>
                          </a:solidFill>
                          <a:latin typeface="MiSans" charset="-122"/>
                          <a:ea typeface="MiSans" charset="-122"/>
                        </a:rPr>
                        <a:t>file_write</a:t>
                      </a:r>
                      <a:endParaRPr lang="en-US" sz="1300" noProof="1">
                        <a:solidFill>
                          <a:srgbClr val="262626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BDD7EE"/>
                      </a:solidFill>
                    </a:lnL>
                    <a:lnR w="12700">
                      <a:solidFill>
                        <a:srgbClr val="BDD7EE"/>
                      </a:solidFill>
                    </a:lnR>
                    <a:lnT w="12700">
                      <a:solidFill>
                        <a:srgbClr val="BDD7EE"/>
                      </a:solidFill>
                    </a:lnT>
                    <a:lnB w="12700">
                      <a:solidFill>
                        <a:srgbClr val="BDD7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300" noProof="1">
                          <a:solidFill>
                            <a:srgbClr val="262626"/>
                          </a:solidFill>
                          <a:latin typeface="MiSans" charset="-122"/>
                          <a:ea typeface="MiSans" charset="-122"/>
                        </a:rPr>
                        <a:t>write</a:t>
                      </a:r>
                      <a:endParaRPr lang="en-US" sz="1300" noProof="1">
                        <a:solidFill>
                          <a:srgbClr val="262626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BDD7EE"/>
                      </a:solidFill>
                    </a:lnL>
                    <a:lnR w="12700">
                      <a:solidFill>
                        <a:srgbClr val="BDD7EE"/>
                      </a:solidFill>
                    </a:lnR>
                    <a:lnT w="12700">
                      <a:solidFill>
                        <a:srgbClr val="BDD7EE"/>
                      </a:solidFill>
                    </a:lnT>
                    <a:lnB w="12700">
                      <a:solidFill>
                        <a:srgbClr val="BDD7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300" noProof="1">
                          <a:solidFill>
                            <a:srgbClr val="262626"/>
                          </a:solidFill>
                          <a:latin typeface="MiSans" charset="-122"/>
                          <a:ea typeface="MiSans" charset="-122"/>
                        </a:rPr>
                        <a:t>写入或修改文件。</a:t>
                      </a:r>
                      <a:endParaRPr lang="en-US" sz="1300" noProof="1">
                        <a:solidFill>
                          <a:srgbClr val="262626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BDD7EE"/>
                      </a:solidFill>
                    </a:lnL>
                    <a:lnR w="12700">
                      <a:solidFill>
                        <a:srgbClr val="BDD7EE"/>
                      </a:solidFill>
                    </a:lnR>
                    <a:lnT w="12700">
                      <a:solidFill>
                        <a:srgbClr val="BDD7EE"/>
                      </a:solidFill>
                    </a:lnT>
                    <a:lnB w="12700">
                      <a:solidFill>
                        <a:srgbClr val="BDD7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1020"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300" noProof="1">
                          <a:solidFill>
                            <a:srgbClr val="262626"/>
                          </a:solidFill>
                          <a:latin typeface="MiSans" charset="-122"/>
                          <a:ea typeface="MiSans" charset="-122"/>
                        </a:rPr>
                        <a:t>http_fetch</a:t>
                      </a:r>
                      <a:endParaRPr lang="en-US" sz="1300" noProof="1">
                        <a:solidFill>
                          <a:srgbClr val="262626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BDD7EE"/>
                      </a:solidFill>
                    </a:lnL>
                    <a:lnR w="12700">
                      <a:solidFill>
                        <a:srgbClr val="BDD7EE"/>
                      </a:solidFill>
                    </a:lnR>
                    <a:lnT w="12700">
                      <a:solidFill>
                        <a:srgbClr val="BDD7EE"/>
                      </a:solidFill>
                    </a:lnT>
                    <a:lnB w="12700">
                      <a:solidFill>
                        <a:srgbClr val="BDD7EE"/>
                      </a:solidFill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300" noProof="1">
                          <a:solidFill>
                            <a:srgbClr val="262626"/>
                          </a:solidFill>
                          <a:latin typeface="MiSans" charset="-122"/>
                          <a:ea typeface="MiSans" charset="-122"/>
                        </a:rPr>
                        <a:t>read</a:t>
                      </a:r>
                      <a:endParaRPr lang="en-US" sz="1300" noProof="1">
                        <a:solidFill>
                          <a:srgbClr val="262626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BDD7EE"/>
                      </a:solidFill>
                    </a:lnL>
                    <a:lnR w="12700">
                      <a:solidFill>
                        <a:srgbClr val="BDD7EE"/>
                      </a:solidFill>
                    </a:lnR>
                    <a:lnT w="12700">
                      <a:solidFill>
                        <a:srgbClr val="BDD7EE"/>
                      </a:solidFill>
                    </a:lnT>
                    <a:lnB w="12700">
                      <a:solidFill>
                        <a:srgbClr val="BDD7EE"/>
                      </a:solidFill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300" noProof="1">
                          <a:solidFill>
                            <a:srgbClr val="262626"/>
                          </a:solidFill>
                          <a:latin typeface="MiSans" charset="-122"/>
                          <a:ea typeface="MiSans" charset="-122"/>
                        </a:rPr>
                        <a:t>发起受控 HTTP 请求，包含响应大小、重定向和超时限制。</a:t>
                      </a:r>
                      <a:endParaRPr lang="en-US" sz="1300" noProof="1">
                        <a:solidFill>
                          <a:srgbClr val="262626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BDD7EE"/>
                      </a:solidFill>
                    </a:lnL>
                    <a:lnR w="12700">
                      <a:solidFill>
                        <a:srgbClr val="BDD7EE"/>
                      </a:solidFill>
                    </a:lnR>
                    <a:lnT w="12700">
                      <a:solidFill>
                        <a:srgbClr val="BDD7EE"/>
                      </a:solidFill>
                    </a:lnT>
                    <a:lnB w="12700">
                      <a:solidFill>
                        <a:srgbClr val="BDD7EE"/>
                      </a:solidFill>
                    </a:lnB>
                    <a:solidFill>
                      <a:srgbClr val="EAF3FB"/>
                    </a:solidFill>
                  </a:tcPr>
                </a:tc>
              </a:tr>
            </a:tbl>
          </a:graphicData>
        </a:graphic>
      </p:graphicFrame>
      <p:sp>
        <p:nvSpPr>
          <p:cNvPr id="9" name="tool-bar"/>
          <p:cNvSpPr/>
          <p:nvPr/>
        </p:nvSpPr>
        <p:spPr>
          <a:xfrm>
            <a:off x="701040" y="5435600"/>
            <a:ext cx="10795000" cy="812800"/>
          </a:xfrm>
          <a:prstGeom prst="rect">
            <a:avLst/>
          </a:prstGeom>
          <a:solidFill>
            <a:srgbClr val="223962"/>
          </a:solidFill>
          <a:ln>
            <a:noFill/>
          </a:ln>
        </p:spPr>
      </p:sp>
      <p:sp>
        <p:nvSpPr>
          <p:cNvPr id="10" name="tool-bar-text"/>
          <p:cNvSpPr txBox="1"/>
          <p:nvPr/>
        </p:nvSpPr>
        <p:spPr>
          <a:xfrm>
            <a:off x="952500" y="5435600"/>
            <a:ext cx="102870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300" b="1" noProof="1">
                <a:solidFill>
                  <a:srgbClr val="E89924"/>
                </a:solidFill>
                <a:latin typeface="MiSans" charset="-122"/>
                <a:ea typeface="MiSans" charset="-122"/>
              </a:rPr>
              <a:t>统一管理：</a:t>
            </a:r>
            <a:r>
              <a:rPr lang="en-US" sz="1300" noProof="1">
                <a:solidFill>
                  <a:srgbClr val="FFFFFF"/>
                </a:solidFill>
                <a:latin typeface="MiSans" charset="-122"/>
                <a:ea typeface="MiSans" charset="-122"/>
              </a:rPr>
              <a:t>工具通过统一的 ToolDefinition 注册，由 ToolRegistry 管理列表、查询和模型协议转换；执行器负责参数校验、权限判断、超时、取消、错误码和结果截断。</a:t>
            </a:r>
            <a:endParaRPr lang="en-US" sz="1300" noProof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tri1"/>
          <p:cNvSpPr/>
          <p:nvPr/>
        </p:nvSpPr>
        <p:spPr>
          <a:xfrm>
            <a:off x="0" y="0"/>
            <a:ext cx="527050" cy="444500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3" name="hd-tri2"/>
          <p:cNvSpPr/>
          <p:nvPr/>
        </p:nvSpPr>
        <p:spPr>
          <a:xfrm rot="5400000">
            <a:off x="349250" y="538480"/>
            <a:ext cx="175260" cy="179070"/>
          </a:xfrm>
          <a:prstGeom prst="triangle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4" name="hd-line1"/>
          <p:cNvSpPr/>
          <p:nvPr/>
        </p:nvSpPr>
        <p:spPr>
          <a:xfrm>
            <a:off x="0" y="985520"/>
            <a:ext cx="8839200" cy="43180"/>
          </a:xfrm>
          <a:prstGeom prst="rect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5" name="hd-line2"/>
          <p:cNvSpPr/>
          <p:nvPr/>
        </p:nvSpPr>
        <p:spPr>
          <a:xfrm>
            <a:off x="8829040" y="985520"/>
            <a:ext cx="3362960" cy="43180"/>
          </a:xfrm>
          <a:prstGeom prst="rect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6" name="hd-title"/>
          <p:cNvSpPr txBox="1"/>
          <p:nvPr/>
        </p:nvSpPr>
        <p:spPr>
          <a:xfrm>
            <a:off x="701040" y="254000"/>
            <a:ext cx="88900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000" noProof="1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</a:rPr>
              <a:t>权限与用户确认</a:t>
            </a:r>
            <a:endParaRPr lang="en-US" sz="3000" noProof="1"/>
          </a:p>
        </p:txBody>
      </p:sp>
      <p:sp>
        <p:nvSpPr>
          <p:cNvPr id="7" name="logo"/>
          <p:cNvSpPr txBox="1"/>
          <p:nvPr/>
        </p:nvSpPr>
        <p:spPr>
          <a:xfrm>
            <a:off x="9652000" y="304800"/>
            <a:ext cx="2159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四方上行</a:t>
            </a:r>
            <a:endParaRPr lang="en-US" sz="1600" noProof="1"/>
          </a:p>
        </p:txBody>
      </p:sp>
      <p:sp>
        <p:nvSpPr>
          <p:cNvPr id="8" name="ask-box"/>
          <p:cNvSpPr/>
          <p:nvPr/>
        </p:nvSpPr>
        <p:spPr>
          <a:xfrm>
            <a:off x="635000" y="1333500"/>
            <a:ext cx="5270500" cy="330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5B9BD5"/>
            </a:solidFill>
          </a:ln>
          <a:effectLst>
            <a:outerShdw blurRad="7620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9" name="ask-head"/>
          <p:cNvSpPr/>
          <p:nvPr/>
        </p:nvSpPr>
        <p:spPr>
          <a:xfrm>
            <a:off x="635000" y="1333500"/>
            <a:ext cx="5270500" cy="50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10" name="ask-title"/>
          <p:cNvSpPr txBox="1"/>
          <p:nvPr/>
        </p:nvSpPr>
        <p:spPr>
          <a:xfrm>
            <a:off x="863600" y="1333500"/>
            <a:ext cx="48133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noProof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</a:rPr>
              <a:t>ask（请求批准，默认）</a:t>
            </a:r>
            <a:endParaRPr lang="en-US" sz="1800" noProof="1"/>
          </a:p>
        </p:txBody>
      </p:sp>
      <p:sp>
        <p:nvSpPr>
          <p:cNvPr id="11" name="ask-body"/>
          <p:cNvSpPr txBox="1"/>
          <p:nvPr/>
        </p:nvSpPr>
        <p:spPr>
          <a:xfrm>
            <a:off x="863600" y="1993900"/>
            <a:ext cx="4813300" cy="2489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5000"/>
              </a:lnSpc>
              <a:spcBef>
                <a:spcPts val="10"/>
              </a:spcBef>
              <a:buChar char="•"/>
            </a:pPr>
            <a:r>
              <a:rPr lang="en-US" sz="1400" b="1" noProof="1">
                <a:solidFill>
                  <a:srgbClr val="262626"/>
                </a:solidFill>
                <a:latin typeface="MiSans" charset="-122"/>
                <a:ea typeface="MiSans" charset="-122"/>
              </a:rPr>
              <a:t>read</a:t>
            </a:r>
            <a:r>
              <a:rPr lang="en-US" sz="14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 工具：自动执行</a:t>
            </a:r>
            <a:endParaRPr lang="en-US" sz="1400" noProof="1"/>
          </a:p>
          <a:p>
            <a:pPr algn="l">
              <a:lnSpc>
                <a:spcPct val="155000"/>
              </a:lnSpc>
              <a:spcBef>
                <a:spcPts val="10"/>
              </a:spcBef>
              <a:buChar char="•"/>
            </a:pPr>
            <a:r>
              <a:rPr lang="en-US" sz="1400" b="1" noProof="1">
                <a:solidFill>
                  <a:srgbClr val="262626"/>
                </a:solidFill>
                <a:latin typeface="MiSans" charset="-122"/>
                <a:ea typeface="MiSans" charset="-122"/>
              </a:rPr>
              <a:t>write</a:t>
            </a:r>
            <a:r>
              <a:rPr lang="en-US" sz="14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 工具：先生成审批卡片，用户批准后执行</a:t>
            </a:r>
            <a:endParaRPr lang="en-US" sz="1400" noProof="1"/>
          </a:p>
          <a:p>
            <a:pPr algn="l">
              <a:lnSpc>
                <a:spcPct val="155000"/>
              </a:lnSpc>
              <a:spcBef>
                <a:spcPts val="10"/>
              </a:spcBef>
              <a:buChar char="•"/>
            </a:pPr>
            <a:r>
              <a:rPr lang="en-US" sz="1400" b="1" noProof="1">
                <a:solidFill>
                  <a:srgbClr val="262626"/>
                </a:solidFill>
                <a:latin typeface="MiSans" charset="-122"/>
                <a:ea typeface="MiSans" charset="-122"/>
              </a:rPr>
              <a:t>dangerous</a:t>
            </a:r>
            <a:r>
              <a:rPr lang="en-US" sz="14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 工具：拒绝执行</a:t>
            </a:r>
            <a:endParaRPr lang="en-US" sz="1400" noProof="1"/>
          </a:p>
          <a:p>
            <a:pPr algn="l">
              <a:lnSpc>
                <a:spcPct val="155000"/>
              </a:lnSpc>
              <a:spcBef>
                <a:spcPts val="10"/>
              </a:spcBef>
              <a:buChar char="•"/>
            </a:pPr>
            <a:r>
              <a:rPr lang="en-US" sz="14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file_write 审批预览包含目标路径、操作摘要和内容摘要</a:t>
            </a:r>
            <a:endParaRPr lang="en-US" sz="1400" noProof="1"/>
          </a:p>
        </p:txBody>
      </p:sp>
      <p:sp>
        <p:nvSpPr>
          <p:cNvPr id="12" name="full-box"/>
          <p:cNvSpPr/>
          <p:nvPr/>
        </p:nvSpPr>
        <p:spPr>
          <a:xfrm>
            <a:off x="6286500" y="1333500"/>
            <a:ext cx="5270500" cy="330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5B9BD5"/>
            </a:solidFill>
          </a:ln>
          <a:effectLst>
            <a:outerShdw blurRad="7620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3" name="full-head"/>
          <p:cNvSpPr/>
          <p:nvPr/>
        </p:nvSpPr>
        <p:spPr>
          <a:xfrm>
            <a:off x="6286500" y="1333500"/>
            <a:ext cx="5270500" cy="508000"/>
          </a:xfrm>
          <a:prstGeom prst="rect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14" name="full-title"/>
          <p:cNvSpPr txBox="1"/>
          <p:nvPr/>
        </p:nvSpPr>
        <p:spPr>
          <a:xfrm>
            <a:off x="6515100" y="1333500"/>
            <a:ext cx="48133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noProof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</a:rPr>
              <a:t>full（完全访问权限）</a:t>
            </a:r>
            <a:endParaRPr lang="en-US" sz="1800" noProof="1"/>
          </a:p>
        </p:txBody>
      </p:sp>
      <p:sp>
        <p:nvSpPr>
          <p:cNvPr id="15" name="full-body"/>
          <p:cNvSpPr txBox="1"/>
          <p:nvPr/>
        </p:nvSpPr>
        <p:spPr>
          <a:xfrm>
            <a:off x="6515100" y="1993900"/>
            <a:ext cx="4813300" cy="2489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5000"/>
              </a:lnSpc>
              <a:spcBef>
                <a:spcPts val="10"/>
              </a:spcBef>
              <a:buChar char="•"/>
            </a:pPr>
            <a:r>
              <a:rPr lang="en-US" sz="1400" b="1" noProof="1">
                <a:solidFill>
                  <a:srgbClr val="262626"/>
                </a:solidFill>
                <a:latin typeface="MiSans" charset="-122"/>
                <a:ea typeface="MiSans" charset="-122"/>
              </a:rPr>
              <a:t>read</a:t>
            </a:r>
            <a:r>
              <a:rPr lang="en-US" sz="14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 工具：自动执行</a:t>
            </a:r>
            <a:endParaRPr lang="en-US" sz="1400" noProof="1"/>
          </a:p>
          <a:p>
            <a:pPr algn="l">
              <a:lnSpc>
                <a:spcPct val="155000"/>
              </a:lnSpc>
              <a:spcBef>
                <a:spcPts val="10"/>
              </a:spcBef>
              <a:buChar char="•"/>
            </a:pPr>
            <a:r>
              <a:rPr lang="en-US" sz="1400" b="1" noProof="1">
                <a:solidFill>
                  <a:srgbClr val="262626"/>
                </a:solidFill>
                <a:latin typeface="MiSans" charset="-122"/>
                <a:ea typeface="MiSans" charset="-122"/>
              </a:rPr>
              <a:t>write</a:t>
            </a:r>
            <a:r>
              <a:rPr lang="en-US" sz="14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 工具：跳过审批，但仍进行参数和路径校验</a:t>
            </a:r>
            <a:endParaRPr lang="en-US" sz="1400" noProof="1"/>
          </a:p>
          <a:p>
            <a:pPr algn="l">
              <a:lnSpc>
                <a:spcPct val="155000"/>
              </a:lnSpc>
              <a:spcBef>
                <a:spcPts val="10"/>
              </a:spcBef>
              <a:buChar char="•"/>
            </a:pPr>
            <a:r>
              <a:rPr lang="en-US" sz="1400" b="1" noProof="1">
                <a:solidFill>
                  <a:srgbClr val="262626"/>
                </a:solidFill>
                <a:latin typeface="MiSans" charset="-122"/>
                <a:ea typeface="MiSans" charset="-122"/>
              </a:rPr>
              <a:t>dangerous</a:t>
            </a:r>
            <a:r>
              <a:rPr lang="en-US" sz="14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 工具：仍然拒绝执行</a:t>
            </a:r>
            <a:endParaRPr lang="en-US" sz="1400" noProof="1"/>
          </a:p>
          <a:p>
            <a:pPr algn="l">
              <a:lnSpc>
                <a:spcPct val="155000"/>
              </a:lnSpc>
              <a:spcBef>
                <a:spcPts val="10"/>
              </a:spcBef>
              <a:buChar char="•"/>
            </a:pPr>
            <a:r>
              <a:rPr lang="en-US" sz="14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适合受信任目录下的高效批处理场景</a:t>
            </a:r>
            <a:endParaRPr lang="en-US" sz="1400" noProof="1"/>
          </a:p>
        </p:txBody>
      </p:sp>
      <p:sp>
        <p:nvSpPr>
          <p:cNvPr id="16" name="appr-title"/>
          <p:cNvSpPr txBox="1"/>
          <p:nvPr/>
        </p:nvSpPr>
        <p:spPr>
          <a:xfrm>
            <a:off x="701040" y="4953000"/>
            <a:ext cx="50800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审批状态流转与持久化</a:t>
            </a:r>
            <a:endParaRPr lang="en-US" sz="1800" noProof="1"/>
          </a:p>
        </p:txBody>
      </p:sp>
      <p:sp>
        <p:nvSpPr>
          <p:cNvPr id="17" name="st0"/>
          <p:cNvSpPr/>
          <p:nvPr/>
        </p:nvSpPr>
        <p:spPr>
          <a:xfrm>
            <a:off x="701040" y="5410200"/>
            <a:ext cx="1778000" cy="508000"/>
          </a:xfrm>
          <a:prstGeom prst="roundRect">
            <a:avLst>
              <a:gd name="adj" fmla="val 16000"/>
            </a:avLst>
          </a:prstGeom>
          <a:solidFill>
            <a:srgbClr val="EAF3FB"/>
          </a:solidFill>
          <a:ln w="12700">
            <a:solidFill>
              <a:srgbClr val="5B9BD5"/>
            </a:solidFill>
          </a:ln>
        </p:spPr>
      </p:sp>
      <p:sp>
        <p:nvSpPr>
          <p:cNvPr id="18" name="st0-t"/>
          <p:cNvSpPr txBox="1"/>
          <p:nvPr/>
        </p:nvSpPr>
        <p:spPr>
          <a:xfrm>
            <a:off x="701040" y="5410200"/>
            <a:ext cx="17780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noProof="1">
                <a:solidFill>
                  <a:srgbClr val="0070C0"/>
                </a:solidFill>
                <a:latin typeface="MiSans" charset="-122"/>
                <a:ea typeface="MiSans" charset="-122"/>
              </a:rPr>
              <a:t>pending</a:t>
            </a:r>
            <a:endParaRPr lang="en-US" sz="1400" noProof="1"/>
          </a:p>
        </p:txBody>
      </p:sp>
      <p:sp>
        <p:nvSpPr>
          <p:cNvPr id="19" name="starr0"/>
          <p:cNvSpPr/>
          <p:nvPr/>
        </p:nvSpPr>
        <p:spPr>
          <a:xfrm>
            <a:off x="2517140" y="5562600"/>
            <a:ext cx="228600" cy="203200"/>
          </a:xfrm>
          <a:custGeom>
            <a:avLst/>
            <a:gdLst/>
            <a:ahLst/>
            <a:cxnLst/>
            <a:rect l="l" t="t" r="r" b="b"/>
            <a:pathLst>
              <a:path w="256" h="512">
                <a:moveTo>
                  <a:pt x="247" y="233"/>
                </a:moveTo>
                <a:cubicBezTo>
                  <a:pt x="260" y="246"/>
                  <a:pt x="260" y="266"/>
                  <a:pt x="247" y="279"/>
                </a:cubicBezTo>
                <a:lnTo>
                  <a:pt x="87" y="439"/>
                </a:lnTo>
                <a:cubicBezTo>
                  <a:pt x="75" y="451"/>
                  <a:pt x="54" y="451"/>
                  <a:pt x="42" y="439"/>
                </a:cubicBezTo>
                <a:cubicBezTo>
                  <a:pt x="29" y="426"/>
                  <a:pt x="29" y="406"/>
                  <a:pt x="42" y="393"/>
                </a:cubicBezTo>
                <a:lnTo>
                  <a:pt x="179" y="256"/>
                </a:lnTo>
                <a:lnTo>
                  <a:pt x="42" y="119"/>
                </a:lnTo>
                <a:cubicBezTo>
                  <a:pt x="29" y="106"/>
                  <a:pt x="29" y="86"/>
                  <a:pt x="42" y="73"/>
                </a:cubicBezTo>
                <a:cubicBezTo>
                  <a:pt x="54" y="61"/>
                  <a:pt x="75" y="61"/>
                  <a:pt x="87" y="73"/>
                </a:cubicBezTo>
                <a:lnTo>
                  <a:pt x="247" y="233"/>
                </a:lnTo>
                <a:close/>
              </a:path>
            </a:pathLst>
          </a:custGeom>
          <a:solidFill>
            <a:srgbClr val="E89924"/>
          </a:solidFill>
          <a:ln>
            <a:noFill/>
          </a:ln>
        </p:spPr>
      </p:sp>
      <p:sp>
        <p:nvSpPr>
          <p:cNvPr id="20" name="st1"/>
          <p:cNvSpPr/>
          <p:nvPr/>
        </p:nvSpPr>
        <p:spPr>
          <a:xfrm>
            <a:off x="2923540" y="5410200"/>
            <a:ext cx="1778000" cy="508000"/>
          </a:xfrm>
          <a:prstGeom prst="roundRect">
            <a:avLst>
              <a:gd name="adj" fmla="val 16000"/>
            </a:avLst>
          </a:prstGeom>
          <a:solidFill>
            <a:srgbClr val="F4F9FE"/>
          </a:solidFill>
          <a:ln w="12700">
            <a:solidFill>
              <a:srgbClr val="5B9BD5"/>
            </a:solidFill>
          </a:ln>
        </p:spPr>
      </p:sp>
      <p:sp>
        <p:nvSpPr>
          <p:cNvPr id="21" name="st1-t"/>
          <p:cNvSpPr txBox="1"/>
          <p:nvPr/>
        </p:nvSpPr>
        <p:spPr>
          <a:xfrm>
            <a:off x="2923540" y="5410200"/>
            <a:ext cx="17780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noProof="1">
                <a:solidFill>
                  <a:srgbClr val="0070C0"/>
                </a:solidFill>
                <a:latin typeface="MiSans" charset="-122"/>
                <a:ea typeface="MiSans" charset="-122"/>
              </a:rPr>
              <a:t>approved</a:t>
            </a:r>
            <a:endParaRPr lang="en-US" sz="1400" noProof="1"/>
          </a:p>
        </p:txBody>
      </p:sp>
      <p:sp>
        <p:nvSpPr>
          <p:cNvPr id="22" name="starr1"/>
          <p:cNvSpPr/>
          <p:nvPr/>
        </p:nvSpPr>
        <p:spPr>
          <a:xfrm>
            <a:off x="4739640" y="5562600"/>
            <a:ext cx="228600" cy="203200"/>
          </a:xfrm>
          <a:custGeom>
            <a:avLst/>
            <a:gdLst/>
            <a:ahLst/>
            <a:cxnLst/>
            <a:rect l="l" t="t" r="r" b="b"/>
            <a:pathLst>
              <a:path w="256" h="512">
                <a:moveTo>
                  <a:pt x="247" y="233"/>
                </a:moveTo>
                <a:cubicBezTo>
                  <a:pt x="260" y="246"/>
                  <a:pt x="260" y="266"/>
                  <a:pt x="247" y="279"/>
                </a:cubicBezTo>
                <a:lnTo>
                  <a:pt x="87" y="439"/>
                </a:lnTo>
                <a:cubicBezTo>
                  <a:pt x="75" y="451"/>
                  <a:pt x="54" y="451"/>
                  <a:pt x="42" y="439"/>
                </a:cubicBezTo>
                <a:cubicBezTo>
                  <a:pt x="29" y="426"/>
                  <a:pt x="29" y="406"/>
                  <a:pt x="42" y="393"/>
                </a:cubicBezTo>
                <a:lnTo>
                  <a:pt x="179" y="256"/>
                </a:lnTo>
                <a:lnTo>
                  <a:pt x="42" y="119"/>
                </a:lnTo>
                <a:cubicBezTo>
                  <a:pt x="29" y="106"/>
                  <a:pt x="29" y="86"/>
                  <a:pt x="42" y="73"/>
                </a:cubicBezTo>
                <a:cubicBezTo>
                  <a:pt x="54" y="61"/>
                  <a:pt x="75" y="61"/>
                  <a:pt x="87" y="73"/>
                </a:cubicBezTo>
                <a:lnTo>
                  <a:pt x="247" y="233"/>
                </a:lnTo>
                <a:close/>
              </a:path>
            </a:pathLst>
          </a:custGeom>
          <a:solidFill>
            <a:srgbClr val="E89924"/>
          </a:solidFill>
          <a:ln>
            <a:noFill/>
          </a:ln>
        </p:spPr>
      </p:sp>
      <p:sp>
        <p:nvSpPr>
          <p:cNvPr id="23" name="st2"/>
          <p:cNvSpPr/>
          <p:nvPr/>
        </p:nvSpPr>
        <p:spPr>
          <a:xfrm>
            <a:off x="5146040" y="5410200"/>
            <a:ext cx="1778000" cy="508000"/>
          </a:xfrm>
          <a:prstGeom prst="roundRect">
            <a:avLst>
              <a:gd name="adj" fmla="val 16000"/>
            </a:avLst>
          </a:prstGeom>
          <a:solidFill>
            <a:srgbClr val="F4F9FE"/>
          </a:solidFill>
          <a:ln w="12700">
            <a:solidFill>
              <a:srgbClr val="5B9BD5"/>
            </a:solidFill>
          </a:ln>
        </p:spPr>
      </p:sp>
      <p:sp>
        <p:nvSpPr>
          <p:cNvPr id="24" name="st2-t"/>
          <p:cNvSpPr txBox="1"/>
          <p:nvPr/>
        </p:nvSpPr>
        <p:spPr>
          <a:xfrm>
            <a:off x="5146040" y="5410200"/>
            <a:ext cx="17780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noProof="1">
                <a:solidFill>
                  <a:srgbClr val="0070C0"/>
                </a:solidFill>
                <a:latin typeface="MiSans" charset="-122"/>
                <a:ea typeface="MiSans" charset="-122"/>
              </a:rPr>
              <a:t>rejected</a:t>
            </a:r>
            <a:endParaRPr lang="en-US" sz="1400" noProof="1"/>
          </a:p>
        </p:txBody>
      </p:sp>
      <p:sp>
        <p:nvSpPr>
          <p:cNvPr id="25" name="starr2"/>
          <p:cNvSpPr/>
          <p:nvPr/>
        </p:nvSpPr>
        <p:spPr>
          <a:xfrm>
            <a:off x="6962140" y="5562600"/>
            <a:ext cx="228600" cy="203200"/>
          </a:xfrm>
          <a:custGeom>
            <a:avLst/>
            <a:gdLst/>
            <a:ahLst/>
            <a:cxnLst/>
            <a:rect l="l" t="t" r="r" b="b"/>
            <a:pathLst>
              <a:path w="256" h="512">
                <a:moveTo>
                  <a:pt x="247" y="233"/>
                </a:moveTo>
                <a:cubicBezTo>
                  <a:pt x="260" y="246"/>
                  <a:pt x="260" y="266"/>
                  <a:pt x="247" y="279"/>
                </a:cubicBezTo>
                <a:lnTo>
                  <a:pt x="87" y="439"/>
                </a:lnTo>
                <a:cubicBezTo>
                  <a:pt x="75" y="451"/>
                  <a:pt x="54" y="451"/>
                  <a:pt x="42" y="439"/>
                </a:cubicBezTo>
                <a:cubicBezTo>
                  <a:pt x="29" y="426"/>
                  <a:pt x="29" y="406"/>
                  <a:pt x="42" y="393"/>
                </a:cubicBezTo>
                <a:lnTo>
                  <a:pt x="179" y="256"/>
                </a:lnTo>
                <a:lnTo>
                  <a:pt x="42" y="119"/>
                </a:lnTo>
                <a:cubicBezTo>
                  <a:pt x="29" y="106"/>
                  <a:pt x="29" y="86"/>
                  <a:pt x="42" y="73"/>
                </a:cubicBezTo>
                <a:cubicBezTo>
                  <a:pt x="54" y="61"/>
                  <a:pt x="75" y="61"/>
                  <a:pt x="87" y="73"/>
                </a:cubicBezTo>
                <a:lnTo>
                  <a:pt x="247" y="233"/>
                </a:lnTo>
                <a:close/>
              </a:path>
            </a:pathLst>
          </a:custGeom>
          <a:solidFill>
            <a:srgbClr val="E89924"/>
          </a:solidFill>
          <a:ln>
            <a:noFill/>
          </a:ln>
        </p:spPr>
      </p:sp>
      <p:sp>
        <p:nvSpPr>
          <p:cNvPr id="26" name="st3"/>
          <p:cNvSpPr/>
          <p:nvPr/>
        </p:nvSpPr>
        <p:spPr>
          <a:xfrm>
            <a:off x="7368540" y="5410200"/>
            <a:ext cx="1778000" cy="508000"/>
          </a:xfrm>
          <a:prstGeom prst="roundRect">
            <a:avLst>
              <a:gd name="adj" fmla="val 16000"/>
            </a:avLst>
          </a:prstGeom>
          <a:solidFill>
            <a:srgbClr val="F4F9FE"/>
          </a:solidFill>
          <a:ln w="12700">
            <a:solidFill>
              <a:srgbClr val="5B9BD5"/>
            </a:solidFill>
          </a:ln>
        </p:spPr>
      </p:sp>
      <p:sp>
        <p:nvSpPr>
          <p:cNvPr id="27" name="st3-t"/>
          <p:cNvSpPr txBox="1"/>
          <p:nvPr/>
        </p:nvSpPr>
        <p:spPr>
          <a:xfrm>
            <a:off x="7368540" y="5410200"/>
            <a:ext cx="17780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noProof="1">
                <a:solidFill>
                  <a:srgbClr val="0070C0"/>
                </a:solidFill>
                <a:latin typeface="MiSans" charset="-122"/>
                <a:ea typeface="MiSans" charset="-122"/>
              </a:rPr>
              <a:t>expired</a:t>
            </a:r>
            <a:endParaRPr lang="en-US" sz="1400" noProof="1"/>
          </a:p>
        </p:txBody>
      </p:sp>
      <p:sp>
        <p:nvSpPr>
          <p:cNvPr id="28" name="starr3"/>
          <p:cNvSpPr/>
          <p:nvPr/>
        </p:nvSpPr>
        <p:spPr>
          <a:xfrm>
            <a:off x="9184640" y="5562600"/>
            <a:ext cx="228600" cy="203200"/>
          </a:xfrm>
          <a:custGeom>
            <a:avLst/>
            <a:gdLst/>
            <a:ahLst/>
            <a:cxnLst/>
            <a:rect l="l" t="t" r="r" b="b"/>
            <a:pathLst>
              <a:path w="256" h="512">
                <a:moveTo>
                  <a:pt x="247" y="233"/>
                </a:moveTo>
                <a:cubicBezTo>
                  <a:pt x="260" y="246"/>
                  <a:pt x="260" y="266"/>
                  <a:pt x="247" y="279"/>
                </a:cubicBezTo>
                <a:lnTo>
                  <a:pt x="87" y="439"/>
                </a:lnTo>
                <a:cubicBezTo>
                  <a:pt x="75" y="451"/>
                  <a:pt x="54" y="451"/>
                  <a:pt x="42" y="439"/>
                </a:cubicBezTo>
                <a:cubicBezTo>
                  <a:pt x="29" y="426"/>
                  <a:pt x="29" y="406"/>
                  <a:pt x="42" y="393"/>
                </a:cubicBezTo>
                <a:lnTo>
                  <a:pt x="179" y="256"/>
                </a:lnTo>
                <a:lnTo>
                  <a:pt x="42" y="119"/>
                </a:lnTo>
                <a:cubicBezTo>
                  <a:pt x="29" y="106"/>
                  <a:pt x="29" y="86"/>
                  <a:pt x="42" y="73"/>
                </a:cubicBezTo>
                <a:cubicBezTo>
                  <a:pt x="54" y="61"/>
                  <a:pt x="75" y="61"/>
                  <a:pt x="87" y="73"/>
                </a:cubicBezTo>
                <a:lnTo>
                  <a:pt x="247" y="233"/>
                </a:lnTo>
                <a:close/>
              </a:path>
            </a:pathLst>
          </a:custGeom>
          <a:solidFill>
            <a:srgbClr val="E89924"/>
          </a:solidFill>
          <a:ln>
            <a:noFill/>
          </a:ln>
        </p:spPr>
      </p:sp>
      <p:sp>
        <p:nvSpPr>
          <p:cNvPr id="29" name="st4"/>
          <p:cNvSpPr/>
          <p:nvPr/>
        </p:nvSpPr>
        <p:spPr>
          <a:xfrm>
            <a:off x="9591040" y="5410200"/>
            <a:ext cx="1778000" cy="508000"/>
          </a:xfrm>
          <a:prstGeom prst="roundRect">
            <a:avLst>
              <a:gd name="adj" fmla="val 16000"/>
            </a:avLst>
          </a:prstGeom>
          <a:solidFill>
            <a:srgbClr val="F4F9FE"/>
          </a:solidFill>
          <a:ln w="12700">
            <a:solidFill>
              <a:srgbClr val="5B9BD5"/>
            </a:solidFill>
          </a:ln>
        </p:spPr>
      </p:sp>
      <p:sp>
        <p:nvSpPr>
          <p:cNvPr id="30" name="st4-t"/>
          <p:cNvSpPr txBox="1"/>
          <p:nvPr/>
        </p:nvSpPr>
        <p:spPr>
          <a:xfrm>
            <a:off x="9591040" y="5410200"/>
            <a:ext cx="17780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noProof="1">
                <a:solidFill>
                  <a:srgbClr val="0070C0"/>
                </a:solidFill>
                <a:latin typeface="MiSans" charset="-122"/>
                <a:ea typeface="MiSans" charset="-122"/>
              </a:rPr>
              <a:t>cancelled</a:t>
            </a:r>
            <a:endParaRPr lang="en-US" sz="1400" noProof="1"/>
          </a:p>
        </p:txBody>
      </p:sp>
      <p:sp>
        <p:nvSpPr>
          <p:cNvPr id="31" name="appr-note"/>
          <p:cNvSpPr txBox="1"/>
          <p:nvPr/>
        </p:nvSpPr>
        <p:spPr>
          <a:xfrm>
            <a:off x="701040" y="6096000"/>
            <a:ext cx="10795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300" noProof="1">
                <a:solidFill>
                  <a:srgbClr val="7F7F7F"/>
                </a:solidFill>
                <a:latin typeface="MiSans" charset="-122"/>
                <a:ea typeface="MiSans" charset="-122"/>
              </a:rPr>
              <a:t>审批状态保存到 Electron userData 目录；刷新页面后，客户端可通过 list-pending-approvals 重新加载未决审批。</a:t>
            </a:r>
            <a:endParaRPr lang="en-US" sz="1300" noProof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tri1"/>
          <p:cNvSpPr/>
          <p:nvPr/>
        </p:nvSpPr>
        <p:spPr>
          <a:xfrm>
            <a:off x="0" y="0"/>
            <a:ext cx="527050" cy="444500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3" name="hd-tri2"/>
          <p:cNvSpPr/>
          <p:nvPr/>
        </p:nvSpPr>
        <p:spPr>
          <a:xfrm rot="5400000">
            <a:off x="349250" y="538480"/>
            <a:ext cx="175260" cy="179070"/>
          </a:xfrm>
          <a:prstGeom prst="triangle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4" name="hd-line1"/>
          <p:cNvSpPr/>
          <p:nvPr/>
        </p:nvSpPr>
        <p:spPr>
          <a:xfrm>
            <a:off x="0" y="985520"/>
            <a:ext cx="8839200" cy="43180"/>
          </a:xfrm>
          <a:prstGeom prst="rect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5" name="hd-line2"/>
          <p:cNvSpPr/>
          <p:nvPr/>
        </p:nvSpPr>
        <p:spPr>
          <a:xfrm>
            <a:off x="8829040" y="985520"/>
            <a:ext cx="3362960" cy="43180"/>
          </a:xfrm>
          <a:prstGeom prst="rect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6" name="hd-title"/>
          <p:cNvSpPr txBox="1"/>
          <p:nvPr/>
        </p:nvSpPr>
        <p:spPr>
          <a:xfrm>
            <a:off x="701040" y="254000"/>
            <a:ext cx="88900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000" noProof="1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</a:rPr>
              <a:t>Skill 能力包与 MCP 外部工具服务</a:t>
            </a:r>
            <a:endParaRPr lang="en-US" sz="3000" noProof="1"/>
          </a:p>
        </p:txBody>
      </p:sp>
      <p:sp>
        <p:nvSpPr>
          <p:cNvPr id="7" name="logo"/>
          <p:cNvSpPr txBox="1"/>
          <p:nvPr/>
        </p:nvSpPr>
        <p:spPr>
          <a:xfrm>
            <a:off x="9652000" y="304800"/>
            <a:ext cx="2159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四方上行</a:t>
            </a:r>
            <a:endParaRPr lang="en-US" sz="1600" noProof="1"/>
          </a:p>
        </p:txBody>
      </p:sp>
      <p:sp>
        <p:nvSpPr>
          <p:cNvPr id="8" name="skill-box"/>
          <p:cNvSpPr/>
          <p:nvPr/>
        </p:nvSpPr>
        <p:spPr>
          <a:xfrm>
            <a:off x="635000" y="1333500"/>
            <a:ext cx="5270500" cy="406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5B9BD5"/>
            </a:solidFill>
          </a:ln>
          <a:effectLst>
            <a:outerShdw blurRad="7620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9" name="skill-head"/>
          <p:cNvSpPr/>
          <p:nvPr/>
        </p:nvSpPr>
        <p:spPr>
          <a:xfrm>
            <a:off x="635000" y="1333500"/>
            <a:ext cx="5270500" cy="50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10" name="skill-title"/>
          <p:cNvSpPr txBox="1"/>
          <p:nvPr/>
        </p:nvSpPr>
        <p:spPr>
          <a:xfrm>
            <a:off x="863600" y="1333500"/>
            <a:ext cx="48133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noProof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</a:rPr>
              <a:t>Skill 能力包</a:t>
            </a:r>
            <a:endParaRPr lang="en-US" sz="1800" noProof="1"/>
          </a:p>
        </p:txBody>
      </p:sp>
      <p:sp>
        <p:nvSpPr>
          <p:cNvPr id="11" name="skill-body"/>
          <p:cNvSpPr txBox="1"/>
          <p:nvPr/>
        </p:nvSpPr>
        <p:spPr>
          <a:xfrm>
            <a:off x="863600" y="1993900"/>
            <a:ext cx="4813300" cy="325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5000"/>
              </a:lnSpc>
              <a:spcBef>
                <a:spcPts val="10"/>
              </a:spcBef>
              <a:buChar char="•"/>
            </a:pPr>
            <a:r>
              <a:rPr lang="en-US" sz="13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用户可手动启用的 Markdown 提示词能力包</a:t>
            </a:r>
            <a:endParaRPr lang="en-US" sz="1300" noProof="1"/>
          </a:p>
          <a:p>
            <a:pPr algn="l">
              <a:lnSpc>
                <a:spcPct val="155000"/>
              </a:lnSpc>
              <a:spcBef>
                <a:spcPts val="10"/>
              </a:spcBef>
              <a:buChar char="•"/>
            </a:pPr>
            <a:r>
              <a:rPr lang="en-US" sz="13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只注入文本规范：不执行脚本、不注册工具、不能绕过权限审批</a:t>
            </a:r>
            <a:endParaRPr lang="en-US" sz="1300" noProof="1"/>
          </a:p>
          <a:p>
            <a:pPr algn="l">
              <a:lnSpc>
                <a:spcPct val="155000"/>
              </a:lnSpc>
              <a:spcBef>
                <a:spcPts val="10"/>
              </a:spcBef>
              <a:buChar char="•"/>
            </a:pPr>
            <a:r>
              <a:rPr lang="en-US" sz="13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两个来源：全局目录 </a:t>
            </a:r>
            <a:r>
              <a:rPr lang="en-US" sz="13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/skills 与项目目录 &lt;项目目录&gt;/.agent/skills</a:t>
            </a:r>
            <a:endParaRPr lang="en-US" sz="1300" noProof="1"/>
          </a:p>
          <a:p>
            <a:pPr algn="l">
              <a:lnSpc>
                <a:spcPct val="155000"/>
              </a:lnSpc>
              <a:spcBef>
                <a:spcPts val="10"/>
              </a:spcBef>
              <a:buChar char="•"/>
            </a:pPr>
            <a:r>
              <a:rPr lang="en-US" sz="13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同名项目 Skill 覆盖全局 Skill，启用状态按会话保存</a:t>
            </a:r>
            <a:endParaRPr lang="en-US" sz="1300" noProof="1"/>
          </a:p>
          <a:p>
            <a:pPr algn="l">
              <a:lnSpc>
                <a:spcPct val="155000"/>
              </a:lnSpc>
              <a:spcBef>
                <a:spcPts val="10"/>
              </a:spcBef>
              <a:buChar char="•"/>
            </a:pPr>
            <a:r>
              <a:rPr lang="en-US" sz="13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单个 SKILL.md 最大 64KB，单次请求注入合计最大 200KB</a:t>
            </a:r>
            <a:endParaRPr lang="en-US" sz="1300" noProof="1"/>
          </a:p>
        </p:txBody>
      </p:sp>
      <p:sp>
        <p:nvSpPr>
          <p:cNvPr id="12" name="mcp-box"/>
          <p:cNvSpPr/>
          <p:nvPr/>
        </p:nvSpPr>
        <p:spPr>
          <a:xfrm>
            <a:off x="6286500" y="1333500"/>
            <a:ext cx="5270500" cy="406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5B9BD5"/>
            </a:solidFill>
          </a:ln>
          <a:effectLst>
            <a:outerShdw blurRad="7620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3" name="mcp-head"/>
          <p:cNvSpPr/>
          <p:nvPr/>
        </p:nvSpPr>
        <p:spPr>
          <a:xfrm>
            <a:off x="6286500" y="1333500"/>
            <a:ext cx="5270500" cy="508000"/>
          </a:xfrm>
          <a:prstGeom prst="rect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14" name="mcp-title"/>
          <p:cNvSpPr txBox="1"/>
          <p:nvPr/>
        </p:nvSpPr>
        <p:spPr>
          <a:xfrm>
            <a:off x="6515100" y="1333500"/>
            <a:ext cx="48133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noProof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</a:rPr>
              <a:t>MCP 外部工具服务</a:t>
            </a:r>
            <a:endParaRPr lang="en-US" sz="1800" noProof="1"/>
          </a:p>
        </p:txBody>
      </p:sp>
      <p:sp>
        <p:nvSpPr>
          <p:cNvPr id="15" name="mcp-body"/>
          <p:cNvSpPr txBox="1"/>
          <p:nvPr/>
        </p:nvSpPr>
        <p:spPr>
          <a:xfrm>
            <a:off x="6515100" y="1993900"/>
            <a:ext cx="4813300" cy="325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5000"/>
              </a:lnSpc>
              <a:spcBef>
                <a:spcPts val="10"/>
              </a:spcBef>
              <a:buChar char="•"/>
            </a:pPr>
            <a:r>
              <a:rPr lang="en-US" sz="13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作为 MCP Client，通过本地 stdio 方式连接外部 MCP Server</a:t>
            </a:r>
            <a:endParaRPr lang="en-US" sz="1300" noProof="1"/>
          </a:p>
          <a:p>
            <a:pPr algn="l">
              <a:lnSpc>
                <a:spcPct val="155000"/>
              </a:lnSpc>
              <a:spcBef>
                <a:spcPts val="10"/>
              </a:spcBef>
              <a:buChar char="•"/>
            </a:pPr>
            <a:r>
              <a:rPr lang="en-US" sz="13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主进程启动服务，经 stdio / JSON-RPC 发现 tools 并注册到 Agent 工具列表</a:t>
            </a:r>
            <a:endParaRPr lang="en-US" sz="1300" noProof="1"/>
          </a:p>
          <a:p>
            <a:pPr algn="l">
              <a:lnSpc>
                <a:spcPct val="155000"/>
              </a:lnSpc>
              <a:spcBef>
                <a:spcPts val="10"/>
              </a:spcBef>
              <a:buChar char="•"/>
            </a:pPr>
            <a:r>
              <a:rPr lang="en-US" sz="13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工具采用 mcp__服务名__工具名 命名空间避免冲突</a:t>
            </a:r>
            <a:endParaRPr lang="en-US" sz="1300" noProof="1"/>
          </a:p>
          <a:p>
            <a:pPr algn="l">
              <a:lnSpc>
                <a:spcPct val="155000"/>
              </a:lnSpc>
              <a:spcBef>
                <a:spcPts val="10"/>
              </a:spcBef>
              <a:buChar char="•"/>
            </a:pPr>
            <a:r>
              <a:rPr lang="en-US" sz="13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依据 MCP annotations 映射到 read / write / dangerous 权限模型</a:t>
            </a:r>
            <a:endParaRPr lang="en-US" sz="1300" noProof="1"/>
          </a:p>
          <a:p>
            <a:pPr algn="l">
              <a:lnSpc>
                <a:spcPct val="155000"/>
              </a:lnSpc>
              <a:spcBef>
                <a:spcPts val="10"/>
              </a:spcBef>
              <a:buChar char="•"/>
            </a:pPr>
            <a:r>
              <a:rPr lang="en-US" sz="13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配置保存到 userData/mcp-servers.json；单个服务异常不影响内置工具和其他服务</a:t>
            </a:r>
            <a:endParaRPr lang="en-US" sz="1300" noProof="1"/>
          </a:p>
        </p:txBody>
      </p:sp>
      <p:sp>
        <p:nvSpPr>
          <p:cNvPr id="16" name="mcp-bar"/>
          <p:cNvSpPr/>
          <p:nvPr/>
        </p:nvSpPr>
        <p:spPr>
          <a:xfrm>
            <a:off x="635000" y="5689600"/>
            <a:ext cx="10922000" cy="660400"/>
          </a:xfrm>
          <a:prstGeom prst="rect">
            <a:avLst/>
          </a:prstGeom>
          <a:solidFill>
            <a:srgbClr val="223962"/>
          </a:solidFill>
          <a:ln>
            <a:noFill/>
          </a:ln>
        </p:spPr>
      </p:sp>
      <p:sp>
        <p:nvSpPr>
          <p:cNvPr id="17" name="mcp-bar-text"/>
          <p:cNvSpPr txBox="1"/>
          <p:nvPr/>
        </p:nvSpPr>
        <p:spPr>
          <a:xfrm>
            <a:off x="889000" y="5689600"/>
            <a:ext cx="104140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300" b="1" noProof="1">
                <a:solidFill>
                  <a:srgbClr val="E89924"/>
                </a:solidFill>
                <a:latin typeface="MiSans" charset="-122"/>
                <a:ea typeface="MiSans" charset="-122"/>
              </a:rPr>
              <a:t>接入范围：</a:t>
            </a:r>
            <a:r>
              <a:rPr lang="en-US" sz="1300" noProof="1">
                <a:solidFill>
                  <a:srgbClr val="FFFFFF"/>
                </a:solidFill>
                <a:latin typeface="MiSans" charset="-122"/>
                <a:ea typeface="MiSans" charset="-122"/>
              </a:rPr>
              <a:t>第一版接入 MCP Tools，不包含 Resources、Prompts 和 Sampling；启动时连接已启用的服务，按需扩展专业能力。</a:t>
            </a:r>
            <a:endParaRPr lang="en-US" sz="1300" noProof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423160"/>
            <a:ext cx="1463040" cy="109728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6400" b="1">
                <a:solidFill>
                  <a:srgbClr val="D9E8F7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sz="6400" b="1">
              <a:solidFill>
                <a:srgbClr val="D9E8F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148840" y="2514600"/>
            <a:ext cx="8138160" cy="7315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34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OpenViking 上下文基础设施</a:t>
            </a:r>
            <a:endParaRPr sz="34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212848" y="3429000"/>
            <a:ext cx="3108960" cy="73152"/>
          </a:xfrm>
          <a:prstGeom prst="rect">
            <a:avLst/>
          </a:prstGeom>
          <a:solidFill>
            <a:srgbClr val="E89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0" y="182880"/>
            <a:ext cx="2743200" cy="36576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r"/>
            <a:r>
              <a:rPr sz="13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四方上行</a:t>
            </a:r>
            <a:endParaRPr sz="13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0" y="0"/>
            <a:ext cx="530352" cy="448056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347472" y="539496"/>
            <a:ext cx="173736" cy="182880"/>
          </a:xfrm>
          <a:prstGeom prst="rtTriangle">
            <a:avLst/>
          </a:prstGeom>
          <a:solidFill>
            <a:srgbClr val="E89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8842248" cy="457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833104" y="987552"/>
            <a:ext cx="3364992" cy="45720"/>
          </a:xfrm>
          <a:prstGeom prst="rect">
            <a:avLst/>
          </a:prstGeom>
          <a:solidFill>
            <a:srgbClr val="E89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219456"/>
            <a:ext cx="8887968" cy="530352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24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OpenViking 是什么</a:t>
            </a:r>
            <a:endParaRPr sz="24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4000" y="155448"/>
            <a:ext cx="2798064" cy="384048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r"/>
            <a:r>
              <a:rPr sz="13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四方上行</a:t>
            </a:r>
            <a:endParaRPr sz="13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40080" y="1280160"/>
            <a:ext cx="5166360" cy="1097280"/>
          </a:xfrm>
          <a:prstGeom prst="roundRect">
            <a:avLst/>
          </a:prstGeom>
          <a:solidFill>
            <a:srgbClr val="223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开源上下文数据库</a:t>
            </a:r>
            <a:endParaRPr sz="2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sz="2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为 AI Agent 统一管理资源、记忆与 Skills</a:t>
            </a:r>
            <a:endParaRPr sz="2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7240" y="2606040"/>
            <a:ext cx="4892040" cy="694944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r>
              <a:rPr>
                <a:latin typeface="微软雅黑" panose="020B0503020204020204" charset="-122"/>
              </a:rPr>
              <a:t>OpenViking 不是聊天机器人，也不是完整的业务系统；它是 Agent 可以调用的上下文基础设施。</a:t>
            </a:r>
            <a:endParaRPr>
              <a:latin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263640" y="1280160"/>
            <a:ext cx="5257800" cy="960120"/>
          </a:xfrm>
          <a:prstGeom prst="roundRect">
            <a:avLst/>
          </a:prstGeom>
          <a:solidFill>
            <a:srgbClr val="DEEBF7"/>
          </a:solidFill>
          <a:ln w="1016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5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Resources</a:t>
            </a:r>
            <a:endParaRPr sz="15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sz="15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项目文档 · 代码 · 网页 · 数据库元数据</a:t>
            </a:r>
            <a:endParaRPr sz="15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263640" y="2487168"/>
            <a:ext cx="5257800" cy="960120"/>
          </a:xfrm>
          <a:prstGeom prst="roundRect">
            <a:avLst/>
          </a:prstGeom>
          <a:solidFill>
            <a:srgbClr val="E7F6EF"/>
          </a:solidFill>
          <a:ln w="10160">
            <a:solidFill>
              <a:srgbClr val="008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5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Memories</a:t>
            </a:r>
            <a:endParaRPr sz="15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sz="15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用户偏好 · 长期记忆 · Agent 经验</a:t>
            </a:r>
            <a:endParaRPr sz="15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263640" y="3694176"/>
            <a:ext cx="5257800" cy="960120"/>
          </a:xfrm>
          <a:prstGeom prst="roundRect">
            <a:avLst/>
          </a:prstGeom>
          <a:solidFill>
            <a:srgbClr val="FFF1D9"/>
          </a:solidFill>
          <a:ln w="10160">
            <a:solidFill>
              <a:srgbClr val="E899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5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Skills</a:t>
            </a:r>
            <a:endParaRPr sz="15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sz="15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可复用技能 · 规则 · 工作流</a:t>
            </a:r>
            <a:endParaRPr sz="15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40080" y="4023360"/>
            <a:ext cx="5166360" cy="1463040"/>
          </a:xfrm>
          <a:prstGeom prst="roundRect">
            <a:avLst/>
          </a:prstGeom>
          <a:solidFill>
            <a:srgbClr val="F2F7FC"/>
          </a:solidFill>
          <a:ln w="1016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3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viking://</a:t>
            </a:r>
            <a:endParaRPr sz="13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sz="13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resources/     文档、代码、数据库元数据</a:t>
            </a:r>
            <a:endParaRPr sz="13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sz="13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user/&lt;user&gt;/   memories · resources · skills</a:t>
            </a:r>
            <a:endParaRPr sz="13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40080" y="5760720"/>
            <a:ext cx="10881360" cy="512064"/>
          </a:xfrm>
          <a:prstGeom prst="rect">
            <a:avLst/>
          </a:prstGeom>
          <a:solidFill>
            <a:srgbClr val="223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分层上下文：L0 一句话摘要 → L1 概要和结构 → L2 完整内容，按需加载以减少无关上下文和 Token 消耗。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0" y="0"/>
            <a:ext cx="530352" cy="448056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347472" y="539496"/>
            <a:ext cx="173736" cy="182880"/>
          </a:xfrm>
          <a:prstGeom prst="rtTriangle">
            <a:avLst/>
          </a:prstGeom>
          <a:solidFill>
            <a:srgbClr val="E89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8842248" cy="457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833104" y="987552"/>
            <a:ext cx="3364992" cy="45720"/>
          </a:xfrm>
          <a:prstGeom prst="rect">
            <a:avLst/>
          </a:prstGeom>
          <a:solidFill>
            <a:srgbClr val="E89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219456"/>
            <a:ext cx="8887968" cy="530352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24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令旗 + OpenViking 推荐接入架构</a:t>
            </a:r>
            <a:endParaRPr sz="24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4000" y="155448"/>
            <a:ext cx="2798064" cy="384048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r"/>
            <a:r>
              <a:rPr sz="13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四方上行</a:t>
            </a:r>
            <a:endParaRPr sz="13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2240280" cy="1051560"/>
          </a:xfrm>
          <a:prstGeom prst="roundRect">
            <a:avLst/>
          </a:prstGeom>
          <a:solidFill>
            <a:srgbClr val="DEEBF7"/>
          </a:solidFill>
          <a:ln w="1016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6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令旗桌面客户端</a:t>
            </a:r>
            <a:endParaRPr sz="16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sz="16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React 界面</a:t>
            </a:r>
            <a:endParaRPr sz="16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40080" y="3063240"/>
            <a:ext cx="2240280" cy="1234440"/>
          </a:xfrm>
          <a:prstGeom prst="roundRect">
            <a:avLst/>
          </a:prstGeom>
          <a:solidFill>
            <a:srgbClr val="223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Agent 编排层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意图识别 · Prompt · 工具调用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任务状态 · 权限审批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Down Arrow 9"/>
          <p:cNvSpPr/>
          <p:nvPr/>
        </p:nvSpPr>
        <p:spPr>
          <a:xfrm>
            <a:off x="1371600" y="2578608"/>
            <a:ext cx="777240" cy="329184"/>
          </a:xfrm>
          <a:prstGeom prst="downArrow">
            <a:avLst/>
          </a:prstGeom>
          <a:solidFill>
            <a:srgbClr val="E89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own Arrow 10"/>
          <p:cNvSpPr/>
          <p:nvPr/>
        </p:nvSpPr>
        <p:spPr>
          <a:xfrm>
            <a:off x="1371600" y="4507992"/>
            <a:ext cx="777240" cy="329184"/>
          </a:xfrm>
          <a:prstGeom prst="downArrow">
            <a:avLst/>
          </a:prstGeom>
          <a:solidFill>
            <a:srgbClr val="E89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794760" y="2331720"/>
            <a:ext cx="2423160" cy="1188720"/>
          </a:xfrm>
          <a:prstGeom prst="roundRect">
            <a:avLst/>
          </a:prstGeom>
          <a:solidFill>
            <a:srgbClr val="E7F6EF"/>
          </a:solidFill>
          <a:ln w="10160">
            <a:solidFill>
              <a:srgbClr val="008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5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HTTP / SDK / MCP</a:t>
            </a:r>
            <a:endParaRPr sz="15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sz="15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OpenVikingClient 封装</a:t>
            </a:r>
            <a:endParaRPr sz="15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315200" y="1371600"/>
            <a:ext cx="3611880" cy="1170432"/>
          </a:xfrm>
          <a:prstGeom prst="roundRect">
            <a:avLst/>
          </a:prstGeom>
          <a:solidFill>
            <a:srgbClr val="223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OpenViking Server</a:t>
            </a:r>
            <a:endParaRPr sz="1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sz="1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本地 sidecar 或独立服务</a:t>
            </a:r>
            <a:endParaRPr sz="1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315200" y="2880360"/>
            <a:ext cx="1664208" cy="1554480"/>
          </a:xfrm>
          <a:prstGeom prst="roundRect">
            <a:avLst/>
          </a:prstGeom>
          <a:solidFill>
            <a:srgbClr val="DEEBF7"/>
          </a:solidFill>
          <a:ln w="1016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3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AGFS / VikingFS</a:t>
            </a:r>
            <a:endParaRPr sz="13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sz="13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L0 / L1 / L2</a:t>
            </a:r>
            <a:endParaRPr sz="13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sz="13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资源与会话</a:t>
            </a:r>
            <a:endParaRPr sz="13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9262872" y="2880360"/>
            <a:ext cx="1664208" cy="1554480"/>
          </a:xfrm>
          <a:prstGeom prst="roundRect">
            <a:avLst/>
          </a:prstGeom>
          <a:solidFill>
            <a:srgbClr val="E7F6EF"/>
          </a:solidFill>
          <a:ln w="10160">
            <a:solidFill>
              <a:srgbClr val="008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3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Vector Index</a:t>
            </a:r>
            <a:endParaRPr sz="13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sz="13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Embedding</a:t>
            </a:r>
            <a:endParaRPr sz="13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sz="13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viking:// URI</a:t>
            </a:r>
            <a:endParaRPr sz="13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3794760" y="4343400"/>
            <a:ext cx="2423160" cy="1188720"/>
          </a:xfrm>
          <a:prstGeom prst="roundRect">
            <a:avLst/>
          </a:prstGeom>
          <a:solidFill>
            <a:srgbClr val="F2F7FC"/>
          </a:solidFill>
          <a:ln w="1016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r>
              <a:rPr>
                <a:latin typeface="微软雅黑" panose="020B0503020204020204" charset="-122"/>
              </a:rPr>
              <a:t>结构化元数据服务</a:t>
            </a:r>
            <a:endParaRPr>
              <a:latin typeface="微软雅黑" panose="020B0503020204020204" charset="-122"/>
            </a:endParaRPr>
          </a:p>
          <a:p>
            <a:r>
              <a:rPr>
                <a:latin typeface="微软雅黑" panose="020B0503020204020204" charset="-122"/>
              </a:rPr>
              <a:t>精确字段 · 关系 · 权限</a:t>
            </a:r>
            <a:endParaRPr>
              <a:latin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7315200" y="5074920"/>
            <a:ext cx="3611880" cy="786384"/>
          </a:xfrm>
          <a:prstGeom prst="roundRect">
            <a:avLst/>
          </a:prstGeom>
          <a:solidFill>
            <a:srgbClr val="FFF1D9"/>
          </a:solidFill>
          <a:ln w="10160">
            <a:solidFill>
              <a:srgbClr val="E899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r>
              <a:rPr>
                <a:latin typeface="微软雅黑" panose="020B0503020204020204" charset="-122"/>
              </a:rPr>
              <a:t>业务系统安全层</a:t>
            </a:r>
            <a:endParaRPr>
              <a:latin typeface="微软雅黑" panose="020B0503020204020204" charset="-122"/>
            </a:endParaRPr>
          </a:p>
          <a:p>
            <a:r>
              <a:rPr>
                <a:latin typeface="微软雅黑" panose="020B0503020204020204" charset="-122"/>
              </a:rPr>
              <a:t>访问控制 · 脱敏 · 操作审计</a:t>
            </a:r>
            <a:endParaRPr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85800" y="6172200"/>
            <a:ext cx="10835640" cy="329184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ctr"/>
            <a:r>
              <a:rPr sz="12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建议：OpenViking 作为独立服务访问，不把其内部存储模块直接嵌入 Electron。</a:t>
            </a:r>
            <a:endParaRPr sz="12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0" y="0"/>
            <a:ext cx="530352" cy="448056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347472" y="539496"/>
            <a:ext cx="173736" cy="182880"/>
          </a:xfrm>
          <a:prstGeom prst="rtTriangle">
            <a:avLst/>
          </a:prstGeom>
          <a:solidFill>
            <a:srgbClr val="E89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8842248" cy="457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833104" y="987552"/>
            <a:ext cx="3364992" cy="45720"/>
          </a:xfrm>
          <a:prstGeom prst="rect">
            <a:avLst/>
          </a:prstGeom>
          <a:solidFill>
            <a:srgbClr val="E89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219456"/>
            <a:ext cx="8887968" cy="530352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r>
              <a:rPr>
                <a:latin typeface="微软雅黑" panose="020B0503020204020204" charset="-122"/>
              </a:rPr>
              <a:t>OpenViking 在海量知识与项目资料中的作用</a:t>
            </a:r>
            <a:endParaRPr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4000" y="155448"/>
            <a:ext cx="2798064" cy="384048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r"/>
            <a:r>
              <a:rPr sz="13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四方上行</a:t>
            </a:r>
            <a:endParaRPr sz="13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66928" y="1828800"/>
            <a:ext cx="1700784" cy="1874519"/>
          </a:xfrm>
          <a:prstGeom prst="roundRect">
            <a:avLst/>
          </a:prstGeom>
          <a:solidFill>
            <a:srgbClr val="DEEBF7"/>
          </a:solidFill>
          <a:ln w="1016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084831"/>
            <a:ext cx="1554480" cy="347472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ctr"/>
            <a:r>
              <a:rPr sz="14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用户问题</a:t>
            </a:r>
            <a:endParaRPr sz="14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58368" y="2651760"/>
            <a:ext cx="1517904" cy="77724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r>
              <a:rPr>
                <a:latin typeface="微软雅黑" panose="020B0503020204020204" charset="-122"/>
              </a:rPr>
              <a:t>总结项目资料中的关键风险</a:t>
            </a:r>
            <a:endParaRPr>
              <a:latin typeface="微软雅黑" panose="020B0503020204020204" charset="-122"/>
            </a:endParaRPr>
          </a:p>
        </p:txBody>
      </p:sp>
      <p:sp>
        <p:nvSpPr>
          <p:cNvPr id="11" name="Right Arrow 10"/>
          <p:cNvSpPr/>
          <p:nvPr/>
        </p:nvSpPr>
        <p:spPr>
          <a:xfrm>
            <a:off x="2281428" y="2542032"/>
            <a:ext cx="118872" cy="320040"/>
          </a:xfrm>
          <a:prstGeom prst="rightArrow">
            <a:avLst/>
          </a:prstGeom>
          <a:solidFill>
            <a:srgbClr val="E89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414016" y="1828800"/>
            <a:ext cx="1700784" cy="1874519"/>
          </a:xfrm>
          <a:prstGeom prst="roundRect">
            <a:avLst/>
          </a:prstGeom>
          <a:solidFill>
            <a:srgbClr val="DEEBF7"/>
          </a:solidFill>
          <a:ln w="1016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87168" y="2084831"/>
            <a:ext cx="1554480" cy="347472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ctr"/>
            <a:r>
              <a:rPr sz="14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语义召回</a:t>
            </a:r>
            <a:endParaRPr sz="14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505456" y="2651760"/>
            <a:ext cx="1517904" cy="77724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r>
              <a:t>OpenViking</a:t>
            </a:r>
          </a:p>
          <a:p>
            <a:r>
              <a:t>召回候选文档、代码、记忆与 Skill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128515" y="2542032"/>
            <a:ext cx="118872" cy="320040"/>
          </a:xfrm>
          <a:prstGeom prst="rightArrow">
            <a:avLst/>
          </a:prstGeom>
          <a:solidFill>
            <a:srgbClr val="E89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261104" y="1828800"/>
            <a:ext cx="1700784" cy="1874519"/>
          </a:xfrm>
          <a:prstGeom prst="roundRect">
            <a:avLst/>
          </a:prstGeom>
          <a:solidFill>
            <a:srgbClr val="DEEBF7"/>
          </a:solidFill>
          <a:ln w="1016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34256" y="2084831"/>
            <a:ext cx="1554480" cy="347472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ctr"/>
            <a:r>
              <a:rPr sz="14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结构确认</a:t>
            </a:r>
            <a:endParaRPr sz="14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352544" y="2651760"/>
            <a:ext cx="1517904" cy="77724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r>
              <a:t>分层读取</a:t>
            </a:r>
          </a:p>
          <a:p>
            <a:r>
              <a:t>按 L0 / L1 / L2 加载所需上下文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975604" y="2542032"/>
            <a:ext cx="118872" cy="320040"/>
          </a:xfrm>
          <a:prstGeom prst="rightArrow">
            <a:avLst/>
          </a:prstGeom>
          <a:solidFill>
            <a:srgbClr val="E89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108192" y="1828800"/>
            <a:ext cx="1700784" cy="1874519"/>
          </a:xfrm>
          <a:prstGeom prst="roundRect">
            <a:avLst/>
          </a:prstGeom>
          <a:solidFill>
            <a:srgbClr val="E7F6EF"/>
          </a:solidFill>
          <a:ln w="10160">
            <a:solidFill>
              <a:srgbClr val="008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81344" y="2084831"/>
            <a:ext cx="1554480" cy="347472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r>
              <a:rPr>
                <a:latin typeface="微软雅黑" panose="020B0503020204020204" charset="-122"/>
              </a:rPr>
              <a:t>Agent 编排</a:t>
            </a:r>
            <a:endParaRPr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199632" y="2651760"/>
            <a:ext cx="1517904" cy="77724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r>
              <a:rPr>
                <a:latin typeface="微软雅黑" panose="020B0503020204020204" charset="-122"/>
              </a:rPr>
              <a:t>模型决策</a:t>
            </a:r>
            <a:endParaRPr>
              <a:latin typeface="微软雅黑" panose="020B0503020204020204" charset="-122"/>
            </a:endParaRPr>
          </a:p>
          <a:p>
            <a:r>
              <a:rPr>
                <a:latin typeface="微软雅黑" panose="020B0503020204020204" charset="-122"/>
              </a:rPr>
              <a:t>生成下一步任务或工具调用</a:t>
            </a:r>
            <a:endParaRPr>
              <a:latin typeface="微软雅黑" panose="020B0503020204020204" charset="-122"/>
            </a:endParaRPr>
          </a:p>
        </p:txBody>
      </p:sp>
      <p:sp>
        <p:nvSpPr>
          <p:cNvPr id="23" name="Right Arrow 22"/>
          <p:cNvSpPr/>
          <p:nvPr/>
        </p:nvSpPr>
        <p:spPr>
          <a:xfrm>
            <a:off x="7822692" y="2542032"/>
            <a:ext cx="118872" cy="320040"/>
          </a:xfrm>
          <a:prstGeom prst="rightArrow">
            <a:avLst/>
          </a:prstGeom>
          <a:solidFill>
            <a:srgbClr val="E89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955279" y="1828800"/>
            <a:ext cx="1700784" cy="1874519"/>
          </a:xfrm>
          <a:prstGeom prst="roundRect">
            <a:avLst/>
          </a:prstGeom>
          <a:solidFill>
            <a:srgbClr val="E7F6EF"/>
          </a:solidFill>
          <a:ln w="10160">
            <a:solidFill>
              <a:srgbClr val="008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28431" y="2084831"/>
            <a:ext cx="1554480" cy="347472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ctr"/>
            <a:r>
              <a:rPr sz="14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安全执行</a:t>
            </a:r>
            <a:endParaRPr sz="14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046719" y="2651760"/>
            <a:ext cx="1517904" cy="77724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r>
              <a:rPr>
                <a:latin typeface="微软雅黑" panose="020B0503020204020204" charset="-122"/>
              </a:rPr>
              <a:t>工具与权限</a:t>
            </a:r>
            <a:endParaRPr>
              <a:latin typeface="微软雅黑" panose="020B0503020204020204" charset="-122"/>
            </a:endParaRPr>
          </a:p>
          <a:p>
            <a:r>
              <a:rPr>
                <a:latin typeface="微软雅黑" panose="020B0503020204020204" charset="-122"/>
              </a:rPr>
              <a:t>校验、审批、超时、审计</a:t>
            </a:r>
            <a:endParaRPr>
              <a:latin typeface="微软雅黑" panose="020B0503020204020204" charset="-122"/>
            </a:endParaRPr>
          </a:p>
        </p:txBody>
      </p:sp>
      <p:sp>
        <p:nvSpPr>
          <p:cNvPr id="27" name="Right Arrow 26"/>
          <p:cNvSpPr/>
          <p:nvPr/>
        </p:nvSpPr>
        <p:spPr>
          <a:xfrm>
            <a:off x="9669780" y="2542032"/>
            <a:ext cx="118872" cy="320040"/>
          </a:xfrm>
          <a:prstGeom prst="rightArrow">
            <a:avLst/>
          </a:prstGeom>
          <a:solidFill>
            <a:srgbClr val="E89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802367" y="1828800"/>
            <a:ext cx="1700784" cy="1874519"/>
          </a:xfrm>
          <a:prstGeom prst="roundRect">
            <a:avLst/>
          </a:prstGeom>
          <a:solidFill>
            <a:srgbClr val="E7F6EF"/>
          </a:solidFill>
          <a:ln w="10160">
            <a:solidFill>
              <a:srgbClr val="008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75519" y="2084831"/>
            <a:ext cx="1554480" cy="347472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ctr"/>
            <a:r>
              <a:rPr sz="14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结果解释</a:t>
            </a:r>
            <a:endParaRPr sz="14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9893807" y="2651760"/>
            <a:ext cx="1517904" cy="77724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r>
              <a:rPr>
                <a:latin typeface="微软雅黑" panose="020B0503020204020204" charset="-122"/>
              </a:rPr>
              <a:t>工具结果</a:t>
            </a:r>
            <a:endParaRPr>
              <a:latin typeface="微软雅黑" panose="020B0503020204020204" charset="-122"/>
            </a:endParaRPr>
          </a:p>
          <a:p>
            <a:r>
              <a:rPr>
                <a:latin typeface="微软雅黑" panose="020B0503020204020204" charset="-122"/>
              </a:rPr>
              <a:t>Agent 汇总自然语言答案</a:t>
            </a:r>
            <a:endParaRPr>
              <a:latin typeface="微软雅黑" panose="020B0503020204020204" charset="-122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658368" y="4343400"/>
            <a:ext cx="3429000" cy="1078992"/>
          </a:xfrm>
          <a:prstGeom prst="roundRect">
            <a:avLst/>
          </a:prstGeom>
          <a:solidFill>
            <a:srgbClr val="DEEBF7"/>
          </a:solidFill>
          <a:ln w="1016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4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OpenViking 擅长</a:t>
            </a:r>
            <a:endParaRPr sz="14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sz="14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海量资源的语义召回、分层加载和长期记忆</a:t>
            </a:r>
            <a:endParaRPr sz="14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4389120" y="4343400"/>
            <a:ext cx="3429000" cy="1078992"/>
          </a:xfrm>
          <a:prstGeom prst="roundRect">
            <a:avLst/>
          </a:prstGeom>
          <a:solidFill>
            <a:srgbClr val="E7F6EF"/>
          </a:solidFill>
          <a:ln w="10160">
            <a:solidFill>
              <a:srgbClr val="008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4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仍需配合</a:t>
            </a:r>
            <a:endParaRPr sz="14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sz="14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结构化元数据、关系图和权限控制</a:t>
            </a:r>
            <a:endParaRPr sz="14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8119872" y="4343400"/>
            <a:ext cx="3429000" cy="1078992"/>
          </a:xfrm>
          <a:prstGeom prst="roundRect">
            <a:avLst/>
          </a:prstGeom>
          <a:solidFill>
            <a:srgbClr val="FFF1D9"/>
          </a:solidFill>
          <a:ln w="10160">
            <a:solidFill>
              <a:srgbClr val="E899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r>
              <a:t>明确边界</a:t>
            </a:r>
          </a:p>
          <a:p>
            <a:r>
              <a:t>OpenViking 负责上下文召回，不替代 Agent 的任务编排和权限控制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5806440"/>
            <a:ext cx="10881360" cy="512064"/>
          </a:xfrm>
          <a:prstGeom prst="rect">
            <a:avLst/>
          </a:prstGeom>
          <a:solidFill>
            <a:srgbClr val="223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r>
              <a:t>建议按项目、业务域和用户空间组织 viking:// 资源，让文档、代码、记忆和 Skill 可以按目录浏览与检索。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0" y="0"/>
            <a:ext cx="530352" cy="448056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347472" y="539496"/>
            <a:ext cx="173736" cy="182880"/>
          </a:xfrm>
          <a:prstGeom prst="rtTriangle">
            <a:avLst/>
          </a:prstGeom>
          <a:solidFill>
            <a:srgbClr val="E89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8842248" cy="457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833104" y="987552"/>
            <a:ext cx="3364992" cy="45720"/>
          </a:xfrm>
          <a:prstGeom prst="rect">
            <a:avLst/>
          </a:prstGeom>
          <a:solidFill>
            <a:srgbClr val="E89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219456"/>
            <a:ext cx="8887968" cy="530352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24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OpenViking 接入路线与部署边界</a:t>
            </a:r>
            <a:endParaRPr sz="24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4000" y="155448"/>
            <a:ext cx="2798064" cy="384048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r"/>
            <a:r>
              <a:rPr sz="13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四方上行</a:t>
            </a:r>
            <a:endParaRPr sz="13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5257800" cy="1627632"/>
          </a:xfrm>
          <a:prstGeom prst="roundRect">
            <a:avLst/>
          </a:prstGeom>
          <a:solidFill>
            <a:srgbClr val="F2F7FC"/>
          </a:solidFill>
          <a:ln w="1016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68096" y="1481328"/>
            <a:ext cx="566928" cy="566928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490472" y="1481328"/>
            <a:ext cx="4206240" cy="347472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6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第一步：独立服务</a:t>
            </a:r>
            <a:endParaRPr sz="16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86384" y="2029967"/>
            <a:ext cx="4928616" cy="7315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Windows 开发环境运行 openviking-server；Electron 通过 127.0.0.1:1933 访问；启动后轮询 /health。</a:t>
            </a:r>
            <a:endParaRPr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53912" y="1298448"/>
            <a:ext cx="5257800" cy="1627632"/>
          </a:xfrm>
          <a:prstGeom prst="roundRect">
            <a:avLst/>
          </a:prstGeom>
          <a:solidFill>
            <a:srgbClr val="F2F7FC"/>
          </a:solidFill>
          <a:ln w="1016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00216" y="1481328"/>
            <a:ext cx="566928" cy="566928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022592" y="1481328"/>
            <a:ext cx="4206240" cy="347472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6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第二步：服务封装</a:t>
            </a:r>
            <a:endParaRPr sz="16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318503" y="2029967"/>
            <a:ext cx="4928616" cy="7315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在 Electron 主进程封装 OpenVikingClient，统一 add_resource、find、read、remember 和 health。</a:t>
            </a:r>
            <a:endParaRPr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21792" y="3218688"/>
            <a:ext cx="5257800" cy="1627632"/>
          </a:xfrm>
          <a:prstGeom prst="roundRect">
            <a:avLst/>
          </a:prstGeom>
          <a:solidFill>
            <a:srgbClr val="F2F7FC"/>
          </a:solidFill>
          <a:ln w="1016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68096" y="3401568"/>
            <a:ext cx="566928" cy="566928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490472" y="3401568"/>
            <a:ext cx="4206240" cy="347472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6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第三步：资源导入</a:t>
            </a:r>
            <a:endParaRPr sz="16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86384" y="3950208"/>
            <a:ext cx="4928616" cy="7315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r>
              <a:rPr>
                <a:latin typeface="微软雅黑" panose="020B0503020204020204" charset="-122"/>
              </a:rPr>
              <a:t>从项目与业务系统元数据 API 自动生成 Markdown/JSON，按业务域批量导入，不建议 UI 逐张录入。</a:t>
            </a:r>
            <a:endParaRPr>
              <a:latin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153912" y="3218688"/>
            <a:ext cx="5257800" cy="1627632"/>
          </a:xfrm>
          <a:prstGeom prst="roundRect">
            <a:avLst/>
          </a:prstGeom>
          <a:solidFill>
            <a:srgbClr val="F2F7FC"/>
          </a:solidFill>
          <a:ln w="1016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300216" y="3401568"/>
            <a:ext cx="566928" cy="566928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022592" y="3401568"/>
            <a:ext cx="4206240" cy="347472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6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第四步：Agent 编排</a:t>
            </a:r>
            <a:endParaRPr sz="16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318503" y="3950208"/>
            <a:ext cx="4928616" cy="7315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先召回摘要，再读取详情；把上下文交给 LLM；需要模型自主检索时再接入 MCP。</a:t>
            </a:r>
            <a:endParaRPr sz="11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21792" y="5440680"/>
            <a:ext cx="5257800" cy="804672"/>
          </a:xfrm>
          <a:prstGeom prst="roundRect">
            <a:avLst/>
          </a:prstGeom>
          <a:solidFill>
            <a:srgbClr val="E7F6EF"/>
          </a:solidFill>
          <a:ln w="10160">
            <a:solidFill>
              <a:srgbClr val="008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3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当前项目状态</a:t>
            </a:r>
            <a:endParaRPr sz="13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sz="13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令旗已有 MCP Client、Skill 和工具审批；OpenViking 接入属于新增规划能力。</a:t>
            </a:r>
            <a:endParaRPr sz="13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6153912" y="5440680"/>
            <a:ext cx="5394960" cy="804672"/>
          </a:xfrm>
          <a:prstGeom prst="roundRect">
            <a:avLst/>
          </a:prstGeom>
          <a:solidFill>
            <a:srgbClr val="FFF1D9"/>
          </a:solidFill>
          <a:ln w="10160">
            <a:solidFill>
              <a:srgbClr val="E899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3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部署与许可证</a:t>
            </a:r>
            <a:endParaRPr sz="13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sz="13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独立服务部署更易隔离；OpenViking 开源仓库采用 AGPL-3.0，发布前需评估许可证义务。</a:t>
            </a:r>
            <a:endParaRPr sz="1300" b="1">
              <a:solidFill>
                <a:srgbClr val="2239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>
              <a:alphaModFix amt="30000"/>
            </a:blip>
            <a:stretch>
              <a:fillRect/>
            </a:stretch>
          </a:blipFill>
          <a:ln>
            <a:noFill/>
          </a:ln>
        </p:spPr>
      </p:sp>
      <p:sp>
        <p:nvSpPr>
          <p:cNvPr id="3" name="band"/>
          <p:cNvSpPr/>
          <p:nvPr/>
        </p:nvSpPr>
        <p:spPr>
          <a:xfrm>
            <a:off x="0" y="2865120"/>
            <a:ext cx="12192000" cy="1136650"/>
          </a:xfrm>
          <a:prstGeom prst="rect">
            <a:avLst/>
          </a:prstGeom>
          <a:solidFill>
            <a:srgbClr val="5B9BD5"/>
          </a:solidFill>
          <a:ln>
            <a:noFill/>
          </a:ln>
        </p:spPr>
      </p:sp>
      <p:sp>
        <p:nvSpPr>
          <p:cNvPr id="4" name="num-box"/>
          <p:cNvSpPr/>
          <p:nvPr/>
        </p:nvSpPr>
        <p:spPr>
          <a:xfrm>
            <a:off x="1351280" y="2306320"/>
            <a:ext cx="1651000" cy="2306320"/>
          </a:xfrm>
          <a:prstGeom prst="roundRect">
            <a:avLst/>
          </a:prstGeom>
          <a:noFill/>
          <a:ln w="38100">
            <a:solidFill>
              <a:srgbClr val="5B9BD5"/>
            </a:solidFill>
          </a:ln>
          <a:effectLst>
            <a:outerShdw blurRad="63500" algn="bl" rotWithShape="0">
              <a:srgbClr val="000000">
                <a:alpha val="40000"/>
              </a:srgbClr>
            </a:outerShdw>
          </a:effectLst>
        </p:spPr>
      </p:sp>
      <p:sp>
        <p:nvSpPr>
          <p:cNvPr id="5" name="num"/>
          <p:cNvSpPr txBox="1"/>
          <p:nvPr/>
        </p:nvSpPr>
        <p:spPr>
          <a:xfrm>
            <a:off x="1473200" y="2848610"/>
            <a:ext cx="1409700" cy="1231900"/>
          </a:xfrm>
          <a:prstGeom prst="rect">
            <a:avLst/>
          </a:prstGeom>
          <a:noFill/>
          <a:ln>
            <a:noFill/>
          </a:ln>
        </p:spPr>
        <p:txBody>
          <a:bodyPr wrap="square" lIns="109728" rIns="109728" rtlCol="0" anchor="ctr"/>
          <a:lstStyle/>
          <a:p>
            <a:pPr algn="ctr">
              <a:lnSpc>
                <a:spcPct val="120000"/>
              </a:lnSpc>
            </a:pPr>
            <a:r>
              <a:rPr sz="24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lang="en-US" sz="7600" noProof="1"/>
          </a:p>
        </p:txBody>
      </p:sp>
      <p:sp>
        <p:nvSpPr>
          <p:cNvPr id="6" name="ch-title"/>
          <p:cNvSpPr txBox="1"/>
          <p:nvPr/>
        </p:nvSpPr>
        <p:spPr>
          <a:xfrm>
            <a:off x="3723640" y="3048000"/>
            <a:ext cx="7874000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000" b="1" noProof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</a:rPr>
              <a:t>        执行流程与技术架构</a:t>
            </a:r>
            <a:endParaRPr lang="en-US" sz="4000" noProof="1"/>
          </a:p>
        </p:txBody>
      </p:sp>
      <p:sp>
        <p:nvSpPr>
          <p:cNvPr id="7" name="logo"/>
          <p:cNvSpPr txBox="1"/>
          <p:nvPr/>
        </p:nvSpPr>
        <p:spPr>
          <a:xfrm>
            <a:off x="9652000" y="304800"/>
            <a:ext cx="2159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四方上行</a:t>
            </a:r>
            <a:endParaRPr lang="en-US" sz="1600" noProof="1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tri1"/>
          <p:cNvSpPr/>
          <p:nvPr/>
        </p:nvSpPr>
        <p:spPr>
          <a:xfrm>
            <a:off x="0" y="0"/>
            <a:ext cx="527050" cy="444500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3" name="hd-tri2"/>
          <p:cNvSpPr/>
          <p:nvPr/>
        </p:nvSpPr>
        <p:spPr>
          <a:xfrm rot="5400000">
            <a:off x="349250" y="538480"/>
            <a:ext cx="175260" cy="179070"/>
          </a:xfrm>
          <a:prstGeom prst="triangle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4" name="hd-line1"/>
          <p:cNvSpPr/>
          <p:nvPr/>
        </p:nvSpPr>
        <p:spPr>
          <a:xfrm>
            <a:off x="0" y="985520"/>
            <a:ext cx="8839200" cy="43180"/>
          </a:xfrm>
          <a:prstGeom prst="rect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5" name="hd-line2"/>
          <p:cNvSpPr/>
          <p:nvPr/>
        </p:nvSpPr>
        <p:spPr>
          <a:xfrm>
            <a:off x="8829040" y="985520"/>
            <a:ext cx="3362960" cy="43180"/>
          </a:xfrm>
          <a:prstGeom prst="rect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6" name="hd-title"/>
          <p:cNvSpPr txBox="1"/>
          <p:nvPr/>
        </p:nvSpPr>
        <p:spPr>
          <a:xfrm>
            <a:off x="701040" y="254000"/>
            <a:ext cx="88900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000" noProof="1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</a:rPr>
              <a:t>Agent 任务执行主流程</a:t>
            </a:r>
            <a:endParaRPr lang="en-US" sz="3000" noProof="1"/>
          </a:p>
        </p:txBody>
      </p:sp>
      <p:sp>
        <p:nvSpPr>
          <p:cNvPr id="7" name="logo"/>
          <p:cNvSpPr txBox="1"/>
          <p:nvPr/>
        </p:nvSpPr>
        <p:spPr>
          <a:xfrm>
            <a:off x="9652000" y="304800"/>
            <a:ext cx="2159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四方上行</a:t>
            </a:r>
            <a:endParaRPr lang="en-US" sz="1600" noProof="1"/>
          </a:p>
        </p:txBody>
      </p:sp>
      <p:sp>
        <p:nvSpPr>
          <p:cNvPr id="8" name="f10"/>
          <p:cNvSpPr/>
          <p:nvPr/>
        </p:nvSpPr>
        <p:spPr>
          <a:xfrm>
            <a:off x="508000" y="1651000"/>
            <a:ext cx="2032000" cy="812800"/>
          </a:xfrm>
          <a:prstGeom prst="roundRect">
            <a:avLst>
              <a:gd name="adj" fmla="val 9000"/>
            </a:avLst>
          </a:prstGeom>
          <a:solidFill>
            <a:srgbClr val="0070C0"/>
          </a:solidFill>
          <a:ln w="12700">
            <a:solidFill>
              <a:srgbClr val="5B9BD5"/>
            </a:solidFill>
          </a:ln>
        </p:spPr>
      </p:sp>
      <p:sp>
        <p:nvSpPr>
          <p:cNvPr id="9" name="f10-t"/>
          <p:cNvSpPr txBox="1"/>
          <p:nvPr/>
        </p:nvSpPr>
        <p:spPr>
          <a:xfrm>
            <a:off x="609600" y="1651000"/>
            <a:ext cx="18288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noProof="1">
                <a:solidFill>
                  <a:srgbClr val="FFFFFF"/>
                </a:solidFill>
                <a:latin typeface="MiSans" charset="-122"/>
                <a:ea typeface="MiSans" charset="-122"/>
              </a:rPr>
              <a:t>用户输入自然语言任务</a:t>
            </a:r>
            <a:endParaRPr lang="en-US" sz="1200" noProof="1"/>
          </a:p>
        </p:txBody>
      </p:sp>
      <p:sp>
        <p:nvSpPr>
          <p:cNvPr id="10" name="f1arr0"/>
          <p:cNvSpPr/>
          <p:nvPr/>
        </p:nvSpPr>
        <p:spPr>
          <a:xfrm>
            <a:off x="2578100" y="19558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56" h="512">
                <a:moveTo>
                  <a:pt x="247" y="233"/>
                </a:moveTo>
                <a:cubicBezTo>
                  <a:pt x="260" y="246"/>
                  <a:pt x="260" y="266"/>
                  <a:pt x="247" y="279"/>
                </a:cubicBezTo>
                <a:lnTo>
                  <a:pt x="87" y="439"/>
                </a:lnTo>
                <a:cubicBezTo>
                  <a:pt x="75" y="451"/>
                  <a:pt x="54" y="451"/>
                  <a:pt x="42" y="439"/>
                </a:cubicBezTo>
                <a:cubicBezTo>
                  <a:pt x="29" y="426"/>
                  <a:pt x="29" y="406"/>
                  <a:pt x="42" y="393"/>
                </a:cubicBezTo>
                <a:lnTo>
                  <a:pt x="179" y="256"/>
                </a:lnTo>
                <a:lnTo>
                  <a:pt x="42" y="119"/>
                </a:lnTo>
                <a:cubicBezTo>
                  <a:pt x="29" y="106"/>
                  <a:pt x="29" y="86"/>
                  <a:pt x="42" y="73"/>
                </a:cubicBezTo>
                <a:cubicBezTo>
                  <a:pt x="54" y="61"/>
                  <a:pt x="75" y="61"/>
                  <a:pt x="87" y="73"/>
                </a:cubicBezTo>
                <a:lnTo>
                  <a:pt x="247" y="233"/>
                </a:lnTo>
                <a:close/>
              </a:path>
            </a:pathLst>
          </a:custGeom>
          <a:solidFill>
            <a:srgbClr val="E89924"/>
          </a:solidFill>
          <a:ln>
            <a:noFill/>
          </a:ln>
        </p:spPr>
      </p:sp>
      <p:sp>
        <p:nvSpPr>
          <p:cNvPr id="11" name="f11"/>
          <p:cNvSpPr/>
          <p:nvPr/>
        </p:nvSpPr>
        <p:spPr>
          <a:xfrm>
            <a:off x="2819400" y="1651000"/>
            <a:ext cx="2032000" cy="812800"/>
          </a:xfrm>
          <a:prstGeom prst="roundRect">
            <a:avLst>
              <a:gd name="adj" fmla="val 9000"/>
            </a:avLst>
          </a:prstGeom>
          <a:solidFill>
            <a:srgbClr val="EAF3FB"/>
          </a:solidFill>
          <a:ln w="12700">
            <a:solidFill>
              <a:srgbClr val="5B9BD5"/>
            </a:solidFill>
          </a:ln>
        </p:spPr>
      </p:sp>
      <p:sp>
        <p:nvSpPr>
          <p:cNvPr id="12" name="f11-t"/>
          <p:cNvSpPr txBox="1"/>
          <p:nvPr/>
        </p:nvSpPr>
        <p:spPr>
          <a:xfrm>
            <a:off x="2921000" y="1651000"/>
            <a:ext cx="18288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携带会话上下文、附件和启用的 Skill</a:t>
            </a:r>
            <a:endParaRPr lang="en-US" sz="1200" noProof="1"/>
          </a:p>
        </p:txBody>
      </p:sp>
      <p:sp>
        <p:nvSpPr>
          <p:cNvPr id="13" name="f1arr1"/>
          <p:cNvSpPr/>
          <p:nvPr/>
        </p:nvSpPr>
        <p:spPr>
          <a:xfrm>
            <a:off x="4889500" y="19558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56" h="512">
                <a:moveTo>
                  <a:pt x="247" y="233"/>
                </a:moveTo>
                <a:cubicBezTo>
                  <a:pt x="260" y="246"/>
                  <a:pt x="260" y="266"/>
                  <a:pt x="247" y="279"/>
                </a:cubicBezTo>
                <a:lnTo>
                  <a:pt x="87" y="439"/>
                </a:lnTo>
                <a:cubicBezTo>
                  <a:pt x="75" y="451"/>
                  <a:pt x="54" y="451"/>
                  <a:pt x="42" y="439"/>
                </a:cubicBezTo>
                <a:cubicBezTo>
                  <a:pt x="29" y="426"/>
                  <a:pt x="29" y="406"/>
                  <a:pt x="42" y="393"/>
                </a:cubicBezTo>
                <a:lnTo>
                  <a:pt x="179" y="256"/>
                </a:lnTo>
                <a:lnTo>
                  <a:pt x="42" y="119"/>
                </a:lnTo>
                <a:cubicBezTo>
                  <a:pt x="29" y="106"/>
                  <a:pt x="29" y="86"/>
                  <a:pt x="42" y="73"/>
                </a:cubicBezTo>
                <a:cubicBezTo>
                  <a:pt x="54" y="61"/>
                  <a:pt x="75" y="61"/>
                  <a:pt x="87" y="73"/>
                </a:cubicBezTo>
                <a:lnTo>
                  <a:pt x="247" y="233"/>
                </a:lnTo>
                <a:close/>
              </a:path>
            </a:pathLst>
          </a:custGeom>
          <a:solidFill>
            <a:srgbClr val="E89924"/>
          </a:solidFill>
          <a:ln>
            <a:noFill/>
          </a:ln>
        </p:spPr>
      </p:sp>
      <p:sp>
        <p:nvSpPr>
          <p:cNvPr id="14" name="f12"/>
          <p:cNvSpPr/>
          <p:nvPr/>
        </p:nvSpPr>
        <p:spPr>
          <a:xfrm>
            <a:off x="5130800" y="1651000"/>
            <a:ext cx="2032000" cy="812800"/>
          </a:xfrm>
          <a:prstGeom prst="roundRect">
            <a:avLst>
              <a:gd name="adj" fmla="val 9000"/>
            </a:avLst>
          </a:prstGeom>
          <a:solidFill>
            <a:srgbClr val="EAF3FB"/>
          </a:solidFill>
          <a:ln w="12700">
            <a:solidFill>
              <a:srgbClr val="5B9BD5"/>
            </a:solidFill>
          </a:ln>
        </p:spPr>
      </p:sp>
      <p:sp>
        <p:nvSpPr>
          <p:cNvPr id="15" name="f12-t"/>
          <p:cNvSpPr txBox="1"/>
          <p:nvPr/>
        </p:nvSpPr>
        <p:spPr>
          <a:xfrm>
            <a:off x="5232400" y="1651000"/>
            <a:ext cx="18288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准备并解析附件</a:t>
            </a:r>
            <a:endParaRPr lang="en-US" sz="1200" noProof="1"/>
          </a:p>
        </p:txBody>
      </p:sp>
      <p:sp>
        <p:nvSpPr>
          <p:cNvPr id="16" name="f1arr2"/>
          <p:cNvSpPr/>
          <p:nvPr/>
        </p:nvSpPr>
        <p:spPr>
          <a:xfrm>
            <a:off x="7200900" y="19558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56" h="512">
                <a:moveTo>
                  <a:pt x="247" y="233"/>
                </a:moveTo>
                <a:cubicBezTo>
                  <a:pt x="260" y="246"/>
                  <a:pt x="260" y="266"/>
                  <a:pt x="247" y="279"/>
                </a:cubicBezTo>
                <a:lnTo>
                  <a:pt x="87" y="439"/>
                </a:lnTo>
                <a:cubicBezTo>
                  <a:pt x="75" y="451"/>
                  <a:pt x="54" y="451"/>
                  <a:pt x="42" y="439"/>
                </a:cubicBezTo>
                <a:cubicBezTo>
                  <a:pt x="29" y="426"/>
                  <a:pt x="29" y="406"/>
                  <a:pt x="42" y="393"/>
                </a:cubicBezTo>
                <a:lnTo>
                  <a:pt x="179" y="256"/>
                </a:lnTo>
                <a:lnTo>
                  <a:pt x="42" y="119"/>
                </a:lnTo>
                <a:cubicBezTo>
                  <a:pt x="29" y="106"/>
                  <a:pt x="29" y="86"/>
                  <a:pt x="42" y="73"/>
                </a:cubicBezTo>
                <a:cubicBezTo>
                  <a:pt x="54" y="61"/>
                  <a:pt x="75" y="61"/>
                  <a:pt x="87" y="73"/>
                </a:cubicBezTo>
                <a:lnTo>
                  <a:pt x="247" y="233"/>
                </a:lnTo>
                <a:close/>
              </a:path>
            </a:pathLst>
          </a:custGeom>
          <a:solidFill>
            <a:srgbClr val="E89924"/>
          </a:solidFill>
          <a:ln>
            <a:noFill/>
          </a:ln>
        </p:spPr>
      </p:sp>
      <p:sp>
        <p:nvSpPr>
          <p:cNvPr id="17" name="f13"/>
          <p:cNvSpPr/>
          <p:nvPr/>
        </p:nvSpPr>
        <p:spPr>
          <a:xfrm>
            <a:off x="7442200" y="1651000"/>
            <a:ext cx="2032000" cy="812800"/>
          </a:xfrm>
          <a:prstGeom prst="roundRect">
            <a:avLst>
              <a:gd name="adj" fmla="val 9000"/>
            </a:avLst>
          </a:prstGeom>
          <a:solidFill>
            <a:srgbClr val="EAF3FB"/>
          </a:solidFill>
          <a:ln w="12700">
            <a:solidFill>
              <a:srgbClr val="5B9BD5"/>
            </a:solidFill>
          </a:ln>
        </p:spPr>
      </p:sp>
      <p:sp>
        <p:nvSpPr>
          <p:cNvPr id="18" name="f13-t"/>
          <p:cNvSpPr txBox="1"/>
          <p:nvPr/>
        </p:nvSpPr>
        <p:spPr>
          <a:xfrm>
            <a:off x="7543800" y="1651000"/>
            <a:ext cx="18288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协议适配层构造模型请求</a:t>
            </a:r>
            <a:endParaRPr lang="en-US" sz="1200" noProof="1"/>
          </a:p>
        </p:txBody>
      </p:sp>
      <p:sp>
        <p:nvSpPr>
          <p:cNvPr id="19" name="f1arr3"/>
          <p:cNvSpPr/>
          <p:nvPr/>
        </p:nvSpPr>
        <p:spPr>
          <a:xfrm>
            <a:off x="9512300" y="19558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56" h="512">
                <a:moveTo>
                  <a:pt x="247" y="233"/>
                </a:moveTo>
                <a:cubicBezTo>
                  <a:pt x="260" y="246"/>
                  <a:pt x="260" y="266"/>
                  <a:pt x="247" y="279"/>
                </a:cubicBezTo>
                <a:lnTo>
                  <a:pt x="87" y="439"/>
                </a:lnTo>
                <a:cubicBezTo>
                  <a:pt x="75" y="451"/>
                  <a:pt x="54" y="451"/>
                  <a:pt x="42" y="439"/>
                </a:cubicBezTo>
                <a:cubicBezTo>
                  <a:pt x="29" y="426"/>
                  <a:pt x="29" y="406"/>
                  <a:pt x="42" y="393"/>
                </a:cubicBezTo>
                <a:lnTo>
                  <a:pt x="179" y="256"/>
                </a:lnTo>
                <a:lnTo>
                  <a:pt x="42" y="119"/>
                </a:lnTo>
                <a:cubicBezTo>
                  <a:pt x="29" y="106"/>
                  <a:pt x="29" y="86"/>
                  <a:pt x="42" y="73"/>
                </a:cubicBezTo>
                <a:cubicBezTo>
                  <a:pt x="54" y="61"/>
                  <a:pt x="75" y="61"/>
                  <a:pt x="87" y="73"/>
                </a:cubicBezTo>
                <a:lnTo>
                  <a:pt x="247" y="233"/>
                </a:lnTo>
                <a:close/>
              </a:path>
            </a:pathLst>
          </a:custGeom>
          <a:solidFill>
            <a:srgbClr val="E89924"/>
          </a:solidFill>
          <a:ln>
            <a:noFill/>
          </a:ln>
        </p:spPr>
      </p:sp>
      <p:sp>
        <p:nvSpPr>
          <p:cNvPr id="20" name="f14"/>
          <p:cNvSpPr/>
          <p:nvPr/>
        </p:nvSpPr>
        <p:spPr>
          <a:xfrm>
            <a:off x="9753600" y="1651000"/>
            <a:ext cx="2032000" cy="812800"/>
          </a:xfrm>
          <a:prstGeom prst="roundRect">
            <a:avLst>
              <a:gd name="adj" fmla="val 9000"/>
            </a:avLst>
          </a:prstGeom>
          <a:solidFill>
            <a:srgbClr val="0070C0"/>
          </a:solidFill>
          <a:ln w="12700">
            <a:solidFill>
              <a:srgbClr val="5B9BD5"/>
            </a:solidFill>
          </a:ln>
        </p:spPr>
      </p:sp>
      <p:sp>
        <p:nvSpPr>
          <p:cNvPr id="21" name="f14-t"/>
          <p:cNvSpPr txBox="1"/>
          <p:nvPr/>
        </p:nvSpPr>
        <p:spPr>
          <a:xfrm>
            <a:off x="9855200" y="1651000"/>
            <a:ext cx="18288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noProof="1">
                <a:solidFill>
                  <a:srgbClr val="FFFFFF"/>
                </a:solidFill>
                <a:latin typeface="MiSans" charset="-122"/>
                <a:ea typeface="MiSans" charset="-122"/>
              </a:rPr>
              <a:t>模型返回文本或工具调用</a:t>
            </a:r>
            <a:endParaRPr lang="en-US" sz="1200" noProof="1"/>
          </a:p>
        </p:txBody>
      </p:sp>
      <p:sp>
        <p:nvSpPr>
          <p:cNvPr id="22" name="turn"/>
          <p:cNvSpPr/>
          <p:nvPr/>
        </p:nvSpPr>
        <p:spPr>
          <a:xfrm>
            <a:off x="10922000" y="25400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384" h="512">
                <a:moveTo>
                  <a:pt x="32" y="64"/>
                </a:moveTo>
                <a:cubicBezTo>
                  <a:pt x="14" y="64"/>
                  <a:pt x="0" y="50"/>
                  <a:pt x="0" y="32"/>
                </a:cubicBezTo>
                <a:cubicBezTo>
                  <a:pt x="0" y="14"/>
                  <a:pt x="14" y="0"/>
                  <a:pt x="32" y="0"/>
                </a:cubicBezTo>
                <a:lnTo>
                  <a:pt x="128" y="0"/>
                </a:lnTo>
                <a:cubicBezTo>
                  <a:pt x="181" y="0"/>
                  <a:pt x="224" y="43"/>
                  <a:pt x="224" y="96"/>
                </a:cubicBezTo>
                <a:lnTo>
                  <a:pt x="224" y="403"/>
                </a:lnTo>
                <a:lnTo>
                  <a:pt x="297" y="329"/>
                </a:lnTo>
                <a:cubicBezTo>
                  <a:pt x="310" y="317"/>
                  <a:pt x="330" y="317"/>
                  <a:pt x="343" y="329"/>
                </a:cubicBezTo>
                <a:cubicBezTo>
                  <a:pt x="355" y="342"/>
                  <a:pt x="355" y="362"/>
                  <a:pt x="343" y="375"/>
                </a:cubicBezTo>
                <a:lnTo>
                  <a:pt x="215" y="503"/>
                </a:lnTo>
                <a:cubicBezTo>
                  <a:pt x="202" y="515"/>
                  <a:pt x="182" y="515"/>
                  <a:pt x="169" y="503"/>
                </a:cubicBezTo>
                <a:lnTo>
                  <a:pt x="41" y="375"/>
                </a:lnTo>
                <a:cubicBezTo>
                  <a:pt x="29" y="362"/>
                  <a:pt x="29" y="342"/>
                  <a:pt x="41" y="329"/>
                </a:cubicBezTo>
                <a:cubicBezTo>
                  <a:pt x="54" y="317"/>
                  <a:pt x="74" y="317"/>
                  <a:pt x="87" y="329"/>
                </a:cubicBezTo>
                <a:lnTo>
                  <a:pt x="160" y="403"/>
                </a:lnTo>
                <a:lnTo>
                  <a:pt x="160" y="96"/>
                </a:lnTo>
                <a:cubicBezTo>
                  <a:pt x="160" y="78"/>
                  <a:pt x="146" y="64"/>
                  <a:pt x="128" y="64"/>
                </a:cubicBezTo>
                <a:lnTo>
                  <a:pt x="32" y="64"/>
                </a:lnTo>
                <a:close/>
              </a:path>
            </a:pathLst>
          </a:custGeom>
          <a:solidFill>
            <a:srgbClr val="5B9BD5"/>
          </a:solidFill>
          <a:ln>
            <a:noFill/>
          </a:ln>
        </p:spPr>
      </p:sp>
      <p:sp>
        <p:nvSpPr>
          <p:cNvPr id="23" name="f20"/>
          <p:cNvSpPr/>
          <p:nvPr/>
        </p:nvSpPr>
        <p:spPr>
          <a:xfrm>
            <a:off x="508000" y="3048000"/>
            <a:ext cx="2032000" cy="812800"/>
          </a:xfrm>
          <a:prstGeom prst="roundRect">
            <a:avLst>
              <a:gd name="adj" fmla="val 9000"/>
            </a:avLst>
          </a:prstGeom>
          <a:solidFill>
            <a:srgbClr val="EAF3FB"/>
          </a:solidFill>
          <a:ln w="12700">
            <a:solidFill>
              <a:srgbClr val="5B9BD5"/>
            </a:solidFill>
          </a:ln>
        </p:spPr>
      </p:sp>
      <p:sp>
        <p:nvSpPr>
          <p:cNvPr id="24" name="f20-t"/>
          <p:cNvSpPr txBox="1"/>
          <p:nvPr/>
        </p:nvSpPr>
        <p:spPr>
          <a:xfrm>
            <a:off x="609600" y="3048000"/>
            <a:ext cx="18288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工具执行前进行权限判断</a:t>
            </a:r>
            <a:endParaRPr lang="en-US" sz="1200" noProof="1"/>
          </a:p>
        </p:txBody>
      </p:sp>
      <p:sp>
        <p:nvSpPr>
          <p:cNvPr id="25" name="f2arr0"/>
          <p:cNvSpPr/>
          <p:nvPr/>
        </p:nvSpPr>
        <p:spPr>
          <a:xfrm>
            <a:off x="2578100" y="33528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56" h="512">
                <a:moveTo>
                  <a:pt x="247" y="233"/>
                </a:moveTo>
                <a:cubicBezTo>
                  <a:pt x="260" y="246"/>
                  <a:pt x="260" y="266"/>
                  <a:pt x="247" y="279"/>
                </a:cubicBezTo>
                <a:lnTo>
                  <a:pt x="87" y="439"/>
                </a:lnTo>
                <a:cubicBezTo>
                  <a:pt x="75" y="451"/>
                  <a:pt x="54" y="451"/>
                  <a:pt x="42" y="439"/>
                </a:cubicBezTo>
                <a:cubicBezTo>
                  <a:pt x="29" y="426"/>
                  <a:pt x="29" y="406"/>
                  <a:pt x="42" y="393"/>
                </a:cubicBezTo>
                <a:lnTo>
                  <a:pt x="179" y="256"/>
                </a:lnTo>
                <a:lnTo>
                  <a:pt x="42" y="119"/>
                </a:lnTo>
                <a:cubicBezTo>
                  <a:pt x="29" y="106"/>
                  <a:pt x="29" y="86"/>
                  <a:pt x="42" y="73"/>
                </a:cubicBezTo>
                <a:cubicBezTo>
                  <a:pt x="54" y="61"/>
                  <a:pt x="75" y="61"/>
                  <a:pt x="87" y="73"/>
                </a:cubicBezTo>
                <a:lnTo>
                  <a:pt x="247" y="233"/>
                </a:lnTo>
                <a:close/>
              </a:path>
            </a:pathLst>
          </a:custGeom>
          <a:solidFill>
            <a:srgbClr val="E89924"/>
          </a:solidFill>
          <a:ln>
            <a:noFill/>
          </a:ln>
        </p:spPr>
      </p:sp>
      <p:sp>
        <p:nvSpPr>
          <p:cNvPr id="26" name="f21"/>
          <p:cNvSpPr/>
          <p:nvPr/>
        </p:nvSpPr>
        <p:spPr>
          <a:xfrm>
            <a:off x="2819400" y="3048000"/>
            <a:ext cx="2032000" cy="812800"/>
          </a:xfrm>
          <a:prstGeom prst="roundRect">
            <a:avLst>
              <a:gd name="adj" fmla="val 9000"/>
            </a:avLst>
          </a:prstGeom>
          <a:solidFill>
            <a:srgbClr val="EAF3FB"/>
          </a:solidFill>
          <a:ln w="12700">
            <a:solidFill>
              <a:srgbClr val="5B9BD5"/>
            </a:solidFill>
          </a:ln>
        </p:spPr>
      </p:sp>
      <p:sp>
        <p:nvSpPr>
          <p:cNvPr id="27" name="f21-t"/>
          <p:cNvSpPr txBox="1"/>
          <p:nvPr/>
        </p:nvSpPr>
        <p:spPr>
          <a:xfrm>
            <a:off x="2921000" y="3048000"/>
            <a:ext cx="18288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必要时暂停并等待用户审批</a:t>
            </a:r>
            <a:endParaRPr lang="en-US" sz="1200" noProof="1"/>
          </a:p>
        </p:txBody>
      </p:sp>
      <p:sp>
        <p:nvSpPr>
          <p:cNvPr id="28" name="f2arr1"/>
          <p:cNvSpPr/>
          <p:nvPr/>
        </p:nvSpPr>
        <p:spPr>
          <a:xfrm>
            <a:off x="4889500" y="33528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56" h="512">
                <a:moveTo>
                  <a:pt x="247" y="233"/>
                </a:moveTo>
                <a:cubicBezTo>
                  <a:pt x="260" y="246"/>
                  <a:pt x="260" y="266"/>
                  <a:pt x="247" y="279"/>
                </a:cubicBezTo>
                <a:lnTo>
                  <a:pt x="87" y="439"/>
                </a:lnTo>
                <a:cubicBezTo>
                  <a:pt x="75" y="451"/>
                  <a:pt x="54" y="451"/>
                  <a:pt x="42" y="439"/>
                </a:cubicBezTo>
                <a:cubicBezTo>
                  <a:pt x="29" y="426"/>
                  <a:pt x="29" y="406"/>
                  <a:pt x="42" y="393"/>
                </a:cubicBezTo>
                <a:lnTo>
                  <a:pt x="179" y="256"/>
                </a:lnTo>
                <a:lnTo>
                  <a:pt x="42" y="119"/>
                </a:lnTo>
                <a:cubicBezTo>
                  <a:pt x="29" y="106"/>
                  <a:pt x="29" y="86"/>
                  <a:pt x="42" y="73"/>
                </a:cubicBezTo>
                <a:cubicBezTo>
                  <a:pt x="54" y="61"/>
                  <a:pt x="75" y="61"/>
                  <a:pt x="87" y="73"/>
                </a:cubicBezTo>
                <a:lnTo>
                  <a:pt x="247" y="233"/>
                </a:lnTo>
                <a:close/>
              </a:path>
            </a:pathLst>
          </a:custGeom>
          <a:solidFill>
            <a:srgbClr val="E89924"/>
          </a:solidFill>
          <a:ln>
            <a:noFill/>
          </a:ln>
        </p:spPr>
      </p:sp>
      <p:sp>
        <p:nvSpPr>
          <p:cNvPr id="29" name="f22"/>
          <p:cNvSpPr/>
          <p:nvPr/>
        </p:nvSpPr>
        <p:spPr>
          <a:xfrm>
            <a:off x="5130800" y="3048000"/>
            <a:ext cx="2032000" cy="812800"/>
          </a:xfrm>
          <a:prstGeom prst="roundRect">
            <a:avLst>
              <a:gd name="adj" fmla="val 9000"/>
            </a:avLst>
          </a:prstGeom>
          <a:solidFill>
            <a:srgbClr val="EAF3FB"/>
          </a:solidFill>
          <a:ln w="12700">
            <a:solidFill>
              <a:srgbClr val="5B9BD5"/>
            </a:solidFill>
          </a:ln>
        </p:spPr>
      </p:sp>
      <p:sp>
        <p:nvSpPr>
          <p:cNvPr id="30" name="f22-t"/>
          <p:cNvSpPr txBox="1"/>
          <p:nvPr/>
        </p:nvSpPr>
        <p:spPr>
          <a:xfrm>
            <a:off x="5232400" y="3048000"/>
            <a:ext cx="18288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执行工具并回填结果</a:t>
            </a:r>
            <a:endParaRPr lang="en-US" sz="1200" noProof="1"/>
          </a:p>
        </p:txBody>
      </p:sp>
      <p:sp>
        <p:nvSpPr>
          <p:cNvPr id="31" name="f2arr2"/>
          <p:cNvSpPr/>
          <p:nvPr/>
        </p:nvSpPr>
        <p:spPr>
          <a:xfrm>
            <a:off x="7200900" y="33528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56" h="512">
                <a:moveTo>
                  <a:pt x="247" y="233"/>
                </a:moveTo>
                <a:cubicBezTo>
                  <a:pt x="260" y="246"/>
                  <a:pt x="260" y="266"/>
                  <a:pt x="247" y="279"/>
                </a:cubicBezTo>
                <a:lnTo>
                  <a:pt x="87" y="439"/>
                </a:lnTo>
                <a:cubicBezTo>
                  <a:pt x="75" y="451"/>
                  <a:pt x="54" y="451"/>
                  <a:pt x="42" y="439"/>
                </a:cubicBezTo>
                <a:cubicBezTo>
                  <a:pt x="29" y="426"/>
                  <a:pt x="29" y="406"/>
                  <a:pt x="42" y="393"/>
                </a:cubicBezTo>
                <a:lnTo>
                  <a:pt x="179" y="256"/>
                </a:lnTo>
                <a:lnTo>
                  <a:pt x="42" y="119"/>
                </a:lnTo>
                <a:cubicBezTo>
                  <a:pt x="29" y="106"/>
                  <a:pt x="29" y="86"/>
                  <a:pt x="42" y="73"/>
                </a:cubicBezTo>
                <a:cubicBezTo>
                  <a:pt x="54" y="61"/>
                  <a:pt x="75" y="61"/>
                  <a:pt x="87" y="73"/>
                </a:cubicBezTo>
                <a:lnTo>
                  <a:pt x="247" y="233"/>
                </a:lnTo>
                <a:close/>
              </a:path>
            </a:pathLst>
          </a:custGeom>
          <a:solidFill>
            <a:srgbClr val="E89924"/>
          </a:solidFill>
          <a:ln>
            <a:noFill/>
          </a:ln>
        </p:spPr>
      </p:sp>
      <p:sp>
        <p:nvSpPr>
          <p:cNvPr id="32" name="f23"/>
          <p:cNvSpPr/>
          <p:nvPr/>
        </p:nvSpPr>
        <p:spPr>
          <a:xfrm>
            <a:off x="7442200" y="3048000"/>
            <a:ext cx="2032000" cy="812800"/>
          </a:xfrm>
          <a:prstGeom prst="roundRect">
            <a:avLst>
              <a:gd name="adj" fmla="val 9000"/>
            </a:avLst>
          </a:prstGeom>
          <a:solidFill>
            <a:srgbClr val="EAF3FB"/>
          </a:solidFill>
          <a:ln w="12700">
            <a:solidFill>
              <a:srgbClr val="5B9BD5"/>
            </a:solidFill>
          </a:ln>
        </p:spPr>
      </p:sp>
      <p:sp>
        <p:nvSpPr>
          <p:cNvPr id="33" name="f23-t"/>
          <p:cNvSpPr txBox="1"/>
          <p:nvPr/>
        </p:nvSpPr>
        <p:spPr>
          <a:xfrm>
            <a:off x="7543800" y="3048000"/>
            <a:ext cx="18288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继续下一轮模型决策</a:t>
            </a:r>
            <a:endParaRPr lang="en-US" sz="1200" noProof="1"/>
          </a:p>
        </p:txBody>
      </p:sp>
      <p:sp>
        <p:nvSpPr>
          <p:cNvPr id="34" name="f2arr3"/>
          <p:cNvSpPr/>
          <p:nvPr/>
        </p:nvSpPr>
        <p:spPr>
          <a:xfrm>
            <a:off x="9512300" y="33528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56" h="512">
                <a:moveTo>
                  <a:pt x="247" y="233"/>
                </a:moveTo>
                <a:cubicBezTo>
                  <a:pt x="260" y="246"/>
                  <a:pt x="260" y="266"/>
                  <a:pt x="247" y="279"/>
                </a:cubicBezTo>
                <a:lnTo>
                  <a:pt x="87" y="439"/>
                </a:lnTo>
                <a:cubicBezTo>
                  <a:pt x="75" y="451"/>
                  <a:pt x="54" y="451"/>
                  <a:pt x="42" y="439"/>
                </a:cubicBezTo>
                <a:cubicBezTo>
                  <a:pt x="29" y="426"/>
                  <a:pt x="29" y="406"/>
                  <a:pt x="42" y="393"/>
                </a:cubicBezTo>
                <a:lnTo>
                  <a:pt x="179" y="256"/>
                </a:lnTo>
                <a:lnTo>
                  <a:pt x="42" y="119"/>
                </a:lnTo>
                <a:cubicBezTo>
                  <a:pt x="29" y="106"/>
                  <a:pt x="29" y="86"/>
                  <a:pt x="42" y="73"/>
                </a:cubicBezTo>
                <a:cubicBezTo>
                  <a:pt x="54" y="61"/>
                  <a:pt x="75" y="61"/>
                  <a:pt x="87" y="73"/>
                </a:cubicBezTo>
                <a:lnTo>
                  <a:pt x="247" y="233"/>
                </a:lnTo>
                <a:close/>
              </a:path>
            </a:pathLst>
          </a:custGeom>
          <a:solidFill>
            <a:srgbClr val="E89924"/>
          </a:solidFill>
          <a:ln>
            <a:noFill/>
          </a:ln>
        </p:spPr>
      </p:sp>
      <p:sp>
        <p:nvSpPr>
          <p:cNvPr id="35" name="f24"/>
          <p:cNvSpPr/>
          <p:nvPr/>
        </p:nvSpPr>
        <p:spPr>
          <a:xfrm>
            <a:off x="9753600" y="3048000"/>
            <a:ext cx="2032000" cy="812800"/>
          </a:xfrm>
          <a:prstGeom prst="roundRect">
            <a:avLst>
              <a:gd name="adj" fmla="val 9000"/>
            </a:avLst>
          </a:prstGeom>
          <a:solidFill>
            <a:srgbClr val="0070C0"/>
          </a:solidFill>
          <a:ln w="12700">
            <a:solidFill>
              <a:srgbClr val="5B9BD5"/>
            </a:solidFill>
          </a:ln>
        </p:spPr>
      </p:sp>
      <p:sp>
        <p:nvSpPr>
          <p:cNvPr id="36" name="f24-t"/>
          <p:cNvSpPr txBox="1"/>
          <p:nvPr/>
        </p:nvSpPr>
        <p:spPr>
          <a:xfrm>
            <a:off x="9855200" y="3048000"/>
            <a:ext cx="18288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noProof="1">
                <a:solidFill>
                  <a:srgbClr val="FFFFFF"/>
                </a:solidFill>
                <a:latin typeface="MiSans" charset="-122"/>
                <a:ea typeface="MiSans" charset="-122"/>
              </a:rPr>
              <a:t>输出最终回答</a:t>
            </a:r>
            <a:endParaRPr lang="en-US" sz="1200" noProof="1"/>
          </a:p>
        </p:txBody>
      </p:sp>
      <p:sp>
        <p:nvSpPr>
          <p:cNvPr id="37" name="loop-note-box"/>
          <p:cNvSpPr/>
          <p:nvPr/>
        </p:nvSpPr>
        <p:spPr>
          <a:xfrm>
            <a:off x="701040" y="4445000"/>
            <a:ext cx="10795000" cy="1524000"/>
          </a:xfrm>
          <a:prstGeom prst="roundRect">
            <a:avLst>
              <a:gd name="adj" fmla="val 5000"/>
            </a:avLst>
          </a:prstGeom>
          <a:solidFill>
            <a:srgbClr val="F4F9FE"/>
          </a:solidFill>
          <a:ln w="12700">
            <a:solidFill>
              <a:srgbClr val="BDD7EE"/>
            </a:solidFill>
          </a:ln>
        </p:spPr>
      </p:sp>
      <p:sp>
        <p:nvSpPr>
          <p:cNvPr id="38" name="loop-note"/>
          <p:cNvSpPr txBox="1"/>
          <p:nvPr/>
        </p:nvSpPr>
        <p:spPr>
          <a:xfrm>
            <a:off x="1016000" y="4597400"/>
            <a:ext cx="10160000" cy="1219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1400" b="1" noProof="1">
                <a:solidFill>
                  <a:srgbClr val="0070C0"/>
                </a:solidFill>
                <a:latin typeface="MiSans" charset="-122"/>
                <a:ea typeface="MiSans" charset="-122"/>
              </a:rPr>
              <a:t>核心循环</a:t>
            </a:r>
            <a:r>
              <a:rPr lang="en-US" sz="14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位于 electron/agentLoop.ts：当前每次请求最多进行 </a:t>
            </a:r>
            <a:r>
              <a:rPr lang="en-US" sz="1400" b="1" noProof="1">
                <a:solidFill>
                  <a:srgbClr val="E89924"/>
                </a:solidFill>
                <a:latin typeface="MiSans" charset="-122"/>
                <a:ea typeface="MiSans" charset="-122"/>
              </a:rPr>
              <a:t>8 步</a:t>
            </a:r>
            <a:r>
              <a:rPr lang="en-US" sz="14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工具调用循环；最后一步不再携带 tools，强制模型输出最终回答，避免任务无限循环。</a:t>
            </a:r>
            <a:endParaRPr lang="en-US" sz="1400" noProof="1"/>
          </a:p>
          <a:p>
            <a:pPr algn="l">
              <a:lnSpc>
                <a:spcPct val="160000"/>
              </a:lnSpc>
            </a:pPr>
            <a:r>
              <a:rPr lang="en-US" sz="14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工具结果回填后继续下一轮模型决策，直到输出最终回答，全过程在界面中可见。</a:t>
            </a:r>
            <a:endParaRPr lang="en-US" sz="1400" noProof="1"/>
          </a:p>
        </p:txBody>
      </p:sp>
      <p:sp>
        <p:nvSpPr>
          <p:cNvPr id="39" name="loop-bar"/>
          <p:cNvSpPr/>
          <p:nvPr/>
        </p:nvSpPr>
        <p:spPr>
          <a:xfrm>
            <a:off x="701040" y="6172200"/>
            <a:ext cx="10795000" cy="101600"/>
          </a:xfrm>
          <a:prstGeom prst="rect">
            <a:avLst/>
          </a:prstGeom>
          <a:solidFill>
            <a:srgbClr val="E89924"/>
          </a:solidFill>
          <a:ln>
            <a:noFill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tri1"/>
          <p:cNvSpPr/>
          <p:nvPr/>
        </p:nvSpPr>
        <p:spPr>
          <a:xfrm>
            <a:off x="0" y="0"/>
            <a:ext cx="527050" cy="444500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3" name="hd-tri2"/>
          <p:cNvSpPr/>
          <p:nvPr/>
        </p:nvSpPr>
        <p:spPr>
          <a:xfrm rot="5400000">
            <a:off x="349250" y="538480"/>
            <a:ext cx="175260" cy="179070"/>
          </a:xfrm>
          <a:prstGeom prst="triangle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4" name="hd-line1"/>
          <p:cNvSpPr/>
          <p:nvPr/>
        </p:nvSpPr>
        <p:spPr>
          <a:xfrm>
            <a:off x="0" y="985520"/>
            <a:ext cx="8839200" cy="43180"/>
          </a:xfrm>
          <a:prstGeom prst="rect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5" name="hd-line2"/>
          <p:cNvSpPr/>
          <p:nvPr/>
        </p:nvSpPr>
        <p:spPr>
          <a:xfrm>
            <a:off x="8829040" y="985520"/>
            <a:ext cx="3362960" cy="43180"/>
          </a:xfrm>
          <a:prstGeom prst="rect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6" name="hd-title"/>
          <p:cNvSpPr txBox="1"/>
          <p:nvPr/>
        </p:nvSpPr>
        <p:spPr>
          <a:xfrm>
            <a:off x="701040" y="254000"/>
            <a:ext cx="88900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000" noProof="1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</a:rPr>
              <a:t>任务状态与错误恢复</a:t>
            </a:r>
            <a:endParaRPr lang="en-US" sz="3000" noProof="1"/>
          </a:p>
        </p:txBody>
      </p:sp>
      <p:sp>
        <p:nvSpPr>
          <p:cNvPr id="7" name="logo"/>
          <p:cNvSpPr txBox="1"/>
          <p:nvPr/>
        </p:nvSpPr>
        <p:spPr>
          <a:xfrm>
            <a:off x="9652000" y="304800"/>
            <a:ext cx="2159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四方上行</a:t>
            </a:r>
            <a:endParaRPr lang="en-US" sz="1600" noProof="1"/>
          </a:p>
        </p:txBody>
      </p:sp>
      <p:sp>
        <p:nvSpPr>
          <p:cNvPr id="8" name="st-title"/>
          <p:cNvSpPr txBox="1"/>
          <p:nvPr/>
        </p:nvSpPr>
        <p:spPr>
          <a:xfrm>
            <a:off x="762000" y="1270000"/>
            <a:ext cx="43180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7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任务状态链（shared/task.ts）</a:t>
            </a:r>
            <a:endParaRPr lang="en-US" sz="1700" noProof="1"/>
          </a:p>
        </p:txBody>
      </p:sp>
      <p:sp>
        <p:nvSpPr>
          <p:cNvPr id="9" name="ts0"/>
          <p:cNvSpPr/>
          <p:nvPr/>
        </p:nvSpPr>
        <p:spPr>
          <a:xfrm>
            <a:off x="762000" y="1727200"/>
            <a:ext cx="4064000" cy="482600"/>
          </a:xfrm>
          <a:prstGeom prst="roundRect">
            <a:avLst>
              <a:gd name="adj" fmla="val 14000"/>
            </a:avLst>
          </a:prstGeom>
          <a:solidFill>
            <a:srgbClr val="EAF3FB"/>
          </a:solidFill>
          <a:ln w="12700">
            <a:solidFill>
              <a:srgbClr val="5B9BD5"/>
            </a:solidFill>
          </a:ln>
        </p:spPr>
      </p:sp>
      <p:sp>
        <p:nvSpPr>
          <p:cNvPr id="10" name="ts0-t"/>
          <p:cNvSpPr txBox="1"/>
          <p:nvPr/>
        </p:nvSpPr>
        <p:spPr>
          <a:xfrm>
            <a:off x="762000" y="1727200"/>
            <a:ext cx="40640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noProof="1">
                <a:solidFill>
                  <a:srgbClr val="0070C0"/>
                </a:solidFill>
                <a:latin typeface="MiSans" charset="-122"/>
                <a:ea typeface="MiSans" charset="-122"/>
              </a:rPr>
              <a:t>queued</a:t>
            </a:r>
            <a:endParaRPr lang="en-US" sz="1300" noProof="1"/>
          </a:p>
        </p:txBody>
      </p:sp>
      <p:sp>
        <p:nvSpPr>
          <p:cNvPr id="11" name="tsarr0"/>
          <p:cNvSpPr/>
          <p:nvPr/>
        </p:nvSpPr>
        <p:spPr>
          <a:xfrm>
            <a:off x="2692400" y="2209800"/>
            <a:ext cx="203200" cy="152400"/>
          </a:xfrm>
          <a:custGeom>
            <a:avLst/>
            <a:gdLst/>
            <a:ahLst/>
            <a:cxnLst/>
            <a:rect l="l" t="t" r="r" b="b"/>
            <a:pathLst>
              <a:path w="384" h="512">
                <a:moveTo>
                  <a:pt x="169" y="375"/>
                </a:moveTo>
                <a:cubicBezTo>
                  <a:pt x="182" y="387"/>
                  <a:pt x="202" y="387"/>
                  <a:pt x="215" y="375"/>
                </a:cubicBezTo>
                <a:lnTo>
                  <a:pt x="375" y="215"/>
                </a:lnTo>
                <a:cubicBezTo>
                  <a:pt x="387" y="202"/>
                  <a:pt x="387" y="182"/>
                  <a:pt x="375" y="169"/>
                </a:cubicBezTo>
                <a:cubicBezTo>
                  <a:pt x="362" y="157"/>
                  <a:pt x="342" y="157"/>
                  <a:pt x="329" y="169"/>
                </a:cubicBezTo>
                <a:lnTo>
                  <a:pt x="192" y="307"/>
                </a:lnTo>
                <a:lnTo>
                  <a:pt x="55" y="169"/>
                </a:lnTo>
                <a:cubicBezTo>
                  <a:pt x="42" y="157"/>
                  <a:pt x="22" y="157"/>
                  <a:pt x="9" y="169"/>
                </a:cubicBezTo>
                <a:cubicBezTo>
                  <a:pt x="-3" y="182"/>
                  <a:pt x="-3" y="202"/>
                  <a:pt x="9" y="215"/>
                </a:cubicBezTo>
                <a:lnTo>
                  <a:pt x="169" y="375"/>
                </a:lnTo>
                <a:close/>
              </a:path>
            </a:pathLst>
          </a:custGeom>
          <a:solidFill>
            <a:srgbClr val="E89924"/>
          </a:solidFill>
          <a:ln>
            <a:noFill/>
          </a:ln>
        </p:spPr>
      </p:sp>
      <p:sp>
        <p:nvSpPr>
          <p:cNvPr id="12" name="ts1"/>
          <p:cNvSpPr/>
          <p:nvPr/>
        </p:nvSpPr>
        <p:spPr>
          <a:xfrm>
            <a:off x="762000" y="2362200"/>
            <a:ext cx="4064000" cy="482600"/>
          </a:xfrm>
          <a:prstGeom prst="roundRect">
            <a:avLst>
              <a:gd name="adj" fmla="val 14000"/>
            </a:avLst>
          </a:prstGeom>
          <a:solidFill>
            <a:srgbClr val="EAF3FB"/>
          </a:solidFill>
          <a:ln w="12700">
            <a:solidFill>
              <a:srgbClr val="5B9BD5"/>
            </a:solidFill>
          </a:ln>
        </p:spPr>
      </p:sp>
      <p:sp>
        <p:nvSpPr>
          <p:cNvPr id="13" name="ts1-t"/>
          <p:cNvSpPr txBox="1"/>
          <p:nvPr/>
        </p:nvSpPr>
        <p:spPr>
          <a:xfrm>
            <a:off x="762000" y="2362200"/>
            <a:ext cx="40640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noProof="1">
                <a:solidFill>
                  <a:srgbClr val="0070C0"/>
                </a:solidFill>
                <a:latin typeface="MiSans" charset="-122"/>
                <a:ea typeface="MiSans" charset="-122"/>
              </a:rPr>
              <a:t>preparing_attachments</a:t>
            </a:r>
            <a:endParaRPr lang="en-US" sz="1300" noProof="1"/>
          </a:p>
        </p:txBody>
      </p:sp>
      <p:sp>
        <p:nvSpPr>
          <p:cNvPr id="14" name="tsarr1"/>
          <p:cNvSpPr/>
          <p:nvPr/>
        </p:nvSpPr>
        <p:spPr>
          <a:xfrm>
            <a:off x="2692400" y="2844800"/>
            <a:ext cx="203200" cy="152400"/>
          </a:xfrm>
          <a:custGeom>
            <a:avLst/>
            <a:gdLst/>
            <a:ahLst/>
            <a:cxnLst/>
            <a:rect l="l" t="t" r="r" b="b"/>
            <a:pathLst>
              <a:path w="384" h="512">
                <a:moveTo>
                  <a:pt x="169" y="375"/>
                </a:moveTo>
                <a:cubicBezTo>
                  <a:pt x="182" y="387"/>
                  <a:pt x="202" y="387"/>
                  <a:pt x="215" y="375"/>
                </a:cubicBezTo>
                <a:lnTo>
                  <a:pt x="375" y="215"/>
                </a:lnTo>
                <a:cubicBezTo>
                  <a:pt x="387" y="202"/>
                  <a:pt x="387" y="182"/>
                  <a:pt x="375" y="169"/>
                </a:cubicBezTo>
                <a:cubicBezTo>
                  <a:pt x="362" y="157"/>
                  <a:pt x="342" y="157"/>
                  <a:pt x="329" y="169"/>
                </a:cubicBezTo>
                <a:lnTo>
                  <a:pt x="192" y="307"/>
                </a:lnTo>
                <a:lnTo>
                  <a:pt x="55" y="169"/>
                </a:lnTo>
                <a:cubicBezTo>
                  <a:pt x="42" y="157"/>
                  <a:pt x="22" y="157"/>
                  <a:pt x="9" y="169"/>
                </a:cubicBezTo>
                <a:cubicBezTo>
                  <a:pt x="-3" y="182"/>
                  <a:pt x="-3" y="202"/>
                  <a:pt x="9" y="215"/>
                </a:cubicBezTo>
                <a:lnTo>
                  <a:pt x="169" y="375"/>
                </a:lnTo>
                <a:close/>
              </a:path>
            </a:pathLst>
          </a:custGeom>
          <a:solidFill>
            <a:srgbClr val="E89924"/>
          </a:solidFill>
          <a:ln>
            <a:noFill/>
          </a:ln>
        </p:spPr>
      </p:sp>
      <p:sp>
        <p:nvSpPr>
          <p:cNvPr id="15" name="ts2"/>
          <p:cNvSpPr/>
          <p:nvPr/>
        </p:nvSpPr>
        <p:spPr>
          <a:xfrm>
            <a:off x="762000" y="2997200"/>
            <a:ext cx="4064000" cy="482600"/>
          </a:xfrm>
          <a:prstGeom prst="roundRect">
            <a:avLst>
              <a:gd name="adj" fmla="val 14000"/>
            </a:avLst>
          </a:prstGeom>
          <a:solidFill>
            <a:srgbClr val="EAF3FB"/>
          </a:solidFill>
          <a:ln w="12700">
            <a:solidFill>
              <a:srgbClr val="5B9BD5"/>
            </a:solidFill>
          </a:ln>
        </p:spPr>
      </p:sp>
      <p:sp>
        <p:nvSpPr>
          <p:cNvPr id="16" name="ts2-t"/>
          <p:cNvSpPr txBox="1"/>
          <p:nvPr/>
        </p:nvSpPr>
        <p:spPr>
          <a:xfrm>
            <a:off x="762000" y="2997200"/>
            <a:ext cx="40640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noProof="1">
                <a:solidFill>
                  <a:srgbClr val="0070C0"/>
                </a:solidFill>
                <a:latin typeface="MiSans" charset="-122"/>
                <a:ea typeface="MiSans" charset="-122"/>
              </a:rPr>
              <a:t>parsing_attachments</a:t>
            </a:r>
            <a:endParaRPr lang="en-US" sz="1300" noProof="1"/>
          </a:p>
        </p:txBody>
      </p:sp>
      <p:sp>
        <p:nvSpPr>
          <p:cNvPr id="17" name="tsarr2"/>
          <p:cNvSpPr/>
          <p:nvPr/>
        </p:nvSpPr>
        <p:spPr>
          <a:xfrm>
            <a:off x="2692400" y="3479800"/>
            <a:ext cx="203200" cy="152400"/>
          </a:xfrm>
          <a:custGeom>
            <a:avLst/>
            <a:gdLst/>
            <a:ahLst/>
            <a:cxnLst/>
            <a:rect l="l" t="t" r="r" b="b"/>
            <a:pathLst>
              <a:path w="384" h="512">
                <a:moveTo>
                  <a:pt x="169" y="375"/>
                </a:moveTo>
                <a:cubicBezTo>
                  <a:pt x="182" y="387"/>
                  <a:pt x="202" y="387"/>
                  <a:pt x="215" y="375"/>
                </a:cubicBezTo>
                <a:lnTo>
                  <a:pt x="375" y="215"/>
                </a:lnTo>
                <a:cubicBezTo>
                  <a:pt x="387" y="202"/>
                  <a:pt x="387" y="182"/>
                  <a:pt x="375" y="169"/>
                </a:cubicBezTo>
                <a:cubicBezTo>
                  <a:pt x="362" y="157"/>
                  <a:pt x="342" y="157"/>
                  <a:pt x="329" y="169"/>
                </a:cubicBezTo>
                <a:lnTo>
                  <a:pt x="192" y="307"/>
                </a:lnTo>
                <a:lnTo>
                  <a:pt x="55" y="169"/>
                </a:lnTo>
                <a:cubicBezTo>
                  <a:pt x="42" y="157"/>
                  <a:pt x="22" y="157"/>
                  <a:pt x="9" y="169"/>
                </a:cubicBezTo>
                <a:cubicBezTo>
                  <a:pt x="-3" y="182"/>
                  <a:pt x="-3" y="202"/>
                  <a:pt x="9" y="215"/>
                </a:cubicBezTo>
                <a:lnTo>
                  <a:pt x="169" y="375"/>
                </a:lnTo>
                <a:close/>
              </a:path>
            </a:pathLst>
          </a:custGeom>
          <a:solidFill>
            <a:srgbClr val="E89924"/>
          </a:solidFill>
          <a:ln>
            <a:noFill/>
          </a:ln>
        </p:spPr>
      </p:sp>
      <p:sp>
        <p:nvSpPr>
          <p:cNvPr id="18" name="ts3"/>
          <p:cNvSpPr/>
          <p:nvPr/>
        </p:nvSpPr>
        <p:spPr>
          <a:xfrm>
            <a:off x="762000" y="3632200"/>
            <a:ext cx="4064000" cy="482600"/>
          </a:xfrm>
          <a:prstGeom prst="roundRect">
            <a:avLst>
              <a:gd name="adj" fmla="val 14000"/>
            </a:avLst>
          </a:prstGeom>
          <a:solidFill>
            <a:srgbClr val="EAF3FB"/>
          </a:solidFill>
          <a:ln w="12700">
            <a:solidFill>
              <a:srgbClr val="5B9BD5"/>
            </a:solidFill>
          </a:ln>
        </p:spPr>
      </p:sp>
      <p:sp>
        <p:nvSpPr>
          <p:cNvPr id="19" name="ts3-t"/>
          <p:cNvSpPr txBox="1"/>
          <p:nvPr/>
        </p:nvSpPr>
        <p:spPr>
          <a:xfrm>
            <a:off x="762000" y="3632200"/>
            <a:ext cx="40640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noProof="1">
                <a:solidFill>
                  <a:srgbClr val="0070C0"/>
                </a:solidFill>
                <a:latin typeface="MiSans" charset="-122"/>
                <a:ea typeface="MiSans" charset="-122"/>
              </a:rPr>
              <a:t>generating</a:t>
            </a:r>
            <a:endParaRPr lang="en-US" sz="1300" noProof="1"/>
          </a:p>
        </p:txBody>
      </p:sp>
      <p:sp>
        <p:nvSpPr>
          <p:cNvPr id="20" name="tsarr3"/>
          <p:cNvSpPr/>
          <p:nvPr/>
        </p:nvSpPr>
        <p:spPr>
          <a:xfrm>
            <a:off x="2692400" y="4114800"/>
            <a:ext cx="203200" cy="152400"/>
          </a:xfrm>
          <a:custGeom>
            <a:avLst/>
            <a:gdLst/>
            <a:ahLst/>
            <a:cxnLst/>
            <a:rect l="l" t="t" r="r" b="b"/>
            <a:pathLst>
              <a:path w="384" h="512">
                <a:moveTo>
                  <a:pt x="169" y="375"/>
                </a:moveTo>
                <a:cubicBezTo>
                  <a:pt x="182" y="387"/>
                  <a:pt x="202" y="387"/>
                  <a:pt x="215" y="375"/>
                </a:cubicBezTo>
                <a:lnTo>
                  <a:pt x="375" y="215"/>
                </a:lnTo>
                <a:cubicBezTo>
                  <a:pt x="387" y="202"/>
                  <a:pt x="387" y="182"/>
                  <a:pt x="375" y="169"/>
                </a:cubicBezTo>
                <a:cubicBezTo>
                  <a:pt x="362" y="157"/>
                  <a:pt x="342" y="157"/>
                  <a:pt x="329" y="169"/>
                </a:cubicBezTo>
                <a:lnTo>
                  <a:pt x="192" y="307"/>
                </a:lnTo>
                <a:lnTo>
                  <a:pt x="55" y="169"/>
                </a:lnTo>
                <a:cubicBezTo>
                  <a:pt x="42" y="157"/>
                  <a:pt x="22" y="157"/>
                  <a:pt x="9" y="169"/>
                </a:cubicBezTo>
                <a:cubicBezTo>
                  <a:pt x="-3" y="182"/>
                  <a:pt x="-3" y="202"/>
                  <a:pt x="9" y="215"/>
                </a:cubicBezTo>
                <a:lnTo>
                  <a:pt x="169" y="375"/>
                </a:lnTo>
                <a:close/>
              </a:path>
            </a:pathLst>
          </a:custGeom>
          <a:solidFill>
            <a:srgbClr val="E89924"/>
          </a:solidFill>
          <a:ln>
            <a:noFill/>
          </a:ln>
        </p:spPr>
      </p:sp>
      <p:sp>
        <p:nvSpPr>
          <p:cNvPr id="21" name="ts4"/>
          <p:cNvSpPr/>
          <p:nvPr/>
        </p:nvSpPr>
        <p:spPr>
          <a:xfrm>
            <a:off x="762000" y="4267200"/>
            <a:ext cx="4064000" cy="482600"/>
          </a:xfrm>
          <a:prstGeom prst="roundRect">
            <a:avLst>
              <a:gd name="adj" fmla="val 14000"/>
            </a:avLst>
          </a:prstGeom>
          <a:solidFill>
            <a:srgbClr val="EAF3FB"/>
          </a:solidFill>
          <a:ln w="12700">
            <a:solidFill>
              <a:srgbClr val="5B9BD5"/>
            </a:solidFill>
          </a:ln>
        </p:spPr>
      </p:sp>
      <p:sp>
        <p:nvSpPr>
          <p:cNvPr id="22" name="ts4-t"/>
          <p:cNvSpPr txBox="1"/>
          <p:nvPr/>
        </p:nvSpPr>
        <p:spPr>
          <a:xfrm>
            <a:off x="762000" y="4267200"/>
            <a:ext cx="40640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noProof="1">
                <a:solidFill>
                  <a:srgbClr val="0070C0"/>
                </a:solidFill>
                <a:latin typeface="MiSans" charset="-122"/>
                <a:ea typeface="MiSans" charset="-122"/>
              </a:rPr>
              <a:t>waiting_approval</a:t>
            </a:r>
            <a:endParaRPr lang="en-US" sz="1300" noProof="1"/>
          </a:p>
        </p:txBody>
      </p:sp>
      <p:sp>
        <p:nvSpPr>
          <p:cNvPr id="23" name="tsarr4"/>
          <p:cNvSpPr/>
          <p:nvPr/>
        </p:nvSpPr>
        <p:spPr>
          <a:xfrm>
            <a:off x="2692400" y="4749800"/>
            <a:ext cx="203200" cy="152400"/>
          </a:xfrm>
          <a:custGeom>
            <a:avLst/>
            <a:gdLst/>
            <a:ahLst/>
            <a:cxnLst/>
            <a:rect l="l" t="t" r="r" b="b"/>
            <a:pathLst>
              <a:path w="384" h="512">
                <a:moveTo>
                  <a:pt x="169" y="375"/>
                </a:moveTo>
                <a:cubicBezTo>
                  <a:pt x="182" y="387"/>
                  <a:pt x="202" y="387"/>
                  <a:pt x="215" y="375"/>
                </a:cubicBezTo>
                <a:lnTo>
                  <a:pt x="375" y="215"/>
                </a:lnTo>
                <a:cubicBezTo>
                  <a:pt x="387" y="202"/>
                  <a:pt x="387" y="182"/>
                  <a:pt x="375" y="169"/>
                </a:cubicBezTo>
                <a:cubicBezTo>
                  <a:pt x="362" y="157"/>
                  <a:pt x="342" y="157"/>
                  <a:pt x="329" y="169"/>
                </a:cubicBezTo>
                <a:lnTo>
                  <a:pt x="192" y="307"/>
                </a:lnTo>
                <a:lnTo>
                  <a:pt x="55" y="169"/>
                </a:lnTo>
                <a:cubicBezTo>
                  <a:pt x="42" y="157"/>
                  <a:pt x="22" y="157"/>
                  <a:pt x="9" y="169"/>
                </a:cubicBezTo>
                <a:cubicBezTo>
                  <a:pt x="-3" y="182"/>
                  <a:pt x="-3" y="202"/>
                  <a:pt x="9" y="215"/>
                </a:cubicBezTo>
                <a:lnTo>
                  <a:pt x="169" y="375"/>
                </a:lnTo>
                <a:close/>
              </a:path>
            </a:pathLst>
          </a:custGeom>
          <a:solidFill>
            <a:srgbClr val="E89924"/>
          </a:solidFill>
          <a:ln>
            <a:noFill/>
          </a:ln>
        </p:spPr>
      </p:sp>
      <p:sp>
        <p:nvSpPr>
          <p:cNvPr id="24" name="ts5"/>
          <p:cNvSpPr/>
          <p:nvPr/>
        </p:nvSpPr>
        <p:spPr>
          <a:xfrm>
            <a:off x="762000" y="4902200"/>
            <a:ext cx="4064000" cy="482600"/>
          </a:xfrm>
          <a:prstGeom prst="roundRect">
            <a:avLst>
              <a:gd name="adj" fmla="val 14000"/>
            </a:avLst>
          </a:prstGeom>
          <a:solidFill>
            <a:srgbClr val="EAF3FB"/>
          </a:solidFill>
          <a:ln w="12700">
            <a:solidFill>
              <a:srgbClr val="5B9BD5"/>
            </a:solidFill>
          </a:ln>
        </p:spPr>
      </p:sp>
      <p:sp>
        <p:nvSpPr>
          <p:cNvPr id="25" name="ts5-t"/>
          <p:cNvSpPr txBox="1"/>
          <p:nvPr/>
        </p:nvSpPr>
        <p:spPr>
          <a:xfrm>
            <a:off x="762000" y="4902200"/>
            <a:ext cx="40640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noProof="1">
                <a:solidFill>
                  <a:srgbClr val="0070C0"/>
                </a:solidFill>
                <a:latin typeface="MiSans" charset="-122"/>
                <a:ea typeface="MiSans" charset="-122"/>
              </a:rPr>
              <a:t>running_tool</a:t>
            </a:r>
            <a:endParaRPr lang="en-US" sz="1300" noProof="1"/>
          </a:p>
        </p:txBody>
      </p:sp>
      <p:sp>
        <p:nvSpPr>
          <p:cNvPr id="26" name="tsarr5"/>
          <p:cNvSpPr/>
          <p:nvPr/>
        </p:nvSpPr>
        <p:spPr>
          <a:xfrm>
            <a:off x="2692400" y="5384800"/>
            <a:ext cx="203200" cy="152400"/>
          </a:xfrm>
          <a:custGeom>
            <a:avLst/>
            <a:gdLst/>
            <a:ahLst/>
            <a:cxnLst/>
            <a:rect l="l" t="t" r="r" b="b"/>
            <a:pathLst>
              <a:path w="384" h="512">
                <a:moveTo>
                  <a:pt x="169" y="375"/>
                </a:moveTo>
                <a:cubicBezTo>
                  <a:pt x="182" y="387"/>
                  <a:pt x="202" y="387"/>
                  <a:pt x="215" y="375"/>
                </a:cubicBezTo>
                <a:lnTo>
                  <a:pt x="375" y="215"/>
                </a:lnTo>
                <a:cubicBezTo>
                  <a:pt x="387" y="202"/>
                  <a:pt x="387" y="182"/>
                  <a:pt x="375" y="169"/>
                </a:cubicBezTo>
                <a:cubicBezTo>
                  <a:pt x="362" y="157"/>
                  <a:pt x="342" y="157"/>
                  <a:pt x="329" y="169"/>
                </a:cubicBezTo>
                <a:lnTo>
                  <a:pt x="192" y="307"/>
                </a:lnTo>
                <a:lnTo>
                  <a:pt x="55" y="169"/>
                </a:lnTo>
                <a:cubicBezTo>
                  <a:pt x="42" y="157"/>
                  <a:pt x="22" y="157"/>
                  <a:pt x="9" y="169"/>
                </a:cubicBezTo>
                <a:cubicBezTo>
                  <a:pt x="-3" y="182"/>
                  <a:pt x="-3" y="202"/>
                  <a:pt x="9" y="215"/>
                </a:cubicBezTo>
                <a:lnTo>
                  <a:pt x="169" y="375"/>
                </a:lnTo>
                <a:close/>
              </a:path>
            </a:pathLst>
          </a:custGeom>
          <a:solidFill>
            <a:srgbClr val="E89924"/>
          </a:solidFill>
          <a:ln>
            <a:noFill/>
          </a:ln>
        </p:spPr>
      </p:sp>
      <p:sp>
        <p:nvSpPr>
          <p:cNvPr id="27" name="ts6"/>
          <p:cNvSpPr/>
          <p:nvPr/>
        </p:nvSpPr>
        <p:spPr>
          <a:xfrm>
            <a:off x="762000" y="5537200"/>
            <a:ext cx="4064000" cy="482600"/>
          </a:xfrm>
          <a:prstGeom prst="roundRect">
            <a:avLst>
              <a:gd name="adj" fmla="val 14000"/>
            </a:avLst>
          </a:prstGeom>
          <a:solidFill>
            <a:srgbClr val="0070C0"/>
          </a:solidFill>
          <a:ln w="12700">
            <a:solidFill>
              <a:srgbClr val="5B9BD5"/>
            </a:solidFill>
          </a:ln>
        </p:spPr>
      </p:sp>
      <p:sp>
        <p:nvSpPr>
          <p:cNvPr id="28" name="ts6-t"/>
          <p:cNvSpPr txBox="1"/>
          <p:nvPr/>
        </p:nvSpPr>
        <p:spPr>
          <a:xfrm>
            <a:off x="762000" y="5537200"/>
            <a:ext cx="40640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noProof="1">
                <a:solidFill>
                  <a:srgbClr val="FFFFFF"/>
                </a:solidFill>
                <a:latin typeface="MiSans" charset="-122"/>
                <a:ea typeface="MiSans" charset="-122"/>
              </a:rPr>
              <a:t>completed / failed / cancelled</a:t>
            </a:r>
            <a:endParaRPr lang="en-US" sz="1300" noProof="1"/>
          </a:p>
        </p:txBody>
      </p:sp>
      <p:sp>
        <p:nvSpPr>
          <p:cNvPr id="29" name="recover-box"/>
          <p:cNvSpPr/>
          <p:nvPr/>
        </p:nvSpPr>
        <p:spPr>
          <a:xfrm>
            <a:off x="5334000" y="1270000"/>
            <a:ext cx="6223000" cy="381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5B9BD5"/>
            </a:solidFill>
          </a:ln>
          <a:effectLst>
            <a:outerShdw blurRad="7620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0" name="recover-head"/>
          <p:cNvSpPr/>
          <p:nvPr/>
        </p:nvSpPr>
        <p:spPr>
          <a:xfrm>
            <a:off x="5334000" y="1270000"/>
            <a:ext cx="6223000" cy="50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31" name="recover-title"/>
          <p:cNvSpPr txBox="1"/>
          <p:nvPr/>
        </p:nvSpPr>
        <p:spPr>
          <a:xfrm>
            <a:off x="5562600" y="1270000"/>
            <a:ext cx="57658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noProof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</a:rPr>
              <a:t>错误恢复机制</a:t>
            </a:r>
            <a:endParaRPr lang="en-US" sz="1800" noProof="1"/>
          </a:p>
        </p:txBody>
      </p:sp>
      <p:sp>
        <p:nvSpPr>
          <p:cNvPr id="32" name="recover-body"/>
          <p:cNvSpPr txBox="1"/>
          <p:nvPr/>
        </p:nvSpPr>
        <p:spPr>
          <a:xfrm>
            <a:off x="5562600" y="1930400"/>
            <a:ext cx="5765800" cy="299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5000"/>
              </a:lnSpc>
              <a:spcBef>
                <a:spcPts val="10"/>
              </a:spcBef>
              <a:buChar char="•"/>
            </a:pPr>
            <a:r>
              <a:rPr lang="en-US" sz="14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模型请求错误、工具错误、附件解析错误和审批超时分别反馈</a:t>
            </a:r>
            <a:endParaRPr lang="en-US" sz="1400" noProof="1"/>
          </a:p>
          <a:p>
            <a:pPr algn="l">
              <a:lnSpc>
                <a:spcPct val="155000"/>
              </a:lnSpc>
              <a:spcBef>
                <a:spcPts val="10"/>
              </a:spcBef>
              <a:buChar char="•"/>
            </a:pPr>
            <a:r>
              <a:rPr lang="en-US" sz="14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工具执行结果带有结构化错误码和是否可重试标识</a:t>
            </a:r>
            <a:endParaRPr lang="en-US" sz="1400" noProof="1"/>
          </a:p>
          <a:p>
            <a:pPr algn="l">
              <a:lnSpc>
                <a:spcPct val="155000"/>
              </a:lnSpc>
              <a:spcBef>
                <a:spcPts val="10"/>
              </a:spcBef>
              <a:buChar char="•"/>
            </a:pPr>
            <a:r>
              <a:rPr lang="en-US" sz="14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失败重试会移除末尾失败占位消息，复用最近一次用户消息</a:t>
            </a:r>
            <a:endParaRPr lang="en-US" sz="1400" noProof="1"/>
          </a:p>
          <a:p>
            <a:pPr algn="l">
              <a:lnSpc>
                <a:spcPct val="155000"/>
              </a:lnSpc>
              <a:spcBef>
                <a:spcPts val="10"/>
              </a:spcBef>
              <a:buChar char="•"/>
            </a:pPr>
            <a:r>
              <a:rPr lang="en-US" sz="14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页面刷新后可通过 list-pending-approvals 恢复未决审批</a:t>
            </a:r>
            <a:endParaRPr lang="en-US" sz="1400" noProof="1"/>
          </a:p>
          <a:p>
            <a:pPr algn="l">
              <a:lnSpc>
                <a:spcPct val="155000"/>
              </a:lnSpc>
              <a:spcBef>
                <a:spcPts val="10"/>
              </a:spcBef>
              <a:buChar char="•"/>
            </a:pPr>
            <a:r>
              <a:rPr lang="en-US" sz="14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应用启动时清理超过 1 小时的孤立附件目录，避免临时文件残留</a:t>
            </a:r>
            <a:endParaRPr lang="en-US" sz="1400" noProof="1"/>
          </a:p>
        </p:txBody>
      </p:sp>
      <p:sp>
        <p:nvSpPr>
          <p:cNvPr id="33" name="note-bar"/>
          <p:cNvSpPr/>
          <p:nvPr/>
        </p:nvSpPr>
        <p:spPr>
          <a:xfrm>
            <a:off x="5334000" y="5384800"/>
            <a:ext cx="6223000" cy="965200"/>
          </a:xfrm>
          <a:prstGeom prst="rect">
            <a:avLst/>
          </a:prstGeom>
          <a:solidFill>
            <a:srgbClr val="223962"/>
          </a:solidFill>
          <a:ln>
            <a:noFill/>
          </a:ln>
        </p:spPr>
      </p:sp>
      <p:sp>
        <p:nvSpPr>
          <p:cNvPr id="34" name="note-text"/>
          <p:cNvSpPr txBox="1"/>
          <p:nvPr/>
        </p:nvSpPr>
        <p:spPr>
          <a:xfrm>
            <a:off x="5588000" y="5384800"/>
            <a:ext cx="5715000" cy="965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300" b="1" noProof="1">
                <a:solidFill>
                  <a:srgbClr val="E89924"/>
                </a:solidFill>
                <a:latin typeface="MiSans" charset="-122"/>
                <a:ea typeface="MiSans" charset="-122"/>
              </a:rPr>
              <a:t>可中断：</a:t>
            </a:r>
            <a:r>
              <a:rPr lang="en-US" sz="1300" noProof="1">
                <a:solidFill>
                  <a:srgbClr val="FFFFFF"/>
                </a:solidFill>
                <a:latin typeface="MiSans" charset="-122"/>
                <a:ea typeface="MiSans" charset="-122"/>
              </a:rPr>
              <a:t>状态通过 task-status IPC 事件同步到前端；用户停止时 AbortSignal 贯穿模型流和工具执行，停止请求取消 pending 审批，已生成内容保留。</a:t>
            </a:r>
            <a:endParaRPr lang="en-US" sz="1300" noProof="1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tri1"/>
          <p:cNvSpPr/>
          <p:nvPr/>
        </p:nvSpPr>
        <p:spPr>
          <a:xfrm>
            <a:off x="0" y="0"/>
            <a:ext cx="527050" cy="444500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3" name="hd-tri2"/>
          <p:cNvSpPr/>
          <p:nvPr/>
        </p:nvSpPr>
        <p:spPr>
          <a:xfrm rot="5400000">
            <a:off x="349250" y="538480"/>
            <a:ext cx="175260" cy="179070"/>
          </a:xfrm>
          <a:prstGeom prst="triangle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4" name="hd-line1"/>
          <p:cNvSpPr/>
          <p:nvPr/>
        </p:nvSpPr>
        <p:spPr>
          <a:xfrm>
            <a:off x="0" y="985520"/>
            <a:ext cx="8839200" cy="43180"/>
          </a:xfrm>
          <a:prstGeom prst="rect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5" name="hd-line2"/>
          <p:cNvSpPr/>
          <p:nvPr/>
        </p:nvSpPr>
        <p:spPr>
          <a:xfrm>
            <a:off x="8829040" y="985520"/>
            <a:ext cx="3362960" cy="43180"/>
          </a:xfrm>
          <a:prstGeom prst="rect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6" name="hd-title"/>
          <p:cNvSpPr txBox="1"/>
          <p:nvPr/>
        </p:nvSpPr>
        <p:spPr>
          <a:xfrm>
            <a:off x="701040" y="254000"/>
            <a:ext cx="88900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000" noProof="1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</a:rPr>
              <a:t>技术架构：分层结构</a:t>
            </a:r>
            <a:endParaRPr lang="en-US" sz="3000" noProof="1"/>
          </a:p>
        </p:txBody>
      </p:sp>
      <p:sp>
        <p:nvSpPr>
          <p:cNvPr id="7" name="logo"/>
          <p:cNvSpPr txBox="1"/>
          <p:nvPr/>
        </p:nvSpPr>
        <p:spPr>
          <a:xfrm>
            <a:off x="9652000" y="304800"/>
            <a:ext cx="2159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四方上行</a:t>
            </a:r>
            <a:endParaRPr lang="en-US" sz="1600" noProof="1"/>
          </a:p>
        </p:txBody>
      </p:sp>
      <p:sp>
        <p:nvSpPr>
          <p:cNvPr id="8" name="layer0"/>
          <p:cNvSpPr/>
          <p:nvPr/>
        </p:nvSpPr>
        <p:spPr>
          <a:xfrm>
            <a:off x="1651000" y="1524000"/>
            <a:ext cx="8890000" cy="914400"/>
          </a:xfrm>
          <a:prstGeom prst="roundRect">
            <a:avLst>
              <a:gd name="adj" fmla="val 6000"/>
            </a:avLst>
          </a:prstGeom>
          <a:solidFill>
            <a:srgbClr val="0070C0"/>
          </a:solidFill>
          <a:ln>
            <a:noFill/>
          </a:ln>
        </p:spPr>
      </p:sp>
      <p:sp>
        <p:nvSpPr>
          <p:cNvPr id="9" name="layer0-name"/>
          <p:cNvSpPr txBox="1"/>
          <p:nvPr>
            <p:custDataLst>
              <p:tags r:id="rId1"/>
            </p:custDataLst>
          </p:nvPr>
        </p:nvSpPr>
        <p:spPr>
          <a:xfrm>
            <a:off x="1968500" y="1625600"/>
            <a:ext cx="3175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noProof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</a:rPr>
              <a:t>React 渲染进程</a:t>
            </a:r>
            <a:endParaRPr lang="en-US" sz="1800" noProof="1"/>
          </a:p>
        </p:txBody>
      </p:sp>
      <p:sp>
        <p:nvSpPr>
          <p:cNvPr id="10" name="layer0-desc"/>
          <p:cNvSpPr txBox="1"/>
          <p:nvPr>
            <p:custDataLst>
              <p:tags r:id="rId2"/>
            </p:custDataLst>
          </p:nvPr>
        </p:nvSpPr>
        <p:spPr>
          <a:xfrm>
            <a:off x="1968500" y="1981200"/>
            <a:ext cx="82550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>
                <a:solidFill>
                  <a:srgbClr val="FFFFFF">
                    <a:alpha val="80000"/>
                  </a:srgbClr>
                </a:solidFill>
                <a:latin typeface="MiSans" charset="-122"/>
                <a:ea typeface="MiSans" charset="-122"/>
              </a:rPr>
              <a:t>Chat / Message / Sidebar / Settings / ToolList / SkillManager / McpManager</a:t>
            </a:r>
            <a:endParaRPr lang="en-US" sz="1200" noProof="1"/>
          </a:p>
        </p:txBody>
      </p:sp>
      <p:sp>
        <p:nvSpPr>
          <p:cNvPr id="11" name="lyr-arr0"/>
          <p:cNvSpPr/>
          <p:nvPr>
            <p:custDataLst>
              <p:tags r:id="rId3"/>
            </p:custDataLst>
          </p:nvPr>
        </p:nvSpPr>
        <p:spPr>
          <a:xfrm>
            <a:off x="5969000" y="2438400"/>
            <a:ext cx="254000" cy="203200"/>
          </a:xfrm>
          <a:custGeom>
            <a:avLst/>
            <a:gdLst/>
            <a:ahLst/>
            <a:cxnLst/>
            <a:rect l="l" t="t" r="r" b="b"/>
            <a:pathLst>
              <a:path w="384" h="512">
                <a:moveTo>
                  <a:pt x="169" y="375"/>
                </a:moveTo>
                <a:cubicBezTo>
                  <a:pt x="182" y="387"/>
                  <a:pt x="202" y="387"/>
                  <a:pt x="215" y="375"/>
                </a:cubicBezTo>
                <a:lnTo>
                  <a:pt x="375" y="215"/>
                </a:lnTo>
                <a:cubicBezTo>
                  <a:pt x="387" y="202"/>
                  <a:pt x="387" y="182"/>
                  <a:pt x="375" y="169"/>
                </a:cubicBezTo>
                <a:cubicBezTo>
                  <a:pt x="362" y="157"/>
                  <a:pt x="342" y="157"/>
                  <a:pt x="329" y="169"/>
                </a:cubicBezTo>
                <a:lnTo>
                  <a:pt x="192" y="307"/>
                </a:lnTo>
                <a:lnTo>
                  <a:pt x="55" y="169"/>
                </a:lnTo>
                <a:cubicBezTo>
                  <a:pt x="42" y="157"/>
                  <a:pt x="22" y="157"/>
                  <a:pt x="9" y="169"/>
                </a:cubicBezTo>
                <a:cubicBezTo>
                  <a:pt x="-3" y="182"/>
                  <a:pt x="-3" y="202"/>
                  <a:pt x="9" y="215"/>
                </a:cubicBezTo>
                <a:lnTo>
                  <a:pt x="169" y="375"/>
                </a:lnTo>
                <a:close/>
              </a:path>
            </a:pathLst>
          </a:custGeom>
          <a:solidFill>
            <a:srgbClr val="7F7F7F"/>
          </a:solidFill>
          <a:ln>
            <a:noFill/>
          </a:ln>
        </p:spPr>
      </p:sp>
      <p:sp>
        <p:nvSpPr>
          <p:cNvPr id="12" name="layer1"/>
          <p:cNvSpPr/>
          <p:nvPr/>
        </p:nvSpPr>
        <p:spPr>
          <a:xfrm>
            <a:off x="1651000" y="2641600"/>
            <a:ext cx="8890000" cy="914400"/>
          </a:xfrm>
          <a:prstGeom prst="roundRect">
            <a:avLst>
              <a:gd name="adj" fmla="val 6000"/>
            </a:avLst>
          </a:prstGeom>
          <a:solidFill>
            <a:srgbClr val="5B9BD5"/>
          </a:solidFill>
          <a:ln>
            <a:noFill/>
          </a:ln>
        </p:spPr>
      </p:sp>
      <p:sp>
        <p:nvSpPr>
          <p:cNvPr id="13" name="layer1-name"/>
          <p:cNvSpPr txBox="1"/>
          <p:nvPr>
            <p:custDataLst>
              <p:tags r:id="rId4"/>
            </p:custDataLst>
          </p:nvPr>
        </p:nvSpPr>
        <p:spPr>
          <a:xfrm>
            <a:off x="1968500" y="2743200"/>
            <a:ext cx="3175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noProof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</a:rPr>
              <a:t>Electron Preload</a:t>
            </a:r>
            <a:endParaRPr lang="en-US" sz="1800" noProof="1"/>
          </a:p>
        </p:txBody>
      </p:sp>
      <p:sp>
        <p:nvSpPr>
          <p:cNvPr id="14" name="layer1-desc"/>
          <p:cNvSpPr txBox="1"/>
          <p:nvPr>
            <p:custDataLst>
              <p:tags r:id="rId5"/>
            </p:custDataLst>
          </p:nvPr>
        </p:nvSpPr>
        <p:spPr>
          <a:xfrm>
            <a:off x="1968500" y="3098800"/>
            <a:ext cx="82550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>
                <a:solidFill>
                  <a:srgbClr val="FFFFFF">
                    <a:alpha val="80000"/>
                  </a:srgbClr>
                </a:solidFill>
                <a:latin typeface="MiSans" charset="-122"/>
                <a:ea typeface="MiSans" charset="-122"/>
              </a:rPr>
              <a:t>API</a:t>
            </a:r>
            <a:endParaRPr lang="en-US" sz="1200" noProof="1"/>
          </a:p>
        </p:txBody>
      </p:sp>
      <p:sp>
        <p:nvSpPr>
          <p:cNvPr id="15" name="lyr-arr1"/>
          <p:cNvSpPr/>
          <p:nvPr>
            <p:custDataLst>
              <p:tags r:id="rId6"/>
            </p:custDataLst>
          </p:nvPr>
        </p:nvSpPr>
        <p:spPr>
          <a:xfrm>
            <a:off x="5969000" y="3556000"/>
            <a:ext cx="254000" cy="203200"/>
          </a:xfrm>
          <a:custGeom>
            <a:avLst/>
            <a:gdLst/>
            <a:ahLst/>
            <a:cxnLst/>
            <a:rect l="l" t="t" r="r" b="b"/>
            <a:pathLst>
              <a:path w="384" h="512">
                <a:moveTo>
                  <a:pt x="169" y="375"/>
                </a:moveTo>
                <a:cubicBezTo>
                  <a:pt x="182" y="387"/>
                  <a:pt x="202" y="387"/>
                  <a:pt x="215" y="375"/>
                </a:cubicBezTo>
                <a:lnTo>
                  <a:pt x="375" y="215"/>
                </a:lnTo>
                <a:cubicBezTo>
                  <a:pt x="387" y="202"/>
                  <a:pt x="387" y="182"/>
                  <a:pt x="375" y="169"/>
                </a:cubicBezTo>
                <a:cubicBezTo>
                  <a:pt x="362" y="157"/>
                  <a:pt x="342" y="157"/>
                  <a:pt x="329" y="169"/>
                </a:cubicBezTo>
                <a:lnTo>
                  <a:pt x="192" y="307"/>
                </a:lnTo>
                <a:lnTo>
                  <a:pt x="55" y="169"/>
                </a:lnTo>
                <a:cubicBezTo>
                  <a:pt x="42" y="157"/>
                  <a:pt x="22" y="157"/>
                  <a:pt x="9" y="169"/>
                </a:cubicBezTo>
                <a:cubicBezTo>
                  <a:pt x="-3" y="182"/>
                  <a:pt x="-3" y="202"/>
                  <a:pt x="9" y="215"/>
                </a:cubicBezTo>
                <a:lnTo>
                  <a:pt x="169" y="375"/>
                </a:lnTo>
                <a:close/>
              </a:path>
            </a:pathLst>
          </a:custGeom>
          <a:solidFill>
            <a:srgbClr val="7F7F7F"/>
          </a:solidFill>
          <a:ln>
            <a:noFill/>
          </a:ln>
        </p:spPr>
      </p:sp>
      <p:sp>
        <p:nvSpPr>
          <p:cNvPr id="16" name="layer2"/>
          <p:cNvSpPr/>
          <p:nvPr/>
        </p:nvSpPr>
        <p:spPr>
          <a:xfrm>
            <a:off x="1651000" y="3759200"/>
            <a:ext cx="8890000" cy="914400"/>
          </a:xfrm>
          <a:prstGeom prst="roundRect">
            <a:avLst>
              <a:gd name="adj" fmla="val 6000"/>
            </a:avLst>
          </a:prstGeom>
          <a:solidFill>
            <a:srgbClr val="E89924"/>
          </a:solidFill>
          <a:ln>
            <a:noFill/>
          </a:ln>
        </p:spPr>
      </p:sp>
      <p:sp>
        <p:nvSpPr>
          <p:cNvPr id="17" name="layer2-name"/>
          <p:cNvSpPr txBox="1"/>
          <p:nvPr>
            <p:custDataLst>
              <p:tags r:id="rId7"/>
            </p:custDataLst>
          </p:nvPr>
        </p:nvSpPr>
        <p:spPr>
          <a:xfrm>
            <a:off x="1968500" y="3860800"/>
            <a:ext cx="3175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noProof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</a:rPr>
              <a:t>Electron 主进程</a:t>
            </a:r>
            <a:endParaRPr lang="en-US" sz="1800" noProof="1"/>
          </a:p>
        </p:txBody>
      </p:sp>
      <p:sp>
        <p:nvSpPr>
          <p:cNvPr id="18" name="layer2-desc"/>
          <p:cNvSpPr txBox="1"/>
          <p:nvPr>
            <p:custDataLst>
              <p:tags r:id="rId8"/>
            </p:custDataLst>
          </p:nvPr>
        </p:nvSpPr>
        <p:spPr>
          <a:xfrm>
            <a:off x="1968500" y="4216400"/>
            <a:ext cx="82550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>
                <a:solidFill>
                  <a:srgbClr val="FFFFFF">
                    <a:alpha val="80000"/>
                  </a:srgbClr>
                </a:solidFill>
                <a:latin typeface="MiSans" charset="-122"/>
                <a:ea typeface="MiSans" charset="-122"/>
              </a:rPr>
              <a:t>请求代理 · 协议适配 · SSE 解析 · Agent Loop · 工具执行 · 审批 · 附件 · MCP</a:t>
            </a:r>
            <a:endParaRPr lang="en-US" sz="1200" noProof="1"/>
          </a:p>
        </p:txBody>
      </p:sp>
      <p:sp>
        <p:nvSpPr>
          <p:cNvPr id="19" name="lyr-arr2"/>
          <p:cNvSpPr/>
          <p:nvPr>
            <p:custDataLst>
              <p:tags r:id="rId9"/>
            </p:custDataLst>
          </p:nvPr>
        </p:nvSpPr>
        <p:spPr>
          <a:xfrm>
            <a:off x="5969000" y="4673600"/>
            <a:ext cx="254000" cy="203200"/>
          </a:xfrm>
          <a:custGeom>
            <a:avLst/>
            <a:gdLst/>
            <a:ahLst/>
            <a:cxnLst/>
            <a:rect l="l" t="t" r="r" b="b"/>
            <a:pathLst>
              <a:path w="384" h="512">
                <a:moveTo>
                  <a:pt x="169" y="375"/>
                </a:moveTo>
                <a:cubicBezTo>
                  <a:pt x="182" y="387"/>
                  <a:pt x="202" y="387"/>
                  <a:pt x="215" y="375"/>
                </a:cubicBezTo>
                <a:lnTo>
                  <a:pt x="375" y="215"/>
                </a:lnTo>
                <a:cubicBezTo>
                  <a:pt x="387" y="202"/>
                  <a:pt x="387" y="182"/>
                  <a:pt x="375" y="169"/>
                </a:cubicBezTo>
                <a:cubicBezTo>
                  <a:pt x="362" y="157"/>
                  <a:pt x="342" y="157"/>
                  <a:pt x="329" y="169"/>
                </a:cubicBezTo>
                <a:lnTo>
                  <a:pt x="192" y="307"/>
                </a:lnTo>
                <a:lnTo>
                  <a:pt x="55" y="169"/>
                </a:lnTo>
                <a:cubicBezTo>
                  <a:pt x="42" y="157"/>
                  <a:pt x="22" y="157"/>
                  <a:pt x="9" y="169"/>
                </a:cubicBezTo>
                <a:cubicBezTo>
                  <a:pt x="-3" y="182"/>
                  <a:pt x="-3" y="202"/>
                  <a:pt x="9" y="215"/>
                </a:cubicBezTo>
                <a:lnTo>
                  <a:pt x="169" y="375"/>
                </a:lnTo>
                <a:close/>
              </a:path>
            </a:pathLst>
          </a:custGeom>
          <a:solidFill>
            <a:srgbClr val="7F7F7F"/>
          </a:solidFill>
          <a:ln>
            <a:noFill/>
          </a:ln>
        </p:spPr>
      </p:sp>
      <p:sp>
        <p:nvSpPr>
          <p:cNvPr id="20" name="layer3"/>
          <p:cNvSpPr/>
          <p:nvPr/>
        </p:nvSpPr>
        <p:spPr>
          <a:xfrm>
            <a:off x="1651000" y="4876800"/>
            <a:ext cx="8890000" cy="914400"/>
          </a:xfrm>
          <a:prstGeom prst="roundRect">
            <a:avLst>
              <a:gd name="adj" fmla="val 6000"/>
            </a:avLst>
          </a:prstGeom>
          <a:solidFill>
            <a:srgbClr val="223962"/>
          </a:solidFill>
          <a:ln>
            <a:noFill/>
          </a:ln>
        </p:spPr>
      </p:sp>
      <p:sp>
        <p:nvSpPr>
          <p:cNvPr id="21" name="layer3-name"/>
          <p:cNvSpPr txBox="1"/>
          <p:nvPr/>
        </p:nvSpPr>
        <p:spPr>
          <a:xfrm>
            <a:off x="1968500" y="4978400"/>
            <a:ext cx="3175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noProof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</a:rPr>
              <a:t>本地资源与外部服务</a:t>
            </a:r>
            <a:endParaRPr lang="en-US" sz="1800" noProof="1"/>
          </a:p>
        </p:txBody>
      </p:sp>
      <p:sp>
        <p:nvSpPr>
          <p:cNvPr id="22" name="layer3-desc"/>
          <p:cNvSpPr txBox="1"/>
          <p:nvPr/>
        </p:nvSpPr>
        <p:spPr>
          <a:xfrm>
            <a:off x="1968500" y="5334000"/>
            <a:ext cx="82550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>
                <a:solidFill>
                  <a:srgbClr val="FFFFFF">
                    <a:alpha val="80000"/>
                  </a:srgbClr>
                </a:solidFill>
                <a:latin typeface="MiSans" charset="-122"/>
                <a:ea typeface="MiSans" charset="-122"/>
              </a:rPr>
              <a:t>localStorage · userData · 项目目录 · 本地 MCP Server · OpenAI/Anthropic API</a:t>
            </a:r>
            <a:endParaRPr lang="en-US" sz="1200" noProof="1"/>
          </a:p>
        </p:txBody>
      </p:sp>
      <p:sp>
        <p:nvSpPr>
          <p:cNvPr id="23" name="arch-note"/>
          <p:cNvSpPr txBox="1"/>
          <p:nvPr/>
        </p:nvSpPr>
        <p:spPr>
          <a:xfrm>
            <a:off x="701040" y="6121400"/>
            <a:ext cx="10795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noProof="1">
                <a:solidFill>
                  <a:srgbClr val="7F7F7F"/>
                </a:solidFill>
                <a:latin typeface="MiSans" charset="-122"/>
                <a:ea typeface="MiSans" charset="-122"/>
              </a:rPr>
              <a:t>渲染进程不直接持有密钥，所有模型请求与工具执行统一由主进程调度。</a:t>
            </a:r>
            <a:endParaRPr lang="en-US" sz="1300" noProof="1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tri1"/>
          <p:cNvSpPr/>
          <p:nvPr/>
        </p:nvSpPr>
        <p:spPr>
          <a:xfrm>
            <a:off x="0" y="0"/>
            <a:ext cx="527050" cy="444500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3" name="hd-tri2"/>
          <p:cNvSpPr/>
          <p:nvPr/>
        </p:nvSpPr>
        <p:spPr>
          <a:xfrm rot="5400000">
            <a:off x="349250" y="538480"/>
            <a:ext cx="175260" cy="179070"/>
          </a:xfrm>
          <a:prstGeom prst="triangle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4" name="hd-line1"/>
          <p:cNvSpPr/>
          <p:nvPr/>
        </p:nvSpPr>
        <p:spPr>
          <a:xfrm>
            <a:off x="0" y="985520"/>
            <a:ext cx="8839200" cy="43180"/>
          </a:xfrm>
          <a:prstGeom prst="rect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5" name="hd-line2"/>
          <p:cNvSpPr/>
          <p:nvPr/>
        </p:nvSpPr>
        <p:spPr>
          <a:xfrm>
            <a:off x="8829040" y="985520"/>
            <a:ext cx="3362960" cy="43180"/>
          </a:xfrm>
          <a:prstGeom prst="rect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6" name="hd-title"/>
          <p:cNvSpPr txBox="1"/>
          <p:nvPr/>
        </p:nvSpPr>
        <p:spPr>
          <a:xfrm>
            <a:off x="701040" y="254000"/>
            <a:ext cx="88900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000" noProof="1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</a:rPr>
              <a:t>技术栈与关键目录</a:t>
            </a:r>
            <a:endParaRPr lang="en-US" sz="3000" noProof="1"/>
          </a:p>
        </p:txBody>
      </p:sp>
      <p:sp>
        <p:nvSpPr>
          <p:cNvPr id="7" name="logo"/>
          <p:cNvSpPr txBox="1"/>
          <p:nvPr/>
        </p:nvSpPr>
        <p:spPr>
          <a:xfrm>
            <a:off x="9652000" y="304800"/>
            <a:ext cx="2159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四方上行</a:t>
            </a:r>
            <a:endParaRPr lang="en-US" sz="1600" noProof="1"/>
          </a:p>
        </p:txBody>
      </p:sp>
      <p:sp>
        <p:nvSpPr>
          <p:cNvPr id="8" name="stack-box"/>
          <p:cNvSpPr/>
          <p:nvPr/>
        </p:nvSpPr>
        <p:spPr>
          <a:xfrm>
            <a:off x="635000" y="1270000"/>
            <a:ext cx="4064000" cy="508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5B9BD5"/>
            </a:solidFill>
          </a:ln>
          <a:effectLst>
            <a:outerShdw blurRad="7620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9" name="stack-head"/>
          <p:cNvSpPr/>
          <p:nvPr/>
        </p:nvSpPr>
        <p:spPr>
          <a:xfrm>
            <a:off x="635000" y="1270000"/>
            <a:ext cx="4064000" cy="50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10" name="stack-title"/>
          <p:cNvSpPr txBox="1"/>
          <p:nvPr/>
        </p:nvSpPr>
        <p:spPr>
          <a:xfrm>
            <a:off x="863600" y="1270000"/>
            <a:ext cx="36068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noProof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</a:rPr>
              <a:t>技术栈</a:t>
            </a:r>
            <a:endParaRPr lang="en-US" sz="1800" noProof="1"/>
          </a:p>
        </p:txBody>
      </p:sp>
      <p:sp>
        <p:nvSpPr>
          <p:cNvPr id="11" name="stack-body"/>
          <p:cNvSpPr txBox="1"/>
          <p:nvPr/>
        </p:nvSpPr>
        <p:spPr>
          <a:xfrm>
            <a:off x="863600" y="1930400"/>
            <a:ext cx="3606800" cy="426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5000"/>
              </a:lnSpc>
              <a:spcBef>
                <a:spcPts val="10"/>
              </a:spcBef>
              <a:buChar char="•"/>
            </a:pPr>
            <a:r>
              <a:rPr lang="en-US" sz="14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Electron 32 ／ Node.js</a:t>
            </a:r>
            <a:endParaRPr lang="en-US" sz="1400" noProof="1"/>
          </a:p>
          <a:p>
            <a:pPr algn="l">
              <a:lnSpc>
                <a:spcPct val="155000"/>
              </a:lnSpc>
              <a:spcBef>
                <a:spcPts val="10"/>
              </a:spcBef>
              <a:buChar char="•"/>
            </a:pPr>
            <a:r>
              <a:rPr lang="en-US" sz="14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React 18 ／ TypeScript ／ Vite 5</a:t>
            </a:r>
            <a:endParaRPr lang="en-US" sz="1400" noProof="1"/>
          </a:p>
          <a:p>
            <a:pPr algn="l">
              <a:lnSpc>
                <a:spcPct val="155000"/>
              </a:lnSpc>
              <a:spcBef>
                <a:spcPts val="10"/>
              </a:spcBef>
              <a:buChar char="•"/>
            </a:pPr>
            <a:r>
              <a:rPr lang="en-US" sz="14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@modelcontextprotocol/sdk</a:t>
            </a:r>
            <a:endParaRPr lang="en-US" sz="1400" noProof="1"/>
          </a:p>
          <a:p>
            <a:pPr algn="l">
              <a:lnSpc>
                <a:spcPct val="155000"/>
              </a:lnSpc>
              <a:spcBef>
                <a:spcPts val="10"/>
              </a:spcBef>
              <a:buChar char="•"/>
            </a:pPr>
            <a:r>
              <a:rPr lang="en-US" sz="14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lucide-react</a:t>
            </a:r>
            <a:endParaRPr lang="en-US" sz="1400" noProof="1"/>
          </a:p>
          <a:p>
            <a:pPr algn="l">
              <a:lnSpc>
                <a:spcPct val="155000"/>
              </a:lnSpc>
              <a:spcBef>
                <a:spcPts val="10"/>
              </a:spcBef>
              <a:buChar char="•"/>
            </a:pPr>
            <a:r>
              <a:rPr lang="en-US" sz="14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mammoth（DOCX 解析）</a:t>
            </a:r>
            <a:endParaRPr lang="en-US" sz="1400" noProof="1"/>
          </a:p>
          <a:p>
            <a:pPr algn="l">
              <a:lnSpc>
                <a:spcPct val="155000"/>
              </a:lnSpc>
              <a:spcBef>
                <a:spcPts val="10"/>
              </a:spcBef>
              <a:buChar char="•"/>
            </a:pPr>
            <a:r>
              <a:rPr lang="en-US" sz="14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xlsx（Excel 解析）</a:t>
            </a:r>
            <a:endParaRPr lang="en-US" sz="1400" noProof="1"/>
          </a:p>
          <a:p>
            <a:pPr algn="l">
              <a:lnSpc>
                <a:spcPct val="155000"/>
              </a:lnSpc>
              <a:spcBef>
                <a:spcPts val="10"/>
              </a:spcBef>
              <a:buChar char="•"/>
            </a:pPr>
            <a:r>
              <a:rPr lang="en-US" sz="14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pdf-parse（PDF 解析）</a:t>
            </a:r>
            <a:endParaRPr lang="en-US" sz="1400" noProof="1"/>
          </a:p>
          <a:p>
            <a:pPr algn="l">
              <a:lnSpc>
                <a:spcPct val="155000"/>
              </a:lnSpc>
              <a:spcBef>
                <a:spcPts val="10"/>
              </a:spcBef>
              <a:buChar char="•"/>
            </a:pPr>
            <a:r>
              <a:rPr lang="en-US" sz="14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jszip（Office/PPTX 解析）</a:t>
            </a:r>
            <a:endParaRPr lang="en-US" sz="1400" noProof="1"/>
          </a:p>
        </p:txBody>
      </p:sp>
      <p:sp>
        <p:nvSpPr>
          <p:cNvPr id="12" name="dir-title"/>
          <p:cNvSpPr txBox="1"/>
          <p:nvPr/>
        </p:nvSpPr>
        <p:spPr>
          <a:xfrm>
            <a:off x="5080000" y="1270000"/>
            <a:ext cx="64770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关键目录与职责</a:t>
            </a:r>
            <a:endParaRPr lang="en-US" sz="1800" noProof="1"/>
          </a:p>
        </p:txBody>
      </p:sp>
      <p:graphicFrame>
        <p:nvGraphicFramePr>
          <p:cNvPr id="13" name="dir-table"/>
          <p:cNvGraphicFramePr>
            <a:graphicFrameLocks noGrp="1"/>
          </p:cNvGraphicFramePr>
          <p:nvPr/>
        </p:nvGraphicFramePr>
        <p:xfrm>
          <a:off x="5080000" y="1701800"/>
          <a:ext cx="6477000" cy="4775200"/>
        </p:xfrm>
        <a:graphic>
          <a:graphicData uri="http://schemas.openxmlformats.org/drawingml/2006/table">
            <a:tbl>
              <a:tblPr/>
              <a:tblGrid>
                <a:gridCol w="2720340"/>
                <a:gridCol w="3756660"/>
              </a:tblGrid>
              <a:tr h="397933">
                <a:tc>
                  <a:txBody>
                    <a:bodyPr wrap="square" rtlCol="0"/>
                    <a:lstStyle/>
                    <a:p>
                      <a:pPr algn="ctr"/>
                      <a:r>
                        <a:rPr lang="en-US" sz="1300" b="1" noProof="1">
                          <a:solidFill>
                            <a:srgbClr val="FFFFFF"/>
                          </a:solidFill>
                          <a:latin typeface="MiSans" charset="-122"/>
                          <a:ea typeface="MiSans" charset="-122"/>
                        </a:rPr>
                        <a:t>目录 / 文件</a:t>
                      </a:r>
                      <a:endParaRPr lang="en-US" sz="1300" b="1" noProof="1">
                        <a:solidFill>
                          <a:srgbClr val="FFFFFF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0070C0"/>
                      </a:solidFill>
                    </a:lnL>
                    <a:lnR w="12700">
                      <a:solidFill>
                        <a:srgbClr val="0070C0"/>
                      </a:solidFill>
                    </a:lnR>
                    <a:lnT w="12700">
                      <a:solidFill>
                        <a:srgbClr val="0070C0"/>
                      </a:solidFill>
                    </a:lnT>
                    <a:lnB w="12700">
                      <a:solidFill>
                        <a:srgbClr val="0070C0"/>
                      </a:solidFill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300" b="1" noProof="1">
                          <a:solidFill>
                            <a:srgbClr val="FFFFFF"/>
                          </a:solidFill>
                          <a:latin typeface="MiSans" charset="-122"/>
                          <a:ea typeface="MiSans" charset="-122"/>
                        </a:rPr>
                        <a:t>职责</a:t>
                      </a:r>
                      <a:endParaRPr lang="en-US" sz="1300" b="1" noProof="1">
                        <a:solidFill>
                          <a:srgbClr val="FFFFFF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0070C0"/>
                      </a:solidFill>
                    </a:lnL>
                    <a:lnR w="12700">
                      <a:solidFill>
                        <a:srgbClr val="0070C0"/>
                      </a:solidFill>
                    </a:lnR>
                    <a:lnT w="12700">
                      <a:solidFill>
                        <a:srgbClr val="0070C0"/>
                      </a:solidFill>
                    </a:lnT>
                    <a:lnB w="12700">
                      <a:solidFill>
                        <a:srgbClr val="0070C0"/>
                      </a:solidFill>
                    </a:lnB>
                    <a:solidFill>
                      <a:srgbClr val="0070C0"/>
                    </a:solidFill>
                  </a:tcPr>
                </a:tc>
              </a:tr>
              <a:tr h="397933"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62626"/>
                          </a:solidFill>
                          <a:latin typeface="MiSans" charset="-122"/>
                          <a:ea typeface="MiSans" charset="-122"/>
                        </a:rPr>
                        <a:t>src/components/</a:t>
                      </a:r>
                      <a:endParaRPr lang="en-US" sz="1100" noProof="1">
                        <a:solidFill>
                          <a:srgbClr val="262626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BDD7EE"/>
                      </a:solidFill>
                    </a:lnL>
                    <a:lnR w="12700">
                      <a:solidFill>
                        <a:srgbClr val="BDD7EE"/>
                      </a:solidFill>
                    </a:lnR>
                    <a:lnT w="12700">
                      <a:solidFill>
                        <a:srgbClr val="BDD7EE"/>
                      </a:solidFill>
                    </a:lnT>
                    <a:lnB w="12700">
                      <a:solidFill>
                        <a:srgbClr val="BDD7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62626"/>
                          </a:solidFill>
                          <a:latin typeface="MiSans" charset="-122"/>
                          <a:ea typeface="MiSans" charset="-122"/>
                        </a:rPr>
                        <a:t>聊天、会话、设置、工具、Skill 和 MCP 管理界面</a:t>
                      </a:r>
                      <a:endParaRPr lang="en-US" sz="1100" noProof="1">
                        <a:solidFill>
                          <a:srgbClr val="262626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BDD7EE"/>
                      </a:solidFill>
                    </a:lnL>
                    <a:lnR w="12700">
                      <a:solidFill>
                        <a:srgbClr val="BDD7EE"/>
                      </a:solidFill>
                    </a:lnR>
                    <a:lnT w="12700">
                      <a:solidFill>
                        <a:srgbClr val="BDD7EE"/>
                      </a:solidFill>
                    </a:lnT>
                    <a:lnB w="12700">
                      <a:solidFill>
                        <a:srgbClr val="BDD7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97933"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62626"/>
                          </a:solidFill>
                          <a:latin typeface="MiSans" charset="-122"/>
                          <a:ea typeface="MiSans" charset="-122"/>
                        </a:rPr>
                        <a:t>src/hooks/useChat.ts</a:t>
                      </a:r>
                      <a:endParaRPr lang="en-US" sz="1100" noProof="1">
                        <a:solidFill>
                          <a:srgbClr val="262626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BDD7EE"/>
                      </a:solidFill>
                    </a:lnL>
                    <a:lnR w="12700">
                      <a:solidFill>
                        <a:srgbClr val="BDD7EE"/>
                      </a:solidFill>
                    </a:lnR>
                    <a:lnT w="12700">
                      <a:solidFill>
                        <a:srgbClr val="BDD7EE"/>
                      </a:solidFill>
                    </a:lnT>
                    <a:lnB w="12700">
                      <a:solidFill>
                        <a:srgbClr val="BDD7EE"/>
                      </a:solidFill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62626"/>
                          </a:solidFill>
                          <a:latin typeface="MiSans" charset="-122"/>
                          <a:ea typeface="MiSans" charset="-122"/>
                        </a:rPr>
                        <a:t>发送消息、流式事件、停止、重试和审批事件</a:t>
                      </a:r>
                      <a:endParaRPr lang="en-US" sz="1100" noProof="1">
                        <a:solidFill>
                          <a:srgbClr val="262626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BDD7EE"/>
                      </a:solidFill>
                    </a:lnL>
                    <a:lnR w="12700">
                      <a:solidFill>
                        <a:srgbClr val="BDD7EE"/>
                      </a:solidFill>
                    </a:lnR>
                    <a:lnT w="12700">
                      <a:solidFill>
                        <a:srgbClr val="BDD7EE"/>
                      </a:solidFill>
                    </a:lnT>
                    <a:lnB w="12700">
                      <a:solidFill>
                        <a:srgbClr val="BDD7EE"/>
                      </a:solidFill>
                    </a:lnB>
                    <a:solidFill>
                      <a:srgbClr val="EAF3FB"/>
                    </a:solidFill>
                  </a:tcPr>
                </a:tc>
              </a:tr>
              <a:tr h="397933"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62626"/>
                          </a:solidFill>
                          <a:latin typeface="MiSans" charset="-122"/>
                          <a:ea typeface="MiSans" charset="-122"/>
                        </a:rPr>
                        <a:t>electron/main.ts</a:t>
                      </a:r>
                      <a:endParaRPr lang="en-US" sz="1100" noProof="1">
                        <a:solidFill>
                          <a:srgbClr val="262626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BDD7EE"/>
                      </a:solidFill>
                    </a:lnL>
                    <a:lnR w="12700">
                      <a:solidFill>
                        <a:srgbClr val="BDD7EE"/>
                      </a:solidFill>
                    </a:lnR>
                    <a:lnT w="12700">
                      <a:solidFill>
                        <a:srgbClr val="BDD7EE"/>
                      </a:solidFill>
                    </a:lnT>
                    <a:lnB w="12700">
                      <a:solidFill>
                        <a:srgbClr val="BDD7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62626"/>
                          </a:solidFill>
                          <a:latin typeface="MiSans" charset="-122"/>
                          <a:ea typeface="MiSans" charset="-122"/>
                        </a:rPr>
                        <a:t>窗口创建、IPC 注册、请求调度和生命周期</a:t>
                      </a:r>
                      <a:endParaRPr lang="en-US" sz="1100" noProof="1">
                        <a:solidFill>
                          <a:srgbClr val="262626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BDD7EE"/>
                      </a:solidFill>
                    </a:lnL>
                    <a:lnR w="12700">
                      <a:solidFill>
                        <a:srgbClr val="BDD7EE"/>
                      </a:solidFill>
                    </a:lnR>
                    <a:lnT w="12700">
                      <a:solidFill>
                        <a:srgbClr val="BDD7EE"/>
                      </a:solidFill>
                    </a:lnT>
                    <a:lnB w="12700">
                      <a:solidFill>
                        <a:srgbClr val="BDD7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97933"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62626"/>
                          </a:solidFill>
                          <a:latin typeface="MiSans" charset="-122"/>
                          <a:ea typeface="MiSans" charset="-122"/>
                        </a:rPr>
                        <a:t>electron/agentLoop.ts</a:t>
                      </a:r>
                      <a:endParaRPr lang="en-US" sz="1100" noProof="1">
                        <a:solidFill>
                          <a:srgbClr val="262626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BDD7EE"/>
                      </a:solidFill>
                    </a:lnL>
                    <a:lnR w="12700">
                      <a:solidFill>
                        <a:srgbClr val="BDD7EE"/>
                      </a:solidFill>
                    </a:lnR>
                    <a:lnT w="12700">
                      <a:solidFill>
                        <a:srgbClr val="BDD7EE"/>
                      </a:solidFill>
                    </a:lnT>
                    <a:lnB w="12700">
                      <a:solidFill>
                        <a:srgbClr val="BDD7EE"/>
                      </a:solidFill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62626"/>
                          </a:solidFill>
                          <a:latin typeface="MiSans" charset="-122"/>
                          <a:ea typeface="MiSans" charset="-122"/>
                        </a:rPr>
                        <a:t>Agent 工具调用循环和系统提示词拼装</a:t>
                      </a:r>
                      <a:endParaRPr lang="en-US" sz="1100" noProof="1">
                        <a:solidFill>
                          <a:srgbClr val="262626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BDD7EE"/>
                      </a:solidFill>
                    </a:lnL>
                    <a:lnR w="12700">
                      <a:solidFill>
                        <a:srgbClr val="BDD7EE"/>
                      </a:solidFill>
                    </a:lnR>
                    <a:lnT w="12700">
                      <a:solidFill>
                        <a:srgbClr val="BDD7EE"/>
                      </a:solidFill>
                    </a:lnT>
                    <a:lnB w="12700">
                      <a:solidFill>
                        <a:srgbClr val="BDD7EE"/>
                      </a:solidFill>
                    </a:lnB>
                    <a:solidFill>
                      <a:srgbClr val="EAF3FB"/>
                    </a:solidFill>
                  </a:tcPr>
                </a:tc>
              </a:tr>
              <a:tr h="397933"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62626"/>
                          </a:solidFill>
                          <a:latin typeface="MiSans" charset="-122"/>
                          <a:ea typeface="MiSans" charset="-122"/>
                        </a:rPr>
                        <a:t>electron/protocol.ts</a:t>
                      </a:r>
                      <a:endParaRPr lang="en-US" sz="1100" noProof="1">
                        <a:solidFill>
                          <a:srgbClr val="262626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BDD7EE"/>
                      </a:solidFill>
                    </a:lnL>
                    <a:lnR w="12700">
                      <a:solidFill>
                        <a:srgbClr val="BDD7EE"/>
                      </a:solidFill>
                    </a:lnR>
                    <a:lnT w="12700">
                      <a:solidFill>
                        <a:srgbClr val="BDD7EE"/>
                      </a:solidFill>
                    </a:lnT>
                    <a:lnB w="12700">
                      <a:solidFill>
                        <a:srgbClr val="BDD7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62626"/>
                          </a:solidFill>
                          <a:latin typeface="MiSans" charset="-122"/>
                          <a:ea typeface="MiSans" charset="-122"/>
                        </a:rPr>
                        <a:t>OpenAI / Anthropic 请求和流式响应适配</a:t>
                      </a:r>
                      <a:endParaRPr lang="en-US" sz="1100" noProof="1">
                        <a:solidFill>
                          <a:srgbClr val="262626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BDD7EE"/>
                      </a:solidFill>
                    </a:lnL>
                    <a:lnR w="12700">
                      <a:solidFill>
                        <a:srgbClr val="BDD7EE"/>
                      </a:solidFill>
                    </a:lnR>
                    <a:lnT w="12700">
                      <a:solidFill>
                        <a:srgbClr val="BDD7EE"/>
                      </a:solidFill>
                    </a:lnT>
                    <a:lnB w="12700">
                      <a:solidFill>
                        <a:srgbClr val="BDD7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97933"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62626"/>
                          </a:solidFill>
                          <a:latin typeface="MiSans" charset="-122"/>
                          <a:ea typeface="MiSans" charset="-122"/>
                        </a:rPr>
                        <a:t>electron/tools/</a:t>
                      </a:r>
                      <a:endParaRPr lang="en-US" sz="1100" noProof="1">
                        <a:solidFill>
                          <a:srgbClr val="262626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BDD7EE"/>
                      </a:solidFill>
                    </a:lnL>
                    <a:lnR w="12700">
                      <a:solidFill>
                        <a:srgbClr val="BDD7EE"/>
                      </a:solidFill>
                    </a:lnR>
                    <a:lnT w="12700">
                      <a:solidFill>
                        <a:srgbClr val="BDD7EE"/>
                      </a:solidFill>
                    </a:lnT>
                    <a:lnB w="12700">
                      <a:solidFill>
                        <a:srgbClr val="BDD7EE"/>
                      </a:solidFill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62626"/>
                          </a:solidFill>
                          <a:latin typeface="MiSans" charset="-122"/>
                          <a:ea typeface="MiSans" charset="-122"/>
                        </a:rPr>
                        <a:t>工具定义、注册表、参数校验、执行器和路径安全</a:t>
                      </a:r>
                      <a:endParaRPr lang="en-US" sz="1100" noProof="1">
                        <a:solidFill>
                          <a:srgbClr val="262626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BDD7EE"/>
                      </a:solidFill>
                    </a:lnL>
                    <a:lnR w="12700">
                      <a:solidFill>
                        <a:srgbClr val="BDD7EE"/>
                      </a:solidFill>
                    </a:lnR>
                    <a:lnT w="12700">
                      <a:solidFill>
                        <a:srgbClr val="BDD7EE"/>
                      </a:solidFill>
                    </a:lnT>
                    <a:lnB w="12700">
                      <a:solidFill>
                        <a:srgbClr val="BDD7EE"/>
                      </a:solidFill>
                    </a:lnB>
                    <a:solidFill>
                      <a:srgbClr val="EAF3FB"/>
                    </a:solidFill>
                  </a:tcPr>
                </a:tc>
              </a:tr>
              <a:tr h="397933"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62626"/>
                          </a:solidFill>
                          <a:latin typeface="MiSans" charset="-122"/>
                          <a:ea typeface="MiSans" charset="-122"/>
                        </a:rPr>
                        <a:t>electron/approvals.ts</a:t>
                      </a:r>
                      <a:endParaRPr lang="en-US" sz="1100" noProof="1">
                        <a:solidFill>
                          <a:srgbClr val="262626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BDD7EE"/>
                      </a:solidFill>
                    </a:lnL>
                    <a:lnR w="12700">
                      <a:solidFill>
                        <a:srgbClr val="BDD7EE"/>
                      </a:solidFill>
                    </a:lnR>
                    <a:lnT w="12700">
                      <a:solidFill>
                        <a:srgbClr val="BDD7EE"/>
                      </a:solidFill>
                    </a:lnT>
                    <a:lnB w="12700">
                      <a:solidFill>
                        <a:srgbClr val="BDD7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62626"/>
                          </a:solidFill>
                          <a:latin typeface="MiSans" charset="-122"/>
                          <a:ea typeface="MiSans" charset="-122"/>
                        </a:rPr>
                        <a:t>审批创建、批准、拒绝、超时、持久化和清理</a:t>
                      </a:r>
                      <a:endParaRPr lang="en-US" sz="1100" noProof="1">
                        <a:solidFill>
                          <a:srgbClr val="262626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BDD7EE"/>
                      </a:solidFill>
                    </a:lnL>
                    <a:lnR w="12700">
                      <a:solidFill>
                        <a:srgbClr val="BDD7EE"/>
                      </a:solidFill>
                    </a:lnR>
                    <a:lnT w="12700">
                      <a:solidFill>
                        <a:srgbClr val="BDD7EE"/>
                      </a:solidFill>
                    </a:lnT>
                    <a:lnB w="12700">
                      <a:solidFill>
                        <a:srgbClr val="BDD7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97933"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62626"/>
                          </a:solidFill>
                          <a:latin typeface="MiSans" charset="-122"/>
                          <a:ea typeface="MiSans" charset="-122"/>
                        </a:rPr>
                        <a:t>electron/attachments.ts</a:t>
                      </a:r>
                      <a:endParaRPr lang="en-US" sz="1100" noProof="1">
                        <a:solidFill>
                          <a:srgbClr val="262626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BDD7EE"/>
                      </a:solidFill>
                    </a:lnL>
                    <a:lnR w="12700">
                      <a:solidFill>
                        <a:srgbClr val="BDD7EE"/>
                      </a:solidFill>
                    </a:lnR>
                    <a:lnT w="12700">
                      <a:solidFill>
                        <a:srgbClr val="BDD7EE"/>
                      </a:solidFill>
                    </a:lnT>
                    <a:lnB w="12700">
                      <a:solidFill>
                        <a:srgbClr val="BDD7EE"/>
                      </a:solidFill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62626"/>
                          </a:solidFill>
                          <a:latin typeface="MiSans" charset="-122"/>
                          <a:ea typeface="MiSans" charset="-122"/>
                        </a:rPr>
                        <a:t>附件复制、本地解析和临时文件清理</a:t>
                      </a:r>
                      <a:endParaRPr lang="en-US" sz="1100" noProof="1">
                        <a:solidFill>
                          <a:srgbClr val="262626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BDD7EE"/>
                      </a:solidFill>
                    </a:lnL>
                    <a:lnR w="12700">
                      <a:solidFill>
                        <a:srgbClr val="BDD7EE"/>
                      </a:solidFill>
                    </a:lnR>
                    <a:lnT w="12700">
                      <a:solidFill>
                        <a:srgbClr val="BDD7EE"/>
                      </a:solidFill>
                    </a:lnT>
                    <a:lnB w="12700">
                      <a:solidFill>
                        <a:srgbClr val="BDD7EE"/>
                      </a:solidFill>
                    </a:lnB>
                    <a:solidFill>
                      <a:srgbClr val="EAF3FB"/>
                    </a:solidFill>
                  </a:tcPr>
                </a:tc>
              </a:tr>
              <a:tr h="397933"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62626"/>
                          </a:solidFill>
                          <a:latin typeface="MiSans" charset="-122"/>
                          <a:ea typeface="MiSans" charset="-122"/>
                        </a:rPr>
                        <a:t>electron/skills.ts</a:t>
                      </a:r>
                      <a:endParaRPr lang="en-US" sz="1100" noProof="1">
                        <a:solidFill>
                          <a:srgbClr val="262626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BDD7EE"/>
                      </a:solidFill>
                    </a:lnL>
                    <a:lnR w="12700">
                      <a:solidFill>
                        <a:srgbClr val="BDD7EE"/>
                      </a:solidFill>
                    </a:lnR>
                    <a:lnT w="12700">
                      <a:solidFill>
                        <a:srgbClr val="BDD7EE"/>
                      </a:solidFill>
                    </a:lnT>
                    <a:lnB w="12700">
                      <a:solidFill>
                        <a:srgbClr val="BDD7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62626"/>
                          </a:solidFill>
                          <a:latin typeface="MiSans" charset="-122"/>
                          <a:ea typeface="MiSans" charset="-122"/>
                        </a:rPr>
                        <a:t>Skill 扫描、解析、覆盖和提示词生成</a:t>
                      </a:r>
                      <a:endParaRPr lang="en-US" sz="1100" noProof="1">
                        <a:solidFill>
                          <a:srgbClr val="262626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BDD7EE"/>
                      </a:solidFill>
                    </a:lnL>
                    <a:lnR w="12700">
                      <a:solidFill>
                        <a:srgbClr val="BDD7EE"/>
                      </a:solidFill>
                    </a:lnR>
                    <a:lnT w="12700">
                      <a:solidFill>
                        <a:srgbClr val="BDD7EE"/>
                      </a:solidFill>
                    </a:lnT>
                    <a:lnB w="12700">
                      <a:solidFill>
                        <a:srgbClr val="BDD7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97933"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62626"/>
                          </a:solidFill>
                          <a:latin typeface="MiSans" charset="-122"/>
                          <a:ea typeface="MiSans" charset="-122"/>
                        </a:rPr>
                        <a:t>electron/mcp.ts</a:t>
                      </a:r>
                      <a:endParaRPr lang="en-US" sz="1100" noProof="1">
                        <a:solidFill>
                          <a:srgbClr val="262626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BDD7EE"/>
                      </a:solidFill>
                    </a:lnL>
                    <a:lnR w="12700">
                      <a:solidFill>
                        <a:srgbClr val="BDD7EE"/>
                      </a:solidFill>
                    </a:lnR>
                    <a:lnT w="12700">
                      <a:solidFill>
                        <a:srgbClr val="BDD7EE"/>
                      </a:solidFill>
                    </a:lnT>
                    <a:lnB w="12700">
                      <a:solidFill>
                        <a:srgbClr val="BDD7EE"/>
                      </a:solidFill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62626"/>
                          </a:solidFill>
                          <a:latin typeface="MiSans" charset="-122"/>
                          <a:ea typeface="MiSans" charset="-122"/>
                        </a:rPr>
                        <a:t>MCP 服务配置、连接、工具发现和生命周期</a:t>
                      </a:r>
                      <a:endParaRPr lang="en-US" sz="1100" noProof="1">
                        <a:solidFill>
                          <a:srgbClr val="262626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BDD7EE"/>
                      </a:solidFill>
                    </a:lnL>
                    <a:lnR w="12700">
                      <a:solidFill>
                        <a:srgbClr val="BDD7EE"/>
                      </a:solidFill>
                    </a:lnR>
                    <a:lnT w="12700">
                      <a:solidFill>
                        <a:srgbClr val="BDD7EE"/>
                      </a:solidFill>
                    </a:lnT>
                    <a:lnB w="12700">
                      <a:solidFill>
                        <a:srgbClr val="BDD7EE"/>
                      </a:solidFill>
                    </a:lnB>
                    <a:solidFill>
                      <a:srgbClr val="EAF3FB"/>
                    </a:solidFill>
                  </a:tcPr>
                </a:tc>
              </a:tr>
              <a:tr h="397933"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62626"/>
                          </a:solidFill>
                          <a:latin typeface="MiSans" charset="-122"/>
                          <a:ea typeface="MiSans" charset="-122"/>
                        </a:rPr>
                        <a:t>shared/</a:t>
                      </a:r>
                      <a:endParaRPr lang="en-US" sz="1100" noProof="1">
                        <a:solidFill>
                          <a:srgbClr val="262626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BDD7EE"/>
                      </a:solidFill>
                    </a:lnL>
                    <a:lnR w="12700">
                      <a:solidFill>
                        <a:srgbClr val="BDD7EE"/>
                      </a:solidFill>
                    </a:lnR>
                    <a:lnT w="12700">
                      <a:solidFill>
                        <a:srgbClr val="BDD7EE"/>
                      </a:solidFill>
                    </a:lnT>
                    <a:lnB w="12700">
                      <a:solidFill>
                        <a:srgbClr val="BDD7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262626"/>
                          </a:solidFill>
                          <a:latin typeface="MiSans" charset="-122"/>
                          <a:ea typeface="MiSans" charset="-122"/>
                        </a:rPr>
                        <a:t>主进程与渲染进程共享的类型、状态和配置</a:t>
                      </a:r>
                      <a:endParaRPr lang="en-US" sz="1100" noProof="1">
                        <a:solidFill>
                          <a:srgbClr val="262626"/>
                        </a:solidFill>
                        <a:latin typeface="MiSans" charset="-122"/>
                        <a:ea typeface="MiSans" charset="-122"/>
                      </a:endParaRPr>
                    </a:p>
                  </a:txBody>
                  <a:tcPr anchor="ctr">
                    <a:lnL w="12700">
                      <a:solidFill>
                        <a:srgbClr val="BDD7EE"/>
                      </a:solidFill>
                    </a:lnL>
                    <a:lnR w="12700">
                      <a:solidFill>
                        <a:srgbClr val="BDD7EE"/>
                      </a:solidFill>
                    </a:lnR>
                    <a:lnT w="12700">
                      <a:solidFill>
                        <a:srgbClr val="BDD7EE"/>
                      </a:solidFill>
                    </a:lnT>
                    <a:lnB w="12700">
                      <a:solidFill>
                        <a:srgbClr val="BDD7EE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>
              <a:alphaModFix amt="30000"/>
            </a:blip>
            <a:stretch>
              <a:fillRect/>
            </a:stretch>
          </a:blipFill>
          <a:ln>
            <a:noFill/>
          </a:ln>
        </p:spPr>
      </p:sp>
      <p:sp>
        <p:nvSpPr>
          <p:cNvPr id="3" name="band"/>
          <p:cNvSpPr/>
          <p:nvPr/>
        </p:nvSpPr>
        <p:spPr>
          <a:xfrm>
            <a:off x="0" y="2865120"/>
            <a:ext cx="12192000" cy="1136650"/>
          </a:xfrm>
          <a:prstGeom prst="rect">
            <a:avLst/>
          </a:prstGeom>
          <a:solidFill>
            <a:srgbClr val="5B9BD5"/>
          </a:solidFill>
          <a:ln>
            <a:noFill/>
          </a:ln>
        </p:spPr>
      </p:sp>
      <p:sp>
        <p:nvSpPr>
          <p:cNvPr id="4" name="num-box"/>
          <p:cNvSpPr/>
          <p:nvPr/>
        </p:nvSpPr>
        <p:spPr>
          <a:xfrm>
            <a:off x="1351280" y="2306320"/>
            <a:ext cx="1651000" cy="2306320"/>
          </a:xfrm>
          <a:prstGeom prst="roundRect">
            <a:avLst/>
          </a:prstGeom>
          <a:noFill/>
          <a:ln w="38100">
            <a:solidFill>
              <a:srgbClr val="5B9BD5"/>
            </a:solidFill>
          </a:ln>
          <a:effectLst>
            <a:outerShdw blurRad="63500" algn="bl" rotWithShape="0">
              <a:srgbClr val="000000">
                <a:alpha val="40000"/>
              </a:srgbClr>
            </a:outerShdw>
          </a:effectLst>
        </p:spPr>
      </p:sp>
      <p:sp>
        <p:nvSpPr>
          <p:cNvPr id="5" name="num"/>
          <p:cNvSpPr txBox="1"/>
          <p:nvPr/>
        </p:nvSpPr>
        <p:spPr>
          <a:xfrm>
            <a:off x="1473200" y="2848610"/>
            <a:ext cx="1409700" cy="1231900"/>
          </a:xfrm>
          <a:prstGeom prst="rect">
            <a:avLst/>
          </a:prstGeom>
          <a:noFill/>
          <a:ln>
            <a:noFill/>
          </a:ln>
        </p:spPr>
        <p:txBody>
          <a:bodyPr wrap="square" lIns="109728" rIns="109728" rtlCol="0" anchor="ctr"/>
          <a:lstStyle/>
          <a:p>
            <a:pPr algn="ctr">
              <a:lnSpc>
                <a:spcPct val="120000"/>
              </a:lnSpc>
            </a:pPr>
            <a:r>
              <a:rPr sz="2400" b="1">
                <a:solidFill>
                  <a:srgbClr val="223962"/>
                </a:solidFill>
                <a:latin typeface="微软雅黑" panose="020B0503020204020204" charset="-122"/>
                <a:ea typeface="微软雅黑" panose="020B0503020204020204" charset="-122"/>
              </a:rPr>
              <a:t>05</a:t>
            </a:r>
            <a:endParaRPr lang="en-US" sz="7600" noProof="1"/>
          </a:p>
        </p:txBody>
      </p:sp>
      <p:sp>
        <p:nvSpPr>
          <p:cNvPr id="6" name="ch-title"/>
          <p:cNvSpPr txBox="1"/>
          <p:nvPr/>
        </p:nvSpPr>
        <p:spPr>
          <a:xfrm>
            <a:off x="3723640" y="3048000"/>
            <a:ext cx="7874000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000" b="1" noProof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</a:rPr>
              <a:t>        安全治理与应用场景</a:t>
            </a:r>
            <a:endParaRPr lang="en-US" sz="4000" noProof="1"/>
          </a:p>
        </p:txBody>
      </p:sp>
      <p:sp>
        <p:nvSpPr>
          <p:cNvPr id="7" name="logo"/>
          <p:cNvSpPr txBox="1"/>
          <p:nvPr/>
        </p:nvSpPr>
        <p:spPr>
          <a:xfrm>
            <a:off x="9652000" y="304800"/>
            <a:ext cx="2159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四方上行</a:t>
            </a:r>
            <a:endParaRPr lang="en-US" sz="1600" noProof="1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tri1"/>
          <p:cNvSpPr/>
          <p:nvPr/>
        </p:nvSpPr>
        <p:spPr>
          <a:xfrm>
            <a:off x="0" y="0"/>
            <a:ext cx="527050" cy="444500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3" name="hd-tri2"/>
          <p:cNvSpPr/>
          <p:nvPr/>
        </p:nvSpPr>
        <p:spPr>
          <a:xfrm rot="5400000">
            <a:off x="349250" y="538480"/>
            <a:ext cx="175260" cy="179070"/>
          </a:xfrm>
          <a:prstGeom prst="triangle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4" name="hd-line1"/>
          <p:cNvSpPr/>
          <p:nvPr/>
        </p:nvSpPr>
        <p:spPr>
          <a:xfrm>
            <a:off x="0" y="985520"/>
            <a:ext cx="8839200" cy="43180"/>
          </a:xfrm>
          <a:prstGeom prst="rect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5" name="hd-line2"/>
          <p:cNvSpPr/>
          <p:nvPr/>
        </p:nvSpPr>
        <p:spPr>
          <a:xfrm>
            <a:off x="8829040" y="985520"/>
            <a:ext cx="3362960" cy="43180"/>
          </a:xfrm>
          <a:prstGeom prst="rect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6" name="hd-title"/>
          <p:cNvSpPr txBox="1"/>
          <p:nvPr/>
        </p:nvSpPr>
        <p:spPr>
          <a:xfrm>
            <a:off x="701040" y="254000"/>
            <a:ext cx="88900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000" noProof="1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</a:rPr>
              <a:t>安全与治理</a:t>
            </a:r>
            <a:endParaRPr lang="en-US" sz="3000" noProof="1"/>
          </a:p>
        </p:txBody>
      </p:sp>
      <p:sp>
        <p:nvSpPr>
          <p:cNvPr id="7" name="logo"/>
          <p:cNvSpPr txBox="1"/>
          <p:nvPr/>
        </p:nvSpPr>
        <p:spPr>
          <a:xfrm>
            <a:off x="9652000" y="304800"/>
            <a:ext cx="2159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四方上行</a:t>
            </a:r>
            <a:endParaRPr lang="en-US" sz="1600" noProof="1"/>
          </a:p>
        </p:txBody>
      </p:sp>
      <p:sp>
        <p:nvSpPr>
          <p:cNvPr id="8" name="sec0-card"/>
          <p:cNvSpPr/>
          <p:nvPr/>
        </p:nvSpPr>
        <p:spPr>
          <a:xfrm>
            <a:off x="635000" y="1270000"/>
            <a:ext cx="5308600" cy="241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5B9BD5"/>
            </a:solidFill>
          </a:ln>
          <a:effectLst>
            <a:outerShdw blurRad="7620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9" name="sec0-circle"/>
          <p:cNvSpPr/>
          <p:nvPr/>
        </p:nvSpPr>
        <p:spPr>
          <a:xfrm>
            <a:off x="939800" y="1574800"/>
            <a:ext cx="558800" cy="558800"/>
          </a:xfrm>
          <a:prstGeom prst="ellipse">
            <a:avLst/>
          </a:prstGeom>
          <a:solidFill>
            <a:srgbClr val="EAF3FB"/>
          </a:solidFill>
          <a:ln>
            <a:noFill/>
          </a:ln>
        </p:spPr>
      </p:sp>
      <p:sp>
        <p:nvSpPr>
          <p:cNvPr id="10" name="sec0-icon"/>
          <p:cNvSpPr/>
          <p:nvPr/>
        </p:nvSpPr>
        <p:spPr>
          <a:xfrm>
            <a:off x="1079500" y="17145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336" y="352"/>
                </a:moveTo>
                <a:cubicBezTo>
                  <a:pt x="433" y="352"/>
                  <a:pt x="512" y="273"/>
                  <a:pt x="512" y="176"/>
                </a:cubicBezTo>
                <a:cubicBezTo>
                  <a:pt x="512" y="79"/>
                  <a:pt x="433" y="0"/>
                  <a:pt x="336" y="0"/>
                </a:cubicBezTo>
                <a:cubicBezTo>
                  <a:pt x="239" y="0"/>
                  <a:pt x="160" y="79"/>
                  <a:pt x="160" y="176"/>
                </a:cubicBezTo>
                <a:cubicBezTo>
                  <a:pt x="160" y="195"/>
                  <a:pt x="163" y="213"/>
                  <a:pt x="168" y="230"/>
                </a:cubicBezTo>
                <a:lnTo>
                  <a:pt x="7" y="391"/>
                </a:lnTo>
                <a:cubicBezTo>
                  <a:pt x="3" y="396"/>
                  <a:pt x="0" y="402"/>
                  <a:pt x="0" y="408"/>
                </a:cubicBezTo>
                <a:lnTo>
                  <a:pt x="0" y="488"/>
                </a:lnTo>
                <a:cubicBezTo>
                  <a:pt x="0" y="501"/>
                  <a:pt x="11" y="512"/>
                  <a:pt x="24" y="512"/>
                </a:cubicBezTo>
                <a:lnTo>
                  <a:pt x="104" y="512"/>
                </a:lnTo>
                <a:cubicBezTo>
                  <a:pt x="117" y="512"/>
                  <a:pt x="128" y="501"/>
                  <a:pt x="128" y="488"/>
                </a:cubicBezTo>
                <a:lnTo>
                  <a:pt x="128" y="448"/>
                </a:lnTo>
                <a:lnTo>
                  <a:pt x="168" y="448"/>
                </a:lnTo>
                <a:cubicBezTo>
                  <a:pt x="181" y="448"/>
                  <a:pt x="192" y="437"/>
                  <a:pt x="192" y="424"/>
                </a:cubicBezTo>
                <a:lnTo>
                  <a:pt x="192" y="384"/>
                </a:lnTo>
                <a:lnTo>
                  <a:pt x="232" y="384"/>
                </a:lnTo>
                <a:cubicBezTo>
                  <a:pt x="238" y="384"/>
                  <a:pt x="245" y="382"/>
                  <a:pt x="249" y="377"/>
                </a:cubicBezTo>
                <a:lnTo>
                  <a:pt x="282" y="344"/>
                </a:lnTo>
                <a:cubicBezTo>
                  <a:pt x="299" y="349"/>
                  <a:pt x="317" y="352"/>
                  <a:pt x="336" y="352"/>
                </a:cubicBezTo>
                <a:close/>
                <a:moveTo>
                  <a:pt x="376" y="96"/>
                </a:moveTo>
                <a:cubicBezTo>
                  <a:pt x="398" y="96"/>
                  <a:pt x="416" y="114"/>
                  <a:pt x="416" y="136"/>
                </a:cubicBezTo>
                <a:cubicBezTo>
                  <a:pt x="416" y="158"/>
                  <a:pt x="398" y="176"/>
                  <a:pt x="376" y="176"/>
                </a:cubicBezTo>
                <a:cubicBezTo>
                  <a:pt x="354" y="176"/>
                  <a:pt x="336" y="158"/>
                  <a:pt x="336" y="136"/>
                </a:cubicBezTo>
                <a:cubicBezTo>
                  <a:pt x="336" y="114"/>
                  <a:pt x="354" y="96"/>
                  <a:pt x="376" y="96"/>
                </a:cubicBezTo>
                <a:close/>
              </a:path>
            </a:pathLst>
          </a:custGeom>
          <a:solidFill>
            <a:srgbClr val="0070C0"/>
          </a:solidFill>
          <a:ln>
            <a:noFill/>
          </a:ln>
        </p:spPr>
      </p:sp>
      <p:sp>
        <p:nvSpPr>
          <p:cNvPr id="11" name="sec0-title"/>
          <p:cNvSpPr txBox="1"/>
          <p:nvPr/>
        </p:nvSpPr>
        <p:spPr>
          <a:xfrm>
            <a:off x="1676400" y="1574800"/>
            <a:ext cx="3962400" cy="55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密钥与请求安全</a:t>
            </a:r>
            <a:endParaRPr lang="en-US" sz="1800" noProof="1"/>
          </a:p>
        </p:txBody>
      </p:sp>
      <p:sp>
        <p:nvSpPr>
          <p:cNvPr id="12" name="sec0-desc"/>
          <p:cNvSpPr txBox="1"/>
          <p:nvPr/>
        </p:nvSpPr>
        <p:spPr>
          <a:xfrm>
            <a:off x="939800" y="2311400"/>
            <a:ext cx="4699000" cy="1193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2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API 请求由主进程直接发出，避免密钥进入渲染进程运行时状态；API 配置保存在本地，不上传到项目目录或第三方服务；OpenAI 与 Anthropic 协议经适配层转换，统一由主进程调度。</a:t>
            </a:r>
            <a:endParaRPr lang="en-US" sz="1200" noProof="1"/>
          </a:p>
        </p:txBody>
      </p:sp>
      <p:sp>
        <p:nvSpPr>
          <p:cNvPr id="13" name="sec1-card"/>
          <p:cNvSpPr/>
          <p:nvPr/>
        </p:nvSpPr>
        <p:spPr>
          <a:xfrm>
            <a:off x="6248400" y="1270000"/>
            <a:ext cx="5308600" cy="241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5B9BD5"/>
            </a:solidFill>
          </a:ln>
          <a:effectLst>
            <a:outerShdw blurRad="7620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4" name="sec1-circle"/>
          <p:cNvSpPr/>
          <p:nvPr/>
        </p:nvSpPr>
        <p:spPr>
          <a:xfrm>
            <a:off x="6553200" y="1574800"/>
            <a:ext cx="558800" cy="558800"/>
          </a:xfrm>
          <a:prstGeom prst="ellipse">
            <a:avLst/>
          </a:prstGeom>
          <a:solidFill>
            <a:srgbClr val="EAF3FB"/>
          </a:solidFill>
          <a:ln>
            <a:noFill/>
          </a:ln>
        </p:spPr>
      </p:sp>
      <p:sp>
        <p:nvSpPr>
          <p:cNvPr id="15" name="sec1-icon"/>
          <p:cNvSpPr/>
          <p:nvPr/>
        </p:nvSpPr>
        <p:spPr>
          <a:xfrm>
            <a:off x="6692900" y="17145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48" y="24"/>
                </a:moveTo>
                <a:cubicBezTo>
                  <a:pt x="48" y="11"/>
                  <a:pt x="37" y="0"/>
                  <a:pt x="24" y="0"/>
                </a:cubicBezTo>
                <a:cubicBezTo>
                  <a:pt x="11" y="0"/>
                  <a:pt x="0" y="11"/>
                  <a:pt x="0" y="24"/>
                </a:cubicBezTo>
                <a:lnTo>
                  <a:pt x="0" y="392"/>
                </a:lnTo>
                <a:cubicBezTo>
                  <a:pt x="0" y="423"/>
                  <a:pt x="25" y="448"/>
                  <a:pt x="56" y="448"/>
                </a:cubicBezTo>
                <a:lnTo>
                  <a:pt x="240" y="448"/>
                </a:lnTo>
                <a:lnTo>
                  <a:pt x="240" y="400"/>
                </a:lnTo>
                <a:lnTo>
                  <a:pt x="56" y="400"/>
                </a:lnTo>
                <a:cubicBezTo>
                  <a:pt x="52" y="400"/>
                  <a:pt x="48" y="396"/>
                  <a:pt x="48" y="392"/>
                </a:cubicBezTo>
                <a:lnTo>
                  <a:pt x="48" y="160"/>
                </a:lnTo>
                <a:lnTo>
                  <a:pt x="240" y="160"/>
                </a:lnTo>
                <a:lnTo>
                  <a:pt x="240" y="112"/>
                </a:lnTo>
                <a:lnTo>
                  <a:pt x="48" y="112"/>
                </a:lnTo>
                <a:lnTo>
                  <a:pt x="48" y="24"/>
                </a:lnTo>
                <a:close/>
              </a:path>
              <a:path w="576" h="512">
                <a:moveTo>
                  <a:pt x="336" y="224"/>
                </a:moveTo>
                <a:lnTo>
                  <a:pt x="528" y="224"/>
                </a:lnTo>
                <a:cubicBezTo>
                  <a:pt x="555" y="224"/>
                  <a:pt x="576" y="203"/>
                  <a:pt x="576" y="176"/>
                </a:cubicBezTo>
                <a:lnTo>
                  <a:pt x="576" y="80"/>
                </a:lnTo>
                <a:cubicBezTo>
                  <a:pt x="576" y="54"/>
                  <a:pt x="555" y="32"/>
                  <a:pt x="528" y="32"/>
                </a:cubicBezTo>
                <a:lnTo>
                  <a:pt x="445" y="32"/>
                </a:lnTo>
                <a:cubicBezTo>
                  <a:pt x="437" y="32"/>
                  <a:pt x="429" y="29"/>
                  <a:pt x="423" y="23"/>
                </a:cubicBezTo>
                <a:lnTo>
                  <a:pt x="414" y="14"/>
                </a:lnTo>
                <a:cubicBezTo>
                  <a:pt x="405" y="5"/>
                  <a:pt x="393" y="0"/>
                  <a:pt x="380" y="0"/>
                </a:cubicBezTo>
                <a:lnTo>
                  <a:pt x="336" y="0"/>
                </a:lnTo>
                <a:cubicBezTo>
                  <a:pt x="310" y="0"/>
                  <a:pt x="288" y="22"/>
                  <a:pt x="288" y="48"/>
                </a:cubicBezTo>
                <a:lnTo>
                  <a:pt x="288" y="176"/>
                </a:lnTo>
                <a:cubicBezTo>
                  <a:pt x="288" y="203"/>
                  <a:pt x="310" y="224"/>
                  <a:pt x="336" y="224"/>
                </a:cubicBezTo>
                <a:close/>
              </a:path>
              <a:path w="576" h="512">
                <a:moveTo>
                  <a:pt x="336" y="512"/>
                </a:moveTo>
                <a:lnTo>
                  <a:pt x="528" y="512"/>
                </a:lnTo>
                <a:cubicBezTo>
                  <a:pt x="555" y="512"/>
                  <a:pt x="576" y="491"/>
                  <a:pt x="576" y="464"/>
                </a:cubicBezTo>
                <a:lnTo>
                  <a:pt x="576" y="368"/>
                </a:lnTo>
                <a:cubicBezTo>
                  <a:pt x="576" y="342"/>
                  <a:pt x="555" y="320"/>
                  <a:pt x="528" y="320"/>
                </a:cubicBezTo>
                <a:lnTo>
                  <a:pt x="445" y="320"/>
                </a:lnTo>
                <a:cubicBezTo>
                  <a:pt x="437" y="320"/>
                  <a:pt x="429" y="317"/>
                  <a:pt x="423" y="311"/>
                </a:cubicBezTo>
                <a:lnTo>
                  <a:pt x="414" y="302"/>
                </a:lnTo>
                <a:cubicBezTo>
                  <a:pt x="405" y="293"/>
                  <a:pt x="393" y="288"/>
                  <a:pt x="380" y="288"/>
                </a:cubicBezTo>
                <a:lnTo>
                  <a:pt x="336" y="288"/>
                </a:lnTo>
                <a:cubicBezTo>
                  <a:pt x="310" y="288"/>
                  <a:pt x="288" y="310"/>
                  <a:pt x="288" y="336"/>
                </a:cubicBezTo>
                <a:lnTo>
                  <a:pt x="288" y="464"/>
                </a:lnTo>
                <a:cubicBezTo>
                  <a:pt x="288" y="491"/>
                  <a:pt x="310" y="512"/>
                  <a:pt x="336" y="512"/>
                </a:cubicBezTo>
                <a:close/>
              </a:path>
            </a:pathLst>
          </a:custGeom>
          <a:solidFill>
            <a:srgbClr val="0070C0"/>
          </a:solidFill>
          <a:ln>
            <a:noFill/>
          </a:ln>
        </p:spPr>
      </p:sp>
      <p:sp>
        <p:nvSpPr>
          <p:cNvPr id="16" name="sec1-title"/>
          <p:cNvSpPr txBox="1"/>
          <p:nvPr/>
        </p:nvSpPr>
        <p:spPr>
          <a:xfrm>
            <a:off x="7289800" y="1574800"/>
            <a:ext cx="3962400" cy="55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文件与路径安全</a:t>
            </a:r>
            <a:endParaRPr lang="en-US" sz="1800" noProof="1"/>
          </a:p>
        </p:txBody>
      </p:sp>
      <p:sp>
        <p:nvSpPr>
          <p:cNvPr id="17" name="sec1-desc"/>
          <p:cNvSpPr txBox="1"/>
          <p:nvPr/>
        </p:nvSpPr>
        <p:spPr>
          <a:xfrm>
            <a:off x="6553200" y="2311400"/>
            <a:ext cx="4699000" cy="1193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2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文件工具默认限制在关联项目目录内；pathSecurity.ts 拒绝 ../ 越界路径；通过真实路径解析拒绝符号链接绕过目录边界；file_read 限制读取长度，file_write 校验目标路径和父目录。</a:t>
            </a:r>
            <a:endParaRPr lang="en-US" sz="1200" noProof="1"/>
          </a:p>
        </p:txBody>
      </p:sp>
      <p:sp>
        <p:nvSpPr>
          <p:cNvPr id="18" name="sec2-card"/>
          <p:cNvSpPr/>
          <p:nvPr/>
        </p:nvSpPr>
        <p:spPr>
          <a:xfrm>
            <a:off x="635000" y="3911600"/>
            <a:ext cx="5308600" cy="241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5B9BD5"/>
            </a:solidFill>
          </a:ln>
          <a:effectLst>
            <a:outerShdw blurRad="7620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9" name="sec2-circle"/>
          <p:cNvSpPr/>
          <p:nvPr/>
        </p:nvSpPr>
        <p:spPr>
          <a:xfrm>
            <a:off x="939800" y="4216400"/>
            <a:ext cx="558800" cy="558800"/>
          </a:xfrm>
          <a:prstGeom prst="ellipse">
            <a:avLst/>
          </a:prstGeom>
          <a:solidFill>
            <a:srgbClr val="EAF3FB"/>
          </a:solidFill>
          <a:ln>
            <a:noFill/>
          </a:ln>
        </p:spPr>
      </p:sp>
      <p:sp>
        <p:nvSpPr>
          <p:cNvPr id="20" name="sec2-icon"/>
          <p:cNvSpPr/>
          <p:nvPr/>
        </p:nvSpPr>
        <p:spPr>
          <a:xfrm>
            <a:off x="1079500" y="43561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71" y="-7"/>
                </a:moveTo>
                <a:cubicBezTo>
                  <a:pt x="76" y="-12"/>
                  <a:pt x="85" y="-13"/>
                  <a:pt x="91" y="-9"/>
                </a:cubicBezTo>
                <a:lnTo>
                  <a:pt x="210" y="71"/>
                </a:lnTo>
                <a:cubicBezTo>
                  <a:pt x="219" y="76"/>
                  <a:pt x="224" y="86"/>
                  <a:pt x="224" y="97"/>
                </a:cubicBezTo>
                <a:lnTo>
                  <a:pt x="224" y="147"/>
                </a:lnTo>
                <a:lnTo>
                  <a:pt x="315" y="238"/>
                </a:lnTo>
                <a:cubicBezTo>
                  <a:pt x="348" y="223"/>
                  <a:pt x="389" y="229"/>
                  <a:pt x="416" y="256"/>
                </a:cubicBezTo>
                <a:lnTo>
                  <a:pt x="542" y="382"/>
                </a:lnTo>
                <a:cubicBezTo>
                  <a:pt x="561" y="401"/>
                  <a:pt x="561" y="431"/>
                  <a:pt x="542" y="450"/>
                </a:cubicBezTo>
                <a:lnTo>
                  <a:pt x="482" y="510"/>
                </a:lnTo>
                <a:cubicBezTo>
                  <a:pt x="463" y="529"/>
                  <a:pt x="433" y="529"/>
                  <a:pt x="414" y="510"/>
                </a:cubicBezTo>
                <a:lnTo>
                  <a:pt x="288" y="384"/>
                </a:lnTo>
                <a:cubicBezTo>
                  <a:pt x="261" y="357"/>
                  <a:pt x="255" y="316"/>
                  <a:pt x="270" y="283"/>
                </a:cubicBezTo>
                <a:lnTo>
                  <a:pt x="179" y="192"/>
                </a:lnTo>
                <a:lnTo>
                  <a:pt x="129" y="192"/>
                </a:lnTo>
                <a:cubicBezTo>
                  <a:pt x="119" y="192"/>
                  <a:pt x="109" y="187"/>
                  <a:pt x="103" y="178"/>
                </a:cubicBezTo>
                <a:lnTo>
                  <a:pt x="23" y="59"/>
                </a:lnTo>
                <a:cubicBezTo>
                  <a:pt x="19" y="53"/>
                  <a:pt x="20" y="44"/>
                  <a:pt x="25" y="39"/>
                </a:cubicBezTo>
                <a:lnTo>
                  <a:pt x="71" y="-7"/>
                </a:lnTo>
                <a:close/>
              </a:path>
              <a:path w="576" h="512">
                <a:moveTo>
                  <a:pt x="216" y="297"/>
                </a:moveTo>
                <a:cubicBezTo>
                  <a:pt x="210" y="334"/>
                  <a:pt x="218" y="373"/>
                  <a:pt x="242" y="404"/>
                </a:cubicBezTo>
                <a:lnTo>
                  <a:pt x="147" y="499"/>
                </a:lnTo>
                <a:cubicBezTo>
                  <a:pt x="119" y="527"/>
                  <a:pt x="73" y="527"/>
                  <a:pt x="45" y="499"/>
                </a:cubicBezTo>
                <a:cubicBezTo>
                  <a:pt x="17" y="471"/>
                  <a:pt x="17" y="425"/>
                  <a:pt x="45" y="397"/>
                </a:cubicBezTo>
                <a:lnTo>
                  <a:pt x="181" y="262"/>
                </a:lnTo>
                <a:lnTo>
                  <a:pt x="216" y="297"/>
                </a:lnTo>
                <a:close/>
              </a:path>
              <a:path w="576" h="512">
                <a:moveTo>
                  <a:pt x="384" y="0"/>
                </a:moveTo>
                <a:cubicBezTo>
                  <a:pt x="404" y="0"/>
                  <a:pt x="424" y="4"/>
                  <a:pt x="441" y="11"/>
                </a:cubicBezTo>
                <a:cubicBezTo>
                  <a:pt x="451" y="14"/>
                  <a:pt x="453" y="27"/>
                  <a:pt x="446" y="35"/>
                </a:cubicBezTo>
                <a:lnTo>
                  <a:pt x="389" y="91"/>
                </a:lnTo>
                <a:cubicBezTo>
                  <a:pt x="386" y="94"/>
                  <a:pt x="384" y="98"/>
                  <a:pt x="384" y="103"/>
                </a:cubicBezTo>
                <a:lnTo>
                  <a:pt x="384" y="144"/>
                </a:lnTo>
                <a:cubicBezTo>
                  <a:pt x="384" y="153"/>
                  <a:pt x="391" y="160"/>
                  <a:pt x="400" y="160"/>
                </a:cubicBezTo>
                <a:lnTo>
                  <a:pt x="442" y="160"/>
                </a:lnTo>
                <a:cubicBezTo>
                  <a:pt x="446" y="160"/>
                  <a:pt x="450" y="158"/>
                  <a:pt x="453" y="155"/>
                </a:cubicBezTo>
                <a:lnTo>
                  <a:pt x="510" y="99"/>
                </a:lnTo>
                <a:cubicBezTo>
                  <a:pt x="517" y="91"/>
                  <a:pt x="530" y="93"/>
                  <a:pt x="534" y="103"/>
                </a:cubicBezTo>
                <a:cubicBezTo>
                  <a:pt x="540" y="121"/>
                  <a:pt x="544" y="140"/>
                  <a:pt x="544" y="160"/>
                </a:cubicBezTo>
                <a:cubicBezTo>
                  <a:pt x="544" y="203"/>
                  <a:pt x="527" y="242"/>
                  <a:pt x="499" y="271"/>
                </a:cubicBezTo>
                <a:lnTo>
                  <a:pt x="450" y="222"/>
                </a:lnTo>
                <a:cubicBezTo>
                  <a:pt x="417" y="189"/>
                  <a:pt x="372" y="176"/>
                  <a:pt x="329" y="184"/>
                </a:cubicBezTo>
                <a:lnTo>
                  <a:pt x="272" y="127"/>
                </a:lnTo>
                <a:lnTo>
                  <a:pt x="272" y="97"/>
                </a:lnTo>
                <a:lnTo>
                  <a:pt x="272" y="92"/>
                </a:lnTo>
                <a:cubicBezTo>
                  <a:pt x="271" y="80"/>
                  <a:pt x="268" y="68"/>
                  <a:pt x="261" y="57"/>
                </a:cubicBezTo>
                <a:cubicBezTo>
                  <a:pt x="291" y="22"/>
                  <a:pt x="335" y="0"/>
                  <a:pt x="384" y="0"/>
                </a:cubicBezTo>
                <a:close/>
              </a:path>
            </a:pathLst>
          </a:custGeom>
          <a:solidFill>
            <a:srgbClr val="0070C0"/>
          </a:solidFill>
          <a:ln>
            <a:noFill/>
          </a:ln>
        </p:spPr>
      </p:sp>
      <p:sp>
        <p:nvSpPr>
          <p:cNvPr id="21" name="sec2-title"/>
          <p:cNvSpPr txBox="1"/>
          <p:nvPr/>
        </p:nvSpPr>
        <p:spPr>
          <a:xfrm>
            <a:off x="1676400" y="4216400"/>
            <a:ext cx="3962400" cy="55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工具安全</a:t>
            </a:r>
            <a:endParaRPr lang="en-US" sz="1800" noProof="1"/>
          </a:p>
        </p:txBody>
      </p:sp>
      <p:sp>
        <p:nvSpPr>
          <p:cNvPr id="22" name="sec2-desc"/>
          <p:cNvSpPr txBox="1"/>
          <p:nvPr/>
        </p:nvSpPr>
        <p:spPr>
          <a:xfrm>
            <a:off x="939800" y="4953000"/>
            <a:ext cx="4699000" cy="1193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2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read 工具无副作用自动执行；write 工具可要求人工确认；dangerous 工具当前不暴露给模型，统一拒绝；执行器提供超时、取消、结果截断和结构化错误反馈。</a:t>
            </a:r>
            <a:endParaRPr lang="en-US" sz="1200" noProof="1"/>
          </a:p>
        </p:txBody>
      </p:sp>
      <p:sp>
        <p:nvSpPr>
          <p:cNvPr id="23" name="sec3-card"/>
          <p:cNvSpPr/>
          <p:nvPr/>
        </p:nvSpPr>
        <p:spPr>
          <a:xfrm>
            <a:off x="6248400" y="3911600"/>
            <a:ext cx="5308600" cy="241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5B9BD5"/>
            </a:solidFill>
          </a:ln>
          <a:effectLst>
            <a:outerShdw blurRad="7620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4" name="sec3-circle"/>
          <p:cNvSpPr/>
          <p:nvPr/>
        </p:nvSpPr>
        <p:spPr>
          <a:xfrm>
            <a:off x="6553200" y="4216400"/>
            <a:ext cx="558800" cy="558800"/>
          </a:xfrm>
          <a:prstGeom prst="ellipse">
            <a:avLst/>
          </a:prstGeom>
          <a:solidFill>
            <a:srgbClr val="EAF3FB"/>
          </a:solidFill>
          <a:ln>
            <a:noFill/>
          </a:ln>
        </p:spPr>
      </p:sp>
      <p:sp>
        <p:nvSpPr>
          <p:cNvPr id="25" name="sec3-icon"/>
          <p:cNvSpPr/>
          <p:nvPr/>
        </p:nvSpPr>
        <p:spPr>
          <a:xfrm>
            <a:off x="6692900" y="43561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25" y="13"/>
                </a:moveTo>
                <a:cubicBezTo>
                  <a:pt x="281" y="-43"/>
                  <a:pt x="372" y="-43"/>
                  <a:pt x="428" y="13"/>
                </a:cubicBezTo>
                <a:cubicBezTo>
                  <a:pt x="484" y="69"/>
                  <a:pt x="484" y="160"/>
                  <a:pt x="428" y="216"/>
                </a:cubicBezTo>
                <a:lnTo>
                  <a:pt x="264" y="380"/>
                </a:lnTo>
                <a:cubicBezTo>
                  <a:pt x="230" y="415"/>
                  <a:pt x="174" y="415"/>
                  <a:pt x="140" y="380"/>
                </a:cubicBezTo>
                <a:cubicBezTo>
                  <a:pt x="105" y="346"/>
                  <a:pt x="105" y="290"/>
                  <a:pt x="140" y="256"/>
                </a:cubicBezTo>
                <a:lnTo>
                  <a:pt x="293" y="103"/>
                </a:lnTo>
                <a:cubicBezTo>
                  <a:pt x="305" y="91"/>
                  <a:pt x="325" y="91"/>
                  <a:pt x="338" y="103"/>
                </a:cubicBezTo>
                <a:cubicBezTo>
                  <a:pt x="350" y="116"/>
                  <a:pt x="350" y="136"/>
                  <a:pt x="338" y="149"/>
                </a:cubicBezTo>
                <a:lnTo>
                  <a:pt x="185" y="301"/>
                </a:lnTo>
                <a:cubicBezTo>
                  <a:pt x="176" y="311"/>
                  <a:pt x="176" y="326"/>
                  <a:pt x="185" y="335"/>
                </a:cubicBezTo>
                <a:cubicBezTo>
                  <a:pt x="194" y="344"/>
                  <a:pt x="210" y="345"/>
                  <a:pt x="219" y="335"/>
                </a:cubicBezTo>
                <a:lnTo>
                  <a:pt x="383" y="171"/>
                </a:lnTo>
                <a:cubicBezTo>
                  <a:pt x="414" y="140"/>
                  <a:pt x="414" y="89"/>
                  <a:pt x="383" y="58"/>
                </a:cubicBezTo>
                <a:cubicBezTo>
                  <a:pt x="352" y="27"/>
                  <a:pt x="301" y="27"/>
                  <a:pt x="270" y="58"/>
                </a:cubicBezTo>
                <a:lnTo>
                  <a:pt x="106" y="222"/>
                </a:lnTo>
                <a:cubicBezTo>
                  <a:pt x="53" y="275"/>
                  <a:pt x="53" y="361"/>
                  <a:pt x="106" y="414"/>
                </a:cubicBezTo>
                <a:cubicBezTo>
                  <a:pt x="159" y="468"/>
                  <a:pt x="245" y="468"/>
                  <a:pt x="298" y="414"/>
                </a:cubicBezTo>
                <a:lnTo>
                  <a:pt x="428" y="284"/>
                </a:lnTo>
                <a:cubicBezTo>
                  <a:pt x="441" y="272"/>
                  <a:pt x="461" y="272"/>
                  <a:pt x="474" y="284"/>
                </a:cubicBezTo>
                <a:cubicBezTo>
                  <a:pt x="486" y="297"/>
                  <a:pt x="486" y="317"/>
                  <a:pt x="474" y="330"/>
                </a:cubicBezTo>
                <a:lnTo>
                  <a:pt x="343" y="460"/>
                </a:lnTo>
                <a:cubicBezTo>
                  <a:pt x="265" y="538"/>
                  <a:pt x="139" y="538"/>
                  <a:pt x="61" y="460"/>
                </a:cubicBezTo>
                <a:cubicBezTo>
                  <a:pt x="-18" y="382"/>
                  <a:pt x="-18" y="255"/>
                  <a:pt x="61" y="177"/>
                </a:cubicBezTo>
                <a:lnTo>
                  <a:pt x="225" y="13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</p:sp>
      <p:sp>
        <p:nvSpPr>
          <p:cNvPr id="26" name="sec3-title"/>
          <p:cNvSpPr txBox="1"/>
          <p:nvPr/>
        </p:nvSpPr>
        <p:spPr>
          <a:xfrm>
            <a:off x="7289800" y="4216400"/>
            <a:ext cx="3962400" cy="55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附件安全</a:t>
            </a:r>
            <a:endParaRPr lang="en-US" sz="1800" noProof="1"/>
          </a:p>
        </p:txBody>
      </p:sp>
      <p:sp>
        <p:nvSpPr>
          <p:cNvPr id="27" name="sec3-desc"/>
          <p:cNvSpPr txBox="1"/>
          <p:nvPr/>
        </p:nvSpPr>
        <p:spPr>
          <a:xfrm>
            <a:off x="6553200" y="4953000"/>
            <a:ext cx="4699000" cy="1193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2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限制附件扩展名、文件头、数量、单文件大小和总文本长度；附件先复制到受控临时目录再由主进程解析；任务结束后清理临时文件；附件只作为上下文输入，不会改变 file_write 权限。</a:t>
            </a:r>
            <a:endParaRPr lang="en-US" sz="1200" noProof="1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tri1"/>
          <p:cNvSpPr/>
          <p:nvPr/>
        </p:nvSpPr>
        <p:spPr>
          <a:xfrm>
            <a:off x="0" y="0"/>
            <a:ext cx="527050" cy="444500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3" name="hd-tri2"/>
          <p:cNvSpPr/>
          <p:nvPr/>
        </p:nvSpPr>
        <p:spPr>
          <a:xfrm rot="5400000">
            <a:off x="349250" y="538480"/>
            <a:ext cx="175260" cy="179070"/>
          </a:xfrm>
          <a:prstGeom prst="triangle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4" name="hd-line1"/>
          <p:cNvSpPr/>
          <p:nvPr/>
        </p:nvSpPr>
        <p:spPr>
          <a:xfrm>
            <a:off x="0" y="985520"/>
            <a:ext cx="8839200" cy="43180"/>
          </a:xfrm>
          <a:prstGeom prst="rect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5" name="hd-line2"/>
          <p:cNvSpPr/>
          <p:nvPr/>
        </p:nvSpPr>
        <p:spPr>
          <a:xfrm>
            <a:off x="8829040" y="985520"/>
            <a:ext cx="3362960" cy="43180"/>
          </a:xfrm>
          <a:prstGeom prst="rect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6" name="hd-title"/>
          <p:cNvSpPr txBox="1"/>
          <p:nvPr/>
        </p:nvSpPr>
        <p:spPr>
          <a:xfrm>
            <a:off x="701040" y="254000"/>
            <a:ext cx="88900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000" noProof="1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</a:rPr>
              <a:t>典型使用场景</a:t>
            </a:r>
            <a:endParaRPr lang="en-US" sz="3000" noProof="1"/>
          </a:p>
        </p:txBody>
      </p:sp>
      <p:sp>
        <p:nvSpPr>
          <p:cNvPr id="7" name="logo"/>
          <p:cNvSpPr txBox="1"/>
          <p:nvPr/>
        </p:nvSpPr>
        <p:spPr>
          <a:xfrm>
            <a:off x="9652000" y="304800"/>
            <a:ext cx="2159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四方上行</a:t>
            </a:r>
            <a:endParaRPr lang="en-US" sz="1600" noProof="1"/>
          </a:p>
        </p:txBody>
      </p:sp>
      <p:sp>
        <p:nvSpPr>
          <p:cNvPr id="8" name="sc0-card"/>
          <p:cNvSpPr/>
          <p:nvPr/>
        </p:nvSpPr>
        <p:spPr>
          <a:xfrm>
            <a:off x="635000" y="1270000"/>
            <a:ext cx="353060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5B9BD5"/>
            </a:solidFill>
          </a:ln>
          <a:effectLst>
            <a:outerShdw blurRad="7620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9" name="sc0-circle"/>
          <p:cNvSpPr/>
          <p:nvPr/>
        </p:nvSpPr>
        <p:spPr>
          <a:xfrm>
            <a:off x="939800" y="1574800"/>
            <a:ext cx="558800" cy="558800"/>
          </a:xfrm>
          <a:prstGeom prst="ellipse">
            <a:avLst/>
          </a:prstGeom>
          <a:solidFill>
            <a:srgbClr val="EAF3FB"/>
          </a:solidFill>
          <a:ln>
            <a:noFill/>
          </a:ln>
        </p:spPr>
      </p:sp>
      <p:sp>
        <p:nvSpPr>
          <p:cNvPr id="10" name="sc0-icon"/>
          <p:cNvSpPr/>
          <p:nvPr/>
        </p:nvSpPr>
        <p:spPr>
          <a:xfrm>
            <a:off x="1079500" y="17145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141"/>
                </a:moveTo>
                <a:lnTo>
                  <a:pt x="256" y="451"/>
                </a:lnTo>
                <a:lnTo>
                  <a:pt x="257" y="450"/>
                </a:lnTo>
                <a:cubicBezTo>
                  <a:pt x="311" y="428"/>
                  <a:pt x="370" y="416"/>
                  <a:pt x="429" y="416"/>
                </a:cubicBezTo>
                <a:lnTo>
                  <a:pt x="448" y="416"/>
                </a:lnTo>
                <a:lnTo>
                  <a:pt x="448" y="96"/>
                </a:lnTo>
                <a:lnTo>
                  <a:pt x="429" y="96"/>
                </a:lnTo>
                <a:cubicBezTo>
                  <a:pt x="387" y="96"/>
                  <a:pt x="345" y="104"/>
                  <a:pt x="306" y="121"/>
                </a:cubicBezTo>
                <a:cubicBezTo>
                  <a:pt x="289" y="128"/>
                  <a:pt x="272" y="135"/>
                  <a:pt x="256" y="141"/>
                </a:cubicBezTo>
                <a:close/>
                <a:moveTo>
                  <a:pt x="231" y="62"/>
                </a:moveTo>
                <a:lnTo>
                  <a:pt x="256" y="72"/>
                </a:lnTo>
                <a:lnTo>
                  <a:pt x="281" y="62"/>
                </a:lnTo>
                <a:cubicBezTo>
                  <a:pt x="328" y="42"/>
                  <a:pt x="378" y="32"/>
                  <a:pt x="429" y="32"/>
                </a:cubicBezTo>
                <a:lnTo>
                  <a:pt x="464" y="32"/>
                </a:lnTo>
                <a:cubicBezTo>
                  <a:pt x="491" y="32"/>
                  <a:pt x="512" y="54"/>
                  <a:pt x="512" y="80"/>
                </a:cubicBezTo>
                <a:lnTo>
                  <a:pt x="512" y="432"/>
                </a:lnTo>
                <a:cubicBezTo>
                  <a:pt x="512" y="459"/>
                  <a:pt x="491" y="480"/>
                  <a:pt x="464" y="480"/>
                </a:cubicBezTo>
                <a:lnTo>
                  <a:pt x="429" y="480"/>
                </a:lnTo>
                <a:cubicBezTo>
                  <a:pt x="378" y="480"/>
                  <a:pt x="328" y="490"/>
                  <a:pt x="281" y="510"/>
                </a:cubicBezTo>
                <a:lnTo>
                  <a:pt x="268" y="515"/>
                </a:lnTo>
                <a:cubicBezTo>
                  <a:pt x="260" y="518"/>
                  <a:pt x="252" y="518"/>
                  <a:pt x="244" y="515"/>
                </a:cubicBezTo>
                <a:lnTo>
                  <a:pt x="231" y="509"/>
                </a:lnTo>
                <a:cubicBezTo>
                  <a:pt x="184" y="490"/>
                  <a:pt x="134" y="480"/>
                  <a:pt x="83" y="480"/>
                </a:cubicBezTo>
                <a:lnTo>
                  <a:pt x="48" y="480"/>
                </a:lnTo>
                <a:cubicBezTo>
                  <a:pt x="22" y="480"/>
                  <a:pt x="0" y="459"/>
                  <a:pt x="0" y="432"/>
                </a:cubicBezTo>
                <a:lnTo>
                  <a:pt x="0" y="80"/>
                </a:lnTo>
                <a:cubicBezTo>
                  <a:pt x="0" y="54"/>
                  <a:pt x="22" y="32"/>
                  <a:pt x="48" y="32"/>
                </a:cubicBezTo>
                <a:lnTo>
                  <a:pt x="83" y="32"/>
                </a:lnTo>
                <a:cubicBezTo>
                  <a:pt x="134" y="32"/>
                  <a:pt x="184" y="42"/>
                  <a:pt x="231" y="62"/>
                </a:cubicBezTo>
                <a:close/>
              </a:path>
            </a:pathLst>
          </a:custGeom>
          <a:solidFill>
            <a:srgbClr val="0070C0"/>
          </a:solidFill>
          <a:ln>
            <a:noFill/>
          </a:ln>
        </p:spPr>
      </p:sp>
      <p:sp>
        <p:nvSpPr>
          <p:cNvPr id="11" name="sc0-title"/>
          <p:cNvSpPr txBox="1"/>
          <p:nvPr/>
        </p:nvSpPr>
        <p:spPr>
          <a:xfrm>
            <a:off x="1676400" y="1574800"/>
            <a:ext cx="2184400" cy="55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知识资产问答</a:t>
            </a:r>
            <a:endParaRPr lang="en-US" sz="1800" noProof="1"/>
          </a:p>
        </p:txBody>
      </p:sp>
      <p:sp>
        <p:nvSpPr>
          <p:cNvPr id="12" name="sc0-desc"/>
          <p:cNvSpPr txBox="1"/>
          <p:nvPr/>
        </p:nvSpPr>
        <p:spPr>
          <a:xfrm>
            <a:off x="939800" y="2311400"/>
            <a:ext cx="292100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2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读取本地制度、审计资料、项目说明或历史技术资产，快速完成摘要、问答、差异提取和重点标注。</a:t>
            </a:r>
            <a:endParaRPr lang="en-US" sz="1200" noProof="1"/>
          </a:p>
        </p:txBody>
      </p:sp>
      <p:sp>
        <p:nvSpPr>
          <p:cNvPr id="13" name="sc1-card"/>
          <p:cNvSpPr/>
          <p:nvPr/>
        </p:nvSpPr>
        <p:spPr>
          <a:xfrm>
            <a:off x="4330700" y="1270000"/>
            <a:ext cx="353060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5B9BD5"/>
            </a:solidFill>
          </a:ln>
          <a:effectLst>
            <a:outerShdw blurRad="7620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4" name="sc1-circle"/>
          <p:cNvSpPr/>
          <p:nvPr/>
        </p:nvSpPr>
        <p:spPr>
          <a:xfrm>
            <a:off x="4635500" y="1574800"/>
            <a:ext cx="558800" cy="558800"/>
          </a:xfrm>
          <a:prstGeom prst="ellipse">
            <a:avLst/>
          </a:prstGeom>
          <a:solidFill>
            <a:srgbClr val="EAF3FB"/>
          </a:solidFill>
          <a:ln>
            <a:noFill/>
          </a:ln>
        </p:spPr>
      </p:sp>
      <p:sp>
        <p:nvSpPr>
          <p:cNvPr id="15" name="sc1-icon"/>
          <p:cNvSpPr/>
          <p:nvPr/>
        </p:nvSpPr>
        <p:spPr>
          <a:xfrm>
            <a:off x="4775200" y="17145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96" y="0"/>
                </a:moveTo>
                <a:cubicBezTo>
                  <a:pt x="61" y="0"/>
                  <a:pt x="32" y="29"/>
                  <a:pt x="32" y="64"/>
                </a:cubicBezTo>
                <a:lnTo>
                  <a:pt x="32" y="448"/>
                </a:lnTo>
                <a:cubicBezTo>
                  <a:pt x="32" y="483"/>
                  <a:pt x="61" y="512"/>
                  <a:pt x="96" y="512"/>
                </a:cubicBezTo>
                <a:lnTo>
                  <a:pt x="276" y="512"/>
                </a:lnTo>
                <a:cubicBezTo>
                  <a:pt x="253" y="481"/>
                  <a:pt x="240" y="442"/>
                  <a:pt x="240" y="400"/>
                </a:cubicBezTo>
                <a:cubicBezTo>
                  <a:pt x="240" y="299"/>
                  <a:pt x="317" y="217"/>
                  <a:pt x="416" y="209"/>
                </a:cubicBezTo>
                <a:lnTo>
                  <a:pt x="416" y="171"/>
                </a:lnTo>
                <a:cubicBezTo>
                  <a:pt x="416" y="154"/>
                  <a:pt x="409" y="137"/>
                  <a:pt x="397" y="125"/>
                </a:cubicBezTo>
                <a:lnTo>
                  <a:pt x="291" y="19"/>
                </a:lnTo>
                <a:cubicBezTo>
                  <a:pt x="279" y="7"/>
                  <a:pt x="263" y="0"/>
                  <a:pt x="246" y="0"/>
                </a:cubicBezTo>
                <a:lnTo>
                  <a:pt x="96" y="0"/>
                </a:lnTo>
                <a:close/>
                <a:moveTo>
                  <a:pt x="358" y="176"/>
                </a:moveTo>
                <a:lnTo>
                  <a:pt x="264" y="176"/>
                </a:lnTo>
                <a:cubicBezTo>
                  <a:pt x="251" y="176"/>
                  <a:pt x="240" y="165"/>
                  <a:pt x="240" y="152"/>
                </a:cubicBezTo>
                <a:lnTo>
                  <a:pt x="240" y="59"/>
                </a:lnTo>
                <a:lnTo>
                  <a:pt x="358" y="176"/>
                </a:lnTo>
                <a:close/>
              </a:path>
              <a:path w="576" h="512">
                <a:moveTo>
                  <a:pt x="576" y="400"/>
                </a:moveTo>
                <a:cubicBezTo>
                  <a:pt x="576" y="320"/>
                  <a:pt x="512" y="256"/>
                  <a:pt x="432" y="256"/>
                </a:cubicBezTo>
                <a:cubicBezTo>
                  <a:pt x="352" y="256"/>
                  <a:pt x="288" y="320"/>
                  <a:pt x="288" y="400"/>
                </a:cubicBezTo>
                <a:cubicBezTo>
                  <a:pt x="288" y="480"/>
                  <a:pt x="352" y="544"/>
                  <a:pt x="432" y="544"/>
                </a:cubicBezTo>
                <a:cubicBezTo>
                  <a:pt x="512" y="544"/>
                  <a:pt x="576" y="480"/>
                  <a:pt x="576" y="400"/>
                </a:cubicBezTo>
                <a:close/>
                <a:moveTo>
                  <a:pt x="489" y="339"/>
                </a:moveTo>
                <a:cubicBezTo>
                  <a:pt x="497" y="344"/>
                  <a:pt x="498" y="354"/>
                  <a:pt x="493" y="361"/>
                </a:cubicBezTo>
                <a:lnTo>
                  <a:pt x="429" y="449"/>
                </a:lnTo>
                <a:cubicBezTo>
                  <a:pt x="426" y="453"/>
                  <a:pt x="422" y="456"/>
                  <a:pt x="417" y="456"/>
                </a:cubicBezTo>
                <a:cubicBezTo>
                  <a:pt x="413" y="456"/>
                  <a:pt x="408" y="455"/>
                  <a:pt x="405" y="451"/>
                </a:cubicBezTo>
                <a:lnTo>
                  <a:pt x="365" y="411"/>
                </a:lnTo>
                <a:cubicBezTo>
                  <a:pt x="358" y="405"/>
                  <a:pt x="358" y="395"/>
                  <a:pt x="365" y="389"/>
                </a:cubicBezTo>
                <a:cubicBezTo>
                  <a:pt x="371" y="382"/>
                  <a:pt x="381" y="383"/>
                  <a:pt x="387" y="389"/>
                </a:cubicBezTo>
                <a:lnTo>
                  <a:pt x="414" y="416"/>
                </a:lnTo>
                <a:lnTo>
                  <a:pt x="467" y="343"/>
                </a:lnTo>
                <a:cubicBezTo>
                  <a:pt x="472" y="336"/>
                  <a:pt x="482" y="334"/>
                  <a:pt x="489" y="339"/>
                </a:cubicBezTo>
                <a:close/>
              </a:path>
            </a:pathLst>
          </a:custGeom>
          <a:solidFill>
            <a:srgbClr val="0070C0"/>
          </a:solidFill>
          <a:ln>
            <a:noFill/>
          </a:ln>
        </p:spPr>
      </p:sp>
      <p:sp>
        <p:nvSpPr>
          <p:cNvPr id="16" name="sc1-title"/>
          <p:cNvSpPr txBox="1"/>
          <p:nvPr/>
        </p:nvSpPr>
        <p:spPr>
          <a:xfrm>
            <a:off x="5372100" y="1574800"/>
            <a:ext cx="2184400" cy="55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文件整理与审查</a:t>
            </a:r>
            <a:endParaRPr lang="en-US" sz="1800" noProof="1"/>
          </a:p>
        </p:txBody>
      </p:sp>
      <p:sp>
        <p:nvSpPr>
          <p:cNvPr id="17" name="sc1-desc"/>
          <p:cNvSpPr txBox="1"/>
          <p:nvPr/>
        </p:nvSpPr>
        <p:spPr>
          <a:xfrm>
            <a:off x="4635500" y="2311400"/>
            <a:ext cx="292100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2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将 PDF、DOCX、XLSX、PPTX 交给 Agent，完成表格整理、文档对比、风险点提取和会议材料初稿。</a:t>
            </a:r>
            <a:endParaRPr lang="en-US" sz="1200" noProof="1"/>
          </a:p>
        </p:txBody>
      </p:sp>
      <p:sp>
        <p:nvSpPr>
          <p:cNvPr id="18" name="sc2-card"/>
          <p:cNvSpPr/>
          <p:nvPr/>
        </p:nvSpPr>
        <p:spPr>
          <a:xfrm>
            <a:off x="8026400" y="1270000"/>
            <a:ext cx="353060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5B9BD5"/>
            </a:solidFill>
          </a:ln>
          <a:effectLst>
            <a:outerShdw blurRad="7620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9" name="sc2-circle"/>
          <p:cNvSpPr/>
          <p:nvPr/>
        </p:nvSpPr>
        <p:spPr>
          <a:xfrm>
            <a:off x="8331200" y="1574800"/>
            <a:ext cx="558800" cy="558800"/>
          </a:xfrm>
          <a:prstGeom prst="ellipse">
            <a:avLst/>
          </a:prstGeom>
          <a:solidFill>
            <a:srgbClr val="EAF3FB"/>
          </a:solidFill>
          <a:ln>
            <a:noFill/>
          </a:ln>
        </p:spPr>
      </p:sp>
      <p:sp>
        <p:nvSpPr>
          <p:cNvPr id="20" name="sc2-icon"/>
          <p:cNvSpPr/>
          <p:nvPr/>
        </p:nvSpPr>
        <p:spPr>
          <a:xfrm>
            <a:off x="8470900" y="17145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361" y="1"/>
                </a:moveTo>
                <a:cubicBezTo>
                  <a:pt x="344" y="-4"/>
                  <a:pt x="326" y="6"/>
                  <a:pt x="321" y="23"/>
                </a:cubicBezTo>
                <a:lnTo>
                  <a:pt x="193" y="471"/>
                </a:lnTo>
                <a:cubicBezTo>
                  <a:pt x="188" y="488"/>
                  <a:pt x="198" y="506"/>
                  <a:pt x="215" y="511"/>
                </a:cubicBezTo>
                <a:cubicBezTo>
                  <a:pt x="232" y="516"/>
                  <a:pt x="250" y="506"/>
                  <a:pt x="255" y="489"/>
                </a:cubicBezTo>
                <a:lnTo>
                  <a:pt x="383" y="41"/>
                </a:lnTo>
                <a:cubicBezTo>
                  <a:pt x="388" y="24"/>
                  <a:pt x="378" y="6"/>
                  <a:pt x="361" y="1"/>
                </a:cubicBezTo>
                <a:close/>
              </a:path>
              <a:path w="576" h="512">
                <a:moveTo>
                  <a:pt x="425" y="137"/>
                </a:moveTo>
                <a:cubicBezTo>
                  <a:pt x="413" y="150"/>
                  <a:pt x="413" y="170"/>
                  <a:pt x="425" y="183"/>
                </a:cubicBezTo>
                <a:lnTo>
                  <a:pt x="499" y="256"/>
                </a:lnTo>
                <a:lnTo>
                  <a:pt x="425" y="329"/>
                </a:lnTo>
                <a:cubicBezTo>
                  <a:pt x="413" y="342"/>
                  <a:pt x="413" y="362"/>
                  <a:pt x="425" y="375"/>
                </a:cubicBezTo>
                <a:cubicBezTo>
                  <a:pt x="438" y="387"/>
                  <a:pt x="458" y="387"/>
                  <a:pt x="471" y="375"/>
                </a:cubicBezTo>
                <a:lnTo>
                  <a:pt x="567" y="279"/>
                </a:lnTo>
                <a:cubicBezTo>
                  <a:pt x="579" y="266"/>
                  <a:pt x="579" y="246"/>
                  <a:pt x="567" y="233"/>
                </a:cubicBezTo>
                <a:lnTo>
                  <a:pt x="471" y="137"/>
                </a:lnTo>
                <a:cubicBezTo>
                  <a:pt x="458" y="125"/>
                  <a:pt x="438" y="125"/>
                  <a:pt x="425" y="137"/>
                </a:cubicBezTo>
                <a:close/>
              </a:path>
              <a:path w="576" h="512">
                <a:moveTo>
                  <a:pt x="151" y="137"/>
                </a:moveTo>
                <a:cubicBezTo>
                  <a:pt x="138" y="125"/>
                  <a:pt x="118" y="125"/>
                  <a:pt x="105" y="137"/>
                </a:cubicBezTo>
                <a:lnTo>
                  <a:pt x="9" y="233"/>
                </a:lnTo>
                <a:cubicBezTo>
                  <a:pt x="-3" y="246"/>
                  <a:pt x="-3" y="266"/>
                  <a:pt x="9" y="279"/>
                </a:cubicBezTo>
                <a:lnTo>
                  <a:pt x="105" y="375"/>
                </a:lnTo>
                <a:cubicBezTo>
                  <a:pt x="118" y="387"/>
                  <a:pt x="138" y="387"/>
                  <a:pt x="151" y="375"/>
                </a:cubicBezTo>
                <a:cubicBezTo>
                  <a:pt x="163" y="362"/>
                  <a:pt x="163" y="342"/>
                  <a:pt x="151" y="329"/>
                </a:cubicBezTo>
                <a:lnTo>
                  <a:pt x="77" y="256"/>
                </a:lnTo>
                <a:lnTo>
                  <a:pt x="151" y="183"/>
                </a:lnTo>
                <a:cubicBezTo>
                  <a:pt x="163" y="170"/>
                  <a:pt x="163" y="150"/>
                  <a:pt x="151" y="137"/>
                </a:cubicBezTo>
                <a:close/>
              </a:path>
            </a:pathLst>
          </a:custGeom>
          <a:solidFill>
            <a:srgbClr val="0070C0"/>
          </a:solidFill>
          <a:ln>
            <a:noFill/>
          </a:ln>
        </p:spPr>
      </p:sp>
      <p:sp>
        <p:nvSpPr>
          <p:cNvPr id="21" name="sc2-title"/>
          <p:cNvSpPr txBox="1"/>
          <p:nvPr/>
        </p:nvSpPr>
        <p:spPr>
          <a:xfrm>
            <a:off x="9067800" y="1574800"/>
            <a:ext cx="2184400" cy="55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研发辅助</a:t>
            </a:r>
            <a:endParaRPr lang="en-US" sz="1800" noProof="1"/>
          </a:p>
        </p:txBody>
      </p:sp>
      <p:sp>
        <p:nvSpPr>
          <p:cNvPr id="22" name="sc2-desc"/>
          <p:cNvSpPr txBox="1"/>
          <p:nvPr/>
        </p:nvSpPr>
        <p:spPr>
          <a:xfrm>
            <a:off x="8331200" y="2311400"/>
            <a:ext cx="292100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2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关联项目目录后，在路径安全边界内读取源码、测试文件和项目文档，辅助代码审查、文档整理和问题定位。</a:t>
            </a:r>
            <a:endParaRPr lang="en-US" sz="1200" noProof="1"/>
          </a:p>
        </p:txBody>
      </p:sp>
      <p:sp>
        <p:nvSpPr>
          <p:cNvPr id="23" name="sc3-card"/>
          <p:cNvSpPr/>
          <p:nvPr/>
        </p:nvSpPr>
        <p:spPr>
          <a:xfrm>
            <a:off x="2489200" y="3759200"/>
            <a:ext cx="353060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5B9BD5"/>
            </a:solidFill>
          </a:ln>
          <a:effectLst>
            <a:outerShdw blurRad="7620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4" name="sc3-circle"/>
          <p:cNvSpPr/>
          <p:nvPr/>
        </p:nvSpPr>
        <p:spPr>
          <a:xfrm>
            <a:off x="2794000" y="4064000"/>
            <a:ext cx="558800" cy="558800"/>
          </a:xfrm>
          <a:prstGeom prst="ellipse">
            <a:avLst/>
          </a:prstGeom>
          <a:solidFill>
            <a:srgbClr val="EAF3FB"/>
          </a:solidFill>
          <a:ln>
            <a:noFill/>
          </a:ln>
        </p:spPr>
      </p:sp>
      <p:sp>
        <p:nvSpPr>
          <p:cNvPr id="25" name="sc3-icon"/>
          <p:cNvSpPr/>
          <p:nvPr/>
        </p:nvSpPr>
        <p:spPr>
          <a:xfrm>
            <a:off x="2933700" y="42037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144" y="56"/>
                </a:moveTo>
                <a:lnTo>
                  <a:pt x="144" y="96"/>
                </a:lnTo>
                <a:lnTo>
                  <a:pt x="64" y="96"/>
                </a:lnTo>
                <a:cubicBezTo>
                  <a:pt x="29" y="96"/>
                  <a:pt x="0" y="125"/>
                  <a:pt x="0" y="160"/>
                </a:cubicBezTo>
                <a:lnTo>
                  <a:pt x="0" y="256"/>
                </a:lnTo>
                <a:lnTo>
                  <a:pt x="512" y="256"/>
                </a:lnTo>
                <a:lnTo>
                  <a:pt x="512" y="160"/>
                </a:lnTo>
                <a:cubicBezTo>
                  <a:pt x="512" y="125"/>
                  <a:pt x="483" y="96"/>
                  <a:pt x="448" y="96"/>
                </a:cubicBezTo>
                <a:lnTo>
                  <a:pt x="368" y="96"/>
                </a:lnTo>
                <a:lnTo>
                  <a:pt x="368" y="56"/>
                </a:lnTo>
                <a:cubicBezTo>
                  <a:pt x="368" y="25"/>
                  <a:pt x="343" y="0"/>
                  <a:pt x="312" y="0"/>
                </a:cubicBezTo>
                <a:lnTo>
                  <a:pt x="200" y="0"/>
                </a:lnTo>
                <a:cubicBezTo>
                  <a:pt x="169" y="0"/>
                  <a:pt x="144" y="25"/>
                  <a:pt x="144" y="56"/>
                </a:cubicBezTo>
                <a:close/>
                <a:moveTo>
                  <a:pt x="200" y="48"/>
                </a:moveTo>
                <a:lnTo>
                  <a:pt x="312" y="48"/>
                </a:lnTo>
                <a:cubicBezTo>
                  <a:pt x="316" y="48"/>
                  <a:pt x="320" y="52"/>
                  <a:pt x="320" y="56"/>
                </a:cubicBezTo>
                <a:lnTo>
                  <a:pt x="320" y="96"/>
                </a:lnTo>
                <a:lnTo>
                  <a:pt x="192" y="96"/>
                </a:lnTo>
                <a:lnTo>
                  <a:pt x="192" y="56"/>
                </a:lnTo>
                <a:cubicBezTo>
                  <a:pt x="192" y="52"/>
                  <a:pt x="196" y="48"/>
                  <a:pt x="200" y="48"/>
                </a:cubicBezTo>
                <a:close/>
              </a:path>
              <a:path w="512" h="512">
                <a:moveTo>
                  <a:pt x="512" y="304"/>
                </a:moveTo>
                <a:lnTo>
                  <a:pt x="320" y="304"/>
                </a:lnTo>
                <a:lnTo>
                  <a:pt x="320" y="320"/>
                </a:lnTo>
                <a:cubicBezTo>
                  <a:pt x="320" y="338"/>
                  <a:pt x="306" y="352"/>
                  <a:pt x="288" y="352"/>
                </a:cubicBezTo>
                <a:lnTo>
                  <a:pt x="224" y="352"/>
                </a:lnTo>
                <a:cubicBezTo>
                  <a:pt x="206" y="352"/>
                  <a:pt x="192" y="338"/>
                  <a:pt x="192" y="320"/>
                </a:cubicBezTo>
                <a:lnTo>
                  <a:pt x="192" y="304"/>
                </a:lnTo>
                <a:lnTo>
                  <a:pt x="0" y="304"/>
                </a:lnTo>
                <a:lnTo>
                  <a:pt x="0" y="416"/>
                </a:lnTo>
                <a:cubicBezTo>
                  <a:pt x="0" y="451"/>
                  <a:pt x="29" y="480"/>
                  <a:pt x="64" y="480"/>
                </a:cubicBezTo>
                <a:lnTo>
                  <a:pt x="448" y="480"/>
                </a:lnTo>
                <a:cubicBezTo>
                  <a:pt x="483" y="480"/>
                  <a:pt x="512" y="451"/>
                  <a:pt x="512" y="416"/>
                </a:cubicBezTo>
                <a:lnTo>
                  <a:pt x="512" y="304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</p:sp>
      <p:sp>
        <p:nvSpPr>
          <p:cNvPr id="26" name="sc3-title"/>
          <p:cNvSpPr txBox="1"/>
          <p:nvPr/>
        </p:nvSpPr>
        <p:spPr>
          <a:xfrm>
            <a:off x="3530600" y="4064000"/>
            <a:ext cx="2184400" cy="55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办公智能助手</a:t>
            </a:r>
            <a:endParaRPr lang="en-US" sz="1800" noProof="1"/>
          </a:p>
        </p:txBody>
      </p:sp>
      <p:sp>
        <p:nvSpPr>
          <p:cNvPr id="27" name="sc3-desc"/>
          <p:cNvSpPr txBox="1"/>
          <p:nvPr/>
        </p:nvSpPr>
        <p:spPr>
          <a:xfrm>
            <a:off x="2794000" y="4800600"/>
            <a:ext cx="292100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2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通过自然语言完成总结、改写、清单生成、会议纪要和报告初稿，写入文件时保留审批和人工确认环节。</a:t>
            </a:r>
            <a:endParaRPr lang="en-US" sz="1200" noProof="1"/>
          </a:p>
        </p:txBody>
      </p:sp>
      <p:sp>
        <p:nvSpPr>
          <p:cNvPr id="28" name="sc4-card"/>
          <p:cNvSpPr/>
          <p:nvPr/>
        </p:nvSpPr>
        <p:spPr>
          <a:xfrm>
            <a:off x="6172200" y="3759200"/>
            <a:ext cx="353060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5B9BD5"/>
            </a:solidFill>
          </a:ln>
          <a:effectLst>
            <a:outerShdw blurRad="7620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9" name="sc4-circle"/>
          <p:cNvSpPr/>
          <p:nvPr/>
        </p:nvSpPr>
        <p:spPr>
          <a:xfrm>
            <a:off x="6477000" y="4064000"/>
            <a:ext cx="558800" cy="558800"/>
          </a:xfrm>
          <a:prstGeom prst="ellipse">
            <a:avLst/>
          </a:prstGeom>
          <a:solidFill>
            <a:srgbClr val="EAF3FB"/>
          </a:solidFill>
          <a:ln>
            <a:noFill/>
          </a:ln>
        </p:spPr>
      </p:sp>
      <p:sp>
        <p:nvSpPr>
          <p:cNvPr id="30" name="sc4-icon"/>
          <p:cNvSpPr/>
          <p:nvPr/>
        </p:nvSpPr>
        <p:spPr>
          <a:xfrm>
            <a:off x="6616700" y="42037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128" y="-32"/>
                </a:moveTo>
                <a:cubicBezTo>
                  <a:pt x="146" y="-32"/>
                  <a:pt x="160" y="-18"/>
                  <a:pt x="160" y="0"/>
                </a:cubicBezTo>
                <a:lnTo>
                  <a:pt x="160" y="96"/>
                </a:lnTo>
                <a:lnTo>
                  <a:pt x="288" y="96"/>
                </a:lnTo>
                <a:lnTo>
                  <a:pt x="288" y="0"/>
                </a:lnTo>
                <a:cubicBezTo>
                  <a:pt x="288" y="-18"/>
                  <a:pt x="302" y="-32"/>
                  <a:pt x="320" y="-32"/>
                </a:cubicBezTo>
                <a:cubicBezTo>
                  <a:pt x="338" y="-32"/>
                  <a:pt x="352" y="-18"/>
                  <a:pt x="352" y="0"/>
                </a:cubicBezTo>
                <a:lnTo>
                  <a:pt x="352" y="96"/>
                </a:lnTo>
                <a:lnTo>
                  <a:pt x="416" y="96"/>
                </a:lnTo>
                <a:cubicBezTo>
                  <a:pt x="434" y="96"/>
                  <a:pt x="448" y="110"/>
                  <a:pt x="448" y="128"/>
                </a:cubicBezTo>
                <a:cubicBezTo>
                  <a:pt x="448" y="146"/>
                  <a:pt x="434" y="160"/>
                  <a:pt x="416" y="160"/>
                </a:cubicBezTo>
                <a:lnTo>
                  <a:pt x="416" y="224"/>
                </a:lnTo>
                <a:cubicBezTo>
                  <a:pt x="416" y="319"/>
                  <a:pt x="347" y="398"/>
                  <a:pt x="256" y="413"/>
                </a:cubicBezTo>
                <a:lnTo>
                  <a:pt x="256" y="480"/>
                </a:lnTo>
                <a:cubicBezTo>
                  <a:pt x="256" y="498"/>
                  <a:pt x="242" y="512"/>
                  <a:pt x="224" y="512"/>
                </a:cubicBezTo>
                <a:cubicBezTo>
                  <a:pt x="206" y="512"/>
                  <a:pt x="192" y="498"/>
                  <a:pt x="192" y="480"/>
                </a:cubicBezTo>
                <a:lnTo>
                  <a:pt x="192" y="413"/>
                </a:lnTo>
                <a:cubicBezTo>
                  <a:pt x="101" y="398"/>
                  <a:pt x="32" y="319"/>
                  <a:pt x="32" y="224"/>
                </a:cubicBezTo>
                <a:lnTo>
                  <a:pt x="32" y="160"/>
                </a:lnTo>
                <a:cubicBezTo>
                  <a:pt x="14" y="160"/>
                  <a:pt x="0" y="146"/>
                  <a:pt x="0" y="128"/>
                </a:cubicBezTo>
                <a:cubicBezTo>
                  <a:pt x="0" y="110"/>
                  <a:pt x="14" y="96"/>
                  <a:pt x="32" y="96"/>
                </a:cubicBezTo>
                <a:lnTo>
                  <a:pt x="96" y="96"/>
                </a:lnTo>
                <a:lnTo>
                  <a:pt x="96" y="0"/>
                </a:lnTo>
                <a:cubicBezTo>
                  <a:pt x="96" y="-18"/>
                  <a:pt x="110" y="-32"/>
                  <a:pt x="128" y="-32"/>
                </a:cubicBezTo>
                <a:close/>
              </a:path>
            </a:pathLst>
          </a:custGeom>
          <a:solidFill>
            <a:srgbClr val="0070C0"/>
          </a:solidFill>
          <a:ln>
            <a:noFill/>
          </a:ln>
        </p:spPr>
      </p:sp>
      <p:sp>
        <p:nvSpPr>
          <p:cNvPr id="31" name="sc4-title"/>
          <p:cNvSpPr txBox="1"/>
          <p:nvPr/>
        </p:nvSpPr>
        <p:spPr>
          <a:xfrm>
            <a:off x="7213600" y="4064000"/>
            <a:ext cx="2184400" cy="55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MCP 专业工具接入</a:t>
            </a:r>
            <a:endParaRPr lang="en-US" sz="1800" noProof="1"/>
          </a:p>
        </p:txBody>
      </p:sp>
      <p:sp>
        <p:nvSpPr>
          <p:cNvPr id="32" name="sc4-desc"/>
          <p:cNvSpPr txBox="1"/>
          <p:nvPr/>
        </p:nvSpPr>
        <p:spPr>
          <a:xfrm>
            <a:off x="6477000" y="4800600"/>
            <a:ext cx="292100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2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将企业内部或本地部署的 MCP Server 接入客户端，为 Agent 增加专业工具，同时复用既有权限和审批机制。</a:t>
            </a:r>
            <a:endParaRPr lang="en-US" sz="1200" noProof="1"/>
          </a:p>
        </p:txBody>
      </p:sp>
      <p:sp>
        <p:nvSpPr>
          <p:cNvPr id="33" name="sc-bar"/>
          <p:cNvSpPr/>
          <p:nvPr/>
        </p:nvSpPr>
        <p:spPr>
          <a:xfrm>
            <a:off x="635000" y="6248400"/>
            <a:ext cx="10922000" cy="101600"/>
          </a:xfrm>
          <a:prstGeom prst="rect">
            <a:avLst/>
          </a:prstGeom>
          <a:solidFill>
            <a:srgbClr val="E89924"/>
          </a:solidFill>
          <a:ln>
            <a:noFill/>
          </a:ln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tri1"/>
          <p:cNvSpPr/>
          <p:nvPr/>
        </p:nvSpPr>
        <p:spPr>
          <a:xfrm>
            <a:off x="0" y="0"/>
            <a:ext cx="527050" cy="444500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3" name="hd-tri2"/>
          <p:cNvSpPr/>
          <p:nvPr/>
        </p:nvSpPr>
        <p:spPr>
          <a:xfrm rot="5400000">
            <a:off x="349250" y="538480"/>
            <a:ext cx="175260" cy="179070"/>
          </a:xfrm>
          <a:prstGeom prst="triangle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4" name="hd-line1"/>
          <p:cNvSpPr/>
          <p:nvPr/>
        </p:nvSpPr>
        <p:spPr>
          <a:xfrm>
            <a:off x="0" y="985520"/>
            <a:ext cx="8839200" cy="43180"/>
          </a:xfrm>
          <a:prstGeom prst="rect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5" name="hd-line2"/>
          <p:cNvSpPr/>
          <p:nvPr/>
        </p:nvSpPr>
        <p:spPr>
          <a:xfrm>
            <a:off x="8829040" y="985520"/>
            <a:ext cx="3362960" cy="43180"/>
          </a:xfrm>
          <a:prstGeom prst="rect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6" name="hd-title"/>
          <p:cNvSpPr txBox="1"/>
          <p:nvPr/>
        </p:nvSpPr>
        <p:spPr>
          <a:xfrm>
            <a:off x="701040" y="254000"/>
            <a:ext cx="88900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000" noProof="1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</a:rPr>
              <a:t>部署运行与产品演示</a:t>
            </a:r>
            <a:endParaRPr lang="en-US" sz="3000" noProof="1"/>
          </a:p>
        </p:txBody>
      </p:sp>
      <p:sp>
        <p:nvSpPr>
          <p:cNvPr id="7" name="logo"/>
          <p:cNvSpPr txBox="1"/>
          <p:nvPr/>
        </p:nvSpPr>
        <p:spPr>
          <a:xfrm>
            <a:off x="9652000" y="304800"/>
            <a:ext cx="2159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四方上行</a:t>
            </a:r>
            <a:endParaRPr lang="en-US" sz="1600" noProof="1"/>
          </a:p>
        </p:txBody>
      </p:sp>
      <p:sp>
        <p:nvSpPr>
          <p:cNvPr id="8" name="deploy-box"/>
          <p:cNvSpPr/>
          <p:nvPr/>
        </p:nvSpPr>
        <p:spPr>
          <a:xfrm>
            <a:off x="635000" y="1270000"/>
            <a:ext cx="5080000" cy="508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5B9BD5"/>
            </a:solidFill>
          </a:ln>
          <a:effectLst>
            <a:outerShdw blurRad="7620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9" name="deploy-head"/>
          <p:cNvSpPr/>
          <p:nvPr/>
        </p:nvSpPr>
        <p:spPr>
          <a:xfrm>
            <a:off x="635000" y="1270000"/>
            <a:ext cx="5080000" cy="50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10" name="deploy-title"/>
          <p:cNvSpPr txBox="1"/>
          <p:nvPr/>
        </p:nvSpPr>
        <p:spPr>
          <a:xfrm>
            <a:off x="863600" y="1270000"/>
            <a:ext cx="46228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noProof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</a:rPr>
              <a:t>部署与运行</a:t>
            </a:r>
            <a:endParaRPr lang="en-US" sz="1800" noProof="1"/>
          </a:p>
        </p:txBody>
      </p:sp>
      <p:sp>
        <p:nvSpPr>
          <p:cNvPr id="11" name="deploy-body"/>
          <p:cNvSpPr txBox="1"/>
          <p:nvPr/>
        </p:nvSpPr>
        <p:spPr>
          <a:xfrm>
            <a:off x="863600" y="1930400"/>
            <a:ext cx="4622800" cy="426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5000"/>
              </a:lnSpc>
              <a:spcBef>
                <a:spcPts val="10"/>
              </a:spcBef>
              <a:buChar char="•"/>
            </a:pPr>
            <a:r>
              <a:rPr lang="en-US" sz="1300" b="1" noProof="1">
                <a:solidFill>
                  <a:srgbClr val="262626"/>
                </a:solidFill>
                <a:latin typeface="MiSans" charset="-122"/>
                <a:ea typeface="MiSans" charset="-122"/>
              </a:rPr>
              <a:t>npm install</a:t>
            </a:r>
            <a:r>
              <a:rPr lang="en-US" sz="13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：安装依赖</a:t>
            </a:r>
            <a:endParaRPr lang="en-US" sz="1300" noProof="1"/>
          </a:p>
          <a:p>
            <a:pPr algn="l">
              <a:lnSpc>
                <a:spcPct val="155000"/>
              </a:lnSpc>
              <a:spcBef>
                <a:spcPts val="10"/>
              </a:spcBef>
              <a:buChar char="•"/>
            </a:pPr>
            <a:r>
              <a:rPr lang="en-US" sz="1300" b="1" noProof="1">
                <a:solidFill>
                  <a:srgbClr val="262626"/>
                </a:solidFill>
                <a:latin typeface="MiSans" charset="-122"/>
                <a:ea typeface="MiSans" charset="-122"/>
              </a:rPr>
              <a:t>npm run dev</a:t>
            </a:r>
            <a:r>
              <a:rPr lang="en-US" sz="13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：启动开发环境</a:t>
            </a:r>
            <a:endParaRPr lang="en-US" sz="1300" noProof="1"/>
          </a:p>
          <a:p>
            <a:pPr algn="l">
              <a:lnSpc>
                <a:spcPct val="155000"/>
              </a:lnSpc>
              <a:spcBef>
                <a:spcPts val="10"/>
              </a:spcBef>
              <a:buChar char="•"/>
            </a:pPr>
            <a:r>
              <a:rPr lang="en-US" sz="1300" b="1" noProof="1">
                <a:solidFill>
                  <a:srgbClr val="262626"/>
                </a:solidFill>
                <a:latin typeface="MiSans" charset="-122"/>
                <a:ea typeface="MiSans" charset="-122"/>
              </a:rPr>
              <a:t>npm run build</a:t>
            </a:r>
            <a:r>
              <a:rPr lang="en-US" sz="13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：类型检查并构建生产产物</a:t>
            </a:r>
            <a:endParaRPr lang="en-US" sz="1300" noProof="1"/>
          </a:p>
          <a:p>
            <a:pPr algn="l">
              <a:lnSpc>
                <a:spcPct val="155000"/>
              </a:lnSpc>
              <a:spcBef>
                <a:spcPts val="10"/>
              </a:spcBef>
              <a:buChar char="•"/>
            </a:pPr>
            <a:r>
              <a:rPr lang="en-US" sz="1300" b="1" noProof="1">
                <a:solidFill>
                  <a:srgbClr val="262626"/>
                </a:solidFill>
                <a:latin typeface="MiSans" charset="-122"/>
                <a:ea typeface="MiSans" charset="-122"/>
              </a:rPr>
              <a:t>npm test</a:t>
            </a:r>
            <a:r>
              <a:rPr lang="en-US" sz="13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：运行测试和编码检查</a:t>
            </a:r>
            <a:endParaRPr lang="en-US" sz="1300" noProof="1"/>
          </a:p>
          <a:p>
            <a:pPr algn="l">
              <a:lnSpc>
                <a:spcPct val="155000"/>
              </a:lnSpc>
              <a:spcBef>
                <a:spcPts val="10"/>
              </a:spcBef>
              <a:buChar char="•"/>
            </a:pPr>
            <a:r>
              <a:rPr lang="en-US" sz="1300" b="1" noProof="1">
                <a:solidFill>
                  <a:srgbClr val="262626"/>
                </a:solidFill>
                <a:latin typeface="MiSans" charset="-122"/>
                <a:ea typeface="MiSans" charset="-122"/>
              </a:rPr>
              <a:t>npm run dist:win</a:t>
            </a:r>
            <a:r>
              <a:rPr lang="en-US" sz="13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：打包 Windows 版本</a:t>
            </a:r>
            <a:endParaRPr lang="en-US" sz="1300" noProof="1"/>
          </a:p>
          <a:p>
            <a:pPr algn="l">
              <a:lnSpc>
                <a:spcPct val="155000"/>
              </a:lnSpc>
              <a:spcBef>
                <a:spcPts val="10"/>
              </a:spcBef>
              <a:buChar char="•"/>
            </a:pPr>
            <a:r>
              <a:rPr lang="en-US" sz="13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设置面板可配置 API 协议、Base URL、API Key、模型 ID 与联通性检测</a:t>
            </a:r>
            <a:endParaRPr lang="en-US" sz="1300" noProof="1"/>
          </a:p>
          <a:p>
            <a:pPr algn="l">
              <a:lnSpc>
                <a:spcPct val="155000"/>
              </a:lnSpc>
              <a:spcBef>
                <a:spcPts val="10"/>
              </a:spcBef>
              <a:buChar char="•"/>
            </a:pPr>
            <a:r>
              <a:rPr lang="en-US" sz="13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测试已覆盖审批生命周期、路径安全、附件解析和 Skill 规则</a:t>
            </a:r>
            <a:endParaRPr lang="en-US" sz="1300" noProof="1"/>
          </a:p>
        </p:txBody>
      </p:sp>
      <p:sp>
        <p:nvSpPr>
          <p:cNvPr id="12" name="demo-box"/>
          <p:cNvSpPr/>
          <p:nvPr/>
        </p:nvSpPr>
        <p:spPr>
          <a:xfrm>
            <a:off x="6286500" y="1270000"/>
            <a:ext cx="5270500" cy="508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5B9BD5"/>
            </a:solidFill>
          </a:ln>
          <a:effectLst>
            <a:outerShdw blurRad="7620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3" name="demo-head"/>
          <p:cNvSpPr/>
          <p:nvPr/>
        </p:nvSpPr>
        <p:spPr>
          <a:xfrm>
            <a:off x="6286500" y="1270000"/>
            <a:ext cx="5270500" cy="508000"/>
          </a:xfrm>
          <a:prstGeom prst="rect">
            <a:avLst/>
          </a:prstGeom>
          <a:solidFill>
            <a:srgbClr val="E89924"/>
          </a:solidFill>
          <a:ln>
            <a:noFill/>
          </a:ln>
        </p:spPr>
      </p:sp>
      <p:sp>
        <p:nvSpPr>
          <p:cNvPr id="14" name="demo-title"/>
          <p:cNvSpPr txBox="1"/>
          <p:nvPr/>
        </p:nvSpPr>
        <p:spPr>
          <a:xfrm>
            <a:off x="6515100" y="1270000"/>
            <a:ext cx="48133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noProof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</a:rPr>
              <a:t>产品演示建议顺序</a:t>
            </a:r>
            <a:endParaRPr lang="en-US" sz="1800" noProof="1"/>
          </a:p>
        </p:txBody>
      </p:sp>
      <p:sp>
        <p:nvSpPr>
          <p:cNvPr id="15" name="demo-body"/>
          <p:cNvSpPr txBox="1"/>
          <p:nvPr/>
        </p:nvSpPr>
        <p:spPr>
          <a:xfrm>
            <a:off x="6515100" y="1930400"/>
            <a:ext cx="4813300" cy="426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  <a:spcBef>
                <a:spcPts val="10"/>
              </a:spcBef>
              <a:buAutoNum type="arabicPeriod"/>
            </a:pPr>
            <a:r>
              <a:rPr lang="en-US" sz="12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展示客户端主界面和会话历史，说明令旗是桌面 Agent 工作台</a:t>
            </a:r>
            <a:endParaRPr lang="en-US" sz="1200" noProof="1"/>
          </a:p>
          <a:p>
            <a:pPr algn="l">
              <a:lnSpc>
                <a:spcPct val="150000"/>
              </a:lnSpc>
              <a:spcBef>
                <a:spcPts val="10"/>
              </a:spcBef>
              <a:buAutoNum type="arabicPeriod"/>
            </a:pPr>
            <a:r>
              <a:rPr lang="en-US" sz="12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关联一个项目目录，展示项目上下文与 Skill 入口</a:t>
            </a:r>
            <a:endParaRPr lang="en-US" sz="1200" noProof="1"/>
          </a:p>
          <a:p>
            <a:pPr algn="l">
              <a:lnSpc>
                <a:spcPct val="150000"/>
              </a:lnSpc>
              <a:spcBef>
                <a:spcPts val="10"/>
              </a:spcBef>
              <a:buAutoNum type="arabicPeriod"/>
            </a:pPr>
            <a:r>
              <a:rPr lang="en-US" sz="12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上传 PDF、DOCX 或 Excel，提问「请总结重点并列出待办事项」</a:t>
            </a:r>
            <a:endParaRPr lang="en-US" sz="1200" noProof="1"/>
          </a:p>
          <a:p>
            <a:pPr algn="l">
              <a:lnSpc>
                <a:spcPct val="150000"/>
              </a:lnSpc>
              <a:spcBef>
                <a:spcPts val="10"/>
              </a:spcBef>
              <a:buAutoNum type="arabicPeriod"/>
            </a:pPr>
            <a:r>
              <a:rPr lang="en-US" sz="12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展示 Agent 的工具调用过程和任务状态变化</a:t>
            </a:r>
            <a:endParaRPr lang="en-US" sz="1200" noProof="1"/>
          </a:p>
          <a:p>
            <a:pPr algn="l">
              <a:lnSpc>
                <a:spcPct val="150000"/>
              </a:lnSpc>
              <a:spcBef>
                <a:spcPts val="10"/>
              </a:spcBef>
              <a:buAutoNum type="arabicPeriod"/>
            </a:pPr>
            <a:r>
              <a:rPr lang="en-US" sz="12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触发一次 file_write，展示审批预览、批准和结果回写</a:t>
            </a:r>
            <a:endParaRPr lang="en-US" sz="1200" noProof="1"/>
          </a:p>
          <a:p>
            <a:pPr algn="l">
              <a:lnSpc>
                <a:spcPct val="150000"/>
              </a:lnSpc>
              <a:spcBef>
                <a:spcPts val="10"/>
              </a:spcBef>
              <a:buAutoNum type="arabicPeriod"/>
            </a:pPr>
            <a:r>
              <a:rPr lang="en-US" sz="12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打开 Tools、Skills 和 MCP 页面，说明能力如何扩展</a:t>
            </a:r>
            <a:endParaRPr lang="en-US" sz="1200" noProof="1"/>
          </a:p>
          <a:p>
            <a:pPr algn="l">
              <a:lnSpc>
                <a:spcPct val="150000"/>
              </a:lnSpc>
              <a:spcBef>
                <a:spcPts val="10"/>
              </a:spcBef>
              <a:buAutoNum type="arabicPeriod"/>
            </a:pPr>
            <a:r>
              <a:rPr lang="en-US" sz="12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强调本地优先、权限分级、可恢复和可审计四项产品特性</a:t>
            </a:r>
            <a:endParaRPr lang="en-US" sz="1200" noProof="1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tri1"/>
          <p:cNvSpPr/>
          <p:nvPr/>
        </p:nvSpPr>
        <p:spPr>
          <a:xfrm>
            <a:off x="0" y="0"/>
            <a:ext cx="527050" cy="444500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  <p:txBody>
          <a:bodyPr/>
          <a:p/>
        </p:txBody>
      </p:sp>
      <p:sp>
        <p:nvSpPr>
          <p:cNvPr id="3" name="hd-tri2"/>
          <p:cNvSpPr/>
          <p:nvPr/>
        </p:nvSpPr>
        <p:spPr>
          <a:xfrm rot="5400000">
            <a:off x="349250" y="538480"/>
            <a:ext cx="175260" cy="179070"/>
          </a:xfrm>
          <a:prstGeom prst="triangle">
            <a:avLst/>
          </a:prstGeom>
          <a:solidFill>
            <a:srgbClr val="E89924"/>
          </a:solidFill>
          <a:ln>
            <a:noFill/>
          </a:ln>
        </p:spPr>
        <p:txBody>
          <a:bodyPr/>
          <a:p/>
        </p:txBody>
      </p:sp>
      <p:sp>
        <p:nvSpPr>
          <p:cNvPr id="4" name="hd-line1"/>
          <p:cNvSpPr/>
          <p:nvPr/>
        </p:nvSpPr>
        <p:spPr>
          <a:xfrm>
            <a:off x="0" y="985520"/>
            <a:ext cx="8839200" cy="4318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/>
          <a:p/>
        </p:txBody>
      </p:sp>
      <p:sp>
        <p:nvSpPr>
          <p:cNvPr id="5" name="hd-line2"/>
          <p:cNvSpPr/>
          <p:nvPr/>
        </p:nvSpPr>
        <p:spPr>
          <a:xfrm>
            <a:off x="8829040" y="985520"/>
            <a:ext cx="3362960" cy="43180"/>
          </a:xfrm>
          <a:prstGeom prst="rect">
            <a:avLst/>
          </a:prstGeom>
          <a:solidFill>
            <a:srgbClr val="E89924"/>
          </a:solidFill>
          <a:ln>
            <a:noFill/>
          </a:ln>
        </p:spPr>
        <p:txBody>
          <a:bodyPr/>
          <a:p/>
        </p:txBody>
      </p:sp>
      <p:sp>
        <p:nvSpPr>
          <p:cNvPr id="6" name="hd-title"/>
          <p:cNvSpPr txBox="1"/>
          <p:nvPr/>
        </p:nvSpPr>
        <p:spPr>
          <a:xfrm>
            <a:off x="701040" y="254000"/>
            <a:ext cx="88900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000" noProof="1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</a:rPr>
              <a:t>后续规划</a:t>
            </a:r>
            <a:endParaRPr lang="en-US" sz="3000" noProof="1"/>
          </a:p>
        </p:txBody>
      </p:sp>
      <p:sp>
        <p:nvSpPr>
          <p:cNvPr id="7" name="logo"/>
          <p:cNvSpPr txBox="1"/>
          <p:nvPr/>
        </p:nvSpPr>
        <p:spPr>
          <a:xfrm>
            <a:off x="9652000" y="304800"/>
            <a:ext cx="2159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四方上行</a:t>
            </a:r>
            <a:endParaRPr lang="en-US" sz="1600" noProof="1"/>
          </a:p>
        </p:txBody>
      </p:sp>
      <p:sp>
        <p:nvSpPr>
          <p:cNvPr id="8" name="rm-note"/>
          <p:cNvSpPr txBox="1"/>
          <p:nvPr/>
        </p:nvSpPr>
        <p:spPr>
          <a:xfrm>
            <a:off x="701040" y="1143000"/>
            <a:ext cx="107950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noProof="1">
                <a:solidFill>
                  <a:srgbClr val="7F7F7F"/>
                </a:solidFill>
                <a:latin typeface="MiSans" charset="-122"/>
                <a:ea typeface="MiSans" charset="-122"/>
              </a:rPr>
              <a:t>以下方向来自当前项目文档，尚未全部实现，标注为「后续规划」，不作为现成功能。</a:t>
            </a:r>
            <a:endParaRPr lang="en-US" sz="1300" noProof="1"/>
          </a:p>
        </p:txBody>
      </p:sp>
      <p:sp>
        <p:nvSpPr>
          <p:cNvPr id="9" name="rm0-card"/>
          <p:cNvSpPr/>
          <p:nvPr/>
        </p:nvSpPr>
        <p:spPr>
          <a:xfrm>
            <a:off x="635000" y="1625600"/>
            <a:ext cx="3530600" cy="1397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5B9BD5"/>
            </a:solidFill>
          </a:ln>
          <a:effectLst>
            <a:outerShdw blurRad="7620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p/>
        </p:txBody>
      </p:sp>
      <p:sp>
        <p:nvSpPr>
          <p:cNvPr id="10" name="rm0-top"/>
          <p:cNvSpPr/>
          <p:nvPr/>
        </p:nvSpPr>
        <p:spPr>
          <a:xfrm>
            <a:off x="635000" y="1625600"/>
            <a:ext cx="3530600" cy="63500"/>
          </a:xfrm>
          <a:prstGeom prst="rect">
            <a:avLst/>
          </a:prstGeom>
          <a:solidFill>
            <a:srgbClr val="E89924"/>
          </a:solidFill>
          <a:ln>
            <a:noFill/>
          </a:ln>
        </p:spPr>
        <p:txBody>
          <a:bodyPr/>
          <a:p/>
        </p:txBody>
      </p:sp>
      <p:sp>
        <p:nvSpPr>
          <p:cNvPr id="11" name="rm0-t"/>
          <p:cNvSpPr txBox="1"/>
          <p:nvPr/>
        </p:nvSpPr>
        <p:spPr>
          <a:xfrm>
            <a:off x="863600" y="1803400"/>
            <a:ext cx="30734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长上下文</a:t>
            </a:r>
            <a:endParaRPr lang="en-US" sz="1600" noProof="1"/>
          </a:p>
        </p:txBody>
      </p:sp>
      <p:sp>
        <p:nvSpPr>
          <p:cNvPr id="12" name="rm0-d"/>
          <p:cNvSpPr txBox="1"/>
          <p:nvPr/>
        </p:nvSpPr>
        <p:spPr>
          <a:xfrm>
            <a:off x="863600" y="2184400"/>
            <a:ext cx="30734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2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压缩、摘要和关键消息保留</a:t>
            </a:r>
            <a:endParaRPr lang="en-US" sz="1200" noProof="1"/>
          </a:p>
        </p:txBody>
      </p:sp>
      <p:sp>
        <p:nvSpPr>
          <p:cNvPr id="13" name="rm1-card"/>
          <p:cNvSpPr/>
          <p:nvPr/>
        </p:nvSpPr>
        <p:spPr>
          <a:xfrm>
            <a:off x="4330700" y="1625600"/>
            <a:ext cx="3530600" cy="1397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5B9BD5"/>
            </a:solidFill>
          </a:ln>
          <a:effectLst>
            <a:outerShdw blurRad="7620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p/>
        </p:txBody>
      </p:sp>
      <p:sp>
        <p:nvSpPr>
          <p:cNvPr id="14" name="rm1-top"/>
          <p:cNvSpPr/>
          <p:nvPr/>
        </p:nvSpPr>
        <p:spPr>
          <a:xfrm>
            <a:off x="4330700" y="1625600"/>
            <a:ext cx="3530600" cy="63500"/>
          </a:xfrm>
          <a:prstGeom prst="rect">
            <a:avLst/>
          </a:prstGeom>
          <a:solidFill>
            <a:srgbClr val="E89924"/>
          </a:solidFill>
          <a:ln>
            <a:noFill/>
          </a:ln>
        </p:spPr>
        <p:txBody>
          <a:bodyPr/>
          <a:p/>
        </p:txBody>
      </p:sp>
      <p:sp>
        <p:nvSpPr>
          <p:cNvPr id="15" name="rm1-t"/>
          <p:cNvSpPr txBox="1"/>
          <p:nvPr/>
        </p:nvSpPr>
        <p:spPr>
          <a:xfrm>
            <a:off x="4559300" y="1803400"/>
            <a:ext cx="30734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更多工具</a:t>
            </a:r>
            <a:endParaRPr lang="en-US" sz="1600" noProof="1"/>
          </a:p>
        </p:txBody>
      </p:sp>
      <p:sp>
        <p:nvSpPr>
          <p:cNvPr id="16" name="rm1-d"/>
          <p:cNvSpPr txBox="1"/>
          <p:nvPr/>
        </p:nvSpPr>
        <p:spPr>
          <a:xfrm>
            <a:off x="4559300" y="2184400"/>
            <a:ext cx="30734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r>
              <a:rPr>
                <a:latin typeface="微软雅黑" panose="020B0503020204020204" charset="-122"/>
              </a:rPr>
              <a:t>Shell 执行沙箱、更多企业系统连接、Web 搜索和代码解释器</a:t>
            </a:r>
            <a:endParaRPr>
              <a:latin typeface="微软雅黑" panose="020B0503020204020204" charset="-122"/>
            </a:endParaRPr>
          </a:p>
        </p:txBody>
      </p:sp>
      <p:sp>
        <p:nvSpPr>
          <p:cNvPr id="17" name="rm2-card"/>
          <p:cNvSpPr/>
          <p:nvPr/>
        </p:nvSpPr>
        <p:spPr>
          <a:xfrm>
            <a:off x="8026400" y="1625600"/>
            <a:ext cx="3530600" cy="1397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5B9BD5"/>
            </a:solidFill>
          </a:ln>
          <a:effectLst>
            <a:outerShdw blurRad="7620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p/>
        </p:txBody>
      </p:sp>
      <p:sp>
        <p:nvSpPr>
          <p:cNvPr id="18" name="rm2-top"/>
          <p:cNvSpPr/>
          <p:nvPr/>
        </p:nvSpPr>
        <p:spPr>
          <a:xfrm>
            <a:off x="8026400" y="1625600"/>
            <a:ext cx="3530600" cy="63500"/>
          </a:xfrm>
          <a:prstGeom prst="rect">
            <a:avLst/>
          </a:prstGeom>
          <a:solidFill>
            <a:srgbClr val="E89924"/>
          </a:solidFill>
          <a:ln>
            <a:noFill/>
          </a:ln>
        </p:spPr>
        <p:txBody>
          <a:bodyPr/>
          <a:p/>
        </p:txBody>
      </p:sp>
      <p:sp>
        <p:nvSpPr>
          <p:cNvPr id="19" name="rm2-t"/>
          <p:cNvSpPr txBox="1"/>
          <p:nvPr/>
        </p:nvSpPr>
        <p:spPr>
          <a:xfrm>
            <a:off x="8255000" y="1803400"/>
            <a:ext cx="30734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审计日志</a:t>
            </a:r>
            <a:endParaRPr lang="en-US" sz="1600" noProof="1"/>
          </a:p>
        </p:txBody>
      </p:sp>
      <p:sp>
        <p:nvSpPr>
          <p:cNvPr id="20" name="rm2-d"/>
          <p:cNvSpPr txBox="1"/>
          <p:nvPr/>
        </p:nvSpPr>
        <p:spPr>
          <a:xfrm>
            <a:off x="8255000" y="2184400"/>
            <a:ext cx="30734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2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审批历史和完整审计日志</a:t>
            </a:r>
            <a:endParaRPr lang="en-US" sz="1200" noProof="1"/>
          </a:p>
        </p:txBody>
      </p:sp>
      <p:sp>
        <p:nvSpPr>
          <p:cNvPr id="21" name="rm3-card"/>
          <p:cNvSpPr/>
          <p:nvPr/>
        </p:nvSpPr>
        <p:spPr>
          <a:xfrm>
            <a:off x="635000" y="3213100"/>
            <a:ext cx="3530600" cy="1397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5B9BD5"/>
            </a:solidFill>
          </a:ln>
          <a:effectLst>
            <a:outerShdw blurRad="7620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p/>
        </p:txBody>
      </p:sp>
      <p:sp>
        <p:nvSpPr>
          <p:cNvPr id="22" name="rm3-top"/>
          <p:cNvSpPr/>
          <p:nvPr/>
        </p:nvSpPr>
        <p:spPr>
          <a:xfrm>
            <a:off x="635000" y="3213100"/>
            <a:ext cx="3530600" cy="63500"/>
          </a:xfrm>
          <a:prstGeom prst="rect">
            <a:avLst/>
          </a:prstGeom>
          <a:solidFill>
            <a:srgbClr val="E89924"/>
          </a:solidFill>
          <a:ln>
            <a:noFill/>
          </a:ln>
        </p:spPr>
        <p:txBody>
          <a:bodyPr/>
          <a:p/>
        </p:txBody>
      </p:sp>
      <p:sp>
        <p:nvSpPr>
          <p:cNvPr id="23" name="rm3-t"/>
          <p:cNvSpPr txBox="1"/>
          <p:nvPr/>
        </p:nvSpPr>
        <p:spPr>
          <a:xfrm>
            <a:off x="863600" y="3390900"/>
            <a:ext cx="30734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长期记忆</a:t>
            </a:r>
            <a:endParaRPr lang="en-US" sz="1600" noProof="1"/>
          </a:p>
        </p:txBody>
      </p:sp>
      <p:sp>
        <p:nvSpPr>
          <p:cNvPr id="24" name="rm3-d"/>
          <p:cNvSpPr txBox="1"/>
          <p:nvPr/>
        </p:nvSpPr>
        <p:spPr>
          <a:xfrm>
            <a:off x="863600" y="3771900"/>
            <a:ext cx="30734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2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全局或项目级长期记忆</a:t>
            </a:r>
            <a:endParaRPr lang="en-US" sz="1200" noProof="1"/>
          </a:p>
        </p:txBody>
      </p:sp>
      <p:sp>
        <p:nvSpPr>
          <p:cNvPr id="25" name="rm4-card"/>
          <p:cNvSpPr/>
          <p:nvPr/>
        </p:nvSpPr>
        <p:spPr>
          <a:xfrm>
            <a:off x="4330700" y="3213100"/>
            <a:ext cx="3530600" cy="1397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5B9BD5"/>
            </a:solidFill>
          </a:ln>
          <a:effectLst>
            <a:outerShdw blurRad="7620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p/>
        </p:txBody>
      </p:sp>
      <p:sp>
        <p:nvSpPr>
          <p:cNvPr id="26" name="rm4-top"/>
          <p:cNvSpPr/>
          <p:nvPr/>
        </p:nvSpPr>
        <p:spPr>
          <a:xfrm>
            <a:off x="4330700" y="3213100"/>
            <a:ext cx="3530600" cy="63500"/>
          </a:xfrm>
          <a:prstGeom prst="rect">
            <a:avLst/>
          </a:prstGeom>
          <a:solidFill>
            <a:srgbClr val="E89924"/>
          </a:solidFill>
          <a:ln>
            <a:noFill/>
          </a:ln>
        </p:spPr>
        <p:txBody>
          <a:bodyPr/>
          <a:p/>
        </p:txBody>
      </p:sp>
      <p:sp>
        <p:nvSpPr>
          <p:cNvPr id="27" name="rm4-t"/>
          <p:cNvSpPr txBox="1"/>
          <p:nvPr/>
        </p:nvSpPr>
        <p:spPr>
          <a:xfrm>
            <a:off x="4559300" y="3390900"/>
            <a:ext cx="30734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网络韧性</a:t>
            </a:r>
            <a:endParaRPr lang="en-US" sz="1600" noProof="1"/>
          </a:p>
        </p:txBody>
      </p:sp>
      <p:sp>
        <p:nvSpPr>
          <p:cNvPr id="28" name="rm4-d"/>
          <p:cNvSpPr txBox="1"/>
          <p:nvPr/>
        </p:nvSpPr>
        <p:spPr>
          <a:xfrm>
            <a:off x="4559300" y="3771900"/>
            <a:ext cx="30734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2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失败自动重试与指数退避</a:t>
            </a:r>
            <a:endParaRPr lang="en-US" sz="1200" noProof="1"/>
          </a:p>
        </p:txBody>
      </p:sp>
      <p:sp>
        <p:nvSpPr>
          <p:cNvPr id="29" name="rm5-card"/>
          <p:cNvSpPr/>
          <p:nvPr/>
        </p:nvSpPr>
        <p:spPr>
          <a:xfrm>
            <a:off x="8026400" y="3213100"/>
            <a:ext cx="3530600" cy="1397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5B9BD5"/>
            </a:solidFill>
          </a:ln>
          <a:effectLst>
            <a:outerShdw blurRad="7620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p/>
        </p:txBody>
      </p:sp>
      <p:sp>
        <p:nvSpPr>
          <p:cNvPr id="30" name="rm5-top"/>
          <p:cNvSpPr/>
          <p:nvPr/>
        </p:nvSpPr>
        <p:spPr>
          <a:xfrm>
            <a:off x="8026400" y="3213100"/>
            <a:ext cx="3530600" cy="63500"/>
          </a:xfrm>
          <a:prstGeom prst="rect">
            <a:avLst/>
          </a:prstGeom>
          <a:solidFill>
            <a:srgbClr val="E89924"/>
          </a:solidFill>
          <a:ln>
            <a:noFill/>
          </a:ln>
        </p:spPr>
        <p:txBody>
          <a:bodyPr/>
          <a:p/>
        </p:txBody>
      </p:sp>
      <p:sp>
        <p:nvSpPr>
          <p:cNvPr id="31" name="rm5-t"/>
          <p:cNvSpPr txBox="1"/>
          <p:nvPr/>
        </p:nvSpPr>
        <p:spPr>
          <a:xfrm>
            <a:off x="8255000" y="3390900"/>
            <a:ext cx="30734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多模态</a:t>
            </a:r>
            <a:endParaRPr lang="en-US" sz="1600" noProof="1"/>
          </a:p>
        </p:txBody>
      </p:sp>
      <p:sp>
        <p:nvSpPr>
          <p:cNvPr id="32" name="rm5-d"/>
          <p:cNvSpPr txBox="1"/>
          <p:nvPr/>
        </p:nvSpPr>
        <p:spPr>
          <a:xfrm>
            <a:off x="8255000" y="3771900"/>
            <a:ext cx="30734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2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图片 OCR、视频和音频文件支持</a:t>
            </a:r>
            <a:endParaRPr lang="en-US" sz="1200" noProof="1"/>
          </a:p>
        </p:txBody>
      </p:sp>
      <p:sp>
        <p:nvSpPr>
          <p:cNvPr id="33" name="rm6-card"/>
          <p:cNvSpPr/>
          <p:nvPr/>
        </p:nvSpPr>
        <p:spPr>
          <a:xfrm>
            <a:off x="635000" y="4800600"/>
            <a:ext cx="3530600" cy="1397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5B9BD5"/>
            </a:solidFill>
          </a:ln>
          <a:effectLst>
            <a:outerShdw blurRad="7620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p/>
        </p:txBody>
      </p:sp>
      <p:sp>
        <p:nvSpPr>
          <p:cNvPr id="34" name="rm6-top"/>
          <p:cNvSpPr/>
          <p:nvPr/>
        </p:nvSpPr>
        <p:spPr>
          <a:xfrm>
            <a:off x="635000" y="4800600"/>
            <a:ext cx="3530600" cy="63500"/>
          </a:xfrm>
          <a:prstGeom prst="rect">
            <a:avLst/>
          </a:prstGeom>
          <a:solidFill>
            <a:srgbClr val="E89924"/>
          </a:solidFill>
          <a:ln>
            <a:noFill/>
          </a:ln>
        </p:spPr>
        <p:txBody>
          <a:bodyPr/>
          <a:p/>
        </p:txBody>
      </p:sp>
      <p:sp>
        <p:nvSpPr>
          <p:cNvPr id="35" name="rm6-t"/>
          <p:cNvSpPr txBox="1"/>
          <p:nvPr/>
        </p:nvSpPr>
        <p:spPr>
          <a:xfrm>
            <a:off x="863600" y="4978400"/>
            <a:ext cx="30734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跨窗口</a:t>
            </a:r>
            <a:endParaRPr lang="en-US" sz="1600" noProof="1"/>
          </a:p>
        </p:txBody>
      </p:sp>
      <p:sp>
        <p:nvSpPr>
          <p:cNvPr id="36" name="rm6-d"/>
          <p:cNvSpPr txBox="1"/>
          <p:nvPr/>
        </p:nvSpPr>
        <p:spPr>
          <a:xfrm>
            <a:off x="863600" y="5359400"/>
            <a:ext cx="30734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2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跨窗口会话与审批同步</a:t>
            </a:r>
            <a:endParaRPr lang="en-US" sz="1200" noProof="1"/>
          </a:p>
        </p:txBody>
      </p:sp>
      <p:sp>
        <p:nvSpPr>
          <p:cNvPr id="37" name="rm7-card"/>
          <p:cNvSpPr/>
          <p:nvPr/>
        </p:nvSpPr>
        <p:spPr>
          <a:xfrm>
            <a:off x="4330700" y="4800600"/>
            <a:ext cx="3530600" cy="1397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5B9BD5"/>
            </a:solidFill>
          </a:ln>
          <a:effectLst>
            <a:outerShdw blurRad="7620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p/>
        </p:txBody>
      </p:sp>
      <p:sp>
        <p:nvSpPr>
          <p:cNvPr id="38" name="rm7-top"/>
          <p:cNvSpPr/>
          <p:nvPr/>
        </p:nvSpPr>
        <p:spPr>
          <a:xfrm>
            <a:off x="4330700" y="4800600"/>
            <a:ext cx="3530600" cy="63500"/>
          </a:xfrm>
          <a:prstGeom prst="rect">
            <a:avLst/>
          </a:prstGeom>
          <a:solidFill>
            <a:srgbClr val="E89924"/>
          </a:solidFill>
          <a:ln>
            <a:noFill/>
          </a:ln>
        </p:spPr>
        <p:txBody>
          <a:bodyPr/>
          <a:p/>
        </p:txBody>
      </p:sp>
      <p:sp>
        <p:nvSpPr>
          <p:cNvPr id="39" name="rm7-t"/>
          <p:cNvSpPr txBox="1"/>
          <p:nvPr/>
        </p:nvSpPr>
        <p:spPr>
          <a:xfrm>
            <a:off x="4559300" y="4978400"/>
            <a:ext cx="30734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配置治理</a:t>
            </a:r>
            <a:endParaRPr lang="en-US" sz="1600" noProof="1"/>
          </a:p>
        </p:txBody>
      </p:sp>
      <p:sp>
        <p:nvSpPr>
          <p:cNvPr id="40" name="rm7-d"/>
          <p:cNvSpPr txBox="1"/>
          <p:nvPr/>
        </p:nvSpPr>
        <p:spPr>
          <a:xfrm>
            <a:off x="4559300" y="5359400"/>
            <a:ext cx="30734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2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更多配置迁移到 Electron userData</a:t>
            </a:r>
            <a:endParaRPr lang="en-US" sz="1200" noProof="1"/>
          </a:p>
        </p:txBody>
      </p:sp>
      <p:sp>
        <p:nvSpPr>
          <p:cNvPr id="41" name="rm8-card"/>
          <p:cNvSpPr/>
          <p:nvPr/>
        </p:nvSpPr>
        <p:spPr>
          <a:xfrm>
            <a:off x="8026400" y="4800600"/>
            <a:ext cx="3530600" cy="1397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5B9BD5"/>
            </a:solidFill>
          </a:ln>
          <a:effectLst>
            <a:outerShdw blurRad="7620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p/>
        </p:txBody>
      </p:sp>
      <p:sp>
        <p:nvSpPr>
          <p:cNvPr id="42" name="rm8-top"/>
          <p:cNvSpPr/>
          <p:nvPr/>
        </p:nvSpPr>
        <p:spPr>
          <a:xfrm>
            <a:off x="8026400" y="4800600"/>
            <a:ext cx="3530600" cy="63500"/>
          </a:xfrm>
          <a:prstGeom prst="rect">
            <a:avLst/>
          </a:prstGeom>
          <a:solidFill>
            <a:srgbClr val="E89924"/>
          </a:solidFill>
          <a:ln>
            <a:noFill/>
          </a:ln>
        </p:spPr>
        <p:txBody>
          <a:bodyPr/>
          <a:p/>
        </p:txBody>
      </p:sp>
      <p:sp>
        <p:nvSpPr>
          <p:cNvPr id="43" name="rm8-t"/>
          <p:cNvSpPr txBox="1"/>
          <p:nvPr/>
        </p:nvSpPr>
        <p:spPr>
          <a:xfrm>
            <a:off x="8255000" y="4978400"/>
            <a:ext cx="30734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企业集成</a:t>
            </a:r>
            <a:endParaRPr lang="en-US" sz="1600" noProof="1"/>
          </a:p>
        </p:txBody>
      </p:sp>
      <p:sp>
        <p:nvSpPr>
          <p:cNvPr id="44" name="rm8-d"/>
          <p:cNvSpPr txBox="1"/>
          <p:nvPr/>
        </p:nvSpPr>
        <p:spPr>
          <a:xfrm>
            <a:off x="8255000" y="5359400"/>
            <a:ext cx="30734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200" noProof="1">
                <a:solidFill>
                  <a:srgbClr val="262626"/>
                </a:solidFill>
                <a:latin typeface="MiSans" charset="-122"/>
                <a:ea typeface="MiSans" charset="-122"/>
              </a:rPr>
              <a:t>与服务器版权限中心、企业知识库和业务系统集成</a:t>
            </a:r>
            <a:endParaRPr lang="en-US" sz="1200" noProof="1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and"/>
          <p:cNvSpPr txBox="1"/>
          <p:nvPr/>
        </p:nvSpPr>
        <p:spPr>
          <a:xfrm>
            <a:off x="4191000" y="762000"/>
            <a:ext cx="3810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四方上行</a:t>
            </a:r>
            <a:endParaRPr lang="en-US" sz="1800" noProof="1"/>
          </a:p>
        </p:txBody>
      </p:sp>
      <p:sp>
        <p:nvSpPr>
          <p:cNvPr id="3" name="thanks"/>
          <p:cNvSpPr txBox="1"/>
          <p:nvPr/>
        </p:nvSpPr>
        <p:spPr>
          <a:xfrm>
            <a:off x="2921000" y="2413000"/>
            <a:ext cx="6350000" cy="1397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7200" b="1" noProof="1">
                <a:solidFill>
                  <a:srgbClr val="0070C0"/>
                </a:solidFill>
                <a:latin typeface="Arial" panose="020B0604020202020204"/>
                <a:ea typeface="微软雅黑" panose="020B0503020204020204" charset="-122"/>
              </a:rPr>
              <a:t>谢谢</a:t>
            </a:r>
            <a:endParaRPr lang="en-US" sz="7200" noProof="1"/>
          </a:p>
        </p:txBody>
      </p:sp>
      <p:sp>
        <p:nvSpPr>
          <p:cNvPr id="4" name="slogan"/>
          <p:cNvSpPr txBox="1"/>
          <p:nvPr/>
        </p:nvSpPr>
        <p:spPr>
          <a:xfrm>
            <a:off x="1651000" y="4191000"/>
            <a:ext cx="88900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700" noProof="1">
                <a:solidFill>
                  <a:srgbClr val="000000"/>
                </a:solidFill>
                <a:latin typeface="MiSans" charset="-122"/>
                <a:ea typeface="MiSans" charset="-122"/>
              </a:rPr>
              <a:t>用桌面 Agent 连接本地文件、工具与大模型，让每个人都能安全、高效地完成业务工作</a:t>
            </a:r>
            <a:endParaRPr lang="en-US" sz="1700" noProof="1"/>
          </a:p>
        </p:txBody>
      </p:sp>
      <p:sp>
        <p:nvSpPr>
          <p:cNvPr id="5" name="company"/>
          <p:cNvSpPr txBox="1"/>
          <p:nvPr/>
        </p:nvSpPr>
        <p:spPr>
          <a:xfrm>
            <a:off x="4191000" y="5334000"/>
            <a:ext cx="3810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>
                <a:solidFill>
                  <a:srgbClr val="7F7F7F"/>
                </a:solidFill>
                <a:latin typeface="MiSans" charset="-122"/>
                <a:ea typeface="MiSans" charset="-122"/>
              </a:rPr>
              <a:t>北京四方上行软件技术有限公司</a:t>
            </a:r>
            <a:endParaRPr lang="en-US" sz="1400" noProof="1"/>
          </a:p>
        </p:txBody>
      </p:sp>
      <p:sp>
        <p:nvSpPr>
          <p:cNvPr id="6" name="bar"/>
          <p:cNvSpPr/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0070C0"/>
          </a:solidFill>
          <a:ln>
            <a:noFill/>
          </a:ln>
        </p:spPr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50,&quot;left&quot;:50,&quot;top&quot;:158,&quot;width&quot;:858.4}"/>
</p:tagLst>
</file>

<file path=ppt/tags/tag2.xml><?xml version="1.0" encoding="utf-8"?>
<p:tagLst xmlns:p="http://schemas.openxmlformats.org/presentationml/2006/main">
  <p:tag name="KSO_WM_DIAGRAM_VIRTUALLY_FRAME" val="{&quot;height&quot;:350,&quot;left&quot;:50,&quot;top&quot;:158,&quot;width&quot;:858.4}"/>
</p:tagLst>
</file>

<file path=ppt/tags/tag3.xml><?xml version="1.0" encoding="utf-8"?>
<p:tagLst xmlns:p="http://schemas.openxmlformats.org/presentationml/2006/main">
  <p:tag name="KSO_WM_DIAGRAM_VIRTUALLY_FRAME" val="{&quot;height&quot;:350,&quot;left&quot;:50,&quot;top&quot;:158,&quot;width&quot;:858.4}"/>
</p:tagLst>
</file>

<file path=ppt/tags/tag4.xml><?xml version="1.0" encoding="utf-8"?>
<p:tagLst xmlns:p="http://schemas.openxmlformats.org/presentationml/2006/main">
  <p:tag name="KSO_WM_DIAGRAM_VIRTUALLY_FRAME" val="{&quot;height&quot;:350,&quot;left&quot;:50,&quot;top&quot;:158,&quot;width&quot;:858.4}"/>
</p:tagLst>
</file>

<file path=ppt/tags/tag5.xml><?xml version="1.0" encoding="utf-8"?>
<p:tagLst xmlns:p="http://schemas.openxmlformats.org/presentationml/2006/main">
  <p:tag name="KSO_WM_DIAGRAM_VIRTUALLY_FRAME" val="{&quot;height&quot;:350,&quot;left&quot;:50,&quot;top&quot;:158,&quot;width&quot;:858.4}"/>
</p:tagLst>
</file>

<file path=ppt/tags/tag6.xml><?xml version="1.0" encoding="utf-8"?>
<p:tagLst xmlns:p="http://schemas.openxmlformats.org/presentationml/2006/main">
  <p:tag name="KSO_WM_DIAGRAM_VIRTUALLY_FRAME" val="{&quot;height&quot;:350,&quot;left&quot;:50,&quot;top&quot;:158,&quot;width&quot;:858.4}"/>
</p:tagLst>
</file>

<file path=ppt/tags/tag7.xml><?xml version="1.0" encoding="utf-8"?>
<p:tagLst xmlns:p="http://schemas.openxmlformats.org/presentationml/2006/main">
  <p:tag name="KSO_WM_DIAGRAM_VIRTUALLY_FRAME" val="{&quot;height&quot;:350,&quot;left&quot;:50,&quot;top&quot;:158,&quot;width&quot;:858.4}"/>
</p:tagLst>
</file>

<file path=ppt/tags/tag8.xml><?xml version="1.0" encoding="utf-8"?>
<p:tagLst xmlns:p="http://schemas.openxmlformats.org/presentationml/2006/main">
  <p:tag name="KSO_WM_DIAGRAM_VIRTUALLY_FRAME" val="{&quot;height&quot;:350,&quot;left&quot;:50,&quot;top&quot;:158,&quot;width&quot;:858.4}"/>
</p:tagLst>
</file>

<file path=ppt/tags/tag9.xml><?xml version="1.0" encoding="utf-8"?>
<p:tagLst xmlns:p="http://schemas.openxmlformats.org/presentationml/2006/main">
  <p:tag name="KSO_WM_DIAGRAM_VIRTUALLY_FRAME" val="{&quot;height&quot;:350,&quot;left&quot;:50,&quot;top&quot;:158,&quot;width&quot;:858.4}"/>
</p:tagLst>
</file>

<file path=ppt/tags/tag10.xml><?xml version="1.0" encoding="utf-8"?>
<p:tagLst xmlns:p="http://schemas.openxmlformats.org/presentationml/2006/main">
  <p:tag name="KSO_WM_DIAGRAM_VIRTUALLY_FRAME" val="{&quot;height&quot;:350,&quot;left&quot;:50,&quot;top&quot;:158,&quot;width&quot;:858.4}"/>
</p:tagLst>
</file>

<file path=ppt/tags/tag11.xml><?xml version="1.0" encoding="utf-8"?>
<p:tagLst xmlns:p="http://schemas.openxmlformats.org/presentationml/2006/main">
  <p:tag name="KSO_WM_DIAGRAM_VIRTUALLY_FRAME" val="{&quot;height&quot;:350,&quot;left&quot;:50,&quot;top&quot;:158,&quot;width&quot;:858.4}"/>
</p:tagLst>
</file>

<file path=ppt/tags/tag12.xml><?xml version="1.0" encoding="utf-8"?>
<p:tagLst xmlns:p="http://schemas.openxmlformats.org/presentationml/2006/main">
  <p:tag name="KSO_WM_DIAGRAM_VIRTUALLY_FRAME" val="{&quot;height&quot;:350,&quot;left&quot;:50,&quot;top&quot;:158,&quot;width&quot;:858.4}"/>
</p:tagLst>
</file>

<file path=ppt/tags/tag13.xml><?xml version="1.0" encoding="utf-8"?>
<p:tagLst xmlns:p="http://schemas.openxmlformats.org/presentationml/2006/main">
  <p:tag name="KSO_WM_DIAGRAM_VIRTUALLY_FRAME" val="{&quot;height&quot;:350,&quot;left&quot;:50,&quot;top&quot;:158,&quot;width&quot;:858.4}"/>
</p:tagLst>
</file>

<file path=ppt/tags/tag14.xml><?xml version="1.0" encoding="utf-8"?>
<p:tagLst xmlns:p="http://schemas.openxmlformats.org/presentationml/2006/main">
  <p:tag name="KSO_WM_DIAGRAM_VIRTUALLY_FRAME" val="{&quot;height&quot;:350,&quot;left&quot;:50,&quot;top&quot;:158,&quot;width&quot;:858.4}"/>
</p:tagLst>
</file>

<file path=ppt/tags/tag15.xml><?xml version="1.0" encoding="utf-8"?>
<p:tagLst xmlns:p="http://schemas.openxmlformats.org/presentationml/2006/main">
  <p:tag name="KSO_WM_DIAGRAM_VIRTUALLY_FRAME" val="{&quot;height&quot;:350,&quot;left&quot;:50,&quot;top&quot;:158,&quot;width&quot;:858.4}"/>
</p:tagLst>
</file>

<file path=ppt/tags/tag16.xml><?xml version="1.0" encoding="utf-8"?>
<p:tagLst xmlns:p="http://schemas.openxmlformats.org/presentationml/2006/main">
  <p:tag name="KSO_WM_DIAGRAM_VIRTUALLY_FRAME" val="{&quot;height&quot;:350,&quot;left&quot;:50,&quot;top&quot;:158,&quot;width&quot;:858.4}"/>
</p:tagLst>
</file>

<file path=ppt/tags/tag17.xml><?xml version="1.0" encoding="utf-8"?>
<p:tagLst xmlns:p="http://schemas.openxmlformats.org/presentationml/2006/main">
  <p:tag name="KSO_WM_DIAGRAM_VIRTUALLY_FRAME" val="{&quot;height&quot;:350,&quot;left&quot;:50,&quot;top&quot;:158,&quot;width&quot;:858.4}"/>
</p:tagLst>
</file>

<file path=ppt/tags/tag18.xml><?xml version="1.0" encoding="utf-8"?>
<p:tagLst xmlns:p="http://schemas.openxmlformats.org/presentationml/2006/main">
  <p:tag name="KSO_WM_DIAGRAM_VIRTUALLY_FRAME" val="{&quot;height&quot;:350,&quot;left&quot;:50,&quot;top&quot;:158,&quot;width&quot;:858.4}"/>
</p:tagLst>
</file>

<file path=ppt/tags/tag19.xml><?xml version="1.0" encoding="utf-8"?>
<p:tagLst xmlns:p="http://schemas.openxmlformats.org/presentationml/2006/main">
  <p:tag name="KSO_WM_DIAGRAM_VIRTUALLY_FRAME" val="{&quot;height&quot;:350,&quot;left&quot;:50,&quot;top&quot;:158,&quot;width&quot;:858.4}"/>
</p:tagLst>
</file>

<file path=ppt/tags/tag20.xml><?xml version="1.0" encoding="utf-8"?>
<p:tagLst xmlns:p="http://schemas.openxmlformats.org/presentationml/2006/main">
  <p:tag name="KSO_WM_DIAGRAM_VIRTUALLY_FRAME" val="{&quot;height&quot;:350,&quot;left&quot;:50,&quot;top&quot;:158,&quot;width&quot;:858.4}"/>
</p:tagLst>
</file>

<file path=ppt/tags/tag21.xml><?xml version="1.0" encoding="utf-8"?>
<p:tagLst xmlns:p="http://schemas.openxmlformats.org/presentationml/2006/main">
  <p:tag name="KSO_WM_DIAGRAM_VIRTUALLY_FRAME" val="{&quot;height&quot;:256,&quot;left&quot;:155,&quot;top&quot;:128,&quot;width&quot;:650}"/>
</p:tagLst>
</file>

<file path=ppt/tags/tag22.xml><?xml version="1.0" encoding="utf-8"?>
<p:tagLst xmlns:p="http://schemas.openxmlformats.org/presentationml/2006/main">
  <p:tag name="KSO_WM_DIAGRAM_VIRTUALLY_FRAME" val="{&quot;height&quot;:256,&quot;left&quot;:155,&quot;top&quot;:128,&quot;width&quot;:650}"/>
</p:tagLst>
</file>

<file path=ppt/tags/tag23.xml><?xml version="1.0" encoding="utf-8"?>
<p:tagLst xmlns:p="http://schemas.openxmlformats.org/presentationml/2006/main">
  <p:tag name="KSO_WM_DIAGRAM_VIRTUALLY_FRAME" val="{&quot;height&quot;:256,&quot;left&quot;:155,&quot;top&quot;:128,&quot;width&quot;:650}"/>
</p:tagLst>
</file>

<file path=ppt/tags/tag24.xml><?xml version="1.0" encoding="utf-8"?>
<p:tagLst xmlns:p="http://schemas.openxmlformats.org/presentationml/2006/main">
  <p:tag name="KSO_WM_DIAGRAM_VIRTUALLY_FRAME" val="{&quot;height&quot;:256,&quot;left&quot;:155,&quot;top&quot;:128,&quot;width&quot;:650}"/>
</p:tagLst>
</file>

<file path=ppt/tags/tag25.xml><?xml version="1.0" encoding="utf-8"?>
<p:tagLst xmlns:p="http://schemas.openxmlformats.org/presentationml/2006/main">
  <p:tag name="KSO_WM_DIAGRAM_VIRTUALLY_FRAME" val="{&quot;height&quot;:256,&quot;left&quot;:155,&quot;top&quot;:128,&quot;width&quot;:650}"/>
</p:tagLst>
</file>

<file path=ppt/tags/tag26.xml><?xml version="1.0" encoding="utf-8"?>
<p:tagLst xmlns:p="http://schemas.openxmlformats.org/presentationml/2006/main">
  <p:tag name="KSO_WM_DIAGRAM_VIRTUALLY_FRAME" val="{&quot;height&quot;:256,&quot;left&quot;:155,&quot;top&quot;:128,&quot;width&quot;:650}"/>
</p:tagLst>
</file>

<file path=ppt/tags/tag27.xml><?xml version="1.0" encoding="utf-8"?>
<p:tagLst xmlns:p="http://schemas.openxmlformats.org/presentationml/2006/main">
  <p:tag name="KSO_WM_DIAGRAM_VIRTUALLY_FRAME" val="{&quot;height&quot;:256,&quot;left&quot;:155,&quot;top&quot;:128,&quot;width&quot;:650}"/>
</p:tagLst>
</file>

<file path=ppt/tags/tag28.xml><?xml version="1.0" encoding="utf-8"?>
<p:tagLst xmlns:p="http://schemas.openxmlformats.org/presentationml/2006/main">
  <p:tag name="KSO_WM_DIAGRAM_VIRTUALLY_FRAME" val="{&quot;height&quot;:256,&quot;left&quot;:155,&quot;top&quot;:128,&quot;width&quot;:650}"/>
</p:tagLst>
</file>

<file path=ppt/tags/tag29.xml><?xml version="1.0" encoding="utf-8"?>
<p:tagLst xmlns:p="http://schemas.openxmlformats.org/presentationml/2006/main">
  <p:tag name="KSO_WM_DIAGRAM_VIRTUALLY_FRAME" val="{&quot;height&quot;:256,&quot;left&quot;:155,&quot;top&quot;:128,&quot;width&quot;:650}"/>
</p:tagLst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7362</Words>
  <Application>WPS 演示</Application>
  <PresentationFormat/>
  <Paragraphs>667</Paragraphs>
  <Slides>27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6" baseType="lpstr">
      <vt:lpstr>Arial</vt:lpstr>
      <vt:lpstr>宋体</vt:lpstr>
      <vt:lpstr>Wingdings</vt:lpstr>
      <vt:lpstr>Arial</vt:lpstr>
      <vt:lpstr>微软雅黑</vt:lpstr>
      <vt:lpstr>MiSans</vt:lpstr>
      <vt:lpstr>Arial Unicode MS</vt:lpstr>
      <vt:lpstr>Calibri</vt:lpstr>
      <vt:lpstr>PPTD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LINGQI（令旗）桌面客户端 Agent 产品介绍</dc:title>
  <dc:creator/>
  <cp:lastModifiedBy>阿卡</cp:lastModifiedBy>
  <cp:revision>8</cp:revision>
  <dcterms:created xsi:type="dcterms:W3CDTF">2026-09-09T07:40:00Z</dcterms:created>
  <dcterms:modified xsi:type="dcterms:W3CDTF">2026-09-14T05:16:16Z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/>
  </property>
  <property fmtid="{D5CDD505-2E9C-101B-9397-08002B2CF9AE}" pid="3" name="ICV">
    <vt:lpwstr>77678B5965FD46958A8648CE20F9AD3C_12</vt:lpwstr>
  </property>
  <property fmtid="{D5CDD505-2E9C-101B-9397-08002B2CF9AE}" pid="4" name="KSOProductBuildVer">
    <vt:lpwstr>2052-12.1.0.28599</vt:lpwstr>
  </property>
</Properties>
</file>
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28"/>
  </p:handoutMasterIdLst>
  <p:sldIdLst>
    <p:sldId id="256" r:id="rId4"/>
    <p:sldId id="311" r:id="rId6"/>
    <p:sldId id="312" r:id="rId7"/>
    <p:sldId id="313" r:id="rId8"/>
    <p:sldId id="314" r:id="rId9"/>
    <p:sldId id="316" r:id="rId10"/>
    <p:sldId id="317" r:id="rId11"/>
    <p:sldId id="315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285" r:id="rId27"/>
  </p:sldIdLst>
  <p:sldSz cx="12192000" cy="6858000"/>
  <p:notesSz cx="12192000" cy="6858000"/>
  <p:custDataLst>
    <p:tags r:id="rId3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吴久龙" initials="authorId_862189687" lastIdx="2" clrIdx="0"/>
  <p:cmAuthor id="2" name="阿卡" initials="authorId_862189687" lastIdx="3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gs" Target="tags/tag49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9-01T14:25:55.490" idx="1">
    <p:pos x="10" y="10"/>
    <p:text>各位领导,老师下午好，今天我介绍的项目是 自然语言驱动自由查询系统。它的核心目标, 是让企业里的业务、审计、风险管理和运营人员，能够像对话一样问问题，通过自然语言去问数据库要数据，并且能快速、准确地拿到数据结果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9-02T11:49:10.837" idx="31">
    <p:pos x="10" y="10"/>
    <p:text>以上， 感谢各位领导老师聆听， 接下来给领导们看下我们的演示环境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各位领导</a:t>
            </a:r>
            <a:r>
              <a:rPr lang="en-US" altLang="zh-CN"/>
              <a:t>,</a:t>
            </a:r>
            <a:r>
              <a:rPr lang="zh-CN" altLang="en-US"/>
              <a:t>各位老师下午好，今天我介绍的是</a:t>
            </a:r>
            <a:r>
              <a:rPr lang="en-US" altLang="zh-CN"/>
              <a:t> </a:t>
            </a:r>
            <a:r>
              <a:rPr lang="zh-CN" altLang="en-US"/>
              <a:t>自然语言驱动多数据源查询系统。它的核心目标</a:t>
            </a:r>
            <a:r>
              <a:rPr lang="en-US" altLang="zh-CN"/>
              <a:t>, </a:t>
            </a:r>
            <a:r>
              <a:rPr lang="zh-CN" altLang="en-US"/>
              <a:t>是让企业的业务、审计、风险管理和运营人员，能够像对话一样问问题，通过自然语言去问数据库要数据，并且能快速、准确地拿到数据结果。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首先先介绍下我司简介；北京四方上行软件技术有限公司成立于</a:t>
            </a:r>
            <a:r>
              <a:rPr lang="en-US" altLang="zh-CN"/>
              <a:t> 2021 </a:t>
            </a:r>
            <a:r>
              <a:rPr lang="zh-CN" altLang="en-US"/>
              <a:t>年</a:t>
            </a:r>
            <a:r>
              <a:rPr lang="en-US" altLang="zh-CN"/>
              <a:t> 1 </a:t>
            </a:r>
            <a:r>
              <a:rPr lang="zh-CN" altLang="en-US"/>
              <a:t>月，注册资本</a:t>
            </a:r>
            <a:r>
              <a:rPr lang="en-US" altLang="zh-CN"/>
              <a:t> 1000 </a:t>
            </a:r>
            <a:r>
              <a:rPr lang="zh-CN" altLang="en-US"/>
              <a:t>万元，是国家级高新技术企业。</a:t>
            </a:r>
            <a:endParaRPr lang="en-US" altLang="zh-CN"/>
          </a:p>
          <a:p>
            <a:r>
              <a:rPr lang="zh-CN" altLang="zh-CN"/>
              <a:t>团队骨干由多年金融科技领域的业务专家和技术专家组成，目前员工约</a:t>
            </a:r>
            <a:r>
              <a:rPr lang="en-US" altLang="zh-CN"/>
              <a:t> 30 </a:t>
            </a:r>
            <a:r>
              <a:rPr lang="zh-CN" altLang="en-US"/>
              <a:t>人。</a:t>
            </a:r>
            <a:endParaRPr lang="en-US" altLang="zh-CN"/>
          </a:p>
          <a:p>
            <a:r>
              <a:rPr lang="zh-CN" altLang="zh-CN"/>
              <a:t>在</a:t>
            </a:r>
            <a:r>
              <a:rPr lang="en-US" altLang="zh-CN"/>
              <a:t> AI </a:t>
            </a:r>
            <a:r>
              <a:rPr lang="zh-CN" altLang="en-US"/>
              <a:t>领域，我司致力于用</a:t>
            </a:r>
            <a:r>
              <a:rPr lang="en-US" altLang="zh-CN"/>
              <a:t> AI </a:t>
            </a:r>
            <a:r>
              <a:rPr lang="zh-CN" altLang="en-US"/>
              <a:t>技术为金融机构提供业务解决方案和技术解决方案。</a:t>
            </a:r>
            <a:endParaRPr lang="en-US" altLang="zh-CN"/>
          </a:p>
          <a:p>
            <a:r>
              <a:rPr lang="zh-CN" altLang="zh-CN"/>
              <a:t>目前已取得或正在申请的知识产权包括：标准知识库系统、银行历史技术资产库管理、测试案例生成、网银智能功能导航、</a:t>
            </a:r>
            <a:r>
              <a:rPr lang="en-US" altLang="zh-CN"/>
              <a:t>AI </a:t>
            </a:r>
            <a:r>
              <a:rPr lang="zh-CN" altLang="en-US"/>
              <a:t>驱动超级出纳、</a:t>
            </a:r>
            <a:endParaRPr lang="zh-CN" altLang="en-US"/>
          </a:p>
          <a:p>
            <a:r>
              <a:rPr lang="zh-CN" altLang="en-US"/>
              <a:t>自然语言驱动多行资金管理、领导驾驶舱、</a:t>
            </a:r>
            <a:r>
              <a:rPr lang="en-US" altLang="zh-CN"/>
              <a:t>NLP2SQL</a:t>
            </a:r>
            <a:r>
              <a:rPr lang="zh-CN" altLang="en-US"/>
              <a:t>自然语言查询工具、以及桌面客户端</a:t>
            </a:r>
            <a:r>
              <a:rPr lang="en-US" altLang="zh-CN"/>
              <a:t>AGENT</a:t>
            </a:r>
            <a:r>
              <a:rPr lang="zh-CN" altLang="en-US"/>
              <a:t>工具等。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公司秉承传统</a:t>
            </a:r>
            <a:r>
              <a:rPr lang="en-US" altLang="zh-CN"/>
              <a:t>+</a:t>
            </a:r>
            <a:r>
              <a:rPr lang="zh-CN" altLang="en-US"/>
              <a:t>前沿发展模式。以传统技术服务业务为基础，使公司解决方案方向不脱离实际应用轨道；以前沿技术为拓展方向，以</a:t>
            </a:r>
            <a:r>
              <a:rPr lang="en-US" altLang="zh-CN"/>
              <a:t>AI</a:t>
            </a:r>
            <a:r>
              <a:rPr lang="zh-CN" altLang="en-US"/>
              <a:t>技术、</a:t>
            </a:r>
            <a:r>
              <a:rPr lang="en-US" altLang="zh-CN"/>
              <a:t>RPA</a:t>
            </a:r>
            <a:r>
              <a:rPr lang="zh-CN" altLang="en-US"/>
              <a:t>技术、区块链技术等赋能客户新的创新解决方案模式。现有以下解决方案。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以上， 感谢各位领导老师聆听， 接下看下演示环境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"/>
          <p:cNvPicPr/>
          <p:nvPr/>
        </p:nvPicPr>
        <p:blipFill>
          <a:blip r:embed="rId1"/>
          <a:stretch>
            <a:fillRect/>
          </a:stretch>
        </p:blipFill>
        <p:spPr>
          <a:xfrm>
            <a:off x="949960" y="2180590"/>
            <a:ext cx="10337800" cy="2679700"/>
          </a:xfrm>
          <a:prstGeom prst="rect">
            <a:avLst/>
          </a:prstGeom>
          <a:ln>
            <a:noFill/>
          </a:ln>
        </p:spPr>
      </p:pic>
      <p:sp>
        <p:nvSpPr>
          <p:cNvPr id="3" name="navy-bar"/>
          <p:cNvSpPr/>
          <p:nvPr/>
        </p:nvSpPr>
        <p:spPr>
          <a:xfrm>
            <a:off x="0" y="4292600"/>
            <a:ext cx="12192000" cy="2565400"/>
          </a:xfrm>
          <a:prstGeom prst="rect">
            <a:avLst/>
          </a:prstGeom>
          <a:solidFill>
            <a:srgbClr val="223962"/>
          </a:solidFill>
          <a:ln w="12700">
            <a:solidFill>
              <a:srgbClr val="ED7D31"/>
            </a:solidFill>
          </a:ln>
        </p:spPr>
      </p:sp>
      <p:sp>
        <p:nvSpPr>
          <p:cNvPr id="4" name="company"/>
          <p:cNvSpPr txBox="1"/>
          <p:nvPr/>
        </p:nvSpPr>
        <p:spPr>
          <a:xfrm>
            <a:off x="121920" y="4470400"/>
            <a:ext cx="11948160" cy="975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endParaRPr lang="en-US" sz="4400"/>
          </a:p>
        </p:txBody>
      </p:sp>
      <p:sp>
        <p:nvSpPr>
          <p:cNvPr id="5" name="company-en"/>
          <p:cNvSpPr txBox="1"/>
          <p:nvPr/>
        </p:nvSpPr>
        <p:spPr>
          <a:xfrm>
            <a:off x="121920" y="5689600"/>
            <a:ext cx="11948160" cy="50800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rtlCol="0" anchor="t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用桌面 Agent 连接本地文件、工具与大模型 · 让每个人都能安全、高效地完成业务工作</a:t>
            </a:r>
            <a:endParaRPr lang="en-US" sz="1500"/>
          </a:p>
        </p:txBody>
      </p:sp>
      <p:sp>
        <p:nvSpPr>
          <p:cNvPr id="6" name="title-box"/>
          <p:cNvSpPr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</p:sp>
      <p:sp>
        <p:nvSpPr>
          <p:cNvPr id="7" name="title"/>
          <p:cNvSpPr txBox="1"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rtlCol="0" anchor="ctr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令旗桌</a:t>
            </a:r>
            <a:r>
              <a:rPr lang="en-US" sz="36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LINGQI 令旗桌面客户端 Agent</a:t>
            </a:r>
            <a:endParaRPr lang="en-US" altLang="en-US" sz="360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sp>
        <p:nvSpPr>
          <p:cNvPr id="8" name="subtitle"/>
          <p:cNvSpPr txBox="1"/>
          <p:nvPr/>
        </p:nvSpPr>
        <p:spPr>
          <a:xfrm>
            <a:off x="904240" y="2600960"/>
            <a:ext cx="10172700" cy="49022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rtlCol="0" anchor="ctr"/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--面向企业本地办</a:t>
            </a:r>
            <a:r>
              <a:rPr lang="en-US">
                <a:solidFill>
                  <a:srgbClr val="000000"/>
                </a:solidFill>
                <a:latin typeface="MiSans" charset="-122"/>
                <a:ea typeface="MiSans" charset="-122"/>
                <a:sym typeface="+mn-ea"/>
              </a:rPr>
              <a:t>--本地桌面 Agent 工作台</a:t>
            </a:r>
            <a:endParaRPr lang="zh-CN" altLang="en-US" sz="2000"/>
          </a:p>
        </p:txBody>
      </p:sp>
      <p:sp>
        <p:nvSpPr>
          <p:cNvPr id="9" name="logo"/>
          <p:cNvSpPr txBox="1"/>
          <p:nvPr/>
        </p:nvSpPr>
        <p:spPr>
          <a:xfrm>
            <a:off x="254000" y="1778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zh-CN" altLang="en-US" sz="2000" b="1">
              <a:solidFill>
                <a:srgbClr val="E89924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subtitle"/>
          <p:cNvSpPr txBox="1"/>
          <p:nvPr/>
        </p:nvSpPr>
        <p:spPr>
          <a:xfrm>
            <a:off x="904240" y="835660"/>
            <a:ext cx="10172700" cy="7086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rtlCol="0" anchor="ctr"/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让业务、技术和管理人员都能在本地安全使用 Agent 完成对话、分析与文件处理</a:t>
            </a:r>
            <a:endParaRPr lang="zh-CN" altLang="en-US" sz="24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57145" y="3463290"/>
            <a:ext cx="6615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ym typeface="+mn-ea"/>
              </a:rPr>
              <a:t>北京四方上行软件技术有限公司</a:t>
            </a:r>
            <a:endParaRPr lang="zh-CN" altLang="en-US" sz="3200"/>
          </a:p>
        </p:txBody>
      </p:sp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3000"/>
              <a:t>公司简介</a:t>
            </a:r>
            <a:endParaRPr lang="zh-CN" altLang="en-US" sz="3000"/>
          </a:p>
        </p:txBody>
      </p:sp>
      <p:sp>
        <p:nvSpPr>
          <p:cNvPr id="7" name="logo"/>
          <p:cNvSpPr txBox="1"/>
          <p:nvPr/>
        </p:nvSpPr>
        <p:spPr>
          <a:xfrm>
            <a:off x="9144000" y="1524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/>
          </a:p>
        </p:txBody>
      </p:sp>
      <p:sp>
        <p:nvSpPr>
          <p:cNvPr id="28" name="文本框 27"/>
          <p:cNvSpPr txBox="1"/>
          <p:nvPr/>
        </p:nvSpPr>
        <p:spPr>
          <a:xfrm>
            <a:off x="331470" y="1177290"/>
            <a:ext cx="118129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    </a:t>
            </a:r>
            <a:r>
              <a:rPr lang="zh-CN" altLang="en-US"/>
              <a:t>北京四方上行软件技术有限公司成立于2021年1月，注册资本1000万元，是国家级高新技术企业。公司团队骨干由多年耕耘金融科技领域的业务专家和技术专家组成，目前有员工30人左右。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    </a:t>
            </a:r>
            <a:r>
              <a:rPr lang="zh-CN" altLang="en-US"/>
              <a:t>在</a:t>
            </a:r>
            <a:r>
              <a:rPr lang="en-US" altLang="zh-CN"/>
              <a:t>AI</a:t>
            </a:r>
            <a:r>
              <a:rPr lang="zh-CN" altLang="en-US"/>
              <a:t>领域，四方上行致力于用</a:t>
            </a:r>
            <a:r>
              <a:rPr lang="en-US" altLang="zh-CN"/>
              <a:t>AI</a:t>
            </a:r>
            <a:r>
              <a:rPr lang="zh-CN" altLang="en-US"/>
              <a:t>技术为金融机构提供业务解决方案和技术解决方案，促进客户的数字化转型。目前已取得或正在申请的知识产权包括：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3855" y="2755900"/>
            <a:ext cx="11768455" cy="388429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 defTabSz="2667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标准知识库系统（可建设审计、合规、会计、风险、监管规定、公司制度等等）</a:t>
            </a:r>
            <a:endParaRPr lang="zh-CN" altLang="en-US" sz="1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defTabSz="2667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银行历史技术资产库管理（知识库应用，公司已经产生的历史源代码、文档、脚本、数据字典，可随查随用，如定义、标准、标准函数、标准接口、数据字典命名等）</a:t>
            </a:r>
            <a:endParaRPr lang="zh-CN" altLang="en-US" sz="1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defTabSz="2667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测试案例生成（</a:t>
            </a: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RAG+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知识库）</a:t>
            </a:r>
            <a:endParaRPr lang="zh-CN" altLang="en-US" sz="1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defTabSz="2667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网银（复杂办公系统）智能功能导航</a:t>
            </a:r>
            <a:endParaRPr lang="zh-CN" altLang="en-US" sz="1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defTabSz="2667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AI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驱动超级（财务）出纳（多银行账户现金管理，可作为银行数据</a:t>
            </a: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》财务系统数据桥梁，</a:t>
            </a: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AI+RPA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 sz="1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defTabSz="2667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自然语言驱动多行资金管理（企业端超级网银，</a:t>
            </a: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AI+RPA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 sz="1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defTabSz="2667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领导（管理）驾驶舱（简约办公</a:t>
            </a: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AGENT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</a:t>
            </a: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NLP+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知识库</a:t>
            </a: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+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传统数据库</a:t>
            </a: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+RPA+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接口，自动登录、各种系统自动执行指令和功能定位、邮件系统自动登录并检索邮件、本地文件系统自动检索文件【文件名匹配】等等）</a:t>
            </a:r>
            <a:endParaRPr lang="zh-CN" altLang="en-US" sz="1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defTabSz="2667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NLP2SQL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自然语言查询工具</a:t>
            </a:r>
            <a:endParaRPr lang="zh-CN" altLang="en-US" sz="1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defTabSz="2667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LINGQI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（令旗）桌面客户端版</a:t>
            </a:r>
            <a:r>
              <a:rPr lang="en-US" altLang="zh-CN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AGENT</a:t>
            </a:r>
            <a:r>
              <a:rPr lang="zh-CN" altLang="en-US" sz="1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工具（基础版，可开放源代码，含服务器版口令、权限控制中心）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3000"/>
              <a:t>公司简介</a:t>
            </a:r>
            <a:endParaRPr lang="zh-CN" altLang="en-US" sz="3000"/>
          </a:p>
        </p:txBody>
      </p:sp>
      <p:sp>
        <p:nvSpPr>
          <p:cNvPr id="7" name="logo"/>
          <p:cNvSpPr txBox="1"/>
          <p:nvPr/>
        </p:nvSpPr>
        <p:spPr>
          <a:xfrm>
            <a:off x="9144000" y="1524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/>
          </a:p>
        </p:txBody>
      </p:sp>
      <p:sp>
        <p:nvSpPr>
          <p:cNvPr id="28" name="文本框 27"/>
          <p:cNvSpPr txBox="1"/>
          <p:nvPr/>
        </p:nvSpPr>
        <p:spPr>
          <a:xfrm>
            <a:off x="331470" y="1177290"/>
            <a:ext cx="118129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     </a:t>
            </a:r>
            <a:r>
              <a:rPr lang="zh-CN" altLang="en-US"/>
              <a:t>公司秉承传统</a:t>
            </a:r>
            <a:r>
              <a:rPr lang="en-US" altLang="zh-CN"/>
              <a:t>+</a:t>
            </a:r>
            <a:r>
              <a:rPr lang="zh-CN" altLang="en-US"/>
              <a:t>前沿</a:t>
            </a:r>
            <a:r>
              <a:rPr lang="zh-CN" altLang="en-US"/>
              <a:t>发展模式。以传统技术服务业务为基础，使公司解决方案方向不脱离实际应用轨道；以前沿技术为拓展方向，以</a:t>
            </a:r>
            <a:r>
              <a:rPr lang="en-US" altLang="zh-CN"/>
              <a:t>AI</a:t>
            </a:r>
            <a:r>
              <a:rPr lang="zh-CN" altLang="en-US"/>
              <a:t>技术、</a:t>
            </a:r>
            <a:r>
              <a:rPr lang="en-US" altLang="zh-CN"/>
              <a:t>RPA</a:t>
            </a:r>
            <a:r>
              <a:rPr lang="zh-CN" altLang="en-US"/>
              <a:t>技术、区块链技术等赋能客户新的创新解决方案模式。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352040" y="2560955"/>
            <a:ext cx="2499995" cy="66865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传统解决方案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568565" y="2560955"/>
            <a:ext cx="2499995" cy="66865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AI</a:t>
            </a:r>
            <a:r>
              <a:rPr lang="zh-CN" altLang="en-US"/>
              <a:t>、区块链、</a:t>
            </a:r>
            <a:r>
              <a:rPr lang="en-US" altLang="zh-CN"/>
              <a:t>RPA</a:t>
            </a:r>
            <a:r>
              <a:rPr lang="zh-CN" altLang="en-US"/>
              <a:t>解决方案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365885" y="4135120"/>
            <a:ext cx="615315" cy="164655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交易银行类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2322830" y="4135120"/>
            <a:ext cx="615315" cy="167703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同业业务类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279775" y="4135120"/>
            <a:ext cx="615315" cy="166751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资金管理类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39635" y="4045585"/>
            <a:ext cx="615315" cy="163512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知识库应用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8144510" y="4045585"/>
            <a:ext cx="615315" cy="163830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AI+RPA</a:t>
            </a:r>
            <a:r>
              <a:rPr lang="zh-CN" altLang="en-US"/>
              <a:t>应用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9131935" y="4045585"/>
            <a:ext cx="615315" cy="160782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智能体建设</a:t>
            </a: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0068560" y="4045585"/>
            <a:ext cx="615315" cy="160782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区块链应用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4236720" y="4135120"/>
            <a:ext cx="615315" cy="167703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风险管理类</a:t>
            </a:r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5083810" y="4175760"/>
            <a:ext cx="615315" cy="163639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电子回单</a:t>
            </a:r>
            <a:endParaRPr lang="zh-CN" altLang="en-US"/>
          </a:p>
        </p:txBody>
      </p:sp>
      <p:cxnSp>
        <p:nvCxnSpPr>
          <p:cNvPr id="20" name="直接箭头连接符 19"/>
          <p:cNvCxnSpPr>
            <a:stCxn id="9" idx="2"/>
            <a:endCxn id="11" idx="0"/>
          </p:cNvCxnSpPr>
          <p:nvPr/>
        </p:nvCxnSpPr>
        <p:spPr>
          <a:xfrm flipH="1">
            <a:off x="1673860" y="3229610"/>
            <a:ext cx="1928495" cy="9055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9" idx="2"/>
            <a:endCxn id="12" idx="0"/>
          </p:cNvCxnSpPr>
          <p:nvPr/>
        </p:nvCxnSpPr>
        <p:spPr>
          <a:xfrm flipH="1">
            <a:off x="2630805" y="3229610"/>
            <a:ext cx="971550" cy="9055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9" idx="2"/>
            <a:endCxn id="13" idx="0"/>
          </p:cNvCxnSpPr>
          <p:nvPr/>
        </p:nvCxnSpPr>
        <p:spPr>
          <a:xfrm flipH="1">
            <a:off x="3587750" y="3229610"/>
            <a:ext cx="14605" cy="9055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9" idx="2"/>
            <a:endCxn id="18" idx="0"/>
          </p:cNvCxnSpPr>
          <p:nvPr/>
        </p:nvCxnSpPr>
        <p:spPr>
          <a:xfrm>
            <a:off x="3602355" y="3229610"/>
            <a:ext cx="942340" cy="9055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9" idx="0"/>
          </p:cNvCxnSpPr>
          <p:nvPr/>
        </p:nvCxnSpPr>
        <p:spPr>
          <a:xfrm>
            <a:off x="3602355" y="3229610"/>
            <a:ext cx="1789430" cy="9461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4" idx="0"/>
          </p:cNvCxnSpPr>
          <p:nvPr/>
        </p:nvCxnSpPr>
        <p:spPr>
          <a:xfrm flipH="1">
            <a:off x="7547610" y="3229610"/>
            <a:ext cx="1271270" cy="8159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" idx="2"/>
            <a:endCxn id="15" idx="0"/>
          </p:cNvCxnSpPr>
          <p:nvPr/>
        </p:nvCxnSpPr>
        <p:spPr>
          <a:xfrm flipH="1">
            <a:off x="8452485" y="3229610"/>
            <a:ext cx="366395" cy="8159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6" idx="0"/>
          </p:cNvCxnSpPr>
          <p:nvPr/>
        </p:nvCxnSpPr>
        <p:spPr>
          <a:xfrm>
            <a:off x="8818880" y="3229610"/>
            <a:ext cx="621030" cy="8159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endCxn id="17" idx="0"/>
          </p:cNvCxnSpPr>
          <p:nvPr/>
        </p:nvCxnSpPr>
        <p:spPr>
          <a:xfrm>
            <a:off x="8839200" y="3229610"/>
            <a:ext cx="1537335" cy="8159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46304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6400" b="1">
                <a:solidFill>
                  <a:srgbClr val="D9E8F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6400" b="1">
              <a:solidFill>
                <a:srgbClr val="D9E8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8840" y="2514600"/>
            <a:ext cx="804672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3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产品背景与定位</a:t>
            </a:r>
            <a:endParaRPr sz="3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12848" y="3429000"/>
            <a:ext cx="3108960" cy="73152"/>
          </a:xfrm>
          <a:prstGeom prst="rect">
            <a:avLst/>
          </a:prstGeom>
          <a:solidFill>
            <a:srgbClr val="E89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46037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前言</a:t>
            </a:r>
            <a:endParaRPr lang="zh-CN"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17855" y="2426335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782447" y="2622931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486535" y="2536062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线上对话工具不能直接接触工作现场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1427480" y="2886202"/>
            <a:ext cx="9784080" cy="768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企业真实工作包含本机文档、项目代码、历史资产与内部系统，纯网页对话无法安全读取和处理这些上下文。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本地文件使用门槛高，</a:t>
            </a:r>
            <a:r>
              <a:rPr lang="zh-CN" altLang="en-US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用户需要先整理、上传、转换文件，再向模型描述任务。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11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617855" y="3737864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6"/>
            </p:custDataLst>
          </p:nvPr>
        </p:nvSpPr>
        <p:spPr>
          <a:xfrm>
            <a:off x="782447" y="393446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1486535" y="3847592"/>
            <a:ext cx="8686800" cy="32194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涉及</a:t>
            </a:r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敏感文件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1486535" y="4176775"/>
            <a:ext cx="978408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传统方案常把文件、任务过程交由外部平台处理，不适合金融、审计、合规等高安全要求场景。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9"/>
            </p:custDataLst>
          </p:nvPr>
        </p:nvSpPr>
        <p:spPr>
          <a:xfrm>
            <a:off x="617855" y="5068951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0"/>
            </p:custDataLst>
          </p:nvPr>
        </p:nvSpPr>
        <p:spPr>
          <a:xfrm>
            <a:off x="782447" y="5265547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1486535" y="5178679"/>
            <a:ext cx="8686800" cy="32194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长任务缺乏可恢复性</a:t>
            </a:r>
            <a:endParaRPr lang="zh-CN" altLang="en-US"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1486535" y="5507863"/>
            <a:ext cx="978408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长任务遇到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网络波动、工具失败或用户停止后，任务容易从头开始。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617728" y="1186942"/>
            <a:ext cx="10881360" cy="101473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企业真实工作并不只发生在网页对话框中。业务资料、项目代码、历史技术资产、制度文件往往保存在本机或受控目录内，纯网页对话工具无法安全地访问这些上下文，也无法把文件、工具执行、人工确认和任务状态串成完整流程。</a:t>
            </a:r>
            <a:endParaRPr lang="zh-CN" altLang="en-US" sz="20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46304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6400" b="1">
                <a:solidFill>
                  <a:srgbClr val="D9E8F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6400" b="1">
              <a:solidFill>
                <a:srgbClr val="D9E8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8840" y="2514600"/>
            <a:ext cx="8046720" cy="61404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3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功能与核心流程</a:t>
            </a:r>
            <a:endParaRPr sz="3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12848" y="3429000"/>
            <a:ext cx="3108960" cy="73152"/>
          </a:xfrm>
          <a:prstGeom prst="rect">
            <a:avLst/>
          </a:prstGeom>
          <a:solidFill>
            <a:srgbClr val="E89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客户端功能全景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21792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76809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490472" y="148132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模型与对话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786384" y="2029967"/>
            <a:ext cx="3145536" cy="46037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OpenAI/Anthropic </a:t>
            </a:r>
            <a:r>
              <a:rPr lang="zh-CN"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主流</a:t>
            </a: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协议；流式回复；上下文记忆；模型连通性检测。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325112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447141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5193792" y="148132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会话工作台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489703" y="2029967"/>
            <a:ext cx="3145536" cy="46037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多会话管理；项目目录关联；历史记录本地持久化。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028431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817473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897111" y="148132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附件与文件分析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193023" y="2029967"/>
            <a:ext cx="3145536" cy="6451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2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主流文件格式</a:t>
            </a:r>
            <a:r>
              <a:rPr sz="12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解析。</a:t>
            </a: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TXT/MD/CSV/JSON/PDF/DOCX/XLSX/PPTX；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21792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4"/>
            </p:custDataLst>
          </p:nvPr>
        </p:nvSpPr>
        <p:spPr>
          <a:xfrm>
            <a:off x="76809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1490472" y="363016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工具系统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786384" y="4178808"/>
            <a:ext cx="3145536" cy="978407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内置读写工具；参数校验；超时与取消；执行结果截断；工具列表可视化。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4325112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8"/>
            </p:custDataLst>
          </p:nvPr>
        </p:nvSpPr>
        <p:spPr>
          <a:xfrm>
            <a:off x="447141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5193792" y="363016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权限与审批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4489703" y="4178808"/>
            <a:ext cx="3145536" cy="978407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read 直接执行；write 分 ask/full；dangerous 拒绝；审批可恢复。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>
            <p:custDataLst>
              <p:tags r:id="rId21"/>
            </p:custDataLst>
          </p:nvPr>
        </p:nvSpPr>
        <p:spPr>
          <a:xfrm>
            <a:off x="8028431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>
            <p:custDataLst>
              <p:tags r:id="rId22"/>
            </p:custDataLst>
          </p:nvPr>
        </p:nvSpPr>
        <p:spPr>
          <a:xfrm>
            <a:off x="817473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3"/>
            </p:custDataLst>
          </p:nvPr>
        </p:nvSpPr>
        <p:spPr>
          <a:xfrm>
            <a:off x="8897111" y="363016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扩展能力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4"/>
            </p:custDataLst>
          </p:nvPr>
        </p:nvSpPr>
        <p:spPr>
          <a:xfrm>
            <a:off x="8193023" y="4178808"/>
            <a:ext cx="3145536" cy="46037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外部工具服务</a:t>
            </a: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扩展技能树</a:t>
            </a: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3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10881360" cy="960120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令旗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本地优先的桌面Agent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大模型、文件、工具、MCP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等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服务和权限审批的客户端。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本地工作台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3584448"/>
            <a:ext cx="2194560" cy="11430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以 Windows 桌面客户端承载，面向日常办公、研发、审计和知识管理场景。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10711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3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开放模型层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57015" y="3584448"/>
            <a:ext cx="2194560" cy="11430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支持 OpenAI 兼容与 Anthropic 两种协议，可按企业要求接入不同模型服务。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63055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安全执行层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59" y="3584448"/>
            <a:ext cx="2194560" cy="11430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工具分读写危险三级，写入需审批，危险工具默认拒绝。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15400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可持续扩展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61704" y="3584448"/>
            <a:ext cx="2194560" cy="11430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通过内置工具、MCP 服务和 Markdown Skill 持续扩展专业能力。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8368" y="5303520"/>
            <a:ext cx="10881360" cy="566928"/>
          </a:xfrm>
          <a:prstGeom prst="rect">
            <a:avLst/>
          </a:prstGeom>
          <a:solidFill>
            <a:srgbClr val="F2F7FC"/>
          </a:solidFill>
          <a:ln w="12700">
            <a:solidFill>
              <a:srgbClr val="E89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当前版本</a:t>
            </a:r>
            <a:r>
              <a:rPr lang="zh-CN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基础版已实现 Agent Loop、工具审批、附件分析、MCP 与 Skill已完成。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Agent 任务执行主流程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1912747"/>
            <a:ext cx="10881360" cy="3987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核心由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r>
              <a:rPr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lectron</a:t>
            </a:r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中的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Agent Loop</a:t>
            </a:r>
            <a:r>
              <a:rPr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驱动，通过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Electron </a:t>
            </a:r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IPC </a:t>
            </a:r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消息通道连接</a:t>
            </a:r>
            <a:r>
              <a:rPr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同步界面。</a:t>
            </a:r>
            <a:endParaRPr sz="20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用户输入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664" y="3648837"/>
            <a:ext cx="1365503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自然语言任务 + 附件 + 会话上下文 + 启用的 Skill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261616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62784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2512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附件准备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09088" y="3648837"/>
            <a:ext cx="1365503" cy="110680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附件接收至安全目录，系统预处理（如格式验证、内容提取与编码转换等）以便为后续处理准备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4130040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31208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0936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模型决策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77512" y="3648837"/>
            <a:ext cx="1365503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协议适配层构造请求，模型输出文本或工具调用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5998464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9632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权限审批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45936" y="3648837"/>
            <a:ext cx="1365503" cy="110680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操作权限按 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read/write/dangerous 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三级划分，其中 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write 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级别操作需经用户确认方可执行。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7866888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68056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7784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工具执行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14360" y="3648837"/>
            <a:ext cx="1365503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统一注册表校验、执行、超时、取消和结果截断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9735312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36480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6208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结果回写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82784" y="3648837"/>
            <a:ext cx="1365503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工具结果进入下一轮模型上下文，直到生成最终回答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会话与项目工作目录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257800" cy="47548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70916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8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会话能力</a:t>
            </a:r>
            <a:endParaRPr sz="18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多会话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2331720"/>
            <a:ext cx="448056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会话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新建、切换、独立保存上下文。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本地持久化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" y="3090672"/>
            <a:ext cx="448056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保存会话</a:t>
            </a:r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历史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状态，重启后可恢复。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4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任务可见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992" y="3849624"/>
            <a:ext cx="448056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思考、任务状态、错误提示和停止操作。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6792" y="1234440"/>
            <a:ext cx="5257800" cy="475488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481328"/>
            <a:ext cx="470916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8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项目关联</a:t>
            </a:r>
            <a:endParaRPr sz="18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1112" y="2057400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绑定目录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21424" y="2331720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每个会话可关联一个本机项目目录。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11112" y="2816352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Skill 生效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21424" y="3090672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自动扫描项目 .agent/skills 目录。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11112" y="3575304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安全边界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21424" y="3849624"/>
            <a:ext cx="448056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设定专属工作区，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文件工具基于项目目录做路径校验。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" y="6144768"/>
            <a:ext cx="11000232" cy="438912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定位：让 Agent 有连续记忆，也能知道自己正在处理哪个项目。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46304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6400" b="1">
                <a:solidFill>
                  <a:srgbClr val="D9E8F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6400" b="1">
              <a:solidFill>
                <a:srgbClr val="D9E8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8840" y="2514600"/>
            <a:ext cx="804672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3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技术方案</a:t>
            </a:r>
            <a:endParaRPr sz="3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12848" y="3429000"/>
            <a:ext cx="3108960" cy="73152"/>
          </a:xfrm>
          <a:prstGeom prst="rect">
            <a:avLst/>
          </a:prstGeom>
          <a:solidFill>
            <a:srgbClr val="E89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技术架构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30632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渲染进程 / React 18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69080" y="1490472"/>
            <a:ext cx="7132320" cy="56692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Chat、Message、Sidebar、Settings、ToolList、SkillManager、McpManager；状态与界面交互。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" y="2459736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30632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Electron Preload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69080" y="2624328"/>
            <a:ext cx="7132320" cy="56692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通过 contextBridge 暴露白名单 IPC API，避免渲染进程直接触碰 Node 能力。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" y="3593591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39896"/>
            <a:ext cx="30632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Electron 主进程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69080" y="3758183"/>
            <a:ext cx="7132320" cy="56692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请求代理、协议适配、SSE 解析、Agent Loop、工具执行、审批、附件与 MCP 生命周期。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" y="4727448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73752"/>
            <a:ext cx="30632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本地资源层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69080" y="4892040"/>
            <a:ext cx="7132320" cy="56692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localStorage 会话状态；userData 审批与任务数据；skills 目录；MCP 服务进程。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88136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技术栈：Electron 32 · Node.js · React 18 · TypeScript · Vite 5 · MCP SDK · mammoth · xlsx · pdf-parse · jszip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Agent Loop 设计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22476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1435607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统一消息状态机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760" y="1764792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running / awaiting_approval / cancelled / failed / completed / unknown，全过程事件驱动。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2359152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2555748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8760" y="2468880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多轮工具循环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8760" y="2798064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模型输出工具调用后，客户端执行工具并将结果回填，继续下一轮模型决策。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392424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358902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3502152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可中断与恢复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3831335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AbortController 支持停止生成；审批记录持久化，刷新后仍可处理。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622292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535424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错误分级反馈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08760" y="4864608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协议错误、工具错误、附件错误和审批超时分别提示，避免任务状态卡死。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458968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5655564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08760" y="5568696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结果体积控制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08760" y="5897879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工具输出设置长度上限并截断，防止超长结果破坏上下文。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工具系统与权限模型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261872"/>
            <a:ext cx="4297680" cy="457200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37760" y="1261872"/>
            <a:ext cx="219456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0" y="1261872"/>
            <a:ext cx="4434840" cy="457200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行为说明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18105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file_read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37760" y="18105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0" y="18105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读取文件内容，支持编码识别与大小限制。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27249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file_write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37760" y="27249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132320" y="27249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写入或修改文件；ask 模式需用户审批，full 模式仍校验路径。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dangerous 工具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37760" y="36393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dangerous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32320" y="36393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执行命令等高危动作，当前版本默认拒绝。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45537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MCP 工具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37760" y="45537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按服务声明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0" y="45537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服务启动后注册为工具，权限映射到 read/write/dangerous。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10927080" cy="621792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安全原则：路径必须在允许范围内；拒绝 ../ 与符号链接越界；危险操作默认不可执行。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附件解析能力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文本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TXT / MD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表格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290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CSV / JSON / XLSX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PDF / DOCX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154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154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PPTX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上传选择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渲染进程选择附件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4290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复制解析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主进程复制到安全目录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722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状态同步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636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任务进入解析态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9154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注入上下文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0068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解析结果交给 Agent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4800600"/>
            <a:ext cx="10835640" cy="1051560"/>
          </a:xfrm>
          <a:prstGeom prst="rect">
            <a:avLst/>
          </a:prstGeom>
          <a:solidFill>
            <a:srgbClr val="DEEBF7"/>
          </a:solidFill>
          <a:ln w="12700">
            <a:solidFill>
              <a:srgbClr val="E89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边界：附件数量与大小受限；Office 文件本地解析；解析失败不阻断对话，仅提示错误；临时文件由清理流程移除。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Skill 与 MCP 扩展体系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257800" cy="47548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709160" cy="3683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8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Skill（提示词能力包）</a:t>
            </a:r>
            <a:endParaRPr lang="zh-CN" sz="18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1"/>
            </p:custDataLst>
          </p:nvPr>
        </p:nvSpPr>
        <p:spPr>
          <a:xfrm>
            <a:off x="868680" y="2057400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目录约定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1078992" y="2331720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全局 &lt;userData&gt;/skills；项目 &lt;项目&gt;/.agent/skills。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868680" y="2816352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启用方式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1078992" y="3090672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Skills 页面扫描，按会话勾选启用。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868680" y="3575304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覆盖规则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1078992" y="3849624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同名项目 Skill 覆盖全局 Skill。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6792" y="1234440"/>
            <a:ext cx="5257800" cy="475488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481328"/>
            <a:ext cx="470916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8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MCP（外部工具服务）</a:t>
            </a:r>
            <a:endParaRPr sz="18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6611112" y="2057400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服务配置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6821424" y="2331720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McpManager 维护服务名、命令、参数与状态。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6611112" y="2816352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生命周期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0"/>
            </p:custDataLst>
          </p:nvPr>
        </p:nvSpPr>
        <p:spPr>
          <a:xfrm>
            <a:off x="6821424" y="3090672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启动 / 停止 / 自动重启；工具按服务注册。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6611112" y="3575304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权限映射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6821424" y="3849624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 工具映射到现有权限模型。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" y="6144768"/>
            <a:ext cx="11000232" cy="438912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Skill 只注入文本规范，MCP 只接入受控工具入口；二者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均受限</a:t>
            </a: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权限审批。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46304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6400" b="1">
                <a:solidFill>
                  <a:srgbClr val="D9E8F7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6400" b="1">
              <a:solidFill>
                <a:srgbClr val="D9E8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8840" y="2514600"/>
            <a:ext cx="804672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3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部署与落地价值</a:t>
            </a:r>
            <a:endParaRPr sz="3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12848" y="3429000"/>
            <a:ext cx="3108960" cy="73152"/>
          </a:xfrm>
          <a:prstGeom prst="rect">
            <a:avLst/>
          </a:prstGeom>
          <a:solidFill>
            <a:srgbClr val="E89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私有化部署与运行方式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9047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开发运行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npm run dev 启动 Vite + Electron，主进程自动热重载。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2259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构建验证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8503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npm run build 先跑 TypeScript 类型检查，再构建渲染进程与主进程。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9047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Windows 打包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npm run dist:win 生成安装包和免安装绿色版。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5391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2259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私有模型接入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18503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通过 API 密钥、Base URL、协议和模型 ID 配置企业自有模型服务。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792" y="5532120"/>
            <a:ext cx="10927080" cy="603504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本地优先：密钥不出渲染进程、不进入外部对话平台；文件与任务过程留在客户端本地。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安全与治理体系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22476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1435607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模型接入安全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760" y="1764792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主进程直接发起请求，渲染进程不直接持有密钥；配置本地持久化。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2359152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2555748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8760" y="2468880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工具执行安全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8760" y="2798064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参数校验、路径安全、超时、截断、取消；危险工具默认拒绝。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392424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358902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3502152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人工确认治理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3831335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write 工具支持 ask/full；审批请求含预览、超时与状态持久化。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622292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535424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文件边界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08760" y="4864608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附件复制到受控目录；限制数量与大小；失败不阻断对话。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458968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5655564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08760" y="5568696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日志与测试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08760" y="5897879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审批、任务和附件流程有测试覆盖；当前 12 个测试全部通过。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典型使用场景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9047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知识资产问答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读取本地文档、汇总公司制度、审计要求和历史技术资产。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2259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文件整理与审查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8503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批量检查本地材料、提取表格、核对文档口径与格式。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9047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研发辅助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结合项目目录读取源码、生成审查意见和整理开发文档。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5391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2259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办公智能助手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18503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完成总结、改写、生成清单和报告初稿，保留人工确认环节。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792" y="5532120"/>
            <a:ext cx="10927080" cy="603504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适用于：金融、审计、合规、研发、运营等对本地数据、权限边界和可追溯性要求高的组织。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示例对话与效果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280160"/>
            <a:ext cx="530352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7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用户可以这样在桌面端提问</a:t>
            </a:r>
            <a:endParaRPr sz="17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5303520" cy="658368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Q1  帮我总结这份 PDF 的审计风险点</a:t>
            </a:r>
            <a:endParaRPr sz="1200" b="0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" y="2551176"/>
            <a:ext cx="5303520" cy="658368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Q2  对比两个 DOCX 文档中的制度差异</a:t>
            </a:r>
            <a:endParaRPr sz="1200" b="0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" y="3319272"/>
            <a:ext cx="5303520" cy="658368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Q3  把这个 Excel 中的异常值整理出来</a:t>
            </a:r>
            <a:endParaRPr sz="1200" b="0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" y="4087368"/>
            <a:ext cx="5303520" cy="658368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Q4  基于当前项目目录生成代码审查意见</a:t>
            </a:r>
            <a:endParaRPr sz="1200" b="0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" y="4855464"/>
            <a:ext cx="5303520" cy="658368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Q5  按这份说明起草一份会议纪要</a:t>
            </a:r>
            <a:endParaRPr sz="1200" b="0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47548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7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桌面端处理效果</a:t>
            </a:r>
            <a:endParaRPr sz="17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55080" y="1783080"/>
            <a:ext cx="4846320" cy="2606040"/>
          </a:xfrm>
          <a:prstGeom prst="round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"status": "completed",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"attachments": "parsed",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"tools": "file_read(file_write)",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"approval": "approved"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4681728"/>
            <a:ext cx="4846320" cy="1051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系统自动完成 理解任务 → 读取附件 → 执行工具 → 权限审批 → 汇总答案，并在会话中保留可追踪上下文。</a:t>
            </a:r>
            <a:endParaRPr sz="13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后续路线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9047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第一阶段：夯实基础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完善稳定性、错误恢复、UI 细节和企业化打包分发。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2259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第二阶段：增强工具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8503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扩展更多内置工具、优化 MCP 服务管理和工具权限映射。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9047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第三阶段：行业模板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沉淀金融、审计、合规、研发等行业 Skill 模板库。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5391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2259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第四阶段：平台协同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18503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与服务器版权限中心、知识库和企业系统集成。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792" y="5532120"/>
            <a:ext cx="10927080" cy="603504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定位：不是替代现有业务系统，而是作为桌面侧通用 Agent 工作台，连接文件、工具与企业知识。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2F2F2"/>
              </a:gs>
            </a:gsLst>
            <a:path path="circle"/>
          </a:gradFill>
          <a:ln>
            <a:noFill/>
          </a:ln>
        </p:spPr>
      </p:sp>
      <p:sp>
        <p:nvSpPr>
          <p:cNvPr id="3" name="thanks"/>
          <p:cNvSpPr txBox="1"/>
          <p:nvPr/>
        </p:nvSpPr>
        <p:spPr>
          <a:xfrm>
            <a:off x="4191000" y="2286000"/>
            <a:ext cx="3810000" cy="139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>
                <a:solidFill>
                  <a:srgbClr val="5B9BD5"/>
                </a:solidFill>
                <a:effectLst>
                  <a:outerShdw blurRad="38100" dist="25400" dir="5400000" algn="bl" rotWithShape="0">
                    <a:srgbClr val="6E747A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charset="-122"/>
              </a:rPr>
              <a:t>谢谢</a:t>
            </a:r>
            <a:endParaRPr lang="en-US" sz="7200"/>
          </a:p>
        </p:txBody>
      </p:sp>
      <p:sp>
        <p:nvSpPr>
          <p:cNvPr id="4" name="slogan"/>
          <p:cNvSpPr txBox="1"/>
          <p:nvPr/>
        </p:nvSpPr>
        <p:spPr>
          <a:xfrm>
            <a:off x="1651000" y="4064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62626"/>
                </a:solidFill>
                <a:latin typeface="Arial" panose="020B0604020202020204"/>
                <a:ea typeface="微软雅黑" panose="020B0503020204020204" charset="-122"/>
              </a:rPr>
              <a:t>用自然语言连接数据，让每个人都能安全、快速地获取业务洞察</a:t>
            </a:r>
            <a:endParaRPr lang="en-US" sz="1800"/>
          </a:p>
        </p:txBody>
      </p:sp>
      <p:sp>
        <p:nvSpPr>
          <p:cNvPr id="5" name="company"/>
          <p:cNvSpPr txBox="1"/>
          <p:nvPr/>
        </p:nvSpPr>
        <p:spPr>
          <a:xfrm>
            <a:off x="4191000" y="45974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rgbClr val="808080"/>
                </a:solidFill>
                <a:latin typeface="Arial" panose="020B0604020202020204"/>
                <a:ea typeface="微软雅黑" panose="020B0503020204020204" charset="-122"/>
              </a:rPr>
              <a:t>北京</a:t>
            </a:r>
            <a:r>
              <a:rPr lang="en-US" sz="1400">
                <a:solidFill>
                  <a:srgbClr val="80808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r>
              <a:rPr lang="zh-CN" altLang="en-US" sz="1400">
                <a:solidFill>
                  <a:srgbClr val="808080"/>
                </a:solidFill>
                <a:latin typeface="Arial" panose="020B0604020202020204"/>
                <a:ea typeface="微软雅黑" panose="020B0503020204020204" charset="-122"/>
              </a:rPr>
              <a:t>软件技术</a:t>
            </a:r>
            <a:r>
              <a:rPr lang="en-US" sz="1400">
                <a:solidFill>
                  <a:srgbClr val="808080"/>
                </a:solidFill>
                <a:latin typeface="Arial" panose="020B0604020202020204"/>
                <a:ea typeface="微软雅黑" panose="020B0503020204020204" charset="-122"/>
              </a:rPr>
              <a:t>有限公司</a:t>
            </a:r>
            <a:endParaRPr lang="en-US" sz="1400"/>
          </a:p>
        </p:txBody>
      </p:sp>
      <p:sp>
        <p:nvSpPr>
          <p:cNvPr id="6" name="logo"/>
          <p:cNvSpPr txBox="1"/>
          <p:nvPr/>
        </p:nvSpPr>
        <p:spPr>
          <a:xfrm>
            <a:off x="4699000" y="762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</a:t>
            </a:r>
            <a:r>
              <a:rPr lang="zh-CN" altLang="en-US" sz="2200" b="1">
                <a:solidFill>
                  <a:srgbClr val="E89924"/>
                </a:solidFill>
                <a:latin typeface="Arial" panose="020B0604020202020204"/>
                <a:ea typeface="微软雅黑" panose="020B0503020204020204" charset="-122"/>
              </a:rPr>
              <a:t>上行</a:t>
            </a:r>
            <a:endParaRPr lang="zh-CN" altLang="en-US" sz="2200" b="1">
              <a:solidFill>
                <a:srgbClr val="E89924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checker/>
  </p:transition>
</p:sld>
</file>

<file path=ppt/tags/tag1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2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3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4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5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6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7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8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9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10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11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12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1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5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6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7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8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9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0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1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2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5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6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7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8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9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0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1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2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5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6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7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38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39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40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41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42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43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44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45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46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47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48.xml><?xml version="1.0" encoding="utf-8"?>
<p:tagLst xmlns:p="http://schemas.openxmlformats.org/presentationml/2006/main">
  <p:tag name="KSO_WM_DIAGRAM_VIRTUALLY_FRAME" val="{&quot;height&quot;:175.67999999999998,&quot;left&quot;:68.4,&quot;top&quot;:162,&quot;width&quot;:821.5200000000001}"/>
</p:tagLst>
</file>

<file path=ppt/tags/tag49.xml><?xml version="1.0" encoding="utf-8"?>
<p:tagLst xmlns:p="http://schemas.openxmlformats.org/presentationml/2006/main">
  <p:tag name="resource_record_key" val="{&quot;10&quot;:[50063692],&quot;19&quot;:[50073573]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4723</Words>
  <Application>WPS 演示</Application>
  <PresentationFormat/>
  <Paragraphs>554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Arial</vt:lpstr>
      <vt:lpstr>MiSans</vt:lpstr>
      <vt:lpstr>Wingdings</vt:lpstr>
      <vt:lpstr>华文中宋</vt:lpstr>
      <vt:lpstr>Arial Unicode MS</vt:lpstr>
      <vt:lpstr>Calibri</vt:lpstr>
      <vt:lpstr>PPTD</vt:lpstr>
      <vt:lpstr>1_PPTD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自然语言转数据信息智能反馈系统</dc:title>
  <dc:creator>Kimi</dc:creator>
  <dc:subject>自然语言转数据信息智能反馈系统</dc:subject>
  <cp:lastModifiedBy>阿卡</cp:lastModifiedBy>
  <cp:revision>647</cp:revision>
  <dcterms:created xsi:type="dcterms:W3CDTF">2026-07-24T04:46:00Z</dcterms:created>
  <dcterms:modified xsi:type="dcterms:W3CDTF">2026-09-14T10:08:34Z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自然语言转数据信息智能反馈系统","ContentProducer":"001191110108MACG2KBH8F10000","ProduceID":"19f924f8-4b62-8002-8000-000086a46e4d","ReservedCode1":"","ContentPropagator":"001191110108MACG2KBH8F20000","PropagateID":"19f923e8-8642-8313-8000-098961ac5bd4","ReservedCode2":""}</vt:lpwstr>
  </property>
  <property fmtid="{D5CDD505-2E9C-101B-9397-08002B2CF9AE}" pid="3" name="KSOProductBuildVer">
    <vt:lpwstr>2052-12.1.0.28599</vt:lpwstr>
  </property>
  <property fmtid="{D5CDD505-2E9C-101B-9397-08002B2CF9AE}" pid="4" name="ICV">
    <vt:lpwstr>516C1BA4381F4178998C1B4A7672CD50_13</vt:lpwstr>
  </property>
</Properties>
</file>
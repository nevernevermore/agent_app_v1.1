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79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12192000" cy="6858000"/>
  <p:embeddedFontLst>
    <p:embeddedFont>
      <p:font typeface="微软雅黑" panose="020B0503020204020204" charset="-122"/>
      <p:regular r:id="rId30"/>
      <p:bold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吴久龙" initials="authorId_862189687" lastIdx="0" clrIdx="0"/>
  <p:cmAuthor id="2" name="阿卡" initials="authorId_862189687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5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"/>
          <p:cNvPicPr/>
          <p:nvPr/>
        </p:nvPicPr>
        <p:blipFill>
          <a:blip r:embed="rId1"/>
          <a:stretch>
            <a:fillRect/>
          </a:stretch>
        </p:blipFill>
        <p:spPr>
          <a:xfrm>
            <a:off x="949960" y="2180590"/>
            <a:ext cx="10337800" cy="2679700"/>
          </a:xfrm>
          <a:prstGeom prst="rect">
            <a:avLst/>
          </a:prstGeom>
          <a:ln>
            <a:noFill/>
          </a:ln>
        </p:spPr>
      </p:pic>
      <p:sp>
        <p:nvSpPr>
          <p:cNvPr id="3" name="navy-bar"/>
          <p:cNvSpPr/>
          <p:nvPr/>
        </p:nvSpPr>
        <p:spPr>
          <a:xfrm>
            <a:off x="0" y="4292600"/>
            <a:ext cx="12192000" cy="25654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4" name="title-box"/>
          <p:cNvSpPr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</p:sp>
      <p:sp>
        <p:nvSpPr>
          <p:cNvPr id="5" name="title"/>
          <p:cNvSpPr txBox="1"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LINGQI 令旗桌面客户端 Agent</a:t>
            </a:r>
            <a:endParaRPr lang="en-US" sz="3800" noProof="1"/>
          </a:p>
        </p:txBody>
      </p:sp>
      <p:sp>
        <p:nvSpPr>
          <p:cNvPr id="6" name="subtitle"/>
          <p:cNvSpPr txBox="1"/>
          <p:nvPr/>
        </p:nvSpPr>
        <p:spPr>
          <a:xfrm>
            <a:off x="904240" y="2600960"/>
            <a:ext cx="10172700" cy="49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--本地桌面 Agent 工作台</a:t>
            </a:r>
            <a:endParaRPr lang="en-US" sz="2000" noProof="1"/>
          </a:p>
        </p:txBody>
      </p:sp>
      <p:sp>
        <p:nvSpPr>
          <p:cNvPr id="7" name="subtitle-2"/>
          <p:cNvSpPr txBox="1"/>
          <p:nvPr/>
        </p:nvSpPr>
        <p:spPr>
          <a:xfrm>
            <a:off x="904240" y="835660"/>
            <a:ext cx="10172700" cy="708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让大模型在本地受控地完成工作 · 连接文件、工具与企业知识</a:t>
            </a:r>
            <a:endParaRPr lang="en-US" sz="2200" noProof="1"/>
          </a:p>
        </p:txBody>
      </p:sp>
      <p:sp>
        <p:nvSpPr>
          <p:cNvPr id="8" name="company"/>
          <p:cNvSpPr txBox="1"/>
          <p:nvPr/>
        </p:nvSpPr>
        <p:spPr>
          <a:xfrm>
            <a:off x="2649220" y="3509010"/>
            <a:ext cx="6432550" cy="4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2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北京四方上行软件技术有限公司</a:t>
            </a:r>
            <a:endParaRPr lang="en-US" sz="3200" noProof="1"/>
          </a:p>
        </p:txBody>
      </p:sp>
      <p:sp>
        <p:nvSpPr>
          <p:cNvPr id="9" name="slogan"/>
          <p:cNvSpPr txBox="1"/>
          <p:nvPr/>
        </p:nvSpPr>
        <p:spPr>
          <a:xfrm>
            <a:off x="121920" y="5689600"/>
            <a:ext cx="1194816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kern="0" spc="200" noProof="1">
                <a:solidFill>
                  <a:srgbClr val="BFBFBF"/>
                </a:solidFill>
                <a:latin typeface="Arial" panose="020B0604020202020204"/>
                <a:ea typeface="微软雅黑" panose="020B0503020204020204" charset="-122"/>
              </a:rPr>
              <a:t>用桌面 Agent 连接本地文件、工具与大模型，让每个人都能安全、高效地完成业务工作</a:t>
            </a:r>
            <a:endParaRPr lang="en-US" sz="1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公司简介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intro"/>
          <p:cNvSpPr txBox="1"/>
          <p:nvPr/>
        </p:nvSpPr>
        <p:spPr>
          <a:xfrm>
            <a:off x="701040" y="1270000"/>
            <a:ext cx="1079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北京四方上行软件技术有限公司成立于2021年1月，注册资本1000万元，是国家级高新技术企业。公司团队骨干由多年耕耘金融科技领域的业务专家和技术专家组成，目前有员工30人左右。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在AI领域，四方上行致力于用AI技术为金融机构提供业务解决方案和技术解决方案，促进客户的数字化转型。目前已取得或正在申请的知识产权包括：</a:t>
            </a:r>
            <a:endParaRPr lang="en-US" sz="1600" noProof="1"/>
          </a:p>
        </p:txBody>
      </p:sp>
      <p:sp>
        <p:nvSpPr>
          <p:cNvPr id="9" name="ip-box"/>
          <p:cNvSpPr/>
          <p:nvPr/>
        </p:nvSpPr>
        <p:spPr>
          <a:xfrm>
            <a:off x="641350" y="3020695"/>
            <a:ext cx="10795000" cy="3327400"/>
          </a:xfrm>
          <a:prstGeom prst="roundRect">
            <a:avLst>
              <a:gd name="adj" fmla="val 4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10" name="ip-list"/>
          <p:cNvSpPr txBox="1"/>
          <p:nvPr/>
        </p:nvSpPr>
        <p:spPr>
          <a:xfrm>
            <a:off x="956310" y="3198495"/>
            <a:ext cx="10160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标准知识库系统（可建设审计、合规、会计、风险、监管规定、公司制度等）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银行历史技术资产库管理（历史源代码、文档、脚本、数据字典随查随用）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测试案例生成（RAG+知识库）／网银（复杂办公系统）智能功能导航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AI驱动超级（财务）出纳（多银行账户现金管理，AI+RPA）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自然语言驱动多行资金管理（企业端超级网银，AI+RPA）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领导（管理）驾驶舱（简约办公AGENT，NLP+知识库+传统数据库+RPA+接口）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NLP2SQL自然语言查询工具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LINGQI（令旗）桌面客户端版AGENT工具（基础版，可开放源代码，含服务器版口令、权限控制中心）</a:t>
            </a:r>
            <a:endParaRPr lang="en-US" sz="1400" noProof="1"/>
          </a:p>
        </p:txBody>
      </p:sp>
      <p:sp>
        <p:nvSpPr>
          <p:cNvPr id="11" name="footer-note"/>
          <p:cNvSpPr txBox="1"/>
          <p:nvPr/>
        </p:nvSpPr>
        <p:spPr>
          <a:xfrm>
            <a:off x="701040" y="6248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公司秉承「传统+前沿」发展模式：以传统技术服务业务为基础，以AI技术、RPA技术、区块链技术等赋能客户新的创新解决方案模式。</a:t>
            </a:r>
            <a:endParaRPr lang="en-US" sz="13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产品背景与定位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sz="30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前言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lead"/>
          <p:cNvSpPr txBox="1"/>
          <p:nvPr/>
        </p:nvSpPr>
        <p:spPr>
          <a:xfrm>
            <a:off x="701040" y="1168400"/>
            <a:ext cx="1079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企业真实工作并不只发生在网页对话框中。业务资料、</a:t>
            </a:r>
            <a:r>
              <a:rPr lang="zh-CN" alt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工具</a:t>
            </a:r>
            <a:r>
              <a:rPr 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、</a:t>
            </a:r>
            <a:r>
              <a:rPr lang="zh-CN" alt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状态与人工确认的连续流程</a:t>
            </a:r>
            <a:r>
              <a:rPr 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往往保存在本机或受控目录内，</a:t>
            </a:r>
            <a:r>
              <a:rPr lang="zh-CN" altLang="en-US" sz="14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而纯网页对话框无法打通本地资产、执行动作与任务上下文，难以支撑完整的工作闭环。</a:t>
            </a:r>
            <a:endParaRPr lang="en-US" sz="1400" noProof="1"/>
          </a:p>
        </p:txBody>
      </p:sp>
      <p:sp>
        <p:nvSpPr>
          <p:cNvPr id="9" name="card0"/>
          <p:cNvSpPr/>
          <p:nvPr>
            <p:custDataLst>
              <p:tags r:id="rId1"/>
            </p:custDataLst>
          </p:nvPr>
        </p:nvSpPr>
        <p:spPr>
          <a:xfrm>
            <a:off x="635000" y="20066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card-top0"/>
          <p:cNvSpPr/>
          <p:nvPr>
            <p:custDataLst>
              <p:tags r:id="rId2"/>
            </p:custDataLst>
          </p:nvPr>
        </p:nvSpPr>
        <p:spPr>
          <a:xfrm>
            <a:off x="635000" y="20066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num0"/>
          <p:cNvSpPr txBox="1"/>
          <p:nvPr>
            <p:custDataLst>
              <p:tags r:id="rId3"/>
            </p:custDataLst>
          </p:nvPr>
        </p:nvSpPr>
        <p:spPr>
          <a:xfrm>
            <a:off x="939800" y="22860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en-US" sz="3400" noProof="1"/>
          </a:p>
        </p:txBody>
      </p:sp>
      <p:sp>
        <p:nvSpPr>
          <p:cNvPr id="12" name="t0"/>
          <p:cNvSpPr txBox="1"/>
          <p:nvPr>
            <p:custDataLst>
              <p:tags r:id="rId4"/>
            </p:custDataLst>
          </p:nvPr>
        </p:nvSpPr>
        <p:spPr>
          <a:xfrm>
            <a:off x="1551305" y="231267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线上对话工具不能直接接触工作现场</a:t>
            </a:r>
            <a:endParaRPr lang="en-US" sz="2000" noProof="1"/>
          </a:p>
        </p:txBody>
      </p:sp>
      <p:sp>
        <p:nvSpPr>
          <p:cNvPr id="13" name="d0"/>
          <p:cNvSpPr txBox="1"/>
          <p:nvPr>
            <p:custDataLst>
              <p:tags r:id="rId5"/>
            </p:custDataLst>
          </p:nvPr>
        </p:nvSpPr>
        <p:spPr>
          <a:xfrm>
            <a:off x="939800" y="29718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zh-CN" alt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企业真实工作包含本机文档、项目代码、历史资产与内部系统，纯网页对话无法安全读取和处理这些上下文。</a:t>
            </a:r>
            <a:endParaRPr lang="en-US" sz="1400" noProof="1"/>
          </a:p>
        </p:txBody>
      </p:sp>
      <p:sp>
        <p:nvSpPr>
          <p:cNvPr id="14" name="card1"/>
          <p:cNvSpPr/>
          <p:nvPr>
            <p:custDataLst>
              <p:tags r:id="rId6"/>
            </p:custDataLst>
          </p:nvPr>
        </p:nvSpPr>
        <p:spPr>
          <a:xfrm>
            <a:off x="6350000" y="20066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card-top1"/>
          <p:cNvSpPr/>
          <p:nvPr>
            <p:custDataLst>
              <p:tags r:id="rId7"/>
            </p:custDataLst>
          </p:nvPr>
        </p:nvSpPr>
        <p:spPr>
          <a:xfrm>
            <a:off x="6350000" y="20066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6" name="num1"/>
          <p:cNvSpPr txBox="1"/>
          <p:nvPr>
            <p:custDataLst>
              <p:tags r:id="rId8"/>
            </p:custDataLst>
          </p:nvPr>
        </p:nvSpPr>
        <p:spPr>
          <a:xfrm>
            <a:off x="6654800" y="22860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en-US" sz="3400" noProof="1"/>
          </a:p>
        </p:txBody>
      </p:sp>
      <p:sp>
        <p:nvSpPr>
          <p:cNvPr id="17" name="t1"/>
          <p:cNvSpPr txBox="1"/>
          <p:nvPr>
            <p:custDataLst>
              <p:tags r:id="rId9"/>
            </p:custDataLst>
          </p:nvPr>
        </p:nvSpPr>
        <p:spPr>
          <a:xfrm>
            <a:off x="7620000" y="228600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本地文件使用门槛高</a:t>
            </a:r>
            <a:endParaRPr lang="en-US" sz="2000" noProof="1"/>
          </a:p>
        </p:txBody>
      </p:sp>
      <p:sp>
        <p:nvSpPr>
          <p:cNvPr id="18" name="d1"/>
          <p:cNvSpPr txBox="1"/>
          <p:nvPr>
            <p:custDataLst>
              <p:tags r:id="rId10"/>
            </p:custDataLst>
          </p:nvPr>
        </p:nvSpPr>
        <p:spPr>
          <a:xfrm>
            <a:off x="6654800" y="29718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用户需要先整理、上传、转换文件，再向模型描述任务，操作链路长。</a:t>
            </a:r>
            <a:endParaRPr lang="en-US" sz="1400" noProof="1"/>
          </a:p>
        </p:txBody>
      </p:sp>
      <p:sp>
        <p:nvSpPr>
          <p:cNvPr id="19" name="card2"/>
          <p:cNvSpPr/>
          <p:nvPr>
            <p:custDataLst>
              <p:tags r:id="rId11"/>
            </p:custDataLst>
          </p:nvPr>
        </p:nvSpPr>
        <p:spPr>
          <a:xfrm>
            <a:off x="635000" y="43561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card-top2"/>
          <p:cNvSpPr/>
          <p:nvPr>
            <p:custDataLst>
              <p:tags r:id="rId12"/>
            </p:custDataLst>
          </p:nvPr>
        </p:nvSpPr>
        <p:spPr>
          <a:xfrm>
            <a:off x="635000" y="43561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1" name="num2"/>
          <p:cNvSpPr txBox="1"/>
          <p:nvPr>
            <p:custDataLst>
              <p:tags r:id="rId13"/>
            </p:custDataLst>
          </p:nvPr>
        </p:nvSpPr>
        <p:spPr>
          <a:xfrm>
            <a:off x="939800" y="46355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03</a:t>
            </a:r>
            <a:endParaRPr lang="en-US" sz="3400" noProof="1"/>
          </a:p>
        </p:txBody>
      </p:sp>
      <p:sp>
        <p:nvSpPr>
          <p:cNvPr id="22" name="t2"/>
          <p:cNvSpPr txBox="1"/>
          <p:nvPr>
            <p:custDataLst>
              <p:tags r:id="rId14"/>
            </p:custDataLst>
          </p:nvPr>
        </p:nvSpPr>
        <p:spPr>
          <a:xfrm>
            <a:off x="1551305" y="465709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涉及敏感文件</a:t>
            </a:r>
            <a:endParaRPr lang="zh-CN" altLang="en-US" sz="2000" b="1" noProof="1">
              <a:solidFill>
                <a:srgbClr val="0070C0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3" name="d2"/>
          <p:cNvSpPr txBox="1"/>
          <p:nvPr>
            <p:custDataLst>
              <p:tags r:id="rId15"/>
            </p:custDataLst>
          </p:nvPr>
        </p:nvSpPr>
        <p:spPr>
          <a:xfrm>
            <a:off x="939800" y="53213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zh-CN" alt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传统方案常把文件、任务过程交由外部平台处理，不适合金融、审计、合规等高安全要求场景。</a:t>
            </a:r>
            <a:endParaRPr lang="zh-CN" altLang="en-US" sz="1400" noProof="1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4" name="card3"/>
          <p:cNvSpPr/>
          <p:nvPr>
            <p:custDataLst>
              <p:tags r:id="rId16"/>
            </p:custDataLst>
          </p:nvPr>
        </p:nvSpPr>
        <p:spPr>
          <a:xfrm>
            <a:off x="6350000" y="43561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card-top3"/>
          <p:cNvSpPr/>
          <p:nvPr>
            <p:custDataLst>
              <p:tags r:id="rId17"/>
            </p:custDataLst>
          </p:nvPr>
        </p:nvSpPr>
        <p:spPr>
          <a:xfrm>
            <a:off x="6350000" y="43561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6" name="num3"/>
          <p:cNvSpPr txBox="1"/>
          <p:nvPr>
            <p:custDataLst>
              <p:tags r:id="rId18"/>
            </p:custDataLst>
          </p:nvPr>
        </p:nvSpPr>
        <p:spPr>
          <a:xfrm>
            <a:off x="6654800" y="46355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04</a:t>
            </a:r>
            <a:endParaRPr lang="en-US" sz="3400" noProof="1"/>
          </a:p>
        </p:txBody>
      </p:sp>
      <p:sp>
        <p:nvSpPr>
          <p:cNvPr id="27" name="t3"/>
          <p:cNvSpPr txBox="1"/>
          <p:nvPr>
            <p:custDataLst>
              <p:tags r:id="rId19"/>
            </p:custDataLst>
          </p:nvPr>
        </p:nvSpPr>
        <p:spPr>
          <a:xfrm>
            <a:off x="7620000" y="463550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长任务缺乏可恢复性</a:t>
            </a:r>
            <a:endParaRPr lang="en-US" sz="2000" noProof="1"/>
          </a:p>
        </p:txBody>
      </p:sp>
      <p:sp>
        <p:nvSpPr>
          <p:cNvPr id="28" name="d3"/>
          <p:cNvSpPr txBox="1"/>
          <p:nvPr>
            <p:custDataLst>
              <p:tags r:id="rId20"/>
            </p:custDataLst>
          </p:nvPr>
        </p:nvSpPr>
        <p:spPr>
          <a:xfrm>
            <a:off x="6654800" y="53213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网络波动、工具失败或用户停止后，任务容易从头开始，过程不可追踪。</a:t>
            </a:r>
            <a:endParaRPr lang="en-US" sz="14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产品定位与价值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pos-box"/>
          <p:cNvSpPr/>
          <p:nvPr/>
        </p:nvSpPr>
        <p:spPr>
          <a:xfrm>
            <a:off x="701040" y="1244600"/>
            <a:ext cx="10795000" cy="13716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9" name="pos-tag"/>
          <p:cNvSpPr/>
          <p:nvPr/>
        </p:nvSpPr>
        <p:spPr>
          <a:xfrm>
            <a:off x="701040" y="1244600"/>
            <a:ext cx="10160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pos-text"/>
          <p:cNvSpPr txBox="1"/>
          <p:nvPr/>
        </p:nvSpPr>
        <p:spPr>
          <a:xfrm>
            <a:off x="1016000" y="1371600"/>
            <a:ext cx="1016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产品定位：</a:t>
            </a:r>
            <a:r>
              <a:rPr lang="zh-CN" alt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令旗是一款本地优先的桌面端</a:t>
            </a:r>
            <a:r>
              <a:rPr lang="en-US" altLang="zh-CN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Agent</a:t>
            </a:r>
            <a:r>
              <a:rPr lang="zh-CN" alt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。它通过桌面客户端整合大模型、本地文件、工具与权限审批，打造安全可追踪的工作空间。作为连接本地资产与企业知识的通用入口，它不替代现有业务系统，而是专门补足企业中临时性、跨文件的非标准化工作需求。</a:t>
            </a:r>
            <a:endParaRPr lang="en-US" sz="1500" noProof="1"/>
          </a:p>
        </p:txBody>
      </p:sp>
      <p:sp>
        <p:nvSpPr>
          <p:cNvPr id="11" name="val-title"/>
          <p:cNvSpPr txBox="1"/>
          <p:nvPr/>
        </p:nvSpPr>
        <p:spPr>
          <a:xfrm>
            <a:off x="701040" y="2819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产品价值</a:t>
            </a:r>
            <a:endParaRPr lang="en-US" sz="2000" noProof="1"/>
          </a:p>
        </p:txBody>
      </p:sp>
      <p:graphicFrame>
        <p:nvGraphicFramePr>
          <p:cNvPr id="12" name="val-table"/>
          <p:cNvGraphicFramePr>
            <a:graphicFrameLocks noGrp="1"/>
          </p:cNvGraphicFramePr>
          <p:nvPr/>
        </p:nvGraphicFramePr>
        <p:xfrm>
          <a:off x="701040" y="3276600"/>
          <a:ext cx="10795000" cy="3200400"/>
        </p:xfrm>
        <a:graphic>
          <a:graphicData uri="http://schemas.openxmlformats.org/drawingml/2006/table">
            <a:tbl>
              <a:tblPr/>
              <a:tblGrid>
                <a:gridCol w="1943100"/>
                <a:gridCol w="8851900"/>
              </a:tblGrid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价值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说明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本地优先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文件处理和工具执行在本机完成，适合对数据边界有要求的场景。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使用简单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用户以自然语言描述任务，无需先掌握复杂工具命令。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能力可扩展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内置工具、MCP 服务和 Markdown Skill 可以持续增加专业能力。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266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过程可控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执行</a:t>
                      </a:r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分级，写入操作可要求用户审批</a:t>
                      </a:r>
                      <a:r>
                        <a:rPr lang="zh-CN" alt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，也可全部放开</a:t>
                      </a:r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31266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任务可追踪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会话、工具调用、任务状态、审批状态和错误信息在界面中可见。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</a:t>
            </a:r>
            <a:r>
              <a:rPr lang="zh-CN" alt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功能与核心流程</a:t>
            </a:r>
            <a:endParaRPr lang="zh-CN" altLang="en-US" sz="4000" b="1" noProof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客户端功能全景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21792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76809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490472" y="148132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模型与对话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86384" y="2029967"/>
            <a:ext cx="3145536" cy="103505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支持 OpenAI 兼容协议和 Anthropic 协议</a:t>
            </a:r>
            <a:r>
              <a:rPr lang="zh-CN"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55000"/>
              </a:lnSpc>
              <a:spcBef>
                <a:spcPts val="10"/>
              </a:spcBef>
              <a:buNone/>
            </a:pP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SSE 流式输出，实时显示模型生成内容</a:t>
            </a:r>
            <a:r>
              <a:rPr lang="zh-CN" sz="12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en-US" sz="1200">
              <a:solidFill>
                <a:srgbClr val="262626"/>
              </a:solidFill>
              <a:latin typeface="MiSans" charset="-122"/>
              <a:ea typeface="MiSans" charset="-122"/>
              <a:sym typeface="+mn-ea"/>
            </a:endParaRPr>
          </a:p>
          <a:p>
            <a:pPr indent="0" algn="l">
              <a:lnSpc>
                <a:spcPct val="155000"/>
              </a:lnSpc>
              <a:spcBef>
                <a:spcPts val="10"/>
              </a:spcBef>
              <a:buNone/>
            </a:pP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支持停止生成、失败重试和联通性检测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。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25112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47141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5193792" y="148132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会话工作台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489703" y="2029967"/>
            <a:ext cx="3145536" cy="82994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多</a:t>
            </a: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会话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管理，</a:t>
            </a: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保存消息上下文、项目目录、权限模式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等；</a:t>
            </a:r>
            <a:endParaRPr lang="zh-CN" altLang="en-US" sz="1200">
              <a:solidFill>
                <a:srgbClr val="262626"/>
              </a:solidFill>
              <a:latin typeface="MiSans" charset="-122"/>
              <a:ea typeface="MiSans" charset="-122"/>
              <a:sym typeface="+mn-ea"/>
            </a:endParaRPr>
          </a:p>
          <a:p>
            <a:pPr algn="l"/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支持将会话关联本地项目文件夹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；</a:t>
            </a:r>
            <a:endParaRPr lang="zh-CN" altLang="en-US" sz="1200">
              <a:solidFill>
                <a:srgbClr val="262626"/>
              </a:solidFill>
              <a:latin typeface="MiSans" charset="-122"/>
              <a:ea typeface="MiSans" charset="-122"/>
              <a:sym typeface="+mn-ea"/>
            </a:endParaRPr>
          </a:p>
          <a:p>
            <a:pPr algn="l"/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会话持久化，重启后恢复历史会话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。</a:t>
            </a:r>
            <a:endParaRPr lang="zh-CN" altLang="en-US" sz="1200" b="0">
              <a:solidFill>
                <a:srgbClr val="262626"/>
              </a:solidFill>
              <a:latin typeface="MiSans" charset="-122"/>
              <a:ea typeface="MiSans" charset="-122"/>
              <a:sym typeface="+mn-ea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28431" y="129844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817473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897111" y="148132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附件与文件分析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193023" y="2029967"/>
            <a:ext cx="3145536" cy="6451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支持主流</a:t>
            </a:r>
            <a:r>
              <a:rPr 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主流文件格式解析。</a:t>
            </a:r>
            <a:r>
              <a:rPr lang="zh-CN" altLang="en-US" sz="1200">
                <a:solidFill>
                  <a:srgbClr val="262626"/>
                </a:solidFill>
                <a:latin typeface="MiSans" charset="-122"/>
                <a:ea typeface="MiSans" charset="-122"/>
                <a:sym typeface="+mn-ea"/>
              </a:rPr>
              <a:t>包括：</a:t>
            </a: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TXT/MD/CSV/JSON/PDF/DOCX/XLSX/PPTX；</a:t>
            </a:r>
            <a:endParaRPr 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21792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4"/>
            </p:custDataLst>
          </p:nvPr>
        </p:nvSpPr>
        <p:spPr>
          <a:xfrm>
            <a:off x="76809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1490472" y="3630168"/>
            <a:ext cx="2423160" cy="33718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lang="zh-CN"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内置</a:t>
            </a:r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786384" y="4178808"/>
            <a:ext cx="3145536" cy="6451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>
              <a:buClrTx/>
              <a:buSzTx/>
              <a:buFontTx/>
            </a:pP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内置读写工具</a:t>
            </a:r>
            <a:r>
              <a:rPr lang="zh-CN" alt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控制</a:t>
            </a: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；</a:t>
            </a:r>
            <a:endParaRPr 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  <a:p>
            <a:pPr algn="l">
              <a:buClrTx/>
              <a:buSzTx/>
              <a:buFontTx/>
            </a:pP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参数校验；超时与取消；</a:t>
            </a:r>
            <a:endParaRPr 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  <a:p>
            <a:pPr algn="l">
              <a:buClrTx/>
              <a:buSzTx/>
              <a:buFontTx/>
            </a:pP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执行结果截断；工具列表可视化。</a:t>
            </a:r>
            <a:endParaRPr 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4325112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8"/>
            </p:custDataLst>
          </p:nvPr>
        </p:nvSpPr>
        <p:spPr>
          <a:xfrm>
            <a:off x="447141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5193792" y="363016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权限与审批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4489703" y="4178808"/>
            <a:ext cx="3145536" cy="27559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默认请求批准；以及完全访问权限</a:t>
            </a:r>
            <a:endParaRPr lang="zh-CN" alt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28" name="Rounded Rectangle 27"/>
          <p:cNvSpPr/>
          <p:nvPr>
            <p:custDataLst>
              <p:tags r:id="rId21"/>
            </p:custDataLst>
          </p:nvPr>
        </p:nvSpPr>
        <p:spPr>
          <a:xfrm>
            <a:off x="8028431" y="3447288"/>
            <a:ext cx="3474720" cy="187451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>
            <p:custDataLst>
              <p:tags r:id="rId22"/>
            </p:custDataLst>
          </p:nvPr>
        </p:nvSpPr>
        <p:spPr>
          <a:xfrm>
            <a:off x="8174736" y="36301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3"/>
            </p:custDataLst>
          </p:nvPr>
        </p:nvSpPr>
        <p:spPr>
          <a:xfrm>
            <a:off x="8897111" y="3630168"/>
            <a:ext cx="242316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扩展能力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8193023" y="4178808"/>
            <a:ext cx="3145536" cy="460375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>
              <a:buClrTx/>
              <a:buSzTx/>
              <a:buFontTx/>
            </a:pPr>
            <a:r>
              <a:rPr lang="en-US" sz="1200" b="0">
                <a:solidFill>
                  <a:srgbClr val="262626"/>
                </a:solidFill>
                <a:latin typeface="MiSans" charset="-122"/>
                <a:ea typeface="MiSans" charset="-122"/>
              </a:rPr>
              <a:t>MCP 服务配置与生命周期管理；Markdown Skill 按会话启用。</a:t>
            </a:r>
            <a:endParaRPr lang="en-US" sz="1200" b="0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32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7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模型与对话 · 会话工作台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chat-box"/>
          <p:cNvSpPr/>
          <p:nvPr>
            <p:custDataLst>
              <p:tags r:id="rId1"/>
            </p:custDataLst>
          </p:nvPr>
        </p:nvSpPr>
        <p:spPr>
          <a:xfrm>
            <a:off x="635000" y="1333500"/>
            <a:ext cx="52705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chat-head"/>
          <p:cNvSpPr/>
          <p:nvPr>
            <p:custDataLst>
              <p:tags r:id="rId2"/>
            </p:custDataLst>
          </p:nvPr>
        </p:nvSpPr>
        <p:spPr>
          <a:xfrm>
            <a:off x="635000" y="1333500"/>
            <a:ext cx="52705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chat-title"/>
          <p:cNvSpPr txBox="1"/>
          <p:nvPr>
            <p:custDataLst>
              <p:tags r:id="rId3"/>
            </p:custDataLst>
          </p:nvPr>
        </p:nvSpPr>
        <p:spPr>
          <a:xfrm>
            <a:off x="8636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模型与对话</a:t>
            </a:r>
            <a:endParaRPr lang="en-US" sz="1800" noProof="1"/>
          </a:p>
        </p:txBody>
      </p:sp>
      <p:sp>
        <p:nvSpPr>
          <p:cNvPr id="11" name="chat-body"/>
          <p:cNvSpPr txBox="1"/>
          <p:nvPr>
            <p:custDataLst>
              <p:tags r:id="rId4"/>
            </p:custDataLst>
          </p:nvPr>
        </p:nvSpPr>
        <p:spPr>
          <a:xfrm>
            <a:off x="863600" y="1993900"/>
            <a:ext cx="48133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 OpenAI 兼容协议和 Anthropic 协议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Base URL、API Key、模型 ID 和协议独立配置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SSE 流式输出，实时显示模型生成内容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支持停止生成、失败重试和联通性检测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对话通过 Electron 主进程发起，避免渲染进程直接处理密钥请求</a:t>
            </a:r>
            <a:endParaRPr lang="en-US" sz="1400" noProof="1"/>
          </a:p>
        </p:txBody>
      </p:sp>
      <p:sp>
        <p:nvSpPr>
          <p:cNvPr id="12" name="bench-box"/>
          <p:cNvSpPr/>
          <p:nvPr>
            <p:custDataLst>
              <p:tags r:id="rId5"/>
            </p:custDataLst>
          </p:nvPr>
        </p:nvSpPr>
        <p:spPr>
          <a:xfrm>
            <a:off x="6286500" y="1333500"/>
            <a:ext cx="52705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bench-head"/>
          <p:cNvSpPr/>
          <p:nvPr>
            <p:custDataLst>
              <p:tags r:id="rId6"/>
            </p:custDataLst>
          </p:nvPr>
        </p:nvSpPr>
        <p:spPr>
          <a:xfrm>
            <a:off x="6286500" y="1333500"/>
            <a:ext cx="5270500" cy="5080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bench-title"/>
          <p:cNvSpPr txBox="1"/>
          <p:nvPr>
            <p:custDataLst>
              <p:tags r:id="rId7"/>
            </p:custDataLst>
          </p:nvPr>
        </p:nvSpPr>
        <p:spPr>
          <a:xfrm>
            <a:off x="65151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会话工作台</a:t>
            </a:r>
            <a:endParaRPr lang="en-US" sz="1800" noProof="1"/>
          </a:p>
        </p:txBody>
      </p:sp>
      <p:sp>
        <p:nvSpPr>
          <p:cNvPr id="15" name="bench-body"/>
          <p:cNvSpPr txBox="1"/>
          <p:nvPr>
            <p:custDataLst>
              <p:tags r:id="rId8"/>
            </p:custDataLst>
          </p:nvPr>
        </p:nvSpPr>
        <p:spPr>
          <a:xfrm>
            <a:off x="6515100" y="1993900"/>
            <a:ext cx="48133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新建、切换、重命名和删除会话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会话保存消息上下文、项目目录、权限模式和当前启用的 Skill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支持将会话关联到一个本地项目文件夹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会话状态通过 localStorage 持久化，重启后恢复历史会话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左侧边栏统一提供 Chat、Tools、Skills 和 MCP 入口</a:t>
            </a:r>
            <a:endParaRPr lang="en-US" sz="14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文件上传与分析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types-box"/>
          <p:cNvSpPr/>
          <p:nvPr/>
        </p:nvSpPr>
        <p:spPr>
          <a:xfrm>
            <a:off x="635000" y="1333500"/>
            <a:ext cx="41910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ypes-head"/>
          <p:cNvSpPr/>
          <p:nvPr/>
        </p:nvSpPr>
        <p:spPr>
          <a:xfrm>
            <a:off x="635000" y="1333500"/>
            <a:ext cx="41910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types-title"/>
          <p:cNvSpPr txBox="1"/>
          <p:nvPr/>
        </p:nvSpPr>
        <p:spPr>
          <a:xfrm>
            <a:off x="863600" y="1333500"/>
            <a:ext cx="3733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支持的主要文件类型</a:t>
            </a:r>
            <a:endParaRPr lang="en-US" sz="1800" noProof="1"/>
          </a:p>
        </p:txBody>
      </p:sp>
      <p:sp>
        <p:nvSpPr>
          <p:cNvPr id="11" name="types-body"/>
          <p:cNvSpPr txBox="1"/>
          <p:nvPr/>
        </p:nvSpPr>
        <p:spPr>
          <a:xfrm>
            <a:off x="863600" y="1993900"/>
            <a:ext cx="3733800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文本和代码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：.txt、.md、.json、.csv 及常见代码文件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图片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：.png、.jpg、.jpeg、.webp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文档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：.pdf、.docx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表格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：.xlsx、.xls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演示文档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：.pptx</a:t>
            </a:r>
            <a:endParaRPr lang="en-US" sz="1400" noProof="1"/>
          </a:p>
        </p:txBody>
      </p:sp>
      <p:sp>
        <p:nvSpPr>
          <p:cNvPr id="12" name="flow-title"/>
          <p:cNvSpPr txBox="1"/>
          <p:nvPr/>
        </p:nvSpPr>
        <p:spPr>
          <a:xfrm>
            <a:off x="5334000" y="1333500"/>
            <a:ext cx="6223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附件处理流程</a:t>
            </a:r>
            <a:endParaRPr lang="en-US" sz="1800" noProof="1"/>
          </a:p>
        </p:txBody>
      </p:sp>
      <p:sp>
        <p:nvSpPr>
          <p:cNvPr id="13" name="step0"/>
          <p:cNvSpPr/>
          <p:nvPr/>
        </p:nvSpPr>
        <p:spPr>
          <a:xfrm>
            <a:off x="5334000" y="18415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4" name="step0-t"/>
          <p:cNvSpPr txBox="1"/>
          <p:nvPr/>
        </p:nvSpPr>
        <p:spPr>
          <a:xfrm>
            <a:off x="5588000" y="18415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1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选择或拖拽文件</a:t>
            </a:r>
            <a:endParaRPr lang="en-US" sz="1400" noProof="1"/>
          </a:p>
        </p:txBody>
      </p:sp>
      <p:sp>
        <p:nvSpPr>
          <p:cNvPr id="15" name="arr0"/>
          <p:cNvSpPr/>
          <p:nvPr/>
        </p:nvSpPr>
        <p:spPr>
          <a:xfrm>
            <a:off x="8318500" y="23241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16" name="step1"/>
          <p:cNvSpPr/>
          <p:nvPr/>
        </p:nvSpPr>
        <p:spPr>
          <a:xfrm>
            <a:off x="5334000" y="24511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2700">
            <a:solidFill>
              <a:srgbClr val="E89924"/>
            </a:solidFill>
          </a:ln>
        </p:spPr>
      </p:sp>
      <p:sp>
        <p:nvSpPr>
          <p:cNvPr id="17" name="step1-t"/>
          <p:cNvSpPr txBox="1"/>
          <p:nvPr/>
        </p:nvSpPr>
        <p:spPr>
          <a:xfrm>
            <a:off x="5588000" y="24511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2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校验扩展名、文件头、数量和大小</a:t>
            </a:r>
            <a:endParaRPr lang="en-US" sz="1400" noProof="1"/>
          </a:p>
        </p:txBody>
      </p:sp>
      <p:sp>
        <p:nvSpPr>
          <p:cNvPr id="18" name="arr1"/>
          <p:cNvSpPr/>
          <p:nvPr/>
        </p:nvSpPr>
        <p:spPr>
          <a:xfrm>
            <a:off x="8318500" y="29337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19" name="step2"/>
          <p:cNvSpPr/>
          <p:nvPr/>
        </p:nvSpPr>
        <p:spPr>
          <a:xfrm>
            <a:off x="5334000" y="30607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0" name="step2-t"/>
          <p:cNvSpPr txBox="1"/>
          <p:nvPr/>
        </p:nvSpPr>
        <p:spPr>
          <a:xfrm>
            <a:off x="5588000" y="30607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3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复制到 Electron 临时目录</a:t>
            </a:r>
            <a:endParaRPr lang="en-US" sz="1400" noProof="1"/>
          </a:p>
        </p:txBody>
      </p:sp>
      <p:sp>
        <p:nvSpPr>
          <p:cNvPr id="21" name="arr2"/>
          <p:cNvSpPr/>
          <p:nvPr/>
        </p:nvSpPr>
        <p:spPr>
          <a:xfrm>
            <a:off x="8318500" y="35433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22" name="step3"/>
          <p:cNvSpPr/>
          <p:nvPr/>
        </p:nvSpPr>
        <p:spPr>
          <a:xfrm>
            <a:off x="5334000" y="36703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2700">
            <a:solidFill>
              <a:srgbClr val="E89924"/>
            </a:solidFill>
          </a:ln>
        </p:spPr>
      </p:sp>
      <p:sp>
        <p:nvSpPr>
          <p:cNvPr id="23" name="step3-t"/>
          <p:cNvSpPr txBox="1"/>
          <p:nvPr/>
        </p:nvSpPr>
        <p:spPr>
          <a:xfrm>
            <a:off x="5588000" y="36703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4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主进程本地解析</a:t>
            </a:r>
            <a:endParaRPr lang="en-US" sz="1400" noProof="1"/>
          </a:p>
        </p:txBody>
      </p:sp>
      <p:sp>
        <p:nvSpPr>
          <p:cNvPr id="24" name="arr3"/>
          <p:cNvSpPr/>
          <p:nvPr/>
        </p:nvSpPr>
        <p:spPr>
          <a:xfrm>
            <a:off x="8318500" y="41529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25" name="step4"/>
          <p:cNvSpPr/>
          <p:nvPr/>
        </p:nvSpPr>
        <p:spPr>
          <a:xfrm>
            <a:off x="5334000" y="42799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6" name="step4-t"/>
          <p:cNvSpPr txBox="1"/>
          <p:nvPr/>
        </p:nvSpPr>
        <p:spPr>
          <a:xfrm>
            <a:off x="5588000" y="42799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5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文本或图片上下文注入模型请求</a:t>
            </a:r>
            <a:endParaRPr lang="en-US" sz="1400" noProof="1"/>
          </a:p>
        </p:txBody>
      </p:sp>
      <p:sp>
        <p:nvSpPr>
          <p:cNvPr id="27" name="arr4"/>
          <p:cNvSpPr/>
          <p:nvPr/>
        </p:nvSpPr>
        <p:spPr>
          <a:xfrm>
            <a:off x="8318500" y="47625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28" name="step5"/>
          <p:cNvSpPr/>
          <p:nvPr/>
        </p:nvSpPr>
        <p:spPr>
          <a:xfrm>
            <a:off x="5334000" y="48895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2700">
            <a:solidFill>
              <a:srgbClr val="E89924"/>
            </a:solidFill>
          </a:ln>
        </p:spPr>
      </p:sp>
      <p:sp>
        <p:nvSpPr>
          <p:cNvPr id="29" name="step5-t"/>
          <p:cNvSpPr txBox="1"/>
          <p:nvPr/>
        </p:nvSpPr>
        <p:spPr>
          <a:xfrm>
            <a:off x="5588000" y="48895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6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任务完成后清理临时文件</a:t>
            </a:r>
            <a:endParaRPr lang="en-US" sz="1400" noProof="1"/>
          </a:p>
        </p:txBody>
      </p:sp>
      <p:sp>
        <p:nvSpPr>
          <p:cNvPr id="30" name="boundary-bar"/>
          <p:cNvSpPr/>
          <p:nvPr/>
        </p:nvSpPr>
        <p:spPr>
          <a:xfrm>
            <a:off x="635000" y="5842000"/>
            <a:ext cx="10922000" cy="6604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31" name="boundary-text"/>
          <p:cNvSpPr txBox="1"/>
          <p:nvPr/>
        </p:nvSpPr>
        <p:spPr>
          <a:xfrm>
            <a:off x="889000" y="58420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当前边界：</a:t>
            </a: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单文件最大 20MB，单次最多 5 个附件；单文件文本提取最多 100,000 字符，全部附件合计最多 180,000 字符。Office 文件本地解析，失败仅提示错误，不影响其他会话能力。</a:t>
            </a:r>
            <a:endParaRPr lang="en-US" sz="13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工具系统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graphicFrame>
        <p:nvGraphicFramePr>
          <p:cNvPr id="8" name="tool-table"/>
          <p:cNvGraphicFramePr>
            <a:graphicFrameLocks noGrp="1"/>
          </p:cNvGraphicFramePr>
          <p:nvPr/>
        </p:nvGraphicFramePr>
        <p:xfrm>
          <a:off x="701040" y="1333500"/>
          <a:ext cx="10795000" cy="3810000"/>
        </p:xfrm>
        <a:graphic>
          <a:graphicData uri="http://schemas.openxmlformats.org/drawingml/2006/table">
            <a:tbl>
              <a:tblPr/>
              <a:tblGrid>
                <a:gridCol w="2590800"/>
                <a:gridCol w="1403350"/>
                <a:gridCol w="6800850"/>
              </a:tblGrid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内置工具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权限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用途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time_current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获取当前时间。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calculator_calculate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计算数学表达式，不使用 eval。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file_list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列出项目目录内容。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file_read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读取项目目录内文本文件，限制读取长度。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file_write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write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写入或修改文件。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http_fetch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发起受控 HTTP 请求，包含响应大小、重定向和超时限制。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9" name="tool-bar"/>
          <p:cNvSpPr/>
          <p:nvPr/>
        </p:nvSpPr>
        <p:spPr>
          <a:xfrm>
            <a:off x="701040" y="5435600"/>
            <a:ext cx="10795000" cy="8128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10" name="tool-bar-text"/>
          <p:cNvSpPr txBox="1"/>
          <p:nvPr/>
        </p:nvSpPr>
        <p:spPr>
          <a:xfrm>
            <a:off x="952500" y="5435600"/>
            <a:ext cx="10287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统一管理：</a:t>
            </a: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工具通过统一的 ToolDefinition 注册，由 ToolRegistry 管理列表、查询和模型协议转换；执行器负责参数校验、权限判断、超时、取消、错误码和结果截断。</a:t>
            </a:r>
            <a:endParaRPr lang="en-US" sz="13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权限与用户确认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ask-box"/>
          <p:cNvSpPr/>
          <p:nvPr/>
        </p:nvSpPr>
        <p:spPr>
          <a:xfrm>
            <a:off x="635000" y="1333500"/>
            <a:ext cx="52705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ask-head"/>
          <p:cNvSpPr/>
          <p:nvPr/>
        </p:nvSpPr>
        <p:spPr>
          <a:xfrm>
            <a:off x="635000" y="1333500"/>
            <a:ext cx="52705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ask-title"/>
          <p:cNvSpPr txBox="1"/>
          <p:nvPr/>
        </p:nvSpPr>
        <p:spPr>
          <a:xfrm>
            <a:off x="8636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ask（请求批准，默认）</a:t>
            </a:r>
            <a:endParaRPr lang="en-US" sz="1800" noProof="1"/>
          </a:p>
        </p:txBody>
      </p:sp>
      <p:sp>
        <p:nvSpPr>
          <p:cNvPr id="11" name="ask-body"/>
          <p:cNvSpPr txBox="1"/>
          <p:nvPr/>
        </p:nvSpPr>
        <p:spPr>
          <a:xfrm>
            <a:off x="863600" y="1993900"/>
            <a:ext cx="4813300" cy="248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read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工具：自动执行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write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工具：先生成审批卡片，用户批准后执行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dangerous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工具：拒绝执行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file_write 审批预览包含目标路径、操作摘要和内容摘要</a:t>
            </a:r>
            <a:endParaRPr lang="en-US" sz="1400" noProof="1"/>
          </a:p>
        </p:txBody>
      </p:sp>
      <p:sp>
        <p:nvSpPr>
          <p:cNvPr id="12" name="full-box"/>
          <p:cNvSpPr/>
          <p:nvPr/>
        </p:nvSpPr>
        <p:spPr>
          <a:xfrm>
            <a:off x="6286500" y="1333500"/>
            <a:ext cx="52705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full-head"/>
          <p:cNvSpPr/>
          <p:nvPr/>
        </p:nvSpPr>
        <p:spPr>
          <a:xfrm>
            <a:off x="6286500" y="1333500"/>
            <a:ext cx="5270500" cy="5080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full-title"/>
          <p:cNvSpPr txBox="1"/>
          <p:nvPr/>
        </p:nvSpPr>
        <p:spPr>
          <a:xfrm>
            <a:off x="65151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full（完全访问权限）</a:t>
            </a:r>
            <a:endParaRPr lang="en-US" sz="1800" noProof="1"/>
          </a:p>
        </p:txBody>
      </p:sp>
      <p:sp>
        <p:nvSpPr>
          <p:cNvPr id="15" name="full-body"/>
          <p:cNvSpPr txBox="1"/>
          <p:nvPr/>
        </p:nvSpPr>
        <p:spPr>
          <a:xfrm>
            <a:off x="6515100" y="1993900"/>
            <a:ext cx="4813300" cy="248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read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工具：自动执行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write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工具：跳过审批，但仍进行参数和路径校验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dangerous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工具：仍然拒绝执行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适合受信任目录下的高效批处理场景</a:t>
            </a:r>
            <a:endParaRPr lang="en-US" sz="1400" noProof="1"/>
          </a:p>
        </p:txBody>
      </p:sp>
      <p:sp>
        <p:nvSpPr>
          <p:cNvPr id="16" name="appr-title"/>
          <p:cNvSpPr txBox="1"/>
          <p:nvPr/>
        </p:nvSpPr>
        <p:spPr>
          <a:xfrm>
            <a:off x="701040" y="4953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审批状态流转与持久化</a:t>
            </a:r>
            <a:endParaRPr lang="en-US" sz="1800" noProof="1"/>
          </a:p>
        </p:txBody>
      </p:sp>
      <p:sp>
        <p:nvSpPr>
          <p:cNvPr id="17" name="st0"/>
          <p:cNvSpPr/>
          <p:nvPr/>
        </p:nvSpPr>
        <p:spPr>
          <a:xfrm>
            <a:off x="7010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8" name="st0-t"/>
          <p:cNvSpPr txBox="1"/>
          <p:nvPr/>
        </p:nvSpPr>
        <p:spPr>
          <a:xfrm>
            <a:off x="7010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pending</a:t>
            </a:r>
            <a:endParaRPr lang="en-US" sz="1400" noProof="1"/>
          </a:p>
        </p:txBody>
      </p:sp>
      <p:sp>
        <p:nvSpPr>
          <p:cNvPr id="19" name="starr0"/>
          <p:cNvSpPr/>
          <p:nvPr/>
        </p:nvSpPr>
        <p:spPr>
          <a:xfrm>
            <a:off x="2517140" y="5562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0" name="st1"/>
          <p:cNvSpPr/>
          <p:nvPr/>
        </p:nvSpPr>
        <p:spPr>
          <a:xfrm>
            <a:off x="29235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F4F9FE"/>
          </a:solidFill>
          <a:ln w="12700">
            <a:solidFill>
              <a:srgbClr val="5B9BD5"/>
            </a:solidFill>
          </a:ln>
        </p:spPr>
      </p:sp>
      <p:sp>
        <p:nvSpPr>
          <p:cNvPr id="21" name="st1-t"/>
          <p:cNvSpPr txBox="1"/>
          <p:nvPr/>
        </p:nvSpPr>
        <p:spPr>
          <a:xfrm>
            <a:off x="29235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approved</a:t>
            </a:r>
            <a:endParaRPr lang="en-US" sz="1400" noProof="1"/>
          </a:p>
        </p:txBody>
      </p:sp>
      <p:sp>
        <p:nvSpPr>
          <p:cNvPr id="22" name="starr1"/>
          <p:cNvSpPr/>
          <p:nvPr/>
        </p:nvSpPr>
        <p:spPr>
          <a:xfrm>
            <a:off x="4739640" y="5562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3" name="st2"/>
          <p:cNvSpPr/>
          <p:nvPr/>
        </p:nvSpPr>
        <p:spPr>
          <a:xfrm>
            <a:off x="51460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F4F9FE"/>
          </a:solidFill>
          <a:ln w="12700">
            <a:solidFill>
              <a:srgbClr val="5B9BD5"/>
            </a:solidFill>
          </a:ln>
        </p:spPr>
      </p:sp>
      <p:sp>
        <p:nvSpPr>
          <p:cNvPr id="24" name="st2-t"/>
          <p:cNvSpPr txBox="1"/>
          <p:nvPr/>
        </p:nvSpPr>
        <p:spPr>
          <a:xfrm>
            <a:off x="51460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rejected</a:t>
            </a:r>
            <a:endParaRPr lang="en-US" sz="1400" noProof="1"/>
          </a:p>
        </p:txBody>
      </p:sp>
      <p:sp>
        <p:nvSpPr>
          <p:cNvPr id="25" name="starr2"/>
          <p:cNvSpPr/>
          <p:nvPr/>
        </p:nvSpPr>
        <p:spPr>
          <a:xfrm>
            <a:off x="6962140" y="5562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6" name="st3"/>
          <p:cNvSpPr/>
          <p:nvPr/>
        </p:nvSpPr>
        <p:spPr>
          <a:xfrm>
            <a:off x="73685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F4F9FE"/>
          </a:solidFill>
          <a:ln w="12700">
            <a:solidFill>
              <a:srgbClr val="5B9BD5"/>
            </a:solidFill>
          </a:ln>
        </p:spPr>
      </p:sp>
      <p:sp>
        <p:nvSpPr>
          <p:cNvPr id="27" name="st3-t"/>
          <p:cNvSpPr txBox="1"/>
          <p:nvPr/>
        </p:nvSpPr>
        <p:spPr>
          <a:xfrm>
            <a:off x="73685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expired</a:t>
            </a:r>
            <a:endParaRPr lang="en-US" sz="1400" noProof="1"/>
          </a:p>
        </p:txBody>
      </p:sp>
      <p:sp>
        <p:nvSpPr>
          <p:cNvPr id="28" name="starr3"/>
          <p:cNvSpPr/>
          <p:nvPr/>
        </p:nvSpPr>
        <p:spPr>
          <a:xfrm>
            <a:off x="9184640" y="5562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9" name="st4"/>
          <p:cNvSpPr/>
          <p:nvPr/>
        </p:nvSpPr>
        <p:spPr>
          <a:xfrm>
            <a:off x="95910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F4F9FE"/>
          </a:solidFill>
          <a:ln w="12700">
            <a:solidFill>
              <a:srgbClr val="5B9BD5"/>
            </a:solidFill>
          </a:ln>
        </p:spPr>
      </p:sp>
      <p:sp>
        <p:nvSpPr>
          <p:cNvPr id="30" name="st4-t"/>
          <p:cNvSpPr txBox="1"/>
          <p:nvPr/>
        </p:nvSpPr>
        <p:spPr>
          <a:xfrm>
            <a:off x="95910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cancelled</a:t>
            </a:r>
            <a:endParaRPr lang="en-US" sz="1400" noProof="1"/>
          </a:p>
        </p:txBody>
      </p:sp>
      <p:sp>
        <p:nvSpPr>
          <p:cNvPr id="31" name="appr-note"/>
          <p:cNvSpPr txBox="1"/>
          <p:nvPr/>
        </p:nvSpPr>
        <p:spPr>
          <a:xfrm>
            <a:off x="701040" y="6096000"/>
            <a:ext cx="1079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审批状态保存到 Electron userData 目录；刷新页面后，客户端可通过 list-pending-approvals 重新加载未决审批。</a:t>
            </a:r>
            <a:endParaRPr lang="en-US" sz="13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Skill 能力包与 MCP 外部工具服务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kill-box"/>
          <p:cNvSpPr/>
          <p:nvPr/>
        </p:nvSpPr>
        <p:spPr>
          <a:xfrm>
            <a:off x="635000" y="1333500"/>
            <a:ext cx="52705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kill-head"/>
          <p:cNvSpPr/>
          <p:nvPr/>
        </p:nvSpPr>
        <p:spPr>
          <a:xfrm>
            <a:off x="635000" y="1333500"/>
            <a:ext cx="52705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skill-title"/>
          <p:cNvSpPr txBox="1"/>
          <p:nvPr/>
        </p:nvSpPr>
        <p:spPr>
          <a:xfrm>
            <a:off x="8636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Skill 能力包</a:t>
            </a:r>
            <a:endParaRPr lang="en-US" sz="1800" noProof="1"/>
          </a:p>
        </p:txBody>
      </p:sp>
      <p:sp>
        <p:nvSpPr>
          <p:cNvPr id="11" name="skill-body"/>
          <p:cNvSpPr txBox="1"/>
          <p:nvPr/>
        </p:nvSpPr>
        <p:spPr>
          <a:xfrm>
            <a:off x="863600" y="1993900"/>
            <a:ext cx="4813300" cy="325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用户可手动启用的 Markdown 提示词能力包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只注入文本规范：不执行脚本、不注册工具、不能绕过权限审批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两个来源：全局目录 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/skills 与项目目录 &lt;项目目录&gt;/.agent/skills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同名项目 Skill 覆盖全局 Skill，启用状态按会话保存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单个 SKILL.md 最大 64KB，单次请求注入合计最大 200KB</a:t>
            </a:r>
            <a:endParaRPr lang="en-US" sz="1300" noProof="1"/>
          </a:p>
        </p:txBody>
      </p:sp>
      <p:sp>
        <p:nvSpPr>
          <p:cNvPr id="12" name="mcp-box"/>
          <p:cNvSpPr/>
          <p:nvPr/>
        </p:nvSpPr>
        <p:spPr>
          <a:xfrm>
            <a:off x="6286500" y="1333500"/>
            <a:ext cx="52705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mcp-head"/>
          <p:cNvSpPr/>
          <p:nvPr/>
        </p:nvSpPr>
        <p:spPr>
          <a:xfrm>
            <a:off x="6286500" y="1333500"/>
            <a:ext cx="5270500" cy="5080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mcp-title"/>
          <p:cNvSpPr txBox="1"/>
          <p:nvPr/>
        </p:nvSpPr>
        <p:spPr>
          <a:xfrm>
            <a:off x="65151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MCP 外部工具服务</a:t>
            </a:r>
            <a:endParaRPr lang="en-US" sz="1800" noProof="1"/>
          </a:p>
        </p:txBody>
      </p:sp>
      <p:sp>
        <p:nvSpPr>
          <p:cNvPr id="15" name="mcp-body"/>
          <p:cNvSpPr txBox="1"/>
          <p:nvPr/>
        </p:nvSpPr>
        <p:spPr>
          <a:xfrm>
            <a:off x="6515100" y="1993900"/>
            <a:ext cx="4813300" cy="325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作为 MCP Client，通过本地 stdio 方式连接外部 MCP Server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主进程启动服务，经 stdio / JSON-RPC 发现 tools 并注册到 Agent 工具列表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工具采用 mcp__服务名__工具名 命名空间避免冲突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依据 MCP annotations 映射到 read / write / dangerous 权限模型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配置保存到 userData/mcp-servers.json；单个服务异常不影响内置工具和其他服务</a:t>
            </a:r>
            <a:endParaRPr lang="en-US" sz="1300" noProof="1"/>
          </a:p>
        </p:txBody>
      </p:sp>
      <p:sp>
        <p:nvSpPr>
          <p:cNvPr id="16" name="mcp-bar"/>
          <p:cNvSpPr/>
          <p:nvPr/>
        </p:nvSpPr>
        <p:spPr>
          <a:xfrm>
            <a:off x="635000" y="5689600"/>
            <a:ext cx="10922000" cy="6604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17" name="mcp-bar-text"/>
          <p:cNvSpPr txBox="1"/>
          <p:nvPr/>
        </p:nvSpPr>
        <p:spPr>
          <a:xfrm>
            <a:off x="889000" y="56896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接入范围：</a:t>
            </a: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第一版接入 MCP Tools，不包含 Resources、Prompts 和 Sampling；启动时连接已启用的服务，按需扩展专业能力。</a:t>
            </a:r>
            <a:endParaRPr lang="en-US" sz="13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03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执行流程与技术架构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Agent 任务执行主流程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f10"/>
          <p:cNvSpPr/>
          <p:nvPr/>
        </p:nvSpPr>
        <p:spPr>
          <a:xfrm>
            <a:off x="5080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 w="12700">
            <a:solidFill>
              <a:srgbClr val="5B9BD5"/>
            </a:solidFill>
          </a:ln>
        </p:spPr>
      </p:sp>
      <p:sp>
        <p:nvSpPr>
          <p:cNvPr id="9" name="f10-t"/>
          <p:cNvSpPr txBox="1"/>
          <p:nvPr/>
        </p:nvSpPr>
        <p:spPr>
          <a:xfrm>
            <a:off x="6096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用户输入自然语言任务</a:t>
            </a:r>
            <a:endParaRPr lang="en-US" sz="1200" noProof="1"/>
          </a:p>
        </p:txBody>
      </p:sp>
      <p:sp>
        <p:nvSpPr>
          <p:cNvPr id="10" name="f1arr0"/>
          <p:cNvSpPr/>
          <p:nvPr/>
        </p:nvSpPr>
        <p:spPr>
          <a:xfrm>
            <a:off x="2578100" y="195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1" name="f11"/>
          <p:cNvSpPr/>
          <p:nvPr/>
        </p:nvSpPr>
        <p:spPr>
          <a:xfrm>
            <a:off x="28194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2" name="f11-t"/>
          <p:cNvSpPr txBox="1"/>
          <p:nvPr/>
        </p:nvSpPr>
        <p:spPr>
          <a:xfrm>
            <a:off x="29210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携带会话上下文、附件和启用的 Skill</a:t>
            </a:r>
            <a:endParaRPr lang="en-US" sz="1200" noProof="1"/>
          </a:p>
        </p:txBody>
      </p:sp>
      <p:sp>
        <p:nvSpPr>
          <p:cNvPr id="13" name="f1arr1"/>
          <p:cNvSpPr/>
          <p:nvPr/>
        </p:nvSpPr>
        <p:spPr>
          <a:xfrm>
            <a:off x="4889500" y="195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4" name="f12"/>
          <p:cNvSpPr/>
          <p:nvPr/>
        </p:nvSpPr>
        <p:spPr>
          <a:xfrm>
            <a:off x="51308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5" name="f12-t"/>
          <p:cNvSpPr txBox="1"/>
          <p:nvPr/>
        </p:nvSpPr>
        <p:spPr>
          <a:xfrm>
            <a:off x="52324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准备并解析附件</a:t>
            </a:r>
            <a:endParaRPr lang="en-US" sz="1200" noProof="1"/>
          </a:p>
        </p:txBody>
      </p:sp>
      <p:sp>
        <p:nvSpPr>
          <p:cNvPr id="16" name="f1arr2"/>
          <p:cNvSpPr/>
          <p:nvPr/>
        </p:nvSpPr>
        <p:spPr>
          <a:xfrm>
            <a:off x="7200900" y="195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7" name="f13"/>
          <p:cNvSpPr/>
          <p:nvPr/>
        </p:nvSpPr>
        <p:spPr>
          <a:xfrm>
            <a:off x="74422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8" name="f13-t"/>
          <p:cNvSpPr txBox="1"/>
          <p:nvPr/>
        </p:nvSpPr>
        <p:spPr>
          <a:xfrm>
            <a:off x="75438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协议适配层构造模型请求</a:t>
            </a:r>
            <a:endParaRPr lang="en-US" sz="1200" noProof="1"/>
          </a:p>
        </p:txBody>
      </p:sp>
      <p:sp>
        <p:nvSpPr>
          <p:cNvPr id="19" name="f1arr3"/>
          <p:cNvSpPr/>
          <p:nvPr/>
        </p:nvSpPr>
        <p:spPr>
          <a:xfrm>
            <a:off x="9512300" y="195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0" name="f14"/>
          <p:cNvSpPr/>
          <p:nvPr/>
        </p:nvSpPr>
        <p:spPr>
          <a:xfrm>
            <a:off x="97536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 w="12700">
            <a:solidFill>
              <a:srgbClr val="5B9BD5"/>
            </a:solidFill>
          </a:ln>
        </p:spPr>
      </p:sp>
      <p:sp>
        <p:nvSpPr>
          <p:cNvPr id="21" name="f14-t"/>
          <p:cNvSpPr txBox="1"/>
          <p:nvPr/>
        </p:nvSpPr>
        <p:spPr>
          <a:xfrm>
            <a:off x="98552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模型返回文本或工具调用</a:t>
            </a:r>
            <a:endParaRPr lang="en-US" sz="1200" noProof="1"/>
          </a:p>
        </p:txBody>
      </p:sp>
      <p:sp>
        <p:nvSpPr>
          <p:cNvPr id="22" name="turn"/>
          <p:cNvSpPr/>
          <p:nvPr/>
        </p:nvSpPr>
        <p:spPr>
          <a:xfrm>
            <a:off x="10922000" y="254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32" y="64"/>
                </a:moveTo>
                <a:cubicBezTo>
                  <a:pt x="14" y="64"/>
                  <a:pt x="0" y="50"/>
                  <a:pt x="0" y="32"/>
                </a:cubicBezTo>
                <a:cubicBezTo>
                  <a:pt x="0" y="14"/>
                  <a:pt x="14" y="0"/>
                  <a:pt x="32" y="0"/>
                </a:cubicBezTo>
                <a:lnTo>
                  <a:pt x="128" y="0"/>
                </a:lnTo>
                <a:cubicBezTo>
                  <a:pt x="181" y="0"/>
                  <a:pt x="224" y="43"/>
                  <a:pt x="224" y="96"/>
                </a:cubicBezTo>
                <a:lnTo>
                  <a:pt x="224" y="403"/>
                </a:lnTo>
                <a:lnTo>
                  <a:pt x="297" y="329"/>
                </a:lnTo>
                <a:cubicBezTo>
                  <a:pt x="310" y="317"/>
                  <a:pt x="330" y="317"/>
                  <a:pt x="343" y="329"/>
                </a:cubicBezTo>
                <a:cubicBezTo>
                  <a:pt x="355" y="342"/>
                  <a:pt x="355" y="362"/>
                  <a:pt x="343" y="375"/>
                </a:cubicBezTo>
                <a:lnTo>
                  <a:pt x="215" y="503"/>
                </a:lnTo>
                <a:cubicBezTo>
                  <a:pt x="202" y="515"/>
                  <a:pt x="182" y="515"/>
                  <a:pt x="169" y="503"/>
                </a:cubicBezTo>
                <a:lnTo>
                  <a:pt x="41" y="375"/>
                </a:lnTo>
                <a:cubicBezTo>
                  <a:pt x="29" y="362"/>
                  <a:pt x="29" y="342"/>
                  <a:pt x="41" y="329"/>
                </a:cubicBezTo>
                <a:cubicBezTo>
                  <a:pt x="54" y="317"/>
                  <a:pt x="74" y="317"/>
                  <a:pt x="87" y="329"/>
                </a:cubicBezTo>
                <a:lnTo>
                  <a:pt x="160" y="403"/>
                </a:lnTo>
                <a:lnTo>
                  <a:pt x="160" y="96"/>
                </a:lnTo>
                <a:cubicBezTo>
                  <a:pt x="160" y="78"/>
                  <a:pt x="146" y="64"/>
                  <a:pt x="128" y="64"/>
                </a:cubicBezTo>
                <a:lnTo>
                  <a:pt x="32" y="64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23" name="f20"/>
          <p:cNvSpPr/>
          <p:nvPr/>
        </p:nvSpPr>
        <p:spPr>
          <a:xfrm>
            <a:off x="5080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4" name="f20-t"/>
          <p:cNvSpPr txBox="1"/>
          <p:nvPr/>
        </p:nvSpPr>
        <p:spPr>
          <a:xfrm>
            <a:off x="6096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工具执行前进行权限判断</a:t>
            </a:r>
            <a:endParaRPr lang="en-US" sz="1200" noProof="1"/>
          </a:p>
        </p:txBody>
      </p:sp>
      <p:sp>
        <p:nvSpPr>
          <p:cNvPr id="25" name="f2arr0"/>
          <p:cNvSpPr/>
          <p:nvPr/>
        </p:nvSpPr>
        <p:spPr>
          <a:xfrm>
            <a:off x="25781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6" name="f21"/>
          <p:cNvSpPr/>
          <p:nvPr/>
        </p:nvSpPr>
        <p:spPr>
          <a:xfrm>
            <a:off x="28194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7" name="f21-t"/>
          <p:cNvSpPr txBox="1"/>
          <p:nvPr/>
        </p:nvSpPr>
        <p:spPr>
          <a:xfrm>
            <a:off x="29210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必要时暂停并等待用户审批</a:t>
            </a:r>
            <a:endParaRPr lang="en-US" sz="1200" noProof="1"/>
          </a:p>
        </p:txBody>
      </p:sp>
      <p:sp>
        <p:nvSpPr>
          <p:cNvPr id="28" name="f2arr1"/>
          <p:cNvSpPr/>
          <p:nvPr/>
        </p:nvSpPr>
        <p:spPr>
          <a:xfrm>
            <a:off x="48895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9" name="f22"/>
          <p:cNvSpPr/>
          <p:nvPr/>
        </p:nvSpPr>
        <p:spPr>
          <a:xfrm>
            <a:off x="51308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30" name="f22-t"/>
          <p:cNvSpPr txBox="1"/>
          <p:nvPr/>
        </p:nvSpPr>
        <p:spPr>
          <a:xfrm>
            <a:off x="52324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执行工具并回填结果</a:t>
            </a:r>
            <a:endParaRPr lang="en-US" sz="1200" noProof="1"/>
          </a:p>
        </p:txBody>
      </p:sp>
      <p:sp>
        <p:nvSpPr>
          <p:cNvPr id="31" name="f2arr2"/>
          <p:cNvSpPr/>
          <p:nvPr/>
        </p:nvSpPr>
        <p:spPr>
          <a:xfrm>
            <a:off x="72009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32" name="f23"/>
          <p:cNvSpPr/>
          <p:nvPr/>
        </p:nvSpPr>
        <p:spPr>
          <a:xfrm>
            <a:off x="74422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33" name="f23-t"/>
          <p:cNvSpPr txBox="1"/>
          <p:nvPr/>
        </p:nvSpPr>
        <p:spPr>
          <a:xfrm>
            <a:off x="75438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继续下一轮模型决策</a:t>
            </a:r>
            <a:endParaRPr lang="en-US" sz="1200" noProof="1"/>
          </a:p>
        </p:txBody>
      </p:sp>
      <p:sp>
        <p:nvSpPr>
          <p:cNvPr id="34" name="f2arr3"/>
          <p:cNvSpPr/>
          <p:nvPr/>
        </p:nvSpPr>
        <p:spPr>
          <a:xfrm>
            <a:off x="95123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35" name="f24"/>
          <p:cNvSpPr/>
          <p:nvPr/>
        </p:nvSpPr>
        <p:spPr>
          <a:xfrm>
            <a:off x="97536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 w="12700">
            <a:solidFill>
              <a:srgbClr val="5B9BD5"/>
            </a:solidFill>
          </a:ln>
        </p:spPr>
      </p:sp>
      <p:sp>
        <p:nvSpPr>
          <p:cNvPr id="36" name="f24-t"/>
          <p:cNvSpPr txBox="1"/>
          <p:nvPr/>
        </p:nvSpPr>
        <p:spPr>
          <a:xfrm>
            <a:off x="98552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输出最终回答</a:t>
            </a:r>
            <a:endParaRPr lang="en-US" sz="1200" noProof="1"/>
          </a:p>
        </p:txBody>
      </p:sp>
      <p:sp>
        <p:nvSpPr>
          <p:cNvPr id="37" name="loop-note-box"/>
          <p:cNvSpPr/>
          <p:nvPr/>
        </p:nvSpPr>
        <p:spPr>
          <a:xfrm>
            <a:off x="701040" y="4445000"/>
            <a:ext cx="10795000" cy="15240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38" name="loop-note"/>
          <p:cNvSpPr txBox="1"/>
          <p:nvPr/>
        </p:nvSpPr>
        <p:spPr>
          <a:xfrm>
            <a:off x="1016000" y="4597400"/>
            <a:ext cx="10160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核心循环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位于 electron/agentLoop.ts：当前每次请求最多进行 </a:t>
            </a:r>
            <a:r>
              <a:rPr lang="en-US" sz="14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8 步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工具调用循环；最后一步不再携带 tools，强制模型输出最终回答，避免任务无限循环。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工具结果回填后继续下一轮模型决策，直到输出最终回答，全过程在界面中可见。</a:t>
            </a:r>
            <a:endParaRPr lang="en-US" sz="1400" noProof="1"/>
          </a:p>
        </p:txBody>
      </p:sp>
      <p:sp>
        <p:nvSpPr>
          <p:cNvPr id="39" name="loop-bar"/>
          <p:cNvSpPr/>
          <p:nvPr/>
        </p:nvSpPr>
        <p:spPr>
          <a:xfrm>
            <a:off x="701040" y="6172200"/>
            <a:ext cx="10795000" cy="1016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任务状态与错误恢复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t-title"/>
          <p:cNvSpPr txBox="1"/>
          <p:nvPr/>
        </p:nvSpPr>
        <p:spPr>
          <a:xfrm>
            <a:off x="762000" y="12700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任务状态链（shared/task.ts）</a:t>
            </a:r>
            <a:endParaRPr lang="en-US" sz="1700" noProof="1"/>
          </a:p>
        </p:txBody>
      </p:sp>
      <p:sp>
        <p:nvSpPr>
          <p:cNvPr id="9" name="ts0"/>
          <p:cNvSpPr/>
          <p:nvPr/>
        </p:nvSpPr>
        <p:spPr>
          <a:xfrm>
            <a:off x="762000" y="1727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0" name="ts0-t"/>
          <p:cNvSpPr txBox="1"/>
          <p:nvPr/>
        </p:nvSpPr>
        <p:spPr>
          <a:xfrm>
            <a:off x="762000" y="1727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queued</a:t>
            </a:r>
            <a:endParaRPr lang="en-US" sz="1300" noProof="1"/>
          </a:p>
        </p:txBody>
      </p:sp>
      <p:sp>
        <p:nvSpPr>
          <p:cNvPr id="11" name="tsarr0"/>
          <p:cNvSpPr/>
          <p:nvPr/>
        </p:nvSpPr>
        <p:spPr>
          <a:xfrm>
            <a:off x="2692400" y="2209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2" name="ts1"/>
          <p:cNvSpPr/>
          <p:nvPr/>
        </p:nvSpPr>
        <p:spPr>
          <a:xfrm>
            <a:off x="762000" y="2362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3" name="ts1-t"/>
          <p:cNvSpPr txBox="1"/>
          <p:nvPr/>
        </p:nvSpPr>
        <p:spPr>
          <a:xfrm>
            <a:off x="762000" y="2362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preparing_attachments</a:t>
            </a:r>
            <a:endParaRPr lang="en-US" sz="1300" noProof="1"/>
          </a:p>
        </p:txBody>
      </p:sp>
      <p:sp>
        <p:nvSpPr>
          <p:cNvPr id="14" name="tsarr1"/>
          <p:cNvSpPr/>
          <p:nvPr/>
        </p:nvSpPr>
        <p:spPr>
          <a:xfrm>
            <a:off x="2692400" y="2844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5" name="ts2"/>
          <p:cNvSpPr/>
          <p:nvPr/>
        </p:nvSpPr>
        <p:spPr>
          <a:xfrm>
            <a:off x="762000" y="2997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6" name="ts2-t"/>
          <p:cNvSpPr txBox="1"/>
          <p:nvPr/>
        </p:nvSpPr>
        <p:spPr>
          <a:xfrm>
            <a:off x="762000" y="2997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parsing_attachments</a:t>
            </a:r>
            <a:endParaRPr lang="en-US" sz="1300" noProof="1"/>
          </a:p>
        </p:txBody>
      </p:sp>
      <p:sp>
        <p:nvSpPr>
          <p:cNvPr id="17" name="tsarr2"/>
          <p:cNvSpPr/>
          <p:nvPr/>
        </p:nvSpPr>
        <p:spPr>
          <a:xfrm>
            <a:off x="2692400" y="3479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8" name="ts3"/>
          <p:cNvSpPr/>
          <p:nvPr/>
        </p:nvSpPr>
        <p:spPr>
          <a:xfrm>
            <a:off x="762000" y="3632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9" name="ts3-t"/>
          <p:cNvSpPr txBox="1"/>
          <p:nvPr/>
        </p:nvSpPr>
        <p:spPr>
          <a:xfrm>
            <a:off x="762000" y="3632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generating</a:t>
            </a:r>
            <a:endParaRPr lang="en-US" sz="1300" noProof="1"/>
          </a:p>
        </p:txBody>
      </p:sp>
      <p:sp>
        <p:nvSpPr>
          <p:cNvPr id="20" name="tsarr3"/>
          <p:cNvSpPr/>
          <p:nvPr/>
        </p:nvSpPr>
        <p:spPr>
          <a:xfrm>
            <a:off x="2692400" y="4114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1" name="ts4"/>
          <p:cNvSpPr/>
          <p:nvPr/>
        </p:nvSpPr>
        <p:spPr>
          <a:xfrm>
            <a:off x="762000" y="4267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2" name="ts4-t"/>
          <p:cNvSpPr txBox="1"/>
          <p:nvPr/>
        </p:nvSpPr>
        <p:spPr>
          <a:xfrm>
            <a:off x="762000" y="4267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waiting_approval</a:t>
            </a:r>
            <a:endParaRPr lang="en-US" sz="1300" noProof="1"/>
          </a:p>
        </p:txBody>
      </p:sp>
      <p:sp>
        <p:nvSpPr>
          <p:cNvPr id="23" name="tsarr4"/>
          <p:cNvSpPr/>
          <p:nvPr/>
        </p:nvSpPr>
        <p:spPr>
          <a:xfrm>
            <a:off x="2692400" y="4749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4" name="ts5"/>
          <p:cNvSpPr/>
          <p:nvPr/>
        </p:nvSpPr>
        <p:spPr>
          <a:xfrm>
            <a:off x="762000" y="4902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5" name="ts5-t"/>
          <p:cNvSpPr txBox="1"/>
          <p:nvPr/>
        </p:nvSpPr>
        <p:spPr>
          <a:xfrm>
            <a:off x="762000" y="4902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running_tool</a:t>
            </a:r>
            <a:endParaRPr lang="en-US" sz="1300" noProof="1"/>
          </a:p>
        </p:txBody>
      </p:sp>
      <p:sp>
        <p:nvSpPr>
          <p:cNvPr id="26" name="tsarr5"/>
          <p:cNvSpPr/>
          <p:nvPr/>
        </p:nvSpPr>
        <p:spPr>
          <a:xfrm>
            <a:off x="2692400" y="5384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7" name="ts6"/>
          <p:cNvSpPr/>
          <p:nvPr/>
        </p:nvSpPr>
        <p:spPr>
          <a:xfrm>
            <a:off x="762000" y="5537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 w="12700">
            <a:solidFill>
              <a:srgbClr val="5B9BD5"/>
            </a:solidFill>
          </a:ln>
        </p:spPr>
      </p:sp>
      <p:sp>
        <p:nvSpPr>
          <p:cNvPr id="28" name="ts6-t"/>
          <p:cNvSpPr txBox="1"/>
          <p:nvPr/>
        </p:nvSpPr>
        <p:spPr>
          <a:xfrm>
            <a:off x="762000" y="5537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completed / failed / cancelled</a:t>
            </a:r>
            <a:endParaRPr lang="en-US" sz="1300" noProof="1"/>
          </a:p>
        </p:txBody>
      </p:sp>
      <p:sp>
        <p:nvSpPr>
          <p:cNvPr id="29" name="recover-box"/>
          <p:cNvSpPr/>
          <p:nvPr/>
        </p:nvSpPr>
        <p:spPr>
          <a:xfrm>
            <a:off x="5334000" y="1270000"/>
            <a:ext cx="6223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recover-head"/>
          <p:cNvSpPr/>
          <p:nvPr/>
        </p:nvSpPr>
        <p:spPr>
          <a:xfrm>
            <a:off x="5334000" y="1270000"/>
            <a:ext cx="62230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1" name="recover-title"/>
          <p:cNvSpPr txBox="1"/>
          <p:nvPr/>
        </p:nvSpPr>
        <p:spPr>
          <a:xfrm>
            <a:off x="5562600" y="1270000"/>
            <a:ext cx="5765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错误恢复机制</a:t>
            </a:r>
            <a:endParaRPr lang="en-US" sz="1800" noProof="1"/>
          </a:p>
        </p:txBody>
      </p:sp>
      <p:sp>
        <p:nvSpPr>
          <p:cNvPr id="32" name="recover-body"/>
          <p:cNvSpPr txBox="1"/>
          <p:nvPr/>
        </p:nvSpPr>
        <p:spPr>
          <a:xfrm>
            <a:off x="5562600" y="1930400"/>
            <a:ext cx="5765800" cy="299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模型请求错误、工具错误、附件解析错误和审批超时分别反馈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工具执行结果带有结构化错误码和是否可重试标识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失败重试会移除末尾失败占位消息，复用最近一次用户消息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页面刷新后可通过 list-pending-approvals 恢复未决审批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应用启动时清理超过 1 小时的孤立附件目录，避免临时文件残留</a:t>
            </a:r>
            <a:endParaRPr lang="en-US" sz="1400" noProof="1"/>
          </a:p>
        </p:txBody>
      </p:sp>
      <p:sp>
        <p:nvSpPr>
          <p:cNvPr id="33" name="note-bar"/>
          <p:cNvSpPr/>
          <p:nvPr/>
        </p:nvSpPr>
        <p:spPr>
          <a:xfrm>
            <a:off x="5334000" y="5384800"/>
            <a:ext cx="6223000" cy="9652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34" name="note-text"/>
          <p:cNvSpPr txBox="1"/>
          <p:nvPr/>
        </p:nvSpPr>
        <p:spPr>
          <a:xfrm>
            <a:off x="5588000" y="5384800"/>
            <a:ext cx="5715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可中断：</a:t>
            </a: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状态通过 task-status IPC 事件同步到前端；用户停止时 AbortSignal 贯穿模型流和工具执行，停止请求取消 pending 审批，已生成内容保留。</a:t>
            </a:r>
            <a:endParaRPr lang="en-US" sz="13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技术架构：分层结构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layer0"/>
          <p:cNvSpPr/>
          <p:nvPr/>
        </p:nvSpPr>
        <p:spPr>
          <a:xfrm>
            <a:off x="1651000" y="1524000"/>
            <a:ext cx="8890000" cy="9144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9" name="layer0-name"/>
          <p:cNvSpPr txBox="1"/>
          <p:nvPr>
            <p:custDataLst>
              <p:tags r:id="rId1"/>
            </p:custDataLst>
          </p:nvPr>
        </p:nvSpPr>
        <p:spPr>
          <a:xfrm>
            <a:off x="1968500" y="16256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React 渲染进程</a:t>
            </a:r>
            <a:endParaRPr lang="en-US" sz="1800" noProof="1"/>
          </a:p>
        </p:txBody>
      </p:sp>
      <p:sp>
        <p:nvSpPr>
          <p:cNvPr id="10" name="layer0-desc"/>
          <p:cNvSpPr txBox="1"/>
          <p:nvPr>
            <p:custDataLst>
              <p:tags r:id="rId2"/>
            </p:custDataLst>
          </p:nvPr>
        </p:nvSpPr>
        <p:spPr>
          <a:xfrm>
            <a:off x="1968500" y="1981200"/>
            <a:ext cx="825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Chat / Message / Sidebar / Settings / ToolList / SkillManager / McpManager</a:t>
            </a:r>
            <a:endParaRPr lang="en-US" sz="1200" noProof="1"/>
          </a:p>
        </p:txBody>
      </p:sp>
      <p:sp>
        <p:nvSpPr>
          <p:cNvPr id="11" name="lyr-arr0"/>
          <p:cNvSpPr/>
          <p:nvPr>
            <p:custDataLst>
              <p:tags r:id="rId3"/>
            </p:custDataLst>
          </p:nvPr>
        </p:nvSpPr>
        <p:spPr>
          <a:xfrm>
            <a:off x="5969000" y="24384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</p:sp>
      <p:sp>
        <p:nvSpPr>
          <p:cNvPr id="12" name="layer1"/>
          <p:cNvSpPr/>
          <p:nvPr/>
        </p:nvSpPr>
        <p:spPr>
          <a:xfrm>
            <a:off x="1651000" y="2641600"/>
            <a:ext cx="8890000" cy="914400"/>
          </a:xfrm>
          <a:prstGeom prst="roundRect">
            <a:avLst>
              <a:gd name="adj" fmla="val 6000"/>
            </a:avLst>
          </a:prstGeom>
          <a:solidFill>
            <a:srgbClr val="5B9BD5"/>
          </a:solidFill>
          <a:ln>
            <a:noFill/>
          </a:ln>
        </p:spPr>
      </p:sp>
      <p:sp>
        <p:nvSpPr>
          <p:cNvPr id="13" name="layer1-name"/>
          <p:cNvSpPr txBox="1"/>
          <p:nvPr>
            <p:custDataLst>
              <p:tags r:id="rId4"/>
            </p:custDataLst>
          </p:nvPr>
        </p:nvSpPr>
        <p:spPr>
          <a:xfrm>
            <a:off x="1968500" y="27432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Electron Preload</a:t>
            </a:r>
            <a:endParaRPr lang="en-US" sz="1800" noProof="1"/>
          </a:p>
        </p:txBody>
      </p:sp>
      <p:sp>
        <p:nvSpPr>
          <p:cNvPr id="14" name="layer1-desc"/>
          <p:cNvSpPr txBox="1"/>
          <p:nvPr>
            <p:custDataLst>
              <p:tags r:id="rId5"/>
            </p:custDataLst>
          </p:nvPr>
        </p:nvSpPr>
        <p:spPr>
          <a:xfrm>
            <a:off x="1968500" y="3098800"/>
            <a:ext cx="825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API</a:t>
            </a:r>
            <a:endParaRPr lang="en-US" sz="1200" noProof="1"/>
          </a:p>
        </p:txBody>
      </p:sp>
      <p:sp>
        <p:nvSpPr>
          <p:cNvPr id="15" name="lyr-arr1"/>
          <p:cNvSpPr/>
          <p:nvPr>
            <p:custDataLst>
              <p:tags r:id="rId6"/>
            </p:custDataLst>
          </p:nvPr>
        </p:nvSpPr>
        <p:spPr>
          <a:xfrm>
            <a:off x="5969000" y="35560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</p:sp>
      <p:sp>
        <p:nvSpPr>
          <p:cNvPr id="16" name="layer2"/>
          <p:cNvSpPr/>
          <p:nvPr/>
        </p:nvSpPr>
        <p:spPr>
          <a:xfrm>
            <a:off x="1651000" y="3759200"/>
            <a:ext cx="8890000" cy="914400"/>
          </a:xfrm>
          <a:prstGeom prst="roundRect">
            <a:avLst>
              <a:gd name="adj" fmla="val 6000"/>
            </a:avLst>
          </a:prstGeom>
          <a:solidFill>
            <a:srgbClr val="E89924"/>
          </a:solidFill>
          <a:ln>
            <a:noFill/>
          </a:ln>
        </p:spPr>
      </p:sp>
      <p:sp>
        <p:nvSpPr>
          <p:cNvPr id="17" name="layer2-name"/>
          <p:cNvSpPr txBox="1"/>
          <p:nvPr>
            <p:custDataLst>
              <p:tags r:id="rId7"/>
            </p:custDataLst>
          </p:nvPr>
        </p:nvSpPr>
        <p:spPr>
          <a:xfrm>
            <a:off x="1968500" y="38608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Electron 主进程</a:t>
            </a:r>
            <a:endParaRPr lang="en-US" sz="1800" noProof="1"/>
          </a:p>
        </p:txBody>
      </p:sp>
      <p:sp>
        <p:nvSpPr>
          <p:cNvPr id="18" name="layer2-desc"/>
          <p:cNvSpPr txBox="1"/>
          <p:nvPr>
            <p:custDataLst>
              <p:tags r:id="rId8"/>
            </p:custDataLst>
          </p:nvPr>
        </p:nvSpPr>
        <p:spPr>
          <a:xfrm>
            <a:off x="1968500" y="4216400"/>
            <a:ext cx="825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请求代理 · 协议适配 · SSE 解析 · Agent Loop · 工具执行 · 审批 · 附件 · MCP</a:t>
            </a:r>
            <a:endParaRPr lang="en-US" sz="1200" noProof="1"/>
          </a:p>
        </p:txBody>
      </p:sp>
      <p:sp>
        <p:nvSpPr>
          <p:cNvPr id="19" name="lyr-arr2"/>
          <p:cNvSpPr/>
          <p:nvPr>
            <p:custDataLst>
              <p:tags r:id="rId9"/>
            </p:custDataLst>
          </p:nvPr>
        </p:nvSpPr>
        <p:spPr>
          <a:xfrm>
            <a:off x="5969000" y="4673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</p:sp>
      <p:sp>
        <p:nvSpPr>
          <p:cNvPr id="20" name="layer3"/>
          <p:cNvSpPr/>
          <p:nvPr/>
        </p:nvSpPr>
        <p:spPr>
          <a:xfrm>
            <a:off x="1651000" y="4876800"/>
            <a:ext cx="8890000" cy="914400"/>
          </a:xfrm>
          <a:prstGeom prst="roundRect">
            <a:avLst>
              <a:gd name="adj" fmla="val 6000"/>
            </a:avLst>
          </a:prstGeom>
          <a:solidFill>
            <a:srgbClr val="223962"/>
          </a:solidFill>
          <a:ln>
            <a:noFill/>
          </a:ln>
        </p:spPr>
      </p:sp>
      <p:sp>
        <p:nvSpPr>
          <p:cNvPr id="21" name="layer3-name"/>
          <p:cNvSpPr txBox="1"/>
          <p:nvPr/>
        </p:nvSpPr>
        <p:spPr>
          <a:xfrm>
            <a:off x="1968500" y="49784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本地资源与外部服务</a:t>
            </a:r>
            <a:endParaRPr lang="en-US" sz="1800" noProof="1"/>
          </a:p>
        </p:txBody>
      </p:sp>
      <p:sp>
        <p:nvSpPr>
          <p:cNvPr id="22" name="layer3-desc"/>
          <p:cNvSpPr txBox="1"/>
          <p:nvPr/>
        </p:nvSpPr>
        <p:spPr>
          <a:xfrm>
            <a:off x="1968500" y="5334000"/>
            <a:ext cx="825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localStorage · userData · 项目目录 · 本地 MCP Server · OpenAI/Anthropic API</a:t>
            </a:r>
            <a:endParaRPr lang="en-US" sz="1200" noProof="1"/>
          </a:p>
        </p:txBody>
      </p:sp>
      <p:sp>
        <p:nvSpPr>
          <p:cNvPr id="23" name="arch-note"/>
          <p:cNvSpPr txBox="1"/>
          <p:nvPr/>
        </p:nvSpPr>
        <p:spPr>
          <a:xfrm>
            <a:off x="701040" y="6121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渲染进程不直接持有密钥，所有模型请求与工具执行统一由主进程调度。</a:t>
            </a:r>
            <a:endParaRPr lang="en-US" sz="13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技术栈与关键目录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tack-box"/>
          <p:cNvSpPr/>
          <p:nvPr/>
        </p:nvSpPr>
        <p:spPr>
          <a:xfrm>
            <a:off x="635000" y="1270000"/>
            <a:ext cx="4064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tack-head"/>
          <p:cNvSpPr/>
          <p:nvPr/>
        </p:nvSpPr>
        <p:spPr>
          <a:xfrm>
            <a:off x="635000" y="1270000"/>
            <a:ext cx="40640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stack-title"/>
          <p:cNvSpPr txBox="1"/>
          <p:nvPr/>
        </p:nvSpPr>
        <p:spPr>
          <a:xfrm>
            <a:off x="863600" y="12700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技术栈</a:t>
            </a:r>
            <a:endParaRPr lang="en-US" sz="1800" noProof="1"/>
          </a:p>
        </p:txBody>
      </p:sp>
      <p:sp>
        <p:nvSpPr>
          <p:cNvPr id="11" name="stack-body"/>
          <p:cNvSpPr txBox="1"/>
          <p:nvPr/>
        </p:nvSpPr>
        <p:spPr>
          <a:xfrm>
            <a:off x="863600" y="1930400"/>
            <a:ext cx="36068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Electron 32 ／ Node.js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React 18 ／ TypeScript ／ Vite 5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@modelcontextprotocol/sdk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lucide-react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mammoth（DOCX 解析）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xlsx（Excel 解析）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pdf-parse（PDF 解析）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jszip（Office/PPTX 解析）</a:t>
            </a:r>
            <a:endParaRPr lang="en-US" sz="1400" noProof="1"/>
          </a:p>
        </p:txBody>
      </p:sp>
      <p:sp>
        <p:nvSpPr>
          <p:cNvPr id="12" name="dir-title"/>
          <p:cNvSpPr txBox="1"/>
          <p:nvPr/>
        </p:nvSpPr>
        <p:spPr>
          <a:xfrm>
            <a:off x="5080000" y="1270000"/>
            <a:ext cx="6477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关键目录与职责</a:t>
            </a:r>
            <a:endParaRPr lang="en-US" sz="1800" noProof="1"/>
          </a:p>
        </p:txBody>
      </p:sp>
      <p:graphicFrame>
        <p:nvGraphicFramePr>
          <p:cNvPr id="13" name="dir-table"/>
          <p:cNvGraphicFramePr>
            <a:graphicFrameLocks noGrp="1"/>
          </p:cNvGraphicFramePr>
          <p:nvPr/>
        </p:nvGraphicFramePr>
        <p:xfrm>
          <a:off x="5080000" y="1701800"/>
          <a:ext cx="6477000" cy="4775200"/>
        </p:xfrm>
        <a:graphic>
          <a:graphicData uri="http://schemas.openxmlformats.org/drawingml/2006/table">
            <a:tbl>
              <a:tblPr/>
              <a:tblGrid>
                <a:gridCol w="2720340"/>
                <a:gridCol w="3756660"/>
              </a:tblGrid>
              <a:tr h="397933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目录 / 文件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职责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src/components/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聊天、会话、设置、工具、Skill 和 MCP 管理界面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src/hooks/useChat.ts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发送消息、流式事件、停止、重试和审批事件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electron/main.ts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窗口创建、IPC 注册、请求调度和生命周期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electron/agentLoop.ts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Agent 工具调用循环和系统提示词拼装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electron/protocol.ts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OpenAI / Anthropic 请求和流式响应适配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electron/tools/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工具定义、注册表、参数校验、执行器和路径安全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electron/approvals.ts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审批创建、批准、拒绝、超时、持久化和清理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electron/attachments.ts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附件复制、本地解析和临时文件清理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electron/skills.ts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Skill 扫描、解析、覆盖和提示词生成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electron/mcp.ts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MCP 服务配置、连接、工具发现和生命周期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shared/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主进程与渲染进程共享的类型、状态和配置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04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安全治理与应用场景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安全与治理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ec0-card"/>
          <p:cNvSpPr/>
          <p:nvPr/>
        </p:nvSpPr>
        <p:spPr>
          <a:xfrm>
            <a:off x="635000" y="12700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ec0-circle"/>
          <p:cNvSpPr/>
          <p:nvPr/>
        </p:nvSpPr>
        <p:spPr>
          <a:xfrm>
            <a:off x="9398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0" name="sec0-icon"/>
          <p:cNvSpPr/>
          <p:nvPr/>
        </p:nvSpPr>
        <p:spPr>
          <a:xfrm>
            <a:off x="10795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36" y="352"/>
                </a:moveTo>
                <a:cubicBezTo>
                  <a:pt x="433" y="352"/>
                  <a:pt x="512" y="273"/>
                  <a:pt x="512" y="176"/>
                </a:cubicBezTo>
                <a:cubicBezTo>
                  <a:pt x="512" y="79"/>
                  <a:pt x="433" y="0"/>
                  <a:pt x="336" y="0"/>
                </a:cubicBezTo>
                <a:cubicBezTo>
                  <a:pt x="239" y="0"/>
                  <a:pt x="160" y="79"/>
                  <a:pt x="160" y="176"/>
                </a:cubicBezTo>
                <a:cubicBezTo>
                  <a:pt x="160" y="195"/>
                  <a:pt x="163" y="213"/>
                  <a:pt x="168" y="230"/>
                </a:cubicBezTo>
                <a:lnTo>
                  <a:pt x="7" y="391"/>
                </a:lnTo>
                <a:cubicBezTo>
                  <a:pt x="3" y="396"/>
                  <a:pt x="0" y="402"/>
                  <a:pt x="0" y="408"/>
                </a:cubicBezTo>
                <a:lnTo>
                  <a:pt x="0" y="488"/>
                </a:lnTo>
                <a:cubicBezTo>
                  <a:pt x="0" y="501"/>
                  <a:pt x="11" y="512"/>
                  <a:pt x="24" y="512"/>
                </a:cubicBezTo>
                <a:lnTo>
                  <a:pt x="104" y="512"/>
                </a:lnTo>
                <a:cubicBezTo>
                  <a:pt x="117" y="512"/>
                  <a:pt x="128" y="501"/>
                  <a:pt x="128" y="488"/>
                </a:cubicBezTo>
                <a:lnTo>
                  <a:pt x="128" y="448"/>
                </a:lnTo>
                <a:lnTo>
                  <a:pt x="168" y="448"/>
                </a:lnTo>
                <a:cubicBezTo>
                  <a:pt x="181" y="448"/>
                  <a:pt x="192" y="437"/>
                  <a:pt x="192" y="424"/>
                </a:cubicBezTo>
                <a:lnTo>
                  <a:pt x="192" y="384"/>
                </a:lnTo>
                <a:lnTo>
                  <a:pt x="232" y="384"/>
                </a:lnTo>
                <a:cubicBezTo>
                  <a:pt x="238" y="384"/>
                  <a:pt x="245" y="382"/>
                  <a:pt x="249" y="377"/>
                </a:cubicBezTo>
                <a:lnTo>
                  <a:pt x="282" y="344"/>
                </a:lnTo>
                <a:cubicBezTo>
                  <a:pt x="299" y="349"/>
                  <a:pt x="317" y="352"/>
                  <a:pt x="336" y="352"/>
                </a:cubicBezTo>
                <a:close/>
                <a:moveTo>
                  <a:pt x="376" y="96"/>
                </a:moveTo>
                <a:cubicBezTo>
                  <a:pt x="398" y="96"/>
                  <a:pt x="416" y="114"/>
                  <a:pt x="416" y="136"/>
                </a:cubicBezTo>
                <a:cubicBezTo>
                  <a:pt x="416" y="158"/>
                  <a:pt x="398" y="176"/>
                  <a:pt x="376" y="176"/>
                </a:cubicBezTo>
                <a:cubicBezTo>
                  <a:pt x="354" y="176"/>
                  <a:pt x="336" y="158"/>
                  <a:pt x="336" y="136"/>
                </a:cubicBezTo>
                <a:cubicBezTo>
                  <a:pt x="336" y="114"/>
                  <a:pt x="354" y="96"/>
                  <a:pt x="376" y="9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1" name="sec0-title"/>
          <p:cNvSpPr txBox="1"/>
          <p:nvPr/>
        </p:nvSpPr>
        <p:spPr>
          <a:xfrm>
            <a:off x="1676400" y="15748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密钥与请求安全</a:t>
            </a:r>
            <a:endParaRPr lang="en-US" sz="1800" noProof="1"/>
          </a:p>
        </p:txBody>
      </p:sp>
      <p:sp>
        <p:nvSpPr>
          <p:cNvPr id="12" name="sec0-desc"/>
          <p:cNvSpPr txBox="1"/>
          <p:nvPr/>
        </p:nvSpPr>
        <p:spPr>
          <a:xfrm>
            <a:off x="939800" y="23114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API 请求由主进程直接发出，避免密钥进入渲染进程运行时状态；API 配置保存在本地，不上传到项目目录或第三方服务；OpenAI 与 Anthropic 协议经适配层转换，统一由主进程调度。</a:t>
            </a:r>
            <a:endParaRPr lang="en-US" sz="1200" noProof="1"/>
          </a:p>
        </p:txBody>
      </p:sp>
      <p:sp>
        <p:nvSpPr>
          <p:cNvPr id="13" name="sec1-card"/>
          <p:cNvSpPr/>
          <p:nvPr/>
        </p:nvSpPr>
        <p:spPr>
          <a:xfrm>
            <a:off x="6248400" y="12700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ec1-circle"/>
          <p:cNvSpPr/>
          <p:nvPr/>
        </p:nvSpPr>
        <p:spPr>
          <a:xfrm>
            <a:off x="65532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5" name="sec1-icon"/>
          <p:cNvSpPr/>
          <p:nvPr/>
        </p:nvSpPr>
        <p:spPr>
          <a:xfrm>
            <a:off x="66929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8" y="24"/>
                </a:moveTo>
                <a:cubicBezTo>
                  <a:pt x="48" y="11"/>
                  <a:pt x="37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lnTo>
                  <a:pt x="0" y="392"/>
                </a:lnTo>
                <a:cubicBezTo>
                  <a:pt x="0" y="423"/>
                  <a:pt x="25" y="448"/>
                  <a:pt x="56" y="448"/>
                </a:cubicBezTo>
                <a:lnTo>
                  <a:pt x="240" y="448"/>
                </a:lnTo>
                <a:lnTo>
                  <a:pt x="240" y="400"/>
                </a:lnTo>
                <a:lnTo>
                  <a:pt x="56" y="400"/>
                </a:lnTo>
                <a:cubicBezTo>
                  <a:pt x="52" y="400"/>
                  <a:pt x="48" y="396"/>
                  <a:pt x="48" y="392"/>
                </a:cubicBezTo>
                <a:lnTo>
                  <a:pt x="48" y="160"/>
                </a:lnTo>
                <a:lnTo>
                  <a:pt x="240" y="160"/>
                </a:lnTo>
                <a:lnTo>
                  <a:pt x="240" y="112"/>
                </a:lnTo>
                <a:lnTo>
                  <a:pt x="48" y="112"/>
                </a:lnTo>
                <a:lnTo>
                  <a:pt x="48" y="24"/>
                </a:lnTo>
                <a:close/>
              </a:path>
              <a:path w="576" h="512">
                <a:moveTo>
                  <a:pt x="336" y="224"/>
                </a:moveTo>
                <a:lnTo>
                  <a:pt x="528" y="224"/>
                </a:lnTo>
                <a:cubicBezTo>
                  <a:pt x="555" y="224"/>
                  <a:pt x="576" y="203"/>
                  <a:pt x="576" y="176"/>
                </a:cubicBezTo>
                <a:lnTo>
                  <a:pt x="576" y="80"/>
                </a:lnTo>
                <a:cubicBezTo>
                  <a:pt x="576" y="54"/>
                  <a:pt x="555" y="32"/>
                  <a:pt x="528" y="32"/>
                </a:cubicBezTo>
                <a:lnTo>
                  <a:pt x="445" y="32"/>
                </a:lnTo>
                <a:cubicBezTo>
                  <a:pt x="437" y="32"/>
                  <a:pt x="429" y="29"/>
                  <a:pt x="423" y="23"/>
                </a:cubicBezTo>
                <a:lnTo>
                  <a:pt x="414" y="14"/>
                </a:lnTo>
                <a:cubicBezTo>
                  <a:pt x="405" y="5"/>
                  <a:pt x="393" y="0"/>
                  <a:pt x="380" y="0"/>
                </a:cubicBezTo>
                <a:lnTo>
                  <a:pt x="336" y="0"/>
                </a:lnTo>
                <a:cubicBezTo>
                  <a:pt x="310" y="0"/>
                  <a:pt x="288" y="22"/>
                  <a:pt x="288" y="48"/>
                </a:cubicBezTo>
                <a:lnTo>
                  <a:pt x="288" y="176"/>
                </a:lnTo>
                <a:cubicBezTo>
                  <a:pt x="288" y="203"/>
                  <a:pt x="310" y="224"/>
                  <a:pt x="336" y="224"/>
                </a:cubicBezTo>
                <a:close/>
              </a:path>
              <a:path w="576" h="512">
                <a:moveTo>
                  <a:pt x="336" y="512"/>
                </a:moveTo>
                <a:lnTo>
                  <a:pt x="528" y="512"/>
                </a:lnTo>
                <a:cubicBezTo>
                  <a:pt x="555" y="512"/>
                  <a:pt x="576" y="491"/>
                  <a:pt x="576" y="464"/>
                </a:cubicBezTo>
                <a:lnTo>
                  <a:pt x="576" y="368"/>
                </a:lnTo>
                <a:cubicBezTo>
                  <a:pt x="576" y="342"/>
                  <a:pt x="555" y="320"/>
                  <a:pt x="528" y="320"/>
                </a:cubicBezTo>
                <a:lnTo>
                  <a:pt x="445" y="320"/>
                </a:lnTo>
                <a:cubicBezTo>
                  <a:pt x="437" y="320"/>
                  <a:pt x="429" y="317"/>
                  <a:pt x="423" y="311"/>
                </a:cubicBezTo>
                <a:lnTo>
                  <a:pt x="414" y="302"/>
                </a:lnTo>
                <a:cubicBezTo>
                  <a:pt x="405" y="293"/>
                  <a:pt x="393" y="288"/>
                  <a:pt x="380" y="288"/>
                </a:cubicBezTo>
                <a:lnTo>
                  <a:pt x="336" y="288"/>
                </a:lnTo>
                <a:cubicBezTo>
                  <a:pt x="310" y="288"/>
                  <a:pt x="288" y="310"/>
                  <a:pt x="288" y="336"/>
                </a:cubicBezTo>
                <a:lnTo>
                  <a:pt x="288" y="464"/>
                </a:lnTo>
                <a:cubicBezTo>
                  <a:pt x="288" y="491"/>
                  <a:pt x="310" y="512"/>
                  <a:pt x="336" y="51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6" name="sec1-title"/>
          <p:cNvSpPr txBox="1"/>
          <p:nvPr/>
        </p:nvSpPr>
        <p:spPr>
          <a:xfrm>
            <a:off x="7289800" y="15748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文件与路径安全</a:t>
            </a:r>
            <a:endParaRPr lang="en-US" sz="1800" noProof="1"/>
          </a:p>
        </p:txBody>
      </p:sp>
      <p:sp>
        <p:nvSpPr>
          <p:cNvPr id="17" name="sec1-desc"/>
          <p:cNvSpPr txBox="1"/>
          <p:nvPr/>
        </p:nvSpPr>
        <p:spPr>
          <a:xfrm>
            <a:off x="6553200" y="23114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文件工具默认限制在关联项目目录内；pathSecurity.ts 拒绝 ../ 越界路径；通过真实路径解析拒绝符号链接绕过目录边界；file_read 限制读取长度，file_write 校验目标路径和父目录。</a:t>
            </a:r>
            <a:endParaRPr lang="en-US" sz="1200" noProof="1"/>
          </a:p>
        </p:txBody>
      </p:sp>
      <p:sp>
        <p:nvSpPr>
          <p:cNvPr id="18" name="sec2-card"/>
          <p:cNvSpPr/>
          <p:nvPr/>
        </p:nvSpPr>
        <p:spPr>
          <a:xfrm>
            <a:off x="635000" y="39116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ec2-circle"/>
          <p:cNvSpPr/>
          <p:nvPr/>
        </p:nvSpPr>
        <p:spPr>
          <a:xfrm>
            <a:off x="939800" y="42164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0" name="sec2-icon"/>
          <p:cNvSpPr/>
          <p:nvPr/>
        </p:nvSpPr>
        <p:spPr>
          <a:xfrm>
            <a:off x="1079500" y="4356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71" y="-7"/>
                </a:moveTo>
                <a:cubicBezTo>
                  <a:pt x="76" y="-12"/>
                  <a:pt x="85" y="-13"/>
                  <a:pt x="91" y="-9"/>
                </a:cubicBezTo>
                <a:lnTo>
                  <a:pt x="210" y="71"/>
                </a:lnTo>
                <a:cubicBezTo>
                  <a:pt x="219" y="76"/>
                  <a:pt x="224" y="86"/>
                  <a:pt x="224" y="97"/>
                </a:cubicBezTo>
                <a:lnTo>
                  <a:pt x="224" y="147"/>
                </a:lnTo>
                <a:lnTo>
                  <a:pt x="315" y="238"/>
                </a:lnTo>
                <a:cubicBezTo>
                  <a:pt x="348" y="223"/>
                  <a:pt x="389" y="229"/>
                  <a:pt x="416" y="256"/>
                </a:cubicBezTo>
                <a:lnTo>
                  <a:pt x="542" y="382"/>
                </a:lnTo>
                <a:cubicBezTo>
                  <a:pt x="561" y="401"/>
                  <a:pt x="561" y="431"/>
                  <a:pt x="542" y="450"/>
                </a:cubicBezTo>
                <a:lnTo>
                  <a:pt x="482" y="510"/>
                </a:lnTo>
                <a:cubicBezTo>
                  <a:pt x="463" y="529"/>
                  <a:pt x="433" y="529"/>
                  <a:pt x="414" y="510"/>
                </a:cubicBezTo>
                <a:lnTo>
                  <a:pt x="288" y="384"/>
                </a:lnTo>
                <a:cubicBezTo>
                  <a:pt x="261" y="357"/>
                  <a:pt x="255" y="316"/>
                  <a:pt x="270" y="283"/>
                </a:cubicBezTo>
                <a:lnTo>
                  <a:pt x="179" y="192"/>
                </a:lnTo>
                <a:lnTo>
                  <a:pt x="129" y="192"/>
                </a:lnTo>
                <a:cubicBezTo>
                  <a:pt x="119" y="192"/>
                  <a:pt x="109" y="187"/>
                  <a:pt x="103" y="178"/>
                </a:cubicBezTo>
                <a:lnTo>
                  <a:pt x="23" y="59"/>
                </a:lnTo>
                <a:cubicBezTo>
                  <a:pt x="19" y="53"/>
                  <a:pt x="20" y="44"/>
                  <a:pt x="25" y="39"/>
                </a:cubicBezTo>
                <a:lnTo>
                  <a:pt x="71" y="-7"/>
                </a:lnTo>
                <a:close/>
              </a:path>
              <a:path w="576" h="512">
                <a:moveTo>
                  <a:pt x="216" y="297"/>
                </a:moveTo>
                <a:cubicBezTo>
                  <a:pt x="210" y="334"/>
                  <a:pt x="218" y="373"/>
                  <a:pt x="242" y="404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181" y="262"/>
                </a:lnTo>
                <a:lnTo>
                  <a:pt x="216" y="297"/>
                </a:lnTo>
                <a:close/>
              </a:path>
              <a:path w="576" h="512">
                <a:moveTo>
                  <a:pt x="384" y="0"/>
                </a:moveTo>
                <a:cubicBezTo>
                  <a:pt x="404" y="0"/>
                  <a:pt x="424" y="4"/>
                  <a:pt x="441" y="11"/>
                </a:cubicBezTo>
                <a:cubicBezTo>
                  <a:pt x="451" y="14"/>
                  <a:pt x="453" y="27"/>
                  <a:pt x="446" y="35"/>
                </a:cubicBezTo>
                <a:lnTo>
                  <a:pt x="389" y="91"/>
                </a:lnTo>
                <a:cubicBezTo>
                  <a:pt x="386" y="94"/>
                  <a:pt x="384" y="98"/>
                  <a:pt x="384" y="103"/>
                </a:cubicBezTo>
                <a:lnTo>
                  <a:pt x="384" y="144"/>
                </a:lnTo>
                <a:cubicBezTo>
                  <a:pt x="384" y="153"/>
                  <a:pt x="391" y="160"/>
                  <a:pt x="400" y="160"/>
                </a:cubicBezTo>
                <a:lnTo>
                  <a:pt x="442" y="160"/>
                </a:lnTo>
                <a:cubicBezTo>
                  <a:pt x="446" y="160"/>
                  <a:pt x="450" y="158"/>
                  <a:pt x="453" y="155"/>
                </a:cubicBezTo>
                <a:lnTo>
                  <a:pt x="510" y="99"/>
                </a:ln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03"/>
                  <a:pt x="527" y="242"/>
                  <a:pt x="499" y="271"/>
                </a:cubicBezTo>
                <a:lnTo>
                  <a:pt x="450" y="222"/>
                </a:lnTo>
                <a:cubicBezTo>
                  <a:pt x="417" y="189"/>
                  <a:pt x="372" y="176"/>
                  <a:pt x="329" y="184"/>
                </a:cubicBezTo>
                <a:lnTo>
                  <a:pt x="272" y="127"/>
                </a:lnTo>
                <a:lnTo>
                  <a:pt x="272" y="97"/>
                </a:lnTo>
                <a:lnTo>
                  <a:pt x="272" y="92"/>
                </a:lnTo>
                <a:cubicBezTo>
                  <a:pt x="271" y="80"/>
                  <a:pt x="268" y="68"/>
                  <a:pt x="261" y="57"/>
                </a:cubicBezTo>
                <a:cubicBezTo>
                  <a:pt x="291" y="22"/>
                  <a:pt x="335" y="0"/>
                  <a:pt x="384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1" name="sec2-title"/>
          <p:cNvSpPr txBox="1"/>
          <p:nvPr/>
        </p:nvSpPr>
        <p:spPr>
          <a:xfrm>
            <a:off x="1676400" y="42164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工具安全</a:t>
            </a:r>
            <a:endParaRPr lang="en-US" sz="1800" noProof="1"/>
          </a:p>
        </p:txBody>
      </p:sp>
      <p:sp>
        <p:nvSpPr>
          <p:cNvPr id="22" name="sec2-desc"/>
          <p:cNvSpPr txBox="1"/>
          <p:nvPr/>
        </p:nvSpPr>
        <p:spPr>
          <a:xfrm>
            <a:off x="939800" y="49530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read 工具无副作用自动执行；write 工具可要求人工确认；dangerous 工具当前不暴露给模型，统一拒绝；执行器提供超时、取消、结果截断和结构化错误反馈。</a:t>
            </a:r>
            <a:endParaRPr lang="en-US" sz="1200" noProof="1"/>
          </a:p>
        </p:txBody>
      </p:sp>
      <p:sp>
        <p:nvSpPr>
          <p:cNvPr id="23" name="sec3-card"/>
          <p:cNvSpPr/>
          <p:nvPr/>
        </p:nvSpPr>
        <p:spPr>
          <a:xfrm>
            <a:off x="6248400" y="39116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ec3-circle"/>
          <p:cNvSpPr/>
          <p:nvPr/>
        </p:nvSpPr>
        <p:spPr>
          <a:xfrm>
            <a:off x="6553200" y="42164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5" name="sec3-icon"/>
          <p:cNvSpPr/>
          <p:nvPr/>
        </p:nvSpPr>
        <p:spPr>
          <a:xfrm>
            <a:off x="6692900" y="4356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5" y="13"/>
                </a:moveTo>
                <a:cubicBezTo>
                  <a:pt x="281" y="-43"/>
                  <a:pt x="372" y="-43"/>
                  <a:pt x="428" y="13"/>
                </a:cubicBezTo>
                <a:cubicBezTo>
                  <a:pt x="484" y="69"/>
                  <a:pt x="484" y="160"/>
                  <a:pt x="428" y="216"/>
                </a:cubicBezTo>
                <a:lnTo>
                  <a:pt x="264" y="380"/>
                </a:lnTo>
                <a:cubicBezTo>
                  <a:pt x="230" y="415"/>
                  <a:pt x="174" y="415"/>
                  <a:pt x="140" y="380"/>
                </a:cubicBezTo>
                <a:cubicBezTo>
                  <a:pt x="105" y="346"/>
                  <a:pt x="105" y="290"/>
                  <a:pt x="140" y="256"/>
                </a:cubicBezTo>
                <a:lnTo>
                  <a:pt x="293" y="103"/>
                </a:lnTo>
                <a:cubicBezTo>
                  <a:pt x="305" y="91"/>
                  <a:pt x="325" y="91"/>
                  <a:pt x="338" y="103"/>
                </a:cubicBezTo>
                <a:cubicBezTo>
                  <a:pt x="350" y="116"/>
                  <a:pt x="350" y="136"/>
                  <a:pt x="338" y="149"/>
                </a:cubicBezTo>
                <a:lnTo>
                  <a:pt x="185" y="301"/>
                </a:lnTo>
                <a:cubicBezTo>
                  <a:pt x="176" y="311"/>
                  <a:pt x="176" y="326"/>
                  <a:pt x="185" y="335"/>
                </a:cubicBezTo>
                <a:cubicBezTo>
                  <a:pt x="194" y="344"/>
                  <a:pt x="210" y="345"/>
                  <a:pt x="219" y="335"/>
                </a:cubicBezTo>
                <a:lnTo>
                  <a:pt x="383" y="171"/>
                </a:lnTo>
                <a:cubicBezTo>
                  <a:pt x="414" y="140"/>
                  <a:pt x="414" y="89"/>
                  <a:pt x="383" y="58"/>
                </a:cubicBezTo>
                <a:cubicBezTo>
                  <a:pt x="352" y="27"/>
                  <a:pt x="301" y="27"/>
                  <a:pt x="270" y="58"/>
                </a:cubicBezTo>
                <a:lnTo>
                  <a:pt x="106" y="222"/>
                </a:lnTo>
                <a:cubicBezTo>
                  <a:pt x="53" y="275"/>
                  <a:pt x="53" y="361"/>
                  <a:pt x="106" y="414"/>
                </a:cubicBezTo>
                <a:cubicBezTo>
                  <a:pt x="159" y="468"/>
                  <a:pt x="245" y="468"/>
                  <a:pt x="298" y="414"/>
                </a:cubicBezTo>
                <a:lnTo>
                  <a:pt x="428" y="284"/>
                </a:lnTo>
                <a:cubicBezTo>
                  <a:pt x="441" y="272"/>
                  <a:pt x="461" y="272"/>
                  <a:pt x="474" y="284"/>
                </a:cubicBezTo>
                <a:cubicBezTo>
                  <a:pt x="486" y="297"/>
                  <a:pt x="486" y="317"/>
                  <a:pt x="474" y="330"/>
                </a:cubicBezTo>
                <a:lnTo>
                  <a:pt x="343" y="460"/>
                </a:lnTo>
                <a:cubicBezTo>
                  <a:pt x="265" y="538"/>
                  <a:pt x="139" y="538"/>
                  <a:pt x="61" y="460"/>
                </a:cubicBezTo>
                <a:cubicBezTo>
                  <a:pt x="-18" y="382"/>
                  <a:pt x="-18" y="255"/>
                  <a:pt x="61" y="177"/>
                </a:cubicBezTo>
                <a:lnTo>
                  <a:pt x="225" y="1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6" name="sec3-title"/>
          <p:cNvSpPr txBox="1"/>
          <p:nvPr/>
        </p:nvSpPr>
        <p:spPr>
          <a:xfrm>
            <a:off x="7289800" y="42164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附件安全</a:t>
            </a:r>
            <a:endParaRPr lang="en-US" sz="1800" noProof="1"/>
          </a:p>
        </p:txBody>
      </p:sp>
      <p:sp>
        <p:nvSpPr>
          <p:cNvPr id="27" name="sec3-desc"/>
          <p:cNvSpPr txBox="1"/>
          <p:nvPr/>
        </p:nvSpPr>
        <p:spPr>
          <a:xfrm>
            <a:off x="6553200" y="49530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限制附件扩展名、文件头、数量、单文件大小和总文本长度；附件先复制到受控临时目录再由主进程解析；任务结束后清理临时文件；附件只作为上下文输入，不会改变 file_write 权限。</a:t>
            </a:r>
            <a:endParaRPr lang="en-US" sz="12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典型使用场景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c0-card"/>
          <p:cNvSpPr/>
          <p:nvPr/>
        </p:nvSpPr>
        <p:spPr>
          <a:xfrm>
            <a:off x="6350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c0-circle"/>
          <p:cNvSpPr/>
          <p:nvPr/>
        </p:nvSpPr>
        <p:spPr>
          <a:xfrm>
            <a:off x="9398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0" name="sc0-icon"/>
          <p:cNvSpPr/>
          <p:nvPr/>
        </p:nvSpPr>
        <p:spPr>
          <a:xfrm>
            <a:off x="10795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41"/>
                </a:moveTo>
                <a:lnTo>
                  <a:pt x="256" y="451"/>
                </a:lnTo>
                <a:lnTo>
                  <a:pt x="257" y="450"/>
                </a:lnTo>
                <a:cubicBezTo>
                  <a:pt x="311" y="428"/>
                  <a:pt x="370" y="416"/>
                  <a:pt x="429" y="416"/>
                </a:cubicBezTo>
                <a:lnTo>
                  <a:pt x="448" y="416"/>
                </a:lnTo>
                <a:lnTo>
                  <a:pt x="448" y="96"/>
                </a:lnTo>
                <a:lnTo>
                  <a:pt x="429" y="96"/>
                </a:lnTo>
                <a:cubicBezTo>
                  <a:pt x="387" y="96"/>
                  <a:pt x="345" y="104"/>
                  <a:pt x="306" y="121"/>
                </a:cubicBezTo>
                <a:cubicBezTo>
                  <a:pt x="289" y="128"/>
                  <a:pt x="272" y="135"/>
                  <a:pt x="256" y="141"/>
                </a:cubicBezTo>
                <a:close/>
                <a:moveTo>
                  <a:pt x="231" y="62"/>
                </a:moveTo>
                <a:lnTo>
                  <a:pt x="256" y="72"/>
                </a:lnTo>
                <a:lnTo>
                  <a:pt x="281" y="62"/>
                </a:lnTo>
                <a:cubicBezTo>
                  <a:pt x="328" y="42"/>
                  <a:pt x="378" y="32"/>
                  <a:pt x="429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29" y="480"/>
                </a:lnTo>
                <a:cubicBezTo>
                  <a:pt x="378" y="480"/>
                  <a:pt x="328" y="490"/>
                  <a:pt x="281" y="510"/>
                </a:cubicBezTo>
                <a:lnTo>
                  <a:pt x="268" y="515"/>
                </a:lnTo>
                <a:cubicBezTo>
                  <a:pt x="260" y="518"/>
                  <a:pt x="252" y="518"/>
                  <a:pt x="244" y="515"/>
                </a:cubicBezTo>
                <a:lnTo>
                  <a:pt x="231" y="509"/>
                </a:lnTo>
                <a:cubicBezTo>
                  <a:pt x="184" y="490"/>
                  <a:pt x="134" y="480"/>
                  <a:pt x="83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80"/>
                </a:lnTo>
                <a:cubicBezTo>
                  <a:pt x="0" y="54"/>
                  <a:pt x="22" y="32"/>
                  <a:pt x="48" y="32"/>
                </a:cubicBezTo>
                <a:lnTo>
                  <a:pt x="83" y="32"/>
                </a:lnTo>
                <a:cubicBezTo>
                  <a:pt x="134" y="32"/>
                  <a:pt x="184" y="42"/>
                  <a:pt x="231" y="6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1" name="sc0-title"/>
          <p:cNvSpPr txBox="1"/>
          <p:nvPr/>
        </p:nvSpPr>
        <p:spPr>
          <a:xfrm>
            <a:off x="16764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知识资产问答</a:t>
            </a:r>
            <a:endParaRPr lang="en-US" sz="1800" noProof="1"/>
          </a:p>
        </p:txBody>
      </p:sp>
      <p:sp>
        <p:nvSpPr>
          <p:cNvPr id="12" name="sc0-desc"/>
          <p:cNvSpPr txBox="1"/>
          <p:nvPr/>
        </p:nvSpPr>
        <p:spPr>
          <a:xfrm>
            <a:off x="9398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读取本地制度、审计资料、项目说明或历史技术资产，快速完成摘要、问答、差异提取和重点标注。</a:t>
            </a:r>
            <a:endParaRPr lang="en-US" sz="1200" noProof="1"/>
          </a:p>
        </p:txBody>
      </p:sp>
      <p:sp>
        <p:nvSpPr>
          <p:cNvPr id="13" name="sc1-card"/>
          <p:cNvSpPr/>
          <p:nvPr/>
        </p:nvSpPr>
        <p:spPr>
          <a:xfrm>
            <a:off x="43307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c1-circle"/>
          <p:cNvSpPr/>
          <p:nvPr/>
        </p:nvSpPr>
        <p:spPr>
          <a:xfrm>
            <a:off x="46355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5" name="sc1-icon"/>
          <p:cNvSpPr/>
          <p:nvPr/>
        </p:nvSpPr>
        <p:spPr>
          <a:xfrm>
            <a:off x="47752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0"/>
                </a:moveTo>
                <a:cubicBezTo>
                  <a:pt x="61" y="0"/>
                  <a:pt x="32" y="29"/>
                  <a:pt x="32" y="64"/>
                </a:cubicBezTo>
                <a:lnTo>
                  <a:pt x="32" y="448"/>
                </a:lnTo>
                <a:cubicBezTo>
                  <a:pt x="32" y="483"/>
                  <a:pt x="61" y="512"/>
                  <a:pt x="96" y="512"/>
                </a:cubicBezTo>
                <a:lnTo>
                  <a:pt x="276" y="512"/>
                </a:lnTo>
                <a:cubicBezTo>
                  <a:pt x="253" y="481"/>
                  <a:pt x="240" y="442"/>
                  <a:pt x="240" y="400"/>
                </a:cubicBezTo>
                <a:cubicBezTo>
                  <a:pt x="240" y="299"/>
                  <a:pt x="317" y="217"/>
                  <a:pt x="416" y="209"/>
                </a:cubicBezTo>
                <a:lnTo>
                  <a:pt x="416" y="171"/>
                </a:lnTo>
                <a:cubicBezTo>
                  <a:pt x="416" y="154"/>
                  <a:pt x="409" y="137"/>
                  <a:pt x="397" y="125"/>
                </a:cubicBezTo>
                <a:lnTo>
                  <a:pt x="291" y="19"/>
                </a:lnTo>
                <a:cubicBezTo>
                  <a:pt x="279" y="7"/>
                  <a:pt x="263" y="0"/>
                  <a:pt x="246" y="0"/>
                </a:cubicBezTo>
                <a:lnTo>
                  <a:pt x="96" y="0"/>
                </a:lnTo>
                <a:close/>
                <a:moveTo>
                  <a:pt x="358" y="176"/>
                </a:moveTo>
                <a:lnTo>
                  <a:pt x="264" y="176"/>
                </a:lnTo>
                <a:cubicBezTo>
                  <a:pt x="251" y="176"/>
                  <a:pt x="240" y="165"/>
                  <a:pt x="240" y="152"/>
                </a:cubicBezTo>
                <a:lnTo>
                  <a:pt x="240" y="59"/>
                </a:lnTo>
                <a:lnTo>
                  <a:pt x="358" y="176"/>
                </a:lnTo>
                <a:close/>
              </a:path>
              <a:path w="576" h="512">
                <a:moveTo>
                  <a:pt x="576" y="400"/>
                </a:moveTo>
                <a:cubicBezTo>
                  <a:pt x="576" y="320"/>
                  <a:pt x="512" y="256"/>
                  <a:pt x="432" y="256"/>
                </a:cubicBezTo>
                <a:cubicBezTo>
                  <a:pt x="352" y="256"/>
                  <a:pt x="288" y="320"/>
                  <a:pt x="288" y="400"/>
                </a:cubicBezTo>
                <a:cubicBezTo>
                  <a:pt x="288" y="480"/>
                  <a:pt x="352" y="544"/>
                  <a:pt x="432" y="544"/>
                </a:cubicBezTo>
                <a:cubicBezTo>
                  <a:pt x="512" y="544"/>
                  <a:pt x="576" y="480"/>
                  <a:pt x="576" y="400"/>
                </a:cubicBezTo>
                <a:close/>
                <a:moveTo>
                  <a:pt x="489" y="339"/>
                </a:moveTo>
                <a:cubicBezTo>
                  <a:pt x="497" y="344"/>
                  <a:pt x="498" y="354"/>
                  <a:pt x="493" y="361"/>
                </a:cubicBezTo>
                <a:lnTo>
                  <a:pt x="429" y="449"/>
                </a:lnTo>
                <a:cubicBezTo>
                  <a:pt x="426" y="453"/>
                  <a:pt x="422" y="456"/>
                  <a:pt x="417" y="456"/>
                </a:cubicBezTo>
                <a:cubicBezTo>
                  <a:pt x="413" y="456"/>
                  <a:pt x="408" y="455"/>
                  <a:pt x="405" y="451"/>
                </a:cubicBezTo>
                <a:lnTo>
                  <a:pt x="365" y="411"/>
                </a:lnTo>
                <a:cubicBezTo>
                  <a:pt x="358" y="405"/>
                  <a:pt x="358" y="395"/>
                  <a:pt x="365" y="389"/>
                </a:cubicBezTo>
                <a:cubicBezTo>
                  <a:pt x="371" y="382"/>
                  <a:pt x="381" y="383"/>
                  <a:pt x="387" y="389"/>
                </a:cubicBezTo>
                <a:lnTo>
                  <a:pt x="414" y="416"/>
                </a:lnTo>
                <a:lnTo>
                  <a:pt x="467" y="343"/>
                </a:lnTo>
                <a:cubicBezTo>
                  <a:pt x="472" y="336"/>
                  <a:pt x="482" y="334"/>
                  <a:pt x="489" y="339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6" name="sc1-title"/>
          <p:cNvSpPr txBox="1"/>
          <p:nvPr/>
        </p:nvSpPr>
        <p:spPr>
          <a:xfrm>
            <a:off x="53721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文件整理与审查</a:t>
            </a:r>
            <a:endParaRPr lang="en-US" sz="1800" noProof="1"/>
          </a:p>
        </p:txBody>
      </p:sp>
      <p:sp>
        <p:nvSpPr>
          <p:cNvPr id="17" name="sc1-desc"/>
          <p:cNvSpPr txBox="1"/>
          <p:nvPr/>
        </p:nvSpPr>
        <p:spPr>
          <a:xfrm>
            <a:off x="46355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将 PDF、DOCX、XLSX、PPTX 交给 Agent，完成表格整理、文档对比、风险点提取和会议材料初稿。</a:t>
            </a:r>
            <a:endParaRPr lang="en-US" sz="1200" noProof="1"/>
          </a:p>
        </p:txBody>
      </p:sp>
      <p:sp>
        <p:nvSpPr>
          <p:cNvPr id="18" name="sc2-card"/>
          <p:cNvSpPr/>
          <p:nvPr/>
        </p:nvSpPr>
        <p:spPr>
          <a:xfrm>
            <a:off x="80264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c2-circle"/>
          <p:cNvSpPr/>
          <p:nvPr/>
        </p:nvSpPr>
        <p:spPr>
          <a:xfrm>
            <a:off x="83312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0" name="sc2-icon"/>
          <p:cNvSpPr/>
          <p:nvPr/>
        </p:nvSpPr>
        <p:spPr>
          <a:xfrm>
            <a:off x="84709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1" name="sc2-title"/>
          <p:cNvSpPr txBox="1"/>
          <p:nvPr/>
        </p:nvSpPr>
        <p:spPr>
          <a:xfrm>
            <a:off x="90678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研发辅助</a:t>
            </a:r>
            <a:endParaRPr lang="en-US" sz="1800" noProof="1"/>
          </a:p>
        </p:txBody>
      </p:sp>
      <p:sp>
        <p:nvSpPr>
          <p:cNvPr id="22" name="sc2-desc"/>
          <p:cNvSpPr txBox="1"/>
          <p:nvPr/>
        </p:nvSpPr>
        <p:spPr>
          <a:xfrm>
            <a:off x="83312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关联项目目录后，在路径安全边界内读取源码、测试文件和项目文档，辅助代码审查、文档整理和问题定位。</a:t>
            </a:r>
            <a:endParaRPr lang="en-US" sz="1200" noProof="1"/>
          </a:p>
        </p:txBody>
      </p:sp>
      <p:sp>
        <p:nvSpPr>
          <p:cNvPr id="23" name="sc3-card"/>
          <p:cNvSpPr/>
          <p:nvPr/>
        </p:nvSpPr>
        <p:spPr>
          <a:xfrm>
            <a:off x="2489200" y="37592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c3-circle"/>
          <p:cNvSpPr/>
          <p:nvPr/>
        </p:nvSpPr>
        <p:spPr>
          <a:xfrm>
            <a:off x="2794000" y="40640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5" name="sc3-icon"/>
          <p:cNvSpPr/>
          <p:nvPr/>
        </p:nvSpPr>
        <p:spPr>
          <a:xfrm>
            <a:off x="2933700" y="4203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4" y="56"/>
                </a:moveTo>
                <a:lnTo>
                  <a:pt x="144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256"/>
                </a:lnTo>
                <a:lnTo>
                  <a:pt x="512" y="256"/>
                </a:ln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68" y="96"/>
                </a:lnTo>
                <a:lnTo>
                  <a:pt x="368" y="56"/>
                </a:lnTo>
                <a:cubicBezTo>
                  <a:pt x="368" y="25"/>
                  <a:pt x="343" y="0"/>
                  <a:pt x="312" y="0"/>
                </a:cubicBezTo>
                <a:lnTo>
                  <a:pt x="200" y="0"/>
                </a:lnTo>
                <a:cubicBezTo>
                  <a:pt x="169" y="0"/>
                  <a:pt x="144" y="25"/>
                  <a:pt x="144" y="56"/>
                </a:cubicBezTo>
                <a:close/>
                <a:moveTo>
                  <a:pt x="200" y="48"/>
                </a:moveTo>
                <a:lnTo>
                  <a:pt x="312" y="48"/>
                </a:lnTo>
                <a:cubicBezTo>
                  <a:pt x="316" y="48"/>
                  <a:pt x="320" y="52"/>
                  <a:pt x="320" y="56"/>
                </a:cubicBezTo>
                <a:lnTo>
                  <a:pt x="320" y="96"/>
                </a:lnTo>
                <a:lnTo>
                  <a:pt x="192" y="96"/>
                </a:lnTo>
                <a:lnTo>
                  <a:pt x="192" y="56"/>
                </a:lnTo>
                <a:cubicBezTo>
                  <a:pt x="192" y="52"/>
                  <a:pt x="196" y="48"/>
                  <a:pt x="200" y="48"/>
                </a:cubicBezTo>
                <a:close/>
              </a:path>
              <a:path w="512" h="512">
                <a:moveTo>
                  <a:pt x="512" y="304"/>
                </a:moveTo>
                <a:lnTo>
                  <a:pt x="320" y="304"/>
                </a:lnTo>
                <a:lnTo>
                  <a:pt x="320" y="320"/>
                </a:lnTo>
                <a:cubicBezTo>
                  <a:pt x="320" y="338"/>
                  <a:pt x="306" y="352"/>
                  <a:pt x="288" y="352"/>
                </a:cubicBezTo>
                <a:lnTo>
                  <a:pt x="224" y="352"/>
                </a:lnTo>
                <a:cubicBezTo>
                  <a:pt x="206" y="352"/>
                  <a:pt x="192" y="338"/>
                  <a:pt x="192" y="320"/>
                </a:cubicBezTo>
                <a:lnTo>
                  <a:pt x="192" y="304"/>
                </a:lnTo>
                <a:lnTo>
                  <a:pt x="0" y="304"/>
                </a:ln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30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6" name="sc3-title"/>
          <p:cNvSpPr txBox="1"/>
          <p:nvPr/>
        </p:nvSpPr>
        <p:spPr>
          <a:xfrm>
            <a:off x="3530600" y="4064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办公智能助手</a:t>
            </a:r>
            <a:endParaRPr lang="en-US" sz="1800" noProof="1"/>
          </a:p>
        </p:txBody>
      </p:sp>
      <p:sp>
        <p:nvSpPr>
          <p:cNvPr id="27" name="sc3-desc"/>
          <p:cNvSpPr txBox="1"/>
          <p:nvPr/>
        </p:nvSpPr>
        <p:spPr>
          <a:xfrm>
            <a:off x="2794000" y="48006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通过自然语言完成总结、改写、清单生成、会议纪要和报告初稿，写入文件时保留审批和人工确认环节。</a:t>
            </a:r>
            <a:endParaRPr lang="en-US" sz="1200" noProof="1"/>
          </a:p>
        </p:txBody>
      </p:sp>
      <p:sp>
        <p:nvSpPr>
          <p:cNvPr id="28" name="sc4-card"/>
          <p:cNvSpPr/>
          <p:nvPr/>
        </p:nvSpPr>
        <p:spPr>
          <a:xfrm>
            <a:off x="6172200" y="37592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c4-circle"/>
          <p:cNvSpPr/>
          <p:nvPr/>
        </p:nvSpPr>
        <p:spPr>
          <a:xfrm>
            <a:off x="6477000" y="40640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30" name="sc4-icon"/>
          <p:cNvSpPr/>
          <p:nvPr/>
        </p:nvSpPr>
        <p:spPr>
          <a:xfrm>
            <a:off x="6616700" y="4203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-32"/>
                </a:moveTo>
                <a:cubicBezTo>
                  <a:pt x="146" y="-32"/>
                  <a:pt x="160" y="-18"/>
                  <a:pt x="160" y="0"/>
                </a:cubicBezTo>
                <a:lnTo>
                  <a:pt x="160" y="96"/>
                </a:lnTo>
                <a:lnTo>
                  <a:pt x="288" y="96"/>
                </a:lnTo>
                <a:lnTo>
                  <a:pt x="288" y="0"/>
                </a:lnTo>
                <a:cubicBezTo>
                  <a:pt x="288" y="-18"/>
                  <a:pt x="302" y="-32"/>
                  <a:pt x="320" y="-32"/>
                </a:cubicBezTo>
                <a:cubicBezTo>
                  <a:pt x="338" y="-32"/>
                  <a:pt x="352" y="-18"/>
                  <a:pt x="352" y="0"/>
                </a:cubicBezTo>
                <a:lnTo>
                  <a:pt x="352" y="96"/>
                </a:ln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cubicBezTo>
                  <a:pt x="448" y="146"/>
                  <a:pt x="434" y="160"/>
                  <a:pt x="416" y="160"/>
                </a:cubicBezTo>
                <a:lnTo>
                  <a:pt x="416" y="224"/>
                </a:lnTo>
                <a:cubicBezTo>
                  <a:pt x="416" y="319"/>
                  <a:pt x="347" y="398"/>
                  <a:pt x="256" y="413"/>
                </a:cubicBezTo>
                <a:lnTo>
                  <a:pt x="256" y="480"/>
                </a:lnTo>
                <a:cubicBezTo>
                  <a:pt x="256" y="498"/>
                  <a:pt x="242" y="512"/>
                  <a:pt x="224" y="512"/>
                </a:cubicBezTo>
                <a:cubicBezTo>
                  <a:pt x="206" y="512"/>
                  <a:pt x="192" y="498"/>
                  <a:pt x="192" y="480"/>
                </a:cubicBezTo>
                <a:lnTo>
                  <a:pt x="192" y="413"/>
                </a:lnTo>
                <a:cubicBezTo>
                  <a:pt x="101" y="398"/>
                  <a:pt x="32" y="319"/>
                  <a:pt x="32" y="224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lnTo>
                  <a:pt x="96" y="0"/>
                </a:lnTo>
                <a:cubicBezTo>
                  <a:pt x="96" y="-18"/>
                  <a:pt x="110" y="-32"/>
                  <a:pt x="128" y="-3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31" name="sc4-title"/>
          <p:cNvSpPr txBox="1"/>
          <p:nvPr/>
        </p:nvSpPr>
        <p:spPr>
          <a:xfrm>
            <a:off x="7213600" y="4064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MCP 专业工具接入</a:t>
            </a:r>
            <a:endParaRPr lang="en-US" sz="1800" noProof="1"/>
          </a:p>
        </p:txBody>
      </p:sp>
      <p:sp>
        <p:nvSpPr>
          <p:cNvPr id="32" name="sc4-desc"/>
          <p:cNvSpPr txBox="1"/>
          <p:nvPr/>
        </p:nvSpPr>
        <p:spPr>
          <a:xfrm>
            <a:off x="6477000" y="48006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将企业内部或本地部署的 MCP Server 接入客户端，为 Agent 增加专业工具，同时复用既有权限和审批机制。</a:t>
            </a:r>
            <a:endParaRPr lang="en-US" sz="1200" noProof="1"/>
          </a:p>
        </p:txBody>
      </p:sp>
      <p:sp>
        <p:nvSpPr>
          <p:cNvPr id="33" name="sc-bar"/>
          <p:cNvSpPr/>
          <p:nvPr/>
        </p:nvSpPr>
        <p:spPr>
          <a:xfrm>
            <a:off x="635000" y="6248400"/>
            <a:ext cx="10922000" cy="1016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部署运行与产品演示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deploy-box"/>
          <p:cNvSpPr/>
          <p:nvPr/>
        </p:nvSpPr>
        <p:spPr>
          <a:xfrm>
            <a:off x="635000" y="1270000"/>
            <a:ext cx="5080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deploy-head"/>
          <p:cNvSpPr/>
          <p:nvPr/>
        </p:nvSpPr>
        <p:spPr>
          <a:xfrm>
            <a:off x="635000" y="1270000"/>
            <a:ext cx="50800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deploy-title"/>
          <p:cNvSpPr txBox="1"/>
          <p:nvPr/>
        </p:nvSpPr>
        <p:spPr>
          <a:xfrm>
            <a:off x="863600" y="1270000"/>
            <a:ext cx="462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部署与运行</a:t>
            </a:r>
            <a:endParaRPr lang="en-US" sz="1800" noProof="1"/>
          </a:p>
        </p:txBody>
      </p:sp>
      <p:sp>
        <p:nvSpPr>
          <p:cNvPr id="11" name="deploy-body"/>
          <p:cNvSpPr txBox="1"/>
          <p:nvPr/>
        </p:nvSpPr>
        <p:spPr>
          <a:xfrm>
            <a:off x="863600" y="1930400"/>
            <a:ext cx="46228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install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：安装依赖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run dev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：启动开发环境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run build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：类型检查并构建生产产物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test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：运行测试和编码检查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run dist:win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：打包 Windows 版本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设置面板可配置 API 协议、Base URL、API Key、模型 ID 与联通性检测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测试已覆盖审批生命周期、路径安全、附件解析和 Skill 规则</a:t>
            </a:r>
            <a:endParaRPr lang="en-US" sz="1300" noProof="1"/>
          </a:p>
        </p:txBody>
      </p:sp>
      <p:sp>
        <p:nvSpPr>
          <p:cNvPr id="12" name="demo-box"/>
          <p:cNvSpPr/>
          <p:nvPr/>
        </p:nvSpPr>
        <p:spPr>
          <a:xfrm>
            <a:off x="6286500" y="1270000"/>
            <a:ext cx="52705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demo-head"/>
          <p:cNvSpPr/>
          <p:nvPr/>
        </p:nvSpPr>
        <p:spPr>
          <a:xfrm>
            <a:off x="6286500" y="1270000"/>
            <a:ext cx="5270500" cy="5080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demo-title"/>
          <p:cNvSpPr txBox="1"/>
          <p:nvPr/>
        </p:nvSpPr>
        <p:spPr>
          <a:xfrm>
            <a:off x="6515100" y="12700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产品演示建议顺序</a:t>
            </a:r>
            <a:endParaRPr lang="en-US" sz="1800" noProof="1"/>
          </a:p>
        </p:txBody>
      </p:sp>
      <p:sp>
        <p:nvSpPr>
          <p:cNvPr id="15" name="demo-body"/>
          <p:cNvSpPr txBox="1"/>
          <p:nvPr/>
        </p:nvSpPr>
        <p:spPr>
          <a:xfrm>
            <a:off x="6515100" y="1930400"/>
            <a:ext cx="48133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展示客户端主界面和会话历史，说明令旗是桌面 Agent 工作台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关联一个项目目录，展示项目上下文与 Skill 入口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上传 PDF、DOCX 或 Excel，提问「请总结重点并列出待办事项」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展示 Agent 的工具调用过程和任务状态变化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触发一次 file_write，展示审批预览、批准和结果回写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打开 Tools、Skills 和 MCP 页面，说明能力如何扩展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强调本地优先、权限分级、可恢复和可审计四项产品特性</a:t>
            </a:r>
            <a:endParaRPr lang="en-US" sz="12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后续规划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rm-note"/>
          <p:cNvSpPr txBox="1"/>
          <p:nvPr/>
        </p:nvSpPr>
        <p:spPr>
          <a:xfrm>
            <a:off x="701040" y="1143000"/>
            <a:ext cx="1079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以下方向来自当前项目文档，尚未全部实现，标注为「后续规划」，不作为现成功能。</a:t>
            </a:r>
            <a:endParaRPr lang="en-US" sz="1300" noProof="1"/>
          </a:p>
        </p:txBody>
      </p:sp>
      <p:sp>
        <p:nvSpPr>
          <p:cNvPr id="9" name="rm0-card"/>
          <p:cNvSpPr/>
          <p:nvPr/>
        </p:nvSpPr>
        <p:spPr>
          <a:xfrm>
            <a:off x="635000" y="1625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rm0-top"/>
          <p:cNvSpPr/>
          <p:nvPr/>
        </p:nvSpPr>
        <p:spPr>
          <a:xfrm>
            <a:off x="635000" y="1625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rm0-t"/>
          <p:cNvSpPr txBox="1"/>
          <p:nvPr/>
        </p:nvSpPr>
        <p:spPr>
          <a:xfrm>
            <a:off x="863600" y="1803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长上下文</a:t>
            </a:r>
            <a:endParaRPr lang="en-US" sz="1600" noProof="1"/>
          </a:p>
        </p:txBody>
      </p:sp>
      <p:sp>
        <p:nvSpPr>
          <p:cNvPr id="12" name="rm0-d"/>
          <p:cNvSpPr txBox="1"/>
          <p:nvPr/>
        </p:nvSpPr>
        <p:spPr>
          <a:xfrm>
            <a:off x="863600" y="2184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压缩、摘要和关键消息保留</a:t>
            </a:r>
            <a:endParaRPr lang="en-US" sz="1200" noProof="1"/>
          </a:p>
        </p:txBody>
      </p:sp>
      <p:sp>
        <p:nvSpPr>
          <p:cNvPr id="13" name="rm1-card"/>
          <p:cNvSpPr/>
          <p:nvPr/>
        </p:nvSpPr>
        <p:spPr>
          <a:xfrm>
            <a:off x="4330700" y="1625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rm1-top"/>
          <p:cNvSpPr/>
          <p:nvPr/>
        </p:nvSpPr>
        <p:spPr>
          <a:xfrm>
            <a:off x="4330700" y="1625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5" name="rm1-t"/>
          <p:cNvSpPr txBox="1"/>
          <p:nvPr/>
        </p:nvSpPr>
        <p:spPr>
          <a:xfrm>
            <a:off x="4559300" y="1803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更多工具</a:t>
            </a:r>
            <a:endParaRPr lang="en-US" sz="1600" noProof="1"/>
          </a:p>
        </p:txBody>
      </p:sp>
      <p:sp>
        <p:nvSpPr>
          <p:cNvPr id="16" name="rm1-d"/>
          <p:cNvSpPr txBox="1"/>
          <p:nvPr/>
        </p:nvSpPr>
        <p:spPr>
          <a:xfrm>
            <a:off x="4559300" y="2184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Shell 执行沙箱、数据库查询、Web 搜索和代码解释器</a:t>
            </a:r>
            <a:endParaRPr lang="en-US" sz="1200" noProof="1"/>
          </a:p>
        </p:txBody>
      </p:sp>
      <p:sp>
        <p:nvSpPr>
          <p:cNvPr id="17" name="rm2-card"/>
          <p:cNvSpPr/>
          <p:nvPr/>
        </p:nvSpPr>
        <p:spPr>
          <a:xfrm>
            <a:off x="8026400" y="1625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rm2-top"/>
          <p:cNvSpPr/>
          <p:nvPr/>
        </p:nvSpPr>
        <p:spPr>
          <a:xfrm>
            <a:off x="8026400" y="1625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9" name="rm2-t"/>
          <p:cNvSpPr txBox="1"/>
          <p:nvPr/>
        </p:nvSpPr>
        <p:spPr>
          <a:xfrm>
            <a:off x="8255000" y="1803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审计日志</a:t>
            </a:r>
            <a:endParaRPr lang="en-US" sz="1600" noProof="1"/>
          </a:p>
        </p:txBody>
      </p:sp>
      <p:sp>
        <p:nvSpPr>
          <p:cNvPr id="20" name="rm2-d"/>
          <p:cNvSpPr txBox="1"/>
          <p:nvPr/>
        </p:nvSpPr>
        <p:spPr>
          <a:xfrm>
            <a:off x="8255000" y="2184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审批历史和完整审计日志</a:t>
            </a:r>
            <a:endParaRPr lang="en-US" sz="1200" noProof="1"/>
          </a:p>
        </p:txBody>
      </p:sp>
      <p:sp>
        <p:nvSpPr>
          <p:cNvPr id="21" name="rm3-card"/>
          <p:cNvSpPr/>
          <p:nvPr/>
        </p:nvSpPr>
        <p:spPr>
          <a:xfrm>
            <a:off x="635000" y="32131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rm3-top"/>
          <p:cNvSpPr/>
          <p:nvPr/>
        </p:nvSpPr>
        <p:spPr>
          <a:xfrm>
            <a:off x="635000" y="32131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3" name="rm3-t"/>
          <p:cNvSpPr txBox="1"/>
          <p:nvPr/>
        </p:nvSpPr>
        <p:spPr>
          <a:xfrm>
            <a:off x="863600" y="33909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长期记忆</a:t>
            </a:r>
            <a:endParaRPr lang="en-US" sz="1600" noProof="1"/>
          </a:p>
        </p:txBody>
      </p:sp>
      <p:sp>
        <p:nvSpPr>
          <p:cNvPr id="24" name="rm3-d"/>
          <p:cNvSpPr txBox="1"/>
          <p:nvPr/>
        </p:nvSpPr>
        <p:spPr>
          <a:xfrm>
            <a:off x="863600" y="37719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全局或项目级长期记忆</a:t>
            </a:r>
            <a:endParaRPr lang="en-US" sz="1200" noProof="1"/>
          </a:p>
        </p:txBody>
      </p:sp>
      <p:sp>
        <p:nvSpPr>
          <p:cNvPr id="25" name="rm4-card"/>
          <p:cNvSpPr/>
          <p:nvPr/>
        </p:nvSpPr>
        <p:spPr>
          <a:xfrm>
            <a:off x="4330700" y="32131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rm4-top"/>
          <p:cNvSpPr/>
          <p:nvPr/>
        </p:nvSpPr>
        <p:spPr>
          <a:xfrm>
            <a:off x="4330700" y="32131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7" name="rm4-t"/>
          <p:cNvSpPr txBox="1"/>
          <p:nvPr/>
        </p:nvSpPr>
        <p:spPr>
          <a:xfrm>
            <a:off x="4559300" y="33909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网络韧性</a:t>
            </a:r>
            <a:endParaRPr lang="en-US" sz="1600" noProof="1"/>
          </a:p>
        </p:txBody>
      </p:sp>
      <p:sp>
        <p:nvSpPr>
          <p:cNvPr id="28" name="rm4-d"/>
          <p:cNvSpPr txBox="1"/>
          <p:nvPr/>
        </p:nvSpPr>
        <p:spPr>
          <a:xfrm>
            <a:off x="4559300" y="37719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失败自动重试与指数退避</a:t>
            </a:r>
            <a:endParaRPr lang="en-US" sz="1200" noProof="1"/>
          </a:p>
        </p:txBody>
      </p:sp>
      <p:sp>
        <p:nvSpPr>
          <p:cNvPr id="29" name="rm5-card"/>
          <p:cNvSpPr/>
          <p:nvPr/>
        </p:nvSpPr>
        <p:spPr>
          <a:xfrm>
            <a:off x="8026400" y="32131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rm5-top"/>
          <p:cNvSpPr/>
          <p:nvPr/>
        </p:nvSpPr>
        <p:spPr>
          <a:xfrm>
            <a:off x="8026400" y="32131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31" name="rm5-t"/>
          <p:cNvSpPr txBox="1"/>
          <p:nvPr/>
        </p:nvSpPr>
        <p:spPr>
          <a:xfrm>
            <a:off x="8255000" y="33909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多模态</a:t>
            </a:r>
            <a:endParaRPr lang="en-US" sz="1600" noProof="1"/>
          </a:p>
        </p:txBody>
      </p:sp>
      <p:sp>
        <p:nvSpPr>
          <p:cNvPr id="32" name="rm5-d"/>
          <p:cNvSpPr txBox="1"/>
          <p:nvPr/>
        </p:nvSpPr>
        <p:spPr>
          <a:xfrm>
            <a:off x="8255000" y="37719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图片 OCR、视频和音频文件支持</a:t>
            </a:r>
            <a:endParaRPr lang="en-US" sz="1200" noProof="1"/>
          </a:p>
        </p:txBody>
      </p:sp>
      <p:sp>
        <p:nvSpPr>
          <p:cNvPr id="33" name="rm6-card"/>
          <p:cNvSpPr/>
          <p:nvPr/>
        </p:nvSpPr>
        <p:spPr>
          <a:xfrm>
            <a:off x="635000" y="4800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rm6-top"/>
          <p:cNvSpPr/>
          <p:nvPr/>
        </p:nvSpPr>
        <p:spPr>
          <a:xfrm>
            <a:off x="635000" y="4800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35" name="rm6-t"/>
          <p:cNvSpPr txBox="1"/>
          <p:nvPr/>
        </p:nvSpPr>
        <p:spPr>
          <a:xfrm>
            <a:off x="863600" y="4978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跨窗口</a:t>
            </a:r>
            <a:endParaRPr lang="en-US" sz="1600" noProof="1"/>
          </a:p>
        </p:txBody>
      </p:sp>
      <p:sp>
        <p:nvSpPr>
          <p:cNvPr id="36" name="rm6-d"/>
          <p:cNvSpPr txBox="1"/>
          <p:nvPr/>
        </p:nvSpPr>
        <p:spPr>
          <a:xfrm>
            <a:off x="863600" y="5359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跨窗口会话与审批同步</a:t>
            </a:r>
            <a:endParaRPr lang="en-US" sz="1200" noProof="1"/>
          </a:p>
        </p:txBody>
      </p:sp>
      <p:sp>
        <p:nvSpPr>
          <p:cNvPr id="37" name="rm7-card"/>
          <p:cNvSpPr/>
          <p:nvPr/>
        </p:nvSpPr>
        <p:spPr>
          <a:xfrm>
            <a:off x="4330700" y="4800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rm7-top"/>
          <p:cNvSpPr/>
          <p:nvPr/>
        </p:nvSpPr>
        <p:spPr>
          <a:xfrm>
            <a:off x="4330700" y="4800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39" name="rm7-t"/>
          <p:cNvSpPr txBox="1"/>
          <p:nvPr/>
        </p:nvSpPr>
        <p:spPr>
          <a:xfrm>
            <a:off x="4559300" y="4978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配置治理</a:t>
            </a:r>
            <a:endParaRPr lang="en-US" sz="1600" noProof="1"/>
          </a:p>
        </p:txBody>
      </p:sp>
      <p:sp>
        <p:nvSpPr>
          <p:cNvPr id="40" name="rm7-d"/>
          <p:cNvSpPr txBox="1"/>
          <p:nvPr/>
        </p:nvSpPr>
        <p:spPr>
          <a:xfrm>
            <a:off x="4559300" y="5359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更多配置迁移到 Electron userData</a:t>
            </a:r>
            <a:endParaRPr lang="en-US" sz="1200" noProof="1"/>
          </a:p>
        </p:txBody>
      </p:sp>
      <p:sp>
        <p:nvSpPr>
          <p:cNvPr id="41" name="rm8-card"/>
          <p:cNvSpPr/>
          <p:nvPr/>
        </p:nvSpPr>
        <p:spPr>
          <a:xfrm>
            <a:off x="8026400" y="4800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rm8-top"/>
          <p:cNvSpPr/>
          <p:nvPr/>
        </p:nvSpPr>
        <p:spPr>
          <a:xfrm>
            <a:off x="8026400" y="4800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3" name="rm8-t"/>
          <p:cNvSpPr txBox="1"/>
          <p:nvPr/>
        </p:nvSpPr>
        <p:spPr>
          <a:xfrm>
            <a:off x="8255000" y="4978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企业集成</a:t>
            </a:r>
            <a:endParaRPr lang="en-US" sz="1600" noProof="1"/>
          </a:p>
        </p:txBody>
      </p:sp>
      <p:sp>
        <p:nvSpPr>
          <p:cNvPr id="44" name="rm8-d"/>
          <p:cNvSpPr txBox="1"/>
          <p:nvPr/>
        </p:nvSpPr>
        <p:spPr>
          <a:xfrm>
            <a:off x="8255000" y="5359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与服务器版权限中心、企业知识库和业务系统集成</a:t>
            </a:r>
            <a:endParaRPr lang="en-US" sz="12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4191000" y="762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800" noProof="1"/>
          </a:p>
        </p:txBody>
      </p:sp>
      <p:sp>
        <p:nvSpPr>
          <p:cNvPr id="3" name="thanks"/>
          <p:cNvSpPr txBox="1"/>
          <p:nvPr/>
        </p:nvSpPr>
        <p:spPr>
          <a:xfrm>
            <a:off x="2921000" y="2413000"/>
            <a:ext cx="6350000" cy="139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谢谢</a:t>
            </a:r>
            <a:endParaRPr lang="en-US" sz="7200" noProof="1"/>
          </a:p>
        </p:txBody>
      </p:sp>
      <p:sp>
        <p:nvSpPr>
          <p:cNvPr id="4" name="slogan"/>
          <p:cNvSpPr txBox="1"/>
          <p:nvPr/>
        </p:nvSpPr>
        <p:spPr>
          <a:xfrm>
            <a:off x="1651000" y="419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用桌面 Agent 连接本地文件、工具与大模型，让每个人都能安全、高效地完成业务工作</a:t>
            </a:r>
            <a:endParaRPr lang="en-US" sz="1700" noProof="1"/>
          </a:p>
        </p:txBody>
      </p:sp>
      <p:sp>
        <p:nvSpPr>
          <p:cNvPr id="5" name="company"/>
          <p:cNvSpPr txBox="1"/>
          <p:nvPr/>
        </p:nvSpPr>
        <p:spPr>
          <a:xfrm>
            <a:off x="4191000" y="5334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北京四方上行软件技术有限公司</a:t>
            </a:r>
            <a:endParaRPr lang="en-US" sz="1400" noProof="1"/>
          </a:p>
        </p:txBody>
      </p:sp>
      <p:sp>
        <p:nvSpPr>
          <p:cNvPr id="6" name="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2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3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4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5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6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7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8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9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0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1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2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3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4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5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6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7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8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9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20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2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7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8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29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0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5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6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7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8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39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0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1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2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3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4.xml><?xml version="1.0" encoding="utf-8"?>
<p:tagLst xmlns:p="http://schemas.openxmlformats.org/presentationml/2006/main">
  <p:tag name="KSO_WM_DIAGRAM_VIRTUALLY_FRAME" val="{&quot;height&quot;:316.7999212598425,&quot;left&quot;:48.959999999999994,&quot;top&quot;:102.24,&quot;width&quot;:856.7999212598424}"/>
</p:tagLst>
</file>

<file path=ppt/tags/tag45.xml><?xml version="1.0" encoding="utf-8"?>
<p:tagLst xmlns:p="http://schemas.openxmlformats.org/presentationml/2006/main">
  <p:tag name="KSO_WM_DIAGRAM_VIRTUALLY_FRAME" val="{&quot;height&quot;:400,&quot;left&quot;:50,&quot;top&quot;:105,&quot;width&quot;:860}"/>
</p:tagLst>
</file>

<file path=ppt/tags/tag46.xml><?xml version="1.0" encoding="utf-8"?>
<p:tagLst xmlns:p="http://schemas.openxmlformats.org/presentationml/2006/main">
  <p:tag name="KSO_WM_DIAGRAM_VIRTUALLY_FRAME" val="{&quot;height&quot;:400,&quot;left&quot;:50,&quot;top&quot;:105,&quot;width&quot;:860}"/>
</p:tagLst>
</file>

<file path=ppt/tags/tag47.xml><?xml version="1.0" encoding="utf-8"?>
<p:tagLst xmlns:p="http://schemas.openxmlformats.org/presentationml/2006/main">
  <p:tag name="KSO_WM_DIAGRAM_VIRTUALLY_FRAME" val="{&quot;height&quot;:400,&quot;left&quot;:50,&quot;top&quot;:105,&quot;width&quot;:860}"/>
</p:tagLst>
</file>

<file path=ppt/tags/tag48.xml><?xml version="1.0" encoding="utf-8"?>
<p:tagLst xmlns:p="http://schemas.openxmlformats.org/presentationml/2006/main">
  <p:tag name="KSO_WM_DIAGRAM_VIRTUALLY_FRAME" val="{&quot;height&quot;:400,&quot;left&quot;:50,&quot;top&quot;:105,&quot;width&quot;:860}"/>
</p:tagLst>
</file>

<file path=ppt/tags/tag49.xml><?xml version="1.0" encoding="utf-8"?>
<p:tagLst xmlns:p="http://schemas.openxmlformats.org/presentationml/2006/main">
  <p:tag name="KSO_WM_DIAGRAM_VIRTUALLY_FRAME" val="{&quot;height&quot;:400,&quot;left&quot;:50,&quot;top&quot;:105,&quot;width&quot;:860}"/>
</p:tagLst>
</file>

<file path=ppt/tags/tag50.xml><?xml version="1.0" encoding="utf-8"?>
<p:tagLst xmlns:p="http://schemas.openxmlformats.org/presentationml/2006/main">
  <p:tag name="KSO_WM_DIAGRAM_VIRTUALLY_FRAME" val="{&quot;height&quot;:400,&quot;left&quot;:50,&quot;top&quot;:105,&quot;width&quot;:860}"/>
</p:tagLst>
</file>

<file path=ppt/tags/tag51.xml><?xml version="1.0" encoding="utf-8"?>
<p:tagLst xmlns:p="http://schemas.openxmlformats.org/presentationml/2006/main">
  <p:tag name="KSO_WM_DIAGRAM_VIRTUALLY_FRAME" val="{&quot;height&quot;:400,&quot;left&quot;:50,&quot;top&quot;:105,&quot;width&quot;:860}"/>
</p:tagLst>
</file>

<file path=ppt/tags/tag52.xml><?xml version="1.0" encoding="utf-8"?>
<p:tagLst xmlns:p="http://schemas.openxmlformats.org/presentationml/2006/main">
  <p:tag name="KSO_WM_DIAGRAM_VIRTUALLY_FRAME" val="{&quot;height&quot;:400,&quot;left&quot;:50,&quot;top&quot;:105,&quot;width&quot;:860}"/>
</p:tagLst>
</file>

<file path=ppt/tags/tag53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54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55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56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57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58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59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60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61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6245</Words>
  <Application>WPS 演示</Application>
  <PresentationFormat/>
  <Paragraphs>573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MiSans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LINGQI（令旗）桌面客户端 Agent 产品介绍</dc:title>
  <dc:creator/>
  <cp:lastModifiedBy>阿卡</cp:lastModifiedBy>
  <cp:revision>33</cp:revision>
  <dcterms:created xsi:type="dcterms:W3CDTF">2026-09-09T07:40:00Z</dcterms:created>
  <dcterms:modified xsi:type="dcterms:W3CDTF">2026-09-14T07:06:29Z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77678B5965FD46958A8648CE20F9AD3C_12</vt:lpwstr>
  </property>
  <property fmtid="{D5CDD505-2E9C-101B-9397-08002B2CF9AE}" pid="4" name="KSOProductBuildVer">
    <vt:lpwstr>2052-12.1.0.28599</vt:lpwstr>
  </property>
</Properties>
</file>
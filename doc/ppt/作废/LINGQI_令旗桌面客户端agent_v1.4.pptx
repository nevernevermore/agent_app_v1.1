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28"/>
  </p:handoutMasterIdLst>
  <p:sldIdLst>
    <p:sldId id="256" r:id="rId4"/>
    <p:sldId id="311" r:id="rId6"/>
    <p:sldId id="312" r:id="rId7"/>
    <p:sldId id="313" r:id="rId8"/>
    <p:sldId id="314" r:id="rId9"/>
    <p:sldId id="316" r:id="rId10"/>
    <p:sldId id="317" r:id="rId11"/>
    <p:sldId id="315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32" r:id="rId34"/>
    <p:sldId id="333" r:id="rId35"/>
    <p:sldId id="334" r:id="rId36"/>
    <p:sldId id="335" r:id="rId37"/>
    <p:sldId id="336" r:id="rId38"/>
    <p:sldId id="326" r:id="rId21"/>
    <p:sldId id="327" r:id="rId22"/>
    <p:sldId id="328" r:id="rId23"/>
    <p:sldId id="329" r:id="rId24"/>
    <p:sldId id="330" r:id="rId25"/>
    <p:sldId id="331" r:id="rId26"/>
    <p:sldId id="285" r:id="rId27"/>
  </p:sldIdLst>
  <p:sldSz cx="12192000" cy="6858000"/>
  <p:notesSz cx="12192000" cy="6858000"/>
  <p:custDataLst>
    <p:tags r:id="rId3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吴久龙" initials="authorId_862189687" lastIdx="2" clrIdx="0"/>
  <p:cmAuthor id="2" name="阿卡" initials="authorId_862189687" lastIdx="3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Relationship Id="rId32" Type="http://schemas.openxmlformats.org/officeDocument/2006/relationships/commentAuthors" Target="commentAuthors.xml"/><Relationship Id="rId33" Type="http://schemas.openxmlformats.org/officeDocument/2006/relationships/tags" Target="tags/tag37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01T14:25:55.490" idx="1">
    <p:pos x="10" y="10"/>
    <p:text>各位领导,老师下午好，今天我介绍的项目是 自然语言驱动自由查询系统。它的核心目标, 是让企业里的业务、审计、风险管理和运营人员，能够像对话一样问问题，通过自然语言去问数据库要数据，并且能快速、准确地拿到数据结果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02T11:49:10.837" idx="31">
    <p:pos x="10" y="10"/>
    <p:text>以上， 感谢各位领导老师聆听， 接下来给领导们看下我们的演示环境</p:text>
  </p:cm>
</p:cmLst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各位领导</a:t>
            </a:r>
            <a:r>
              <a:rPr lang="en-US" altLang="zh-CN"/>
              <a:t>,</a:t>
            </a:r>
            <a:r>
              <a:rPr lang="zh-CN" altLang="en-US"/>
              <a:t>各位老师下午好，今天我介绍的是</a:t>
            </a:r>
            <a:r>
              <a:rPr lang="en-US" altLang="zh-CN"/>
              <a:t> </a:t>
            </a:r>
            <a:r>
              <a:rPr lang="zh-CN" altLang="en-US"/>
              <a:t>自然语言驱动多数据源查询系统。它的核心目标</a:t>
            </a:r>
            <a:r>
              <a:rPr lang="en-US" altLang="zh-CN"/>
              <a:t>, </a:t>
            </a:r>
            <a:r>
              <a:rPr lang="zh-CN" altLang="en-US"/>
              <a:t>是让企业的业务、审计、风险管理和运营人员，能够像对话一样问问题，通过自然语言去问数据库要数据，并且能快速、准确地拿到数据结果。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首先先介绍下我司简介；北京四方上行软件技术有限公司成立于</a:t>
            </a:r>
            <a:r>
              <a:rPr lang="en-US" altLang="zh-CN"/>
              <a:t> 2021 </a:t>
            </a:r>
            <a:r>
              <a:rPr lang="zh-CN" altLang="en-US"/>
              <a:t>年</a:t>
            </a:r>
            <a:r>
              <a:rPr lang="en-US" altLang="zh-CN"/>
              <a:t> 1 </a:t>
            </a:r>
            <a:r>
              <a:rPr lang="zh-CN" altLang="en-US"/>
              <a:t>月，注册资本</a:t>
            </a:r>
            <a:r>
              <a:rPr lang="en-US" altLang="zh-CN"/>
              <a:t> 1000 </a:t>
            </a:r>
            <a:r>
              <a:rPr lang="zh-CN" altLang="en-US"/>
              <a:t>万元，是国家级高新技术企业。</a:t>
            </a:r>
            <a:endParaRPr lang="en-US" altLang="zh-CN"/>
          </a:p>
          <a:p>
            <a:r>
              <a:rPr lang="zh-CN" altLang="zh-CN"/>
              <a:t>团队骨干由多年金融科技领域的业务专家和技术专家组成，目前员工约</a:t>
            </a:r>
            <a:r>
              <a:rPr lang="en-US" altLang="zh-CN"/>
              <a:t> 30 </a:t>
            </a:r>
            <a:r>
              <a:rPr lang="zh-CN" altLang="en-US"/>
              <a:t>人。</a:t>
            </a:r>
            <a:endParaRPr lang="en-US" altLang="zh-CN"/>
          </a:p>
          <a:p>
            <a:r>
              <a:rPr lang="zh-CN" altLang="zh-CN"/>
              <a:t>在</a:t>
            </a:r>
            <a:r>
              <a:rPr lang="en-US" altLang="zh-CN"/>
              <a:t> AI </a:t>
            </a:r>
            <a:r>
              <a:rPr lang="zh-CN" altLang="en-US"/>
              <a:t>领域，我司致力于用</a:t>
            </a:r>
            <a:r>
              <a:rPr lang="en-US" altLang="zh-CN"/>
              <a:t> AI </a:t>
            </a:r>
            <a:r>
              <a:rPr lang="zh-CN" altLang="en-US"/>
              <a:t>技术为金融机构提供业务解决方案和技术解决方案。</a:t>
            </a:r>
            <a:endParaRPr lang="en-US" altLang="zh-CN"/>
          </a:p>
          <a:p>
            <a:r>
              <a:rPr lang="zh-CN" altLang="zh-CN"/>
              <a:t>目前已取得或正在申请的知识产权包括：标准知识库系统、银行历史技术资产库管理、测试案例生成、网银智能功能导航、</a:t>
            </a:r>
            <a:r>
              <a:rPr lang="en-US" altLang="zh-CN"/>
              <a:t>AI </a:t>
            </a:r>
            <a:r>
              <a:rPr lang="zh-CN" altLang="en-US"/>
              <a:t>驱动超级出纳、</a:t>
            </a:r>
            <a:endParaRPr lang="zh-CN" altLang="en-US"/>
          </a:p>
          <a:p>
            <a:r>
              <a:rPr lang="zh-CN" altLang="en-US"/>
              <a:t>自然语言驱动多行资金管理、领导驾驶舱、</a:t>
            </a:r>
            <a:r>
              <a:rPr lang="en-US" altLang="zh-CN"/>
              <a:t>NLP2SQL</a:t>
            </a:r>
            <a:r>
              <a:rPr lang="zh-CN" altLang="en-US"/>
              <a:t>自然语言查询工具、以及桌面客户端</a:t>
            </a:r>
            <a:r>
              <a:rPr lang="en-US" altLang="zh-CN"/>
              <a:t>AGENT</a:t>
            </a:r>
            <a:r>
              <a:rPr lang="zh-CN" altLang="en-US"/>
              <a:t>工具等。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公司秉承传统</a:t>
            </a:r>
            <a:r>
              <a:rPr lang="en-US" altLang="zh-CN"/>
              <a:t>+</a:t>
            </a:r>
            <a:r>
              <a:rPr lang="zh-CN" altLang="en-US"/>
              <a:t>前沿发展模式。以传统技术服务业务为基础，使公司解决方案方向不脱离实际应用轨道；以前沿技术为拓展方向，以</a:t>
            </a:r>
            <a:r>
              <a:rPr lang="en-US" altLang="zh-CN"/>
              <a:t>AI</a:t>
            </a:r>
            <a:r>
              <a:rPr lang="zh-CN" altLang="en-US"/>
              <a:t>技术、</a:t>
            </a:r>
            <a:r>
              <a:rPr lang="en-US" altLang="zh-CN"/>
              <a:t>RPA</a:t>
            </a:r>
            <a:r>
              <a:rPr lang="zh-CN" altLang="en-US"/>
              <a:t>技术、区块链技术等赋能客户新的创新解决方案模式。现有以下解决方案。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以上， 感谢各位领导老师聆听， 接下看下演示环境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tags" Target="../tags/tag23.xml"/><Relationship Id="rId12" Type="http://schemas.openxmlformats.org/officeDocument/2006/relationships/tags" Target="../tags/tag24.xml"/><Relationship Id="rId13" Type="http://schemas.openxmlformats.org/officeDocument/2006/relationships/tags" Target="../tags/tag25.xml"/><Relationship Id="rId14" Type="http://schemas.openxmlformats.org/officeDocument/2006/relationships/tags" Target="../tags/tag26.xml"/><Relationship Id="rId15" Type="http://schemas.openxmlformats.org/officeDocument/2006/relationships/tags" Target="../tags/tag27.xml"/><Relationship Id="rId16" Type="http://schemas.openxmlformats.org/officeDocument/2006/relationships/tags" Target="../tags/tag28.xml"/><Relationship Id="rId17" Type="http://schemas.openxmlformats.org/officeDocument/2006/relationships/tags" Target="../tags/tag29.xml"/><Relationship Id="rId18" Type="http://schemas.openxmlformats.org/officeDocument/2006/relationships/tags" Target="../tags/tag30.xml"/><Relationship Id="rId19" Type="http://schemas.openxmlformats.org/officeDocument/2006/relationships/tags" Target="../tags/tag31.xml"/><Relationship Id="rId20" Type="http://schemas.openxmlformats.org/officeDocument/2006/relationships/tags" Target="../tags/tag32.xml"/><Relationship Id="rId21" Type="http://schemas.openxmlformats.org/officeDocument/2006/relationships/tags" Target="../tags/tag33.xml"/><Relationship Id="rId22" Type="http://schemas.openxmlformats.org/officeDocument/2006/relationships/tags" Target="../tags/tag34.xml"/><Relationship Id="rId23" Type="http://schemas.openxmlformats.org/officeDocument/2006/relationships/tags" Target="../tags/tag35.xml"/><Relationship Id="rId24" Type="http://schemas.openxmlformats.org/officeDocument/2006/relationships/tags" Target="../tags/tag36.xml"/><Relationship Id="rId2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"/>
          <p:cNvPicPr/>
          <p:nvPr/>
        </p:nvPicPr>
        <p:blipFill>
          <a:blip r:embed="rId1"/>
          <a:stretch>
            <a:fillRect/>
          </a:stretch>
        </p:blipFill>
        <p:spPr>
          <a:xfrm>
            <a:off x="949960" y="2180590"/>
            <a:ext cx="10337800" cy="2679700"/>
          </a:xfrm>
          <a:prstGeom prst="rect">
            <a:avLst/>
          </a:prstGeom>
          <a:ln>
            <a:noFill/>
          </a:ln>
        </p:spPr>
      </p:pic>
      <p:sp>
        <p:nvSpPr>
          <p:cNvPr id="3" name="navy-bar"/>
          <p:cNvSpPr/>
          <p:nvPr/>
        </p:nvSpPr>
        <p:spPr>
          <a:xfrm>
            <a:off x="0" y="4292600"/>
            <a:ext cx="12192000" cy="2565400"/>
          </a:xfrm>
          <a:prstGeom prst="rect">
            <a:avLst/>
          </a:prstGeom>
          <a:solidFill>
            <a:srgbClr val="223962"/>
          </a:solidFill>
          <a:ln w="12700">
            <a:solidFill>
              <a:srgbClr val="ED7D31"/>
            </a:solidFill>
          </a:ln>
        </p:spPr>
      </p:sp>
      <p:sp>
        <p:nvSpPr>
          <p:cNvPr id="4" name="company"/>
          <p:cNvSpPr txBox="1"/>
          <p:nvPr/>
        </p:nvSpPr>
        <p:spPr>
          <a:xfrm>
            <a:off x="121920" y="4470400"/>
            <a:ext cx="1194816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endParaRPr lang="en-US" sz="4400"/>
          </a:p>
        </p:txBody>
      </p:sp>
      <p:sp>
        <p:nvSpPr>
          <p:cNvPr id="5" name="company-en"/>
          <p:cNvSpPr txBox="1"/>
          <p:nvPr/>
        </p:nvSpPr>
        <p:spPr>
          <a:xfrm>
            <a:off x="121920" y="5689600"/>
            <a:ext cx="11948160" cy="5080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t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用桌面 Agent 连接本地文件、工具与大模型 · 让每个人都能安全、高效地完成业务工作</a:t>
            </a:r>
            <a:endParaRPr lang="en-US" sz="1500"/>
          </a:p>
        </p:txBody>
      </p:sp>
      <p:sp>
        <p:nvSpPr>
          <p:cNvPr id="6" name="title-box"/>
          <p:cNvSpPr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</p:sp>
      <p:sp>
        <p:nvSpPr>
          <p:cNvPr id="7" name="title"/>
          <p:cNvSpPr txBox="1"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令旗桌</a:t>
            </a:r>
            <a:r>
              <a:rPr lang="en-US" sz="36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LINGQI 令旗桌面客户端 Agent</a:t>
            </a:r>
            <a:endParaRPr lang="en-US" altLang="en-US" sz="3600">
              <a:solidFill>
                <a:srgbClr val="000000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8" name="subtitle"/>
          <p:cNvSpPr txBox="1"/>
          <p:nvPr/>
        </p:nvSpPr>
        <p:spPr>
          <a:xfrm>
            <a:off x="904240" y="2600960"/>
            <a:ext cx="10172700" cy="49022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--面向企业本地办</a:t>
            </a:r>
            <a:r>
              <a:rPr lang="en-US">
                <a:solidFill>
                  <a:srgbClr val="000000"/>
                </a:solidFill>
                <a:latin typeface="MiSans" charset="-122"/>
                <a:ea typeface="MiSans" charset="-122"/>
                <a:sym typeface="+mn-ea"/>
              </a:rPr>
              <a:t>--本地桌面 Agent 工作台</a:t>
            </a:r>
            <a:endParaRPr lang="zh-CN" altLang="en-US" sz="2000"/>
          </a:p>
        </p:txBody>
      </p:sp>
      <p:sp>
        <p:nvSpPr>
          <p:cNvPr id="9" name="logo"/>
          <p:cNvSpPr txBox="1"/>
          <p:nvPr/>
        </p:nvSpPr>
        <p:spPr>
          <a:xfrm>
            <a:off x="254000" y="1778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zh-CN" altLang="en-US" sz="2000" b="1">
              <a:solidFill>
                <a:srgbClr val="E89924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subtitle"/>
          <p:cNvSpPr txBox="1"/>
          <p:nvPr/>
        </p:nvSpPr>
        <p:spPr>
          <a:xfrm>
            <a:off x="904240" y="835660"/>
            <a:ext cx="10172700" cy="7086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让业务、技术和管理人员都能在本地安全使用 Agent 完成对话、分析与文件处理</a:t>
            </a:r>
            <a:endParaRPr lang="zh-CN" altLang="en-US" sz="24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57145" y="3463290"/>
            <a:ext cx="6615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ym typeface="+mn-ea"/>
              </a:rPr>
              <a:t>北京四方上行软件技术有限公司</a:t>
            </a:r>
            <a:endParaRPr lang="zh-CN" altLang="en-US" sz="3200"/>
          </a:p>
        </p:txBody>
      </p:sp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txBody>
          <a:bodyPr/>
          <a:p/>
        </p:txBody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p/>
        </p:txBody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3000"/>
              <a:t>公司简介</a:t>
            </a:r>
            <a:endParaRPr lang="zh-CN" altLang="en-US" sz="3000"/>
          </a:p>
        </p:txBody>
      </p:sp>
      <p:sp>
        <p:nvSpPr>
          <p:cNvPr id="7" name="logo"/>
          <p:cNvSpPr txBox="1"/>
          <p:nvPr/>
        </p:nvSpPr>
        <p:spPr>
          <a:xfrm>
            <a:off x="9144000" y="1524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/>
          </a:p>
        </p:txBody>
      </p:sp>
      <p:sp>
        <p:nvSpPr>
          <p:cNvPr id="28" name="文本框 27"/>
          <p:cNvSpPr txBox="1"/>
          <p:nvPr/>
        </p:nvSpPr>
        <p:spPr>
          <a:xfrm>
            <a:off x="331470" y="1177290"/>
            <a:ext cx="118129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    </a:t>
            </a:r>
            <a:r>
              <a:rPr lang="zh-CN" altLang="en-US"/>
              <a:t>北京四方上行软件技术有限公司成立于2021年1月，注册资本1000万元，是国家级高新技术企业。公司团队骨干由多年耕耘金融科技领域的业务专家和技术专家组成，目前有员工30人左右。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    </a:t>
            </a:r>
            <a:r>
              <a:rPr lang="zh-CN" altLang="en-US"/>
              <a:t>在</a:t>
            </a:r>
            <a:r>
              <a:rPr lang="en-US" altLang="zh-CN"/>
              <a:t>AI</a:t>
            </a:r>
            <a:r>
              <a:rPr lang="zh-CN" altLang="en-US"/>
              <a:t>领域，四方上行致力于用</a:t>
            </a:r>
            <a:r>
              <a:rPr lang="en-US" altLang="zh-CN"/>
              <a:t>AI</a:t>
            </a:r>
            <a:r>
              <a:rPr lang="zh-CN" altLang="en-US"/>
              <a:t>技术为金融机构提供业务解决方案和技术解决方案，促进客户的数字化转型。目前已取得或正在申请的知识产权包括：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3855" y="2755900"/>
            <a:ext cx="11768455" cy="3884295"/>
          </a:xfrm>
          <a:prstGeom prst="rect">
            <a:avLst/>
          </a:prstGeom>
        </p:spPr>
        <p:txBody>
          <a:bodyPr wrap="square" lIns="109728" rIns="109728">
            <a:noAutofit/>
          </a:bodyPr>
          <a:p>
            <a:pPr marL="285750" indent="-285750" defTabSz="26670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标准知识库系统（可建设审计、合规、会计、风险、监管规定、公司制度等等）</a:t>
            </a:r>
            <a:endParaRPr lang="zh-CN" altLang="en-US" sz="1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银行历史技术资产库管理（知识库应用，公司已经产生的历史源代码、文档、脚本、数据字典，可随查随用，如定义、标准、标准函数、标准接口、数据字典命名等）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测试案例生成（RAG+知识库）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网银（复杂办公系统）智能功能导航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AI驱动超级（财务）出纳（多银行账户现金管理，可作为银行数据-》财务系统数据桥梁，AI+RPA）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自然语言驱动多行资金管理（企业端超级网银，AI+RPA）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领导（管理）驾驶舱（简约办公AGENT，NLP+知识库+传统数据库+RPA+接口，自动登录、各种系统自动执行指令和功能定位、邮件系统自动登录并检索邮件、本地文件系统自动检索文件【文件名匹配】等等）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LINGQI（令旗）桌面客户端版AGENT工具（基础版，可开放源代码，含服务器版口令、权限控制中心）</a:t>
            </a:r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3000"/>
              <a:t>公司简介</a:t>
            </a:r>
            <a:endParaRPr lang="zh-CN" altLang="en-US" sz="3000"/>
          </a:p>
        </p:txBody>
      </p:sp>
      <p:sp>
        <p:nvSpPr>
          <p:cNvPr id="7" name="logo"/>
          <p:cNvSpPr txBox="1"/>
          <p:nvPr/>
        </p:nvSpPr>
        <p:spPr>
          <a:xfrm>
            <a:off x="9144000" y="1524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/>
          </a:p>
        </p:txBody>
      </p:sp>
      <p:sp>
        <p:nvSpPr>
          <p:cNvPr id="28" name="文本框 27"/>
          <p:cNvSpPr txBox="1"/>
          <p:nvPr/>
        </p:nvSpPr>
        <p:spPr>
          <a:xfrm>
            <a:off x="331470" y="1177290"/>
            <a:ext cx="118129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     </a:t>
            </a:r>
            <a:r>
              <a:rPr lang="zh-CN" altLang="en-US"/>
              <a:t>公司秉承传统</a:t>
            </a:r>
            <a:r>
              <a:rPr lang="en-US" altLang="zh-CN"/>
              <a:t>+</a:t>
            </a:r>
            <a:r>
              <a:rPr lang="zh-CN" altLang="en-US"/>
              <a:t>前沿</a:t>
            </a:r>
            <a:r>
              <a:rPr lang="zh-CN" altLang="en-US"/>
              <a:t>发展模式。以传统技术服务业务为基础，使公司解决方案方向不脱离实际应用轨道；以前沿技术为拓展方向，以</a:t>
            </a:r>
            <a:r>
              <a:rPr lang="en-US" altLang="zh-CN"/>
              <a:t>AI</a:t>
            </a:r>
            <a:r>
              <a:rPr lang="zh-CN" altLang="en-US"/>
              <a:t>技术、</a:t>
            </a:r>
            <a:r>
              <a:rPr lang="en-US" altLang="zh-CN"/>
              <a:t>RPA</a:t>
            </a:r>
            <a:r>
              <a:rPr lang="zh-CN" altLang="en-US"/>
              <a:t>技术、区块链技术等赋能客户新的创新解决方案模式。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352040" y="2560955"/>
            <a:ext cx="2499995" cy="6686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传统解决方案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568565" y="2560955"/>
            <a:ext cx="2499995" cy="6686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AI</a:t>
            </a:r>
            <a:r>
              <a:rPr lang="zh-CN" altLang="en-US"/>
              <a:t>、区块链、</a:t>
            </a:r>
            <a:r>
              <a:rPr lang="en-US" altLang="zh-CN"/>
              <a:t>RPA</a:t>
            </a:r>
            <a:r>
              <a:rPr lang="zh-CN" altLang="en-US"/>
              <a:t>解决方案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365885" y="4135120"/>
            <a:ext cx="615315" cy="16465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交易银行类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322830" y="4135120"/>
            <a:ext cx="615315" cy="167703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同业业务类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279775" y="4135120"/>
            <a:ext cx="615315" cy="166751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资金管理类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239635" y="4045585"/>
            <a:ext cx="615315" cy="16351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知识库应用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8144510" y="4045585"/>
            <a:ext cx="615315" cy="16383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AI+RPA</a:t>
            </a:r>
            <a:r>
              <a:rPr lang="zh-CN" altLang="en-US"/>
              <a:t>应用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9131935" y="4045585"/>
            <a:ext cx="615315" cy="160782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智能体建设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0068560" y="4045585"/>
            <a:ext cx="615315" cy="160782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区块链应用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4236720" y="4135120"/>
            <a:ext cx="615315" cy="167703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风险管理类</a:t>
            </a:r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5083810" y="4175760"/>
            <a:ext cx="615315" cy="163639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电子回单</a:t>
            </a:r>
            <a:endParaRPr lang="zh-CN" altLang="en-US"/>
          </a:p>
        </p:txBody>
      </p:sp>
      <p:cxnSp>
        <p:nvCxnSpPr>
          <p:cNvPr id="20" name="直接箭头连接符 19"/>
          <p:cNvCxnSpPr>
            <a:stCxn id="9" idx="2"/>
            <a:endCxn id="11" idx="0"/>
          </p:cNvCxnSpPr>
          <p:nvPr/>
        </p:nvCxnSpPr>
        <p:spPr>
          <a:xfrm flipH="1">
            <a:off x="1673860" y="3229610"/>
            <a:ext cx="1928495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9" idx="2"/>
            <a:endCxn id="12" idx="0"/>
          </p:cNvCxnSpPr>
          <p:nvPr/>
        </p:nvCxnSpPr>
        <p:spPr>
          <a:xfrm flipH="1">
            <a:off x="2630805" y="3229610"/>
            <a:ext cx="971550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9" idx="2"/>
            <a:endCxn id="13" idx="0"/>
          </p:cNvCxnSpPr>
          <p:nvPr/>
        </p:nvCxnSpPr>
        <p:spPr>
          <a:xfrm flipH="1">
            <a:off x="3587750" y="3229610"/>
            <a:ext cx="14605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9" idx="2"/>
            <a:endCxn id="18" idx="0"/>
          </p:cNvCxnSpPr>
          <p:nvPr/>
        </p:nvCxnSpPr>
        <p:spPr>
          <a:xfrm>
            <a:off x="3602355" y="3229610"/>
            <a:ext cx="942340" cy="9055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9" idx="0"/>
          </p:cNvCxnSpPr>
          <p:nvPr/>
        </p:nvCxnSpPr>
        <p:spPr>
          <a:xfrm>
            <a:off x="3602355" y="3229610"/>
            <a:ext cx="1789430" cy="9461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4" idx="0"/>
          </p:cNvCxnSpPr>
          <p:nvPr/>
        </p:nvCxnSpPr>
        <p:spPr>
          <a:xfrm flipH="1">
            <a:off x="7547610" y="3229610"/>
            <a:ext cx="1271270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2"/>
            <a:endCxn id="15" idx="0"/>
          </p:cNvCxnSpPr>
          <p:nvPr/>
        </p:nvCxnSpPr>
        <p:spPr>
          <a:xfrm flipH="1">
            <a:off x="8452485" y="3229610"/>
            <a:ext cx="366395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6" idx="0"/>
          </p:cNvCxnSpPr>
          <p:nvPr/>
        </p:nvCxnSpPr>
        <p:spPr>
          <a:xfrm>
            <a:off x="8818880" y="3229610"/>
            <a:ext cx="621030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7" idx="0"/>
          </p:cNvCxnSpPr>
          <p:nvPr/>
        </p:nvCxnSpPr>
        <p:spPr>
          <a:xfrm>
            <a:off x="8839200" y="3229610"/>
            <a:ext cx="1537335" cy="8159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产品背景与定位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前言</a:t>
            </a:r>
            <a:endParaRPr lang="zh-CN"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17855" y="2426335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782447" y="2622931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486535" y="2536062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线上对话工具不能直接接触工作现场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427480" y="2886202"/>
            <a:ext cx="9784080" cy="768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企业真实工作包含本机文档、项目代码、历史资产与内部系统，纯网页对话无法安全读取和处理这些上下文。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本地文件使用门槛高，</a:t>
            </a:r>
            <a:r>
              <a:rPr lang="zh-CN" altLang="en-US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用户需要先整理、上传、转换文件，再向模型描述任务。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11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617855" y="3737864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6"/>
            </p:custDataLst>
          </p:nvPr>
        </p:nvSpPr>
        <p:spPr>
          <a:xfrm>
            <a:off x="782447" y="393446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1486535" y="3847592"/>
            <a:ext cx="8686800" cy="3219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涉及</a:t>
            </a:r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敏感文件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1486535" y="4176775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传统方案常把文件、任务过程交由外部平台处理，不适合金融、审计、合规等高安全要求场景。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9"/>
            </p:custDataLst>
          </p:nvPr>
        </p:nvSpPr>
        <p:spPr>
          <a:xfrm>
            <a:off x="617855" y="5068951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0"/>
            </p:custDataLst>
          </p:nvPr>
        </p:nvSpPr>
        <p:spPr>
          <a:xfrm>
            <a:off x="782447" y="5265547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1486535" y="5178679"/>
            <a:ext cx="8686800" cy="3219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长任务缺乏可恢复性</a:t>
            </a:r>
            <a:endParaRPr lang="zh-CN" altLang="en-US"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1486535" y="5507863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长任务遇到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网络波动、工具失败或用户停止后，任务容易从头开始。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617728" y="1502537"/>
            <a:ext cx="10881360" cy="3987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桌面端 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0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6140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功能与核心流程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客户端功能全景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2179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76809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490472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模型与对话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86384" y="2029967"/>
            <a:ext cx="3145536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OpenAI/Anthropic </a:t>
            </a:r>
            <a:r>
              <a:rPr lang="zh-CN"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主流</a:t>
            </a: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协议；流式回复；上下文记忆；模型连通性检测。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2511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47141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5193792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会话工作台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489703" y="2029967"/>
            <a:ext cx="3145536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多会话管理；项目目录关联；历史记录本地持久化。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28431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17473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897111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附件与文件分析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193023" y="2029967"/>
            <a:ext cx="3145536" cy="645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主流文件格式</a:t>
            </a:r>
            <a:r>
              <a:rPr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解析。</a:t>
            </a: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TXT/MD/CSV/JSON/PDF/DOCX/XLSX/PPTX；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2179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4"/>
            </p:custDataLst>
          </p:nvPr>
        </p:nvSpPr>
        <p:spPr>
          <a:xfrm>
            <a:off x="76809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1490472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工具系统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786384" y="4178808"/>
            <a:ext cx="3145536" cy="978407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内置读写工具；参数校验；超时与取消；执行结果截断；工具列表可视化。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432511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447141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5193792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权限与审批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4489703" y="4178808"/>
            <a:ext cx="3145536" cy="978407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read 直接执行；write 分 ask/full；dangerous 拒绝；审批可恢复。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21"/>
            </p:custDataLst>
          </p:nvPr>
        </p:nvSpPr>
        <p:spPr>
          <a:xfrm>
            <a:off x="8028431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>
            <p:custDataLst>
              <p:tags r:id="rId22"/>
            </p:custDataLst>
          </p:nvPr>
        </p:nvSpPr>
        <p:spPr>
          <a:xfrm>
            <a:off x="817473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8897111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扩展能力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8193023" y="4178808"/>
            <a:ext cx="3145536" cy="978407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服务配置与生命周期管理；Markdown Skill 按会话启用。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10881360" cy="96012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令旗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本地优先的桌面Agent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大模型、文件、工具、MCP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等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服务和权限审批的客户端。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本地工作台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以 Windows 桌面客户端承载，面向日常办公、研发、审计和知识管理场景。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10711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3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开放模型层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7015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支持 OpenAI 兼容与 Anthropic 两种协议，可按企业要求接入不同模型服务。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63055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安全执行层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59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工具分读写危险三级，写入需审批，危险工具默认拒绝。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15400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可持续扩展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61704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通过内置工具、MCP 服务和 Markdown Skill 持续扩展专业能力。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" y="5303520"/>
            <a:ext cx="10881360" cy="566928"/>
          </a:xfrm>
          <a:prstGeom prst="rect">
            <a:avLst/>
          </a:prstGeom>
          <a:solidFill>
            <a:srgbClr val="F2F7FC"/>
          </a:solidFill>
          <a:ln w="12700">
            <a:solidFill>
              <a:srgbClr val="E89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当前版本</a:t>
            </a:r>
            <a:r>
              <a:rPr lang="zh-CN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基础版已实现 Agent Loop、工具审批、附件分析、MCP 与 Skill已完成。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任务执行主流程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1912747"/>
            <a:ext cx="10881360" cy="3987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核心由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lectron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中的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Agent Loop</a:t>
            </a:r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驱动，通过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Electron 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IPC 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消息通道连接</a:t>
            </a:r>
            <a:r>
              <a:rPr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同步界面。</a:t>
            </a:r>
            <a:endParaRPr sz="20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用户输入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自然语言任务 + 附件 + 会话上下文 + 启用的 Skill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261616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2784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2512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附件准备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9088" y="3648837"/>
            <a:ext cx="1365503" cy="1106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附件接收至安全目录，系统预处理（如格式验证、内容提取与编码转换等）以便为后续处理准备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130040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31208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0936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模型决策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77512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协议适配层构造请求，模型输出文本或工具调用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998464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9632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权限审批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45936" y="3648837"/>
            <a:ext cx="1365503" cy="1106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操作权限按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read/write/dangerous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三级划分，其中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write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级别操作需经用户确认方可执行。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7866888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8056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7784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工具执行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4360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统一注册表校验、执行、超时、取消和结果截断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9735312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36480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6208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结果回写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82784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工具结果进入下一轮模型上下文，直到生成最终回答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会话与项目工作目录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257800" cy="47548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会话能力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多会话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331720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会话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新建、切换、独立保存上下文。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本地持久化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" y="3090672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保存会话</a:t>
            </a:r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历史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状态，重启后可恢复。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任务可见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992" y="3849624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思考、任务状态、错误提示和停止操作。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6792" y="1234440"/>
            <a:ext cx="5257800" cy="47548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项目关联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绑定目录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21424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每个会话可关联一个本机项目目录。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11112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Skill 生效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21424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自动扫描项目 .agent/skills 目录。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11112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安全边界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21424" y="3849624"/>
            <a:ext cx="448056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设定专属工作区，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文件工具基于项目目录做路径校验。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6144768"/>
            <a:ext cx="11000232" cy="43891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定位：让 Agent 有连续记忆，也能知道自己正在处理哪个项目。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技术方案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技术架构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渲染进程 / React 18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9080" y="1490472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Chat、Message、Sidebar、Settings、ToolList、SkillManager、McpManager；状态与界面交互。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" y="2459736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Electron Preload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69080" y="2624328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 contextBridge 暴露白名单 IPC API，避免渲染进程直接触碰 Node 能力。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" y="3593591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39896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Electron 主进程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3758183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请求代理、协议适配、SSE 解析、Agent Loop、工具执行、审批、附件与 MCP 生命周期。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" y="4727448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73752"/>
            <a:ext cx="30632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本地资源层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69080" y="4892040"/>
            <a:ext cx="7132320" cy="56692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localStorage 会话状态；userData 审批与任务数据；skills 目录；MCP 服务进程。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技术栈：Electron 32 · Node.js · React 18 · TypeScript · Vite 5 · MCP SDK · mammoth · xlsx · pdf-parse · jszip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Loop 设计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22476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1435607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统一消息状态机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1764792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running / awaiting_approval / cancelled / failed / completed / unknown，全过程事件驱动。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359152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555748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2468880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多轮工具循环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2798064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模型输出工具调用后，客户端执行工具并将结果回填，继续下一轮模型决策。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58902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3502152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可中断与恢复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3831335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AbortController 支持停止生成；审批记录持久化，刷新后仍可处理。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622292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535424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错误分级反馈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08760" y="4864608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协议错误、工具错误、附件错误和审批超时分别提示，避免任务状态卡死。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458968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5655564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8760" y="5568696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结果体积控制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08760" y="5897879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工具输出设置长度上限并截断，防止超长结果破坏上下文。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工具系统与权限模型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261872"/>
            <a:ext cx="4297680" cy="45720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37760" y="1261872"/>
            <a:ext cx="219456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0" y="1261872"/>
            <a:ext cx="4434840" cy="45720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行为说明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18105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file_read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37760" y="18105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0" y="18105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读取文件内容，支持编码识别与大小限制。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7249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file_write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37760" y="27249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32320" y="27249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写入或修改文件；ask 模式需用户审批，full 模式仍校验路径。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 工具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37760" y="36393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32320" y="36393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执行命令等高危动作，当前版本默认拒绝。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45537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 工具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37760" y="45537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按服务声明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0" y="45537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服务启动后注册为工具，权限映射到 read/write/dangerous。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927080" cy="62179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安全原则：路径必须在允许范围内；拒绝 ../ 与符号链接越界；危险操作默认不可执行。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附件解析能力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文本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TXT / MD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表格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90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CSV / JSON / XLSX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PDF / DOCX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154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PPTX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上传选择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渲染进程选择附件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290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复制解析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主进程复制到安全目录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22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状态同步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36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任务进入解析态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9154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注入上下文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068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解析结果交给 Agent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4800600"/>
            <a:ext cx="10835640" cy="1051560"/>
          </a:xfrm>
          <a:prstGeom prst="rect">
            <a:avLst/>
          </a:prstGeom>
          <a:solidFill>
            <a:srgbClr val="DEEBF7"/>
          </a:solidFill>
          <a:ln w="12700">
            <a:solidFill>
              <a:srgbClr val="E89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边界：附件数量与大小受限；Office 文件本地解析；解析失败不阻断对话，仅提示错误；临时文件由清理流程移除。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 与 MCP 扩展体系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257800" cy="47548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Skill（提示词能力包）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目录约定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全局 &lt;userData&gt;/skills；项目 &lt;项目&gt;/.agent/skills。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启用方式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Skills 页面扫描，按会话勾选启用。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覆盖规则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992" y="3849624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同名项目 Skill 覆盖全局 Skill。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6792" y="1234440"/>
            <a:ext cx="5257800" cy="47548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MCP（外部工具服务）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服务配置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21424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McpManager 维护服务名、命令、参数与状态。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11112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生命周期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21424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启动 / 停止 / 自动重启；工具按服务注册。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11112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权限映射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21424" y="3849624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工具映射到现有权限模型。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6144768"/>
            <a:ext cx="11000232" cy="43891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Skill 只注入文本规范，MCP 只接入受控工具入口；二者都不会绕过权限审批。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2400" b="1">
                <a:solidFill>
                  <a:srgbClr val="223962"/>
                </a:solidFill>
                <a:latin typeface="Microsoft YaHei"/>
                <a:ea typeface="Microsoft YaHei"/>
              </a:rPr>
              <a:t>05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04672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部署与落地价值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私有化部署与运行方式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9047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开发运行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npm run dev 启动 Vite + Electron，主进程自动热重载。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259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构建验证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8503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npm run build 先跑 TypeScript 类型检查，再构建渲染进程与主进程。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Windows 打包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npm run dist:win 生成安装包和免安装绿色版。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391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259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私有模型接入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8503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 API 密钥、Base URL、协议和模型 ID 配置企业自有模型服务。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5532120"/>
            <a:ext cx="10927080" cy="603504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本地优先：密钥不出渲染进程、不进入外部对话平台；文件与任务过程留在客户端本地。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安全与治理体系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22476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1435607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模型接入安全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1764792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主进程直接发起请求，渲染进程不直接持有密钥；配置本地持久化。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359152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555748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2468880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工具执行安全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2798064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参数校验、路径安全、超时、截断、取消；危险工具默认拒绝。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392424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58902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3502152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人工确认治理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3831335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write 工具支持 ask/full；审批请求含预览、超时与状态持久化。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4622292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535424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文件边界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08760" y="4864608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附件复制到受控目录；限制数量与大小；失败不阻断对话。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458968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5655564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8760" y="5568696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日志与测试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08760" y="5897879"/>
            <a:ext cx="97840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审批、任务和附件流程有测试覆盖；当前 12 个测试全部通过。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典型使用场景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9047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知识资产问答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读取本地文档、汇总公司制度、审计要求和历史技术资产。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259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文件整理与审查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8503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批量检查本地材料、提取表格、核对文档口径与格式。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研发辅助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结合项目目录读取源码、生成审查意见和整理开发文档。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391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259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办公智能助手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8503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完成总结、改写、生成清单和报告初稿，保留人工确认环节。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5532120"/>
            <a:ext cx="10927080" cy="603504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适用于：金融、审计、合规、研发、运营等对本地数据、权限边界和可追溯性要求高的组织。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示例对话与效果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530352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7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用户可以这样在桌面端提问</a:t>
            </a:r>
            <a:endParaRPr sz="17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Q1  帮我总结这份 PDF 的审计风险点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" y="2551176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Q2  对比两个 DOCX 文档中的制度差异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" y="3319272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Q3  把这个 Excel 中的异常值整理出来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" y="4087368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Q4  基于当前项目目录生成代码审查意见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" y="4855464"/>
            <a:ext cx="5303520" cy="658368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Q5  按这份说明起草一份会议纪要</a:t>
            </a:r>
            <a:endParaRPr sz="1200" b="0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475488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7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桌面端处理效果</a:t>
            </a:r>
            <a:endParaRPr sz="17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4846320" cy="2606040"/>
          </a:xfrm>
          <a:prstGeom prst="round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"status": "completed",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"attachments": "parsed",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"tools": "file_read(file_write)",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"approval": "approved"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4681728"/>
            <a:ext cx="4846320" cy="1051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系统自动完成 理解任务 → 读取附件 → 执行工具 → 权限审批 → 汇总答案，并在会话中保留可追踪上下文。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后续路线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9047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第一阶段：夯实基础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完善稳定性、错误恢复、UI 细节和企业化打包分发。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5087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2592" y="15087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第二阶段：增强工具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8503" y="20574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扩展更多内置工具、优化 MCP 服务管理和工具权限映射。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第三阶段：行业模板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沉淀金融、审计、合规、研发等行业 Skill 模板库。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3912" y="3383280"/>
            <a:ext cx="5257800" cy="17830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566160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2592" y="3566160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第四阶段：平台协同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8503" y="4114800"/>
            <a:ext cx="4928616" cy="88696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与服务器版权限中心、知识库和企业系统集成。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5532120"/>
            <a:ext cx="10927080" cy="603504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定位：不是替代现有业务系统，而是作为桌面侧通用 Agent 工作台，连接文件、工具与企业知识。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2F2F2"/>
              </a:gs>
            </a:gsLst>
            <a:path path="circle"/>
          </a:gradFill>
          <a:ln>
            <a:noFill/>
          </a:ln>
        </p:spPr>
      </p:sp>
      <p:sp>
        <p:nvSpPr>
          <p:cNvPr id="3" name="thanks"/>
          <p:cNvSpPr txBox="1"/>
          <p:nvPr/>
        </p:nvSpPr>
        <p:spPr>
          <a:xfrm>
            <a:off x="4191000" y="2286000"/>
            <a:ext cx="3810000" cy="139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>
                <a:solidFill>
                  <a:srgbClr val="5B9BD5"/>
                </a:solidFill>
                <a:effectLst>
                  <a:outerShdw blurRad="38100" dist="25400" dir="5400000" algn="bl" rotWithShape="0">
                    <a:srgbClr val="6E747A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charset="-122"/>
              </a:rPr>
              <a:t>谢谢</a:t>
            </a:r>
            <a:endParaRPr lang="en-US" sz="7200"/>
          </a:p>
        </p:txBody>
      </p:sp>
      <p:sp>
        <p:nvSpPr>
          <p:cNvPr id="4" name="slogan"/>
          <p:cNvSpPr txBox="1"/>
          <p:nvPr/>
        </p:nvSpPr>
        <p:spPr>
          <a:xfrm>
            <a:off x="1651000" y="406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62626"/>
                </a:solidFill>
                <a:latin typeface="Arial" panose="020B0604020202020204"/>
                <a:ea typeface="微软雅黑" panose="020B0503020204020204" charset="-122"/>
              </a:rPr>
              <a:t>用自然语言连接数据，让每个人都能安全、快速地获取业务洞察</a:t>
            </a:r>
            <a:endParaRPr lang="en-US" sz="1800"/>
          </a:p>
        </p:txBody>
      </p:sp>
      <p:sp>
        <p:nvSpPr>
          <p:cNvPr id="5" name="company"/>
          <p:cNvSpPr txBox="1"/>
          <p:nvPr/>
        </p:nvSpPr>
        <p:spPr>
          <a:xfrm>
            <a:off x="4191000" y="45974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北京</a:t>
            </a:r>
            <a:r>
              <a:rPr 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r>
              <a:rPr lang="zh-CN" alt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软件技术</a:t>
            </a:r>
            <a:r>
              <a:rPr lang="en-US" sz="1400">
                <a:solidFill>
                  <a:srgbClr val="808080"/>
                </a:solidFill>
                <a:latin typeface="Arial" panose="020B0604020202020204"/>
                <a:ea typeface="微软雅黑" panose="020B0503020204020204" charset="-122"/>
              </a:rPr>
              <a:t>有限公司</a:t>
            </a:r>
            <a:endParaRPr lang="en-US" sz="1400"/>
          </a:p>
        </p:txBody>
      </p:sp>
      <p:sp>
        <p:nvSpPr>
          <p:cNvPr id="6" name="logo"/>
          <p:cNvSpPr txBox="1"/>
          <p:nvPr/>
        </p:nvSpPr>
        <p:spPr>
          <a:xfrm>
            <a:off x="4699000" y="762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</a:t>
            </a:r>
            <a:r>
              <a:rPr lang="zh-CN" altLang="en-US" sz="2200" b="1">
                <a:solidFill>
                  <a:srgbClr val="E89924"/>
                </a:solidFill>
                <a:latin typeface="Arial" panose="020B0604020202020204"/>
                <a:ea typeface="微软雅黑" panose="020B0503020204020204" charset="-122"/>
              </a:rPr>
              <a:t>上行</a:t>
            </a:r>
            <a:endParaRPr lang="zh-CN" altLang="en-US" sz="2200" b="1">
              <a:solidFill>
                <a:srgbClr val="E89924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13816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Microsoft YaHei"/>
                <a:ea typeface="Microsoft YaHei"/>
              </a:rPr>
              <a:t>OpenViking 上下文基础设施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四方上行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Microsoft YaHei"/>
                <a:ea typeface="Microsoft YaHei"/>
              </a:rPr>
              <a:t>OpenViking 是什么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四方上行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5166360" cy="1097280"/>
          </a:xfrm>
          <a:prstGeom prst="round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开源上下文数据库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为 AI Agent 统一管理资源、记忆与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4892040" cy="69494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</a:rPr>
              <a:t>OpenViking 不是聊天机器人，也不是完整的业务系统；它是 Agent 可以调用的上下文基础设施。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257800" cy="960120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Resources</a:t>
            </a:r>
          </a:p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项目文档 · 代码 · 网页 · 项目元数据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87168"/>
            <a:ext cx="5257800" cy="960120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Memories</a:t>
            </a:r>
          </a:p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用户偏好 · 长期记忆 · Agent 经验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94176"/>
            <a:ext cx="5257800" cy="960120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Skills</a:t>
            </a:r>
          </a:p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可复用技能 · 规则 · 工作流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166360" cy="1463040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viking://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resources/     文档、代码、网页、项目资料</a:t>
            </a:r>
          </a:p>
          <a:p>
            <a:pPr algn="ctr"/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user/&lt;user&gt;/   memories · resources ·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760720"/>
            <a:ext cx="10881360" cy="512064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分层上下文：L0 一句话摘要 → L1 概要和结构 → L2 完整内容，按需加载以减少无关上下文和 Token 消耗。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Microsoft YaHei"/>
                <a:ea typeface="Microsoft YaHei"/>
              </a:rPr>
              <a:t>令旗 + OpenViking 推荐接入架构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四方上行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240280" cy="1051560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3962"/>
                </a:solidFill>
                <a:latin typeface="Microsoft YaHei"/>
                <a:ea typeface="Microsoft YaHei"/>
              </a:rPr>
              <a:t>令旗桌面客户端</a:t>
            </a:r>
          </a:p>
          <a:p>
            <a:pPr algn="ctr"/>
            <a:r>
              <a:rPr sz="1600" b="1">
                <a:solidFill>
                  <a:srgbClr val="223962"/>
                </a:solidFill>
                <a:latin typeface="Microsoft YaHei"/>
                <a:ea typeface="Microsoft YaHei"/>
              </a:rPr>
              <a:t>React 界面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2240280" cy="1234440"/>
          </a:xfrm>
          <a:prstGeom prst="round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Agent 编排层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意图识别 · Prompt · 工具调用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任务状态 · 权限审批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371600" y="2578608"/>
            <a:ext cx="777240" cy="329184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371600" y="4507992"/>
            <a:ext cx="777240" cy="329184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2331720"/>
            <a:ext cx="2423160" cy="1188720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HTTP / SDK / MCP</a:t>
            </a:r>
          </a:p>
          <a:p>
            <a:pPr algn="ctr"/>
            <a:r>
              <a:rPr sz="1500" b="1">
                <a:solidFill>
                  <a:srgbClr val="223962"/>
                </a:solidFill>
                <a:latin typeface="Microsoft YaHei"/>
                <a:ea typeface="Microsoft YaHei"/>
              </a:rPr>
              <a:t>OpenVikingClient 封装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371600"/>
            <a:ext cx="3611880" cy="1170432"/>
          </a:xfrm>
          <a:prstGeom prst="round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OpenViking Server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本地 sidecar 或独立服务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880360"/>
            <a:ext cx="1664208" cy="1554480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AGFS / VikingFS</a:t>
            </a:r>
          </a:p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L0 / L1 / L2</a:t>
            </a:r>
          </a:p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资源与会话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2872" y="2880360"/>
            <a:ext cx="1664208" cy="1554480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Vector Index</a:t>
            </a:r>
          </a:p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Embedding</a:t>
            </a:r>
          </a:p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viking:// URI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4343400"/>
            <a:ext cx="2423160" cy="1188720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结构化元数据服务</a:t>
            </a:r>
          </a:p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文件关系 · 标签 · 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074920"/>
            <a:ext cx="3611880" cy="786384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业务系统安全层</a:t>
            </a:r>
          </a:p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访问控制 · 脱敏 · 操作审计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72200"/>
            <a:ext cx="10835640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1">
                <a:solidFill>
                  <a:srgbClr val="223962"/>
                </a:solidFill>
                <a:latin typeface="Microsoft YaHei"/>
                <a:ea typeface="Microsoft YaHei"/>
              </a:rPr>
              <a:t>建议：OpenViking 作为独立服务访问，不把其内部存储模块直接嵌入 Electron。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Microsoft YaHei"/>
                <a:ea typeface="Microsoft YaHei"/>
              </a:rPr>
              <a:t>OpenViking 在海量知识与项目资料中的作用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四方上行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700784" cy="1874519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用户任务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总结项目资料中的关键风险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1428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14016" y="1828800"/>
            <a:ext cx="1700784" cy="1874519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语义召回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召回候选文档、代码、记忆与 Skill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28515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1828800"/>
            <a:ext cx="1700784" cy="1874519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分层读取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按 L0 / L1 / L2 加载所需上下文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75604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8192" y="1828800"/>
            <a:ext cx="1700784" cy="1874519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Agent 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模型决定下一步任务或工具调用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22692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1828800"/>
            <a:ext cx="1700784" cy="1874519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安全执行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工具校验、审批、超时、审计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69780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2367" y="1828800"/>
            <a:ext cx="1700784" cy="1874519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结果解释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icrosoft YaHei"/>
                <a:ea typeface="Microsoft YaHei"/>
              </a:rPr>
              <a:t>Agent 汇总自然语言答案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3429000" cy="1078992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OpenViking 擅长</a:t>
            </a:r>
          </a:p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海量资源的语义召回、分层加载和长期记忆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343400"/>
            <a:ext cx="3429000" cy="1078992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令旗负责</a:t>
            </a:r>
          </a:p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Agent 编排、工具调用、权限审批和任务状态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4343400"/>
            <a:ext cx="3429000" cy="1078992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明确边界</a:t>
            </a:r>
          </a:p>
          <a:p>
            <a:pPr algn="ctr"/>
            <a:r>
              <a:rPr sz="1400" b="1">
                <a:solidFill>
                  <a:srgbClr val="223962"/>
                </a:solidFill>
                <a:latin typeface="Microsoft YaHei"/>
                <a:ea typeface="Microsoft YaHei"/>
              </a:rPr>
              <a:t>OpenViking 不替代 Agent 的任务编排和权限控制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06440"/>
            <a:ext cx="10881360" cy="512064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建议按项目、业务域和用户空间组织 viking:// 资源，让文档、代码、记忆和 Skill 可以按目录浏览与检索。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Microsoft YaHei"/>
                <a:ea typeface="Microsoft YaHei"/>
              </a:rPr>
              <a:t>OpenViking 接入路线与部署边界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四方上行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48132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Microsoft YaHei"/>
                <a:ea typeface="Microsoft YaHei"/>
              </a:rPr>
              <a:t>第一步：独立服务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029967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</a:rPr>
              <a:t>Windows 开发环境运行 openviking-server；Electron 通过 127.0.0.1:1933 访问；启动后轮询 /health。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29844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48132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Microsoft YaHei"/>
                <a:ea typeface="Microsoft YaHei"/>
              </a:rPr>
              <a:t>第二步：服务封装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3" y="2029967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</a:rPr>
              <a:t>在 Electron 主进程封装 OpenVikingClient，统一处理 add_resource、find、read、remember 和 health。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21868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4015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40156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Microsoft YaHei"/>
                <a:ea typeface="Microsoft YaHei"/>
              </a:rPr>
              <a:t>第三步：资源导入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950208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</a:rPr>
              <a:t>从项目和业务系统自动生成 Markdown/JSON，按业务域批量导入，不建议 UI 逐条录入。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21868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4015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40156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Microsoft YaHei"/>
                <a:ea typeface="Microsoft YaHei"/>
              </a:rPr>
              <a:t>第四步：Agent 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3950208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</a:rPr>
              <a:t>先召回摘要，再读取详情；把上下文交给模型；需要模型自主检索时再接入 MCP。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440680"/>
            <a:ext cx="5257800" cy="804672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当前项目状态</a:t>
            </a:r>
          </a:p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令旗已有 MCP Client、Skill 和工具审批；OpenViking 接入属于新增规划能力。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5440680"/>
            <a:ext cx="5394960" cy="804672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部署与许可证</a:t>
            </a:r>
          </a:p>
          <a:p>
            <a:pPr algn="ctr"/>
            <a:r>
              <a:rPr sz="1300" b="1">
                <a:solidFill>
                  <a:srgbClr val="223962"/>
                </a:solidFill>
                <a:latin typeface="Microsoft YaHei"/>
                <a:ea typeface="Microsoft YaHei"/>
              </a:rPr>
              <a:t>建议独立服务部署；OpenViking 开源仓库采用 AGPL-3.0，发布前需评估许可证义务。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2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3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4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5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6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7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8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9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0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1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2.xml><?xml version="1.0" encoding="utf-8"?>
<p:tagLst xmlns:p="http://schemas.openxmlformats.org/presentationml/2006/main">
  <p:tag name="KSO_WM_DIAGRAM_VIRTUALLY_FRAME" val="{&quot;height&quot;:384.23999999999995,&quot;left&quot;:49.8,&quot;top&quot;:104.4,&quot;width&quot;:861}"/>
</p:tagLst>
</file>

<file path=ppt/tags/tag1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1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7.xml><?xml version="1.0" encoding="utf-8"?>
<p:tagLst xmlns:p="http://schemas.openxmlformats.org/presentationml/2006/main">
  <p:tag name="resource_record_key" val="{&quot;10&quot;:[50063692],&quot;19&quot;:[50073573]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4647</Words>
  <Application>WPS 演示</Application>
  <PresentationFormat/>
  <Paragraphs>553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</vt:lpstr>
      <vt:lpstr>MiSans</vt:lpstr>
      <vt:lpstr>Wingdings</vt:lpstr>
      <vt:lpstr>华文中宋</vt:lpstr>
      <vt:lpstr>Arial Unicode MS</vt:lpstr>
      <vt:lpstr>Calibri</vt:lpstr>
      <vt:lpstr>PPTD</vt:lpstr>
      <vt:lpstr>1_PPTD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自然语言转数据信息智能反馈系统</dc:title>
  <dc:creator>Kimi</dc:creator>
  <dc:subject>自然语言转数据信息智能反馈系统</dc:subject>
  <cp:lastModifiedBy>阿卡</cp:lastModifiedBy>
  <cp:revision>641</cp:revision>
  <dcterms:created xsi:type="dcterms:W3CDTF">2026-07-24T04:46:00Z</dcterms:created>
  <dcterms:modified xsi:type="dcterms:W3CDTF">2026-09-14T03:42:20Z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自然语言转数据信息智能反馈系统","ContentProducer":"001191110108MACG2KBH8F10000","ProduceID":"19f924f8-4b62-8002-8000-000086a46e4d","ReservedCode1":"","ContentPropagator":"001191110108MACG2KBH8F20000","PropagateID":"19f923e8-8642-8313-8000-098961ac5bd4","ReservedCode2":""}</vt:lpwstr>
  </property>
  <property fmtid="{D5CDD505-2E9C-101B-9397-08002B2CF9AE}" pid="3" name="KSOProductBuildVer">
    <vt:lpwstr>2052-12.1.0.28599</vt:lpwstr>
  </property>
  <property fmtid="{D5CDD505-2E9C-101B-9397-08002B2CF9AE}" pid="4" name="ICV">
    <vt:lpwstr>516C1BA4381F4178998C1B4A7672CD50_13</vt:lpwstr>
  </property>
</Properties>
</file>
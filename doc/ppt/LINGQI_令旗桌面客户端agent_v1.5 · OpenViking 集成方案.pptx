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2192000" cy="6858000" type="custom"/>
  <p:notesSz cx="12192000" cy="6858000"/>
  <p:embeddedFontLst>
    <p:embeddedFont>
      <p:font typeface="MiSans" charset="-122" pitchFamily="34"/>
      <p:regular r:id="rId2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font" Target="fonts/font1.fnt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_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_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_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_1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_1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yline"/>
          <p:cNvPicPr/>
          <p:nvPr/>
        </p:nvPicPr>
        <p:blipFill>
          <a:blip r:embed="rId2"/>
          <a:stretch>
            <a:fillRect/>
          </a:stretch>
        </p:blipFill>
        <p:spPr>
          <a:xfrm>
            <a:off x="949960" y="2180590"/>
            <a:ext cx="10337800" cy="2679700"/>
          </a:xfrm>
          <a:prstGeom prst="rect">
            <a:avLst/>
          </a:prstGeom>
          <a:ln>
            <a:noFill/>
          </a:ln>
        </p:spPr>
      </p:pic>
      <p:sp>
        <p:nvSpPr>
          <p:cNvPr id="3" name="navy-bar"/>
          <p:cNvSpPr/>
          <p:nvPr/>
        </p:nvSpPr>
        <p:spPr>
          <a:xfrm>
            <a:off x="0" y="4292600"/>
            <a:ext cx="12192000" cy="2565400"/>
          </a:xfrm>
          <a:prstGeom prst="rect">
            <a:avLst/>
          </a:prstGeom>
          <a:solidFill>
            <a:srgbClr val="223962"/>
          </a:solidFill>
          <a:ln>
            <a:noFill/>
          </a:ln>
        </p:spPr>
      </p:sp>
      <p:sp>
        <p:nvSpPr>
          <p:cNvPr id="4" name="title-box"/>
          <p:cNvSpPr/>
          <p:nvPr/>
        </p:nvSpPr>
        <p:spPr>
          <a:xfrm>
            <a:off x="904240" y="1671320"/>
            <a:ext cx="10172700" cy="78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</p:sp>
      <p:sp>
        <p:nvSpPr>
          <p:cNvPr id="5" name="title"/>
          <p:cNvSpPr txBox="1"/>
          <p:nvPr/>
        </p:nvSpPr>
        <p:spPr>
          <a:xfrm>
            <a:off x="904240" y="1671320"/>
            <a:ext cx="101727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3600" noProof="1">
                <a:solidFill>
                  <a:srgbClr val="000000"/>
                </a:solidFill>
                <a:latin typeface="Arial"/>
                <a:ea typeface="微软雅黑"/>
              </a:rPr>
              <a:t>LINGQI 令旗桌面客户端 Agent v1.5</a:t>
            </a:r>
            <a:endParaRPr lang="en-US" sz="3600" noProof="1"/>
          </a:p>
        </p:txBody>
      </p:sp>
      <p:sp>
        <p:nvSpPr>
          <p:cNvPr id="6" name="subtitle"/>
          <p:cNvSpPr txBox="1"/>
          <p:nvPr/>
        </p:nvSpPr>
        <p:spPr>
          <a:xfrm>
            <a:off x="904240" y="2600960"/>
            <a:ext cx="10172700" cy="4902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000" noProof="1">
                <a:solidFill>
                  <a:srgbClr val="000000"/>
                </a:solidFill>
                <a:latin typeface="MiSans"/>
                <a:ea typeface="MiSans"/>
              </a:rPr>
              <a:t>-- OpenViking 上下文服务集成方案</a:t>
            </a:r>
            <a:endParaRPr lang="en-US" sz="2000" noProof="1"/>
          </a:p>
        </p:txBody>
      </p:sp>
      <p:sp>
        <p:nvSpPr>
          <p:cNvPr id="7" name="subtitle-2"/>
          <p:cNvSpPr txBox="1"/>
          <p:nvPr/>
        </p:nvSpPr>
        <p:spPr>
          <a:xfrm>
            <a:off x="904240" y="835660"/>
            <a:ext cx="10172700" cy="7086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200" noProof="1" b="1">
                <a:solidFill>
                  <a:srgbClr val="0070C0"/>
                </a:solidFill>
                <a:latin typeface="Arial"/>
                <a:ea typeface="微软雅黑"/>
              </a:rPr>
              <a:t>让大模型在本地受控地完成工作 · 连接文件、工具与企业知识</a:t>
            </a:r>
            <a:endParaRPr lang="en-US" sz="2200" noProof="1"/>
          </a:p>
        </p:txBody>
      </p:sp>
      <p:sp>
        <p:nvSpPr>
          <p:cNvPr id="8" name="company"/>
          <p:cNvSpPr txBox="1"/>
          <p:nvPr/>
        </p:nvSpPr>
        <p:spPr>
          <a:xfrm>
            <a:off x="2649220" y="3509010"/>
            <a:ext cx="6432550" cy="4927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3200" noProof="1">
                <a:solidFill>
                  <a:srgbClr val="000000"/>
                </a:solidFill>
                <a:latin typeface="Arial"/>
                <a:ea typeface="微软雅黑"/>
              </a:rPr>
              <a:t>北京四方上行软件技术有限公司</a:t>
            </a:r>
            <a:endParaRPr lang="en-US" sz="3200" noProof="1"/>
          </a:p>
        </p:txBody>
      </p:sp>
      <p:sp>
        <p:nvSpPr>
          <p:cNvPr id="9" name="slogan"/>
          <p:cNvSpPr txBox="1"/>
          <p:nvPr/>
        </p:nvSpPr>
        <p:spPr>
          <a:xfrm>
            <a:off x="121920" y="5689600"/>
            <a:ext cx="1194816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500" noProof="1" spc="200" kern="0">
                <a:solidFill>
                  <a:srgbClr val="BFBFBF"/>
                </a:solidFill>
                <a:latin typeface="Arial"/>
                <a:ea typeface="微软雅黑"/>
              </a:rPr>
              <a:t>用桌面 Agent 连接本地工作，用共享上下文连接组织知识</a:t>
            </a:r>
            <a:endParaRPr lang="en-US" sz="15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27050" cy="4445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5520"/>
            <a:ext cx="8839200" cy="4318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29040" y="985520"/>
            <a:ext cx="3362960" cy="4318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701040" y="254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000000"/>
                </a:solidFill>
                <a:latin typeface="Arial"/>
                <a:ea typeface="微软雅黑"/>
              </a:rPr>
              <a:t>公司简介</a:t>
            </a:r>
            <a:endParaRPr lang="en-US" sz="3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600" noProof="1" b="1">
                <a:solidFill>
                  <a:srgbClr val="0070C0"/>
                </a:solidFill>
                <a:latin typeface="Arial"/>
                <a:ea typeface="微软雅黑"/>
              </a:rPr>
              <a:t>四方上行</a:t>
            </a:r>
            <a:endParaRPr lang="en-US" sz="1600" noProof="1"/>
          </a:p>
        </p:txBody>
      </p:sp>
      <p:sp>
        <p:nvSpPr>
          <p:cNvPr id="8" name="intro"/>
          <p:cNvSpPr txBox="1"/>
          <p:nvPr/>
        </p:nvSpPr>
        <p:spPr>
          <a:xfrm>
            <a:off x="701040" y="1270000"/>
            <a:ext cx="10795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600" noProof="1">
                <a:solidFill>
                  <a:srgbClr val="262626"/>
                </a:solidFill>
                <a:latin typeface="MiSans"/>
                <a:ea typeface="MiSans"/>
              </a:rPr>
              <a:t>北京四方上行软件技术有限公司成立于2021年1月，注册资本1000万元，是国家级高新技术企业。公司团队骨干由多年耕耘金融科技领域的业务专家和技术专家组成，目前有员工30人左右。</a:t>
            </a:r>
            <a:endParaRPr lang="en-US" sz="1600" noProof="1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noProof="1">
                <a:solidFill>
                  <a:srgbClr val="262626"/>
                </a:solidFill>
                <a:latin typeface="MiSans"/>
                <a:ea typeface="MiSans"/>
              </a:rPr>
              <a:t>在AI领域，四方上行致力于用AI技术为金融机构提供业务解决方案和技术解决方案，促进客户的数字化转型。目前已取得或正在申请的知识产权包括：</a:t>
            </a:r>
            <a:endParaRPr lang="en-US" sz="1600" noProof="1"/>
          </a:p>
        </p:txBody>
      </p:sp>
      <p:sp>
        <p:nvSpPr>
          <p:cNvPr id="9" name="ip-box"/>
          <p:cNvSpPr/>
          <p:nvPr/>
        </p:nvSpPr>
        <p:spPr>
          <a:xfrm>
            <a:off x="641350" y="3021330"/>
            <a:ext cx="10795000" cy="3327400"/>
          </a:xfrm>
          <a:prstGeom prst="roundRect">
            <a:avLst>
              <a:gd name="adj" fmla="val 4000"/>
            </a:avLst>
          </a:prstGeom>
          <a:solidFill>
            <a:srgbClr val="F4F9FE"/>
          </a:solidFill>
          <a:ln w="12700">
            <a:solidFill>
              <a:srgbClr val="BDD7EE"/>
            </a:solidFill>
          </a:ln>
        </p:spPr>
      </p:sp>
      <p:sp>
        <p:nvSpPr>
          <p:cNvPr id="10" name="ip-list"/>
          <p:cNvSpPr txBox="1"/>
          <p:nvPr/>
        </p:nvSpPr>
        <p:spPr>
          <a:xfrm>
            <a:off x="956310" y="3199130"/>
            <a:ext cx="10160000" cy="304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  <a:spcBef>
                <a:spcPts val="10"/>
              </a:spcBef>
              <a:buChar char="•"/>
            </a:pPr>
            <a:r>
              <a:rPr lang="en-US" sz="1400" noProof="1" b="1">
                <a:solidFill>
                  <a:srgbClr val="0070C0"/>
                </a:solidFill>
                <a:latin typeface="MiSans"/>
                <a:ea typeface="MiSans"/>
              </a:rPr>
              <a:t>标准知识库系统（可建设审计、合规、会计、风险、监管规定、公司制度等）</a:t>
            </a:r>
            <a:endParaRPr lang="en-US" sz="1400" noProof="1"/>
          </a:p>
          <a:p>
            <a:pPr algn="l">
              <a:lnSpc>
                <a:spcPct val="150000"/>
              </a:lnSpc>
              <a:spcBef>
                <a:spcPts val="10"/>
              </a:spcBef>
              <a:buChar char="•"/>
            </a:pPr>
            <a:r>
              <a:rPr lang="en-US" sz="1400" noProof="1" b="1">
                <a:solidFill>
                  <a:srgbClr val="0070C0"/>
                </a:solidFill>
                <a:latin typeface="MiSans"/>
                <a:ea typeface="MiSans"/>
              </a:rPr>
              <a:t>银行历史技术资产库管理（历史源代码、文档、脚本、数据字典随查随用）</a:t>
            </a:r>
            <a:endParaRPr lang="en-US" sz="1400" noProof="1"/>
          </a:p>
          <a:p>
            <a:pPr algn="l">
              <a:lnSpc>
                <a:spcPct val="150000"/>
              </a:lnSpc>
              <a:spcBef>
                <a:spcPts val="10"/>
              </a:spcBef>
              <a:buChar char="•"/>
            </a:pPr>
            <a:r>
              <a:rPr lang="en-US" sz="1400" noProof="1" b="1">
                <a:solidFill>
                  <a:srgbClr val="0070C0"/>
                </a:solidFill>
                <a:latin typeface="MiSans"/>
                <a:ea typeface="MiSans"/>
              </a:rPr>
              <a:t>测试案例生成（RAG+知识库）／网银（复杂办公系统）智能功能导航</a:t>
            </a:r>
            <a:endParaRPr lang="en-US" sz="1400" noProof="1"/>
          </a:p>
          <a:p>
            <a:pPr algn="l">
              <a:lnSpc>
                <a:spcPct val="150000"/>
              </a:lnSpc>
              <a:spcBef>
                <a:spcPts val="10"/>
              </a:spcBef>
              <a:buChar char="•"/>
            </a:pPr>
            <a:r>
              <a:rPr lang="en-US" sz="1400" noProof="1" b="1">
                <a:solidFill>
                  <a:srgbClr val="0070C0"/>
                </a:solidFill>
                <a:latin typeface="MiSans"/>
                <a:ea typeface="MiSans"/>
              </a:rPr>
              <a:t>AI驱动超级（财务）出纳（多银行账户现金管理，AI+RPA）</a:t>
            </a:r>
            <a:endParaRPr lang="en-US" sz="1400" noProof="1"/>
          </a:p>
          <a:p>
            <a:pPr algn="l">
              <a:lnSpc>
                <a:spcPct val="150000"/>
              </a:lnSpc>
              <a:spcBef>
                <a:spcPts val="10"/>
              </a:spcBef>
              <a:buChar char="•"/>
            </a:pPr>
            <a:r>
              <a:rPr lang="en-US" sz="1400" noProof="1" b="1">
                <a:solidFill>
                  <a:srgbClr val="0070C0"/>
                </a:solidFill>
                <a:latin typeface="MiSans"/>
                <a:ea typeface="MiSans"/>
              </a:rPr>
              <a:t>自然语言驱动多行资金管理（企业端超级网银，AI+RPA）</a:t>
            </a:r>
            <a:endParaRPr lang="en-US" sz="1400" noProof="1"/>
          </a:p>
          <a:p>
            <a:pPr algn="l">
              <a:lnSpc>
                <a:spcPct val="150000"/>
              </a:lnSpc>
              <a:spcBef>
                <a:spcPts val="10"/>
              </a:spcBef>
              <a:buChar char="•"/>
            </a:pPr>
            <a:r>
              <a:rPr lang="en-US" sz="1400" noProof="1" b="1">
                <a:solidFill>
                  <a:srgbClr val="0070C0"/>
                </a:solidFill>
                <a:latin typeface="MiSans"/>
                <a:ea typeface="MiSans"/>
              </a:rPr>
              <a:t>领导（管理）驾驶舱（简约办公AGENT，NLP+知识库+传统数据库+RPA+接口）</a:t>
            </a:r>
            <a:endParaRPr lang="en-US" sz="1400" noProof="1"/>
          </a:p>
          <a:p>
            <a:pPr algn="l">
              <a:lnSpc>
                <a:spcPct val="150000"/>
              </a:lnSpc>
              <a:spcBef>
                <a:spcPts val="10"/>
              </a:spcBef>
              <a:buChar char="•"/>
            </a:pPr>
            <a:r>
              <a:rPr lang="en-US" sz="1400" noProof="1" b="1">
                <a:solidFill>
                  <a:srgbClr val="0070C0"/>
                </a:solidFill>
                <a:latin typeface="MiSans"/>
                <a:ea typeface="MiSans"/>
              </a:rPr>
              <a:t>LINGQI（令旗）桌面客户端版AGENT工具（基础版，可开放源代码，含服务器版口令、权限控制中心）</a:t>
            </a:r>
            <a:endParaRPr lang="en-US" sz="1400" noProof="1"/>
          </a:p>
        </p:txBody>
      </p:sp>
      <p:sp>
        <p:nvSpPr>
          <p:cNvPr id="11" name="footer-note"/>
          <p:cNvSpPr txBox="1"/>
          <p:nvPr/>
        </p:nvSpPr>
        <p:spPr>
          <a:xfrm>
            <a:off x="701040" y="6248400"/>
            <a:ext cx="10795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7F7F7F"/>
                </a:solidFill>
                <a:latin typeface="MiSans"/>
                <a:ea typeface="MiSans"/>
              </a:rPr>
              <a:t>公司秉承「传统+前沿」发展模式：以传统技术服务业务为基础，以AI技术、RPA技术、区块链技术等赋能客户新的创新解决方案模式。</a:t>
            </a:r>
            <a:endParaRPr lang="en-US" sz="13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>
              <a:alphaModFix amt="30000"/>
            </a:blip>
            <a:stretch>
              <a:fillRect/>
            </a:stretch>
          </a:blipFill>
          <a:ln>
            <a:noFill/>
          </a:ln>
        </p:spPr>
      </p:sp>
      <p:sp>
        <p:nvSpPr>
          <p:cNvPr id="3" name="band"/>
          <p:cNvSpPr/>
          <p:nvPr/>
        </p:nvSpPr>
        <p:spPr>
          <a:xfrm>
            <a:off x="0" y="2865120"/>
            <a:ext cx="12192000" cy="1136650"/>
          </a:xfrm>
          <a:prstGeom prst="rect">
            <a:avLst/>
          </a:prstGeom>
          <a:solidFill>
            <a:srgbClr val="5B9BD5"/>
          </a:solidFill>
          <a:ln>
            <a:noFill/>
          </a:ln>
        </p:spPr>
      </p:sp>
      <p:sp>
        <p:nvSpPr>
          <p:cNvPr id="4" name="num-box"/>
          <p:cNvSpPr/>
          <p:nvPr/>
        </p:nvSpPr>
        <p:spPr>
          <a:xfrm>
            <a:off x="1351280" y="2306320"/>
            <a:ext cx="1651000" cy="2306320"/>
          </a:xfrm>
          <a:prstGeom prst="roundRect">
            <a:avLst/>
          </a:prstGeom>
          <a:noFill/>
          <a:ln w="38100">
            <a:solidFill>
              <a:srgbClr val="5B9BD5"/>
            </a:solidFill>
          </a:ln>
          <a:effectLst>
            <a:outerShdw blurRad="63500" dist="0" dir="0" sx="100000" sy="100000" kx="0" ky="0" algn="bl" rotWithShape="0">
              <a:srgbClr val="000000">
                <a:alpha val="40000"/>
              </a:srgbClr>
            </a:outerShdw>
          </a:effectLst>
        </p:spPr>
      </p:sp>
      <p:sp>
        <p:nvSpPr>
          <p:cNvPr id="5" name="num"/>
          <p:cNvSpPr txBox="1"/>
          <p:nvPr/>
        </p:nvSpPr>
        <p:spPr>
          <a:xfrm>
            <a:off x="1473200" y="2848610"/>
            <a:ext cx="1409700" cy="1231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600" noProof="1">
                <a:solidFill>
                  <a:srgbClr val="FFFFFF"/>
                </a:solidFill>
                <a:latin typeface="Arial"/>
                <a:ea typeface="微软雅黑"/>
              </a:rPr>
              <a:t>01</a:t>
            </a:r>
            <a:endParaRPr lang="en-US" sz="7600" noProof="1"/>
          </a:p>
        </p:txBody>
      </p:sp>
      <p:sp>
        <p:nvSpPr>
          <p:cNvPr id="6" name="ch-title"/>
          <p:cNvSpPr txBox="1"/>
          <p:nvPr/>
        </p:nvSpPr>
        <p:spPr>
          <a:xfrm>
            <a:off x="3723640" y="3048000"/>
            <a:ext cx="7874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4000" noProof="1" b="1">
                <a:solidFill>
                  <a:srgbClr val="FFFFFF"/>
                </a:solidFill>
                <a:latin typeface="Arial"/>
                <a:ea typeface="微软雅黑"/>
              </a:rPr>
              <a:t>        产品概述与现状</a:t>
            </a:r>
            <a:endParaRPr lang="en-US" sz="4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600" noProof="1" b="1">
                <a:solidFill>
                  <a:srgbClr val="0070C0"/>
                </a:solidFill>
                <a:latin typeface="Arial"/>
                <a:ea typeface="微软雅黑"/>
              </a:rPr>
              <a:t>四方上行</a:t>
            </a:r>
            <a:endParaRPr lang="en-US" sz="16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30860" cy="44831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8060"/>
            <a:ext cx="8841740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32850" y="988060"/>
            <a:ext cx="3357880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814070" y="265430"/>
            <a:ext cx="8669020" cy="4394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223962"/>
                </a:solidFill>
                <a:latin typeface="微软雅黑"/>
                <a:ea typeface="微软雅黑"/>
              </a:rPr>
              <a:t>产品定位与已实现能力</a:t>
            </a:r>
            <a:endParaRPr lang="en-US" sz="24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600" noProof="1" b="1">
                <a:solidFill>
                  <a:srgbClr val="0070C0"/>
                </a:solidFill>
                <a:latin typeface="Arial"/>
                <a:ea typeface="微软雅黑"/>
              </a:rPr>
              <a:t>四方上行</a:t>
            </a:r>
            <a:endParaRPr lang="en-US" sz="1600" noProof="1"/>
          </a:p>
        </p:txBody>
      </p:sp>
      <p:sp>
        <p:nvSpPr>
          <p:cNvPr id="8" name="pos-box"/>
          <p:cNvSpPr/>
          <p:nvPr/>
        </p:nvSpPr>
        <p:spPr>
          <a:xfrm>
            <a:off x="622300" y="1219200"/>
            <a:ext cx="10927080" cy="889000"/>
          </a:xfrm>
          <a:prstGeom prst="roundRect">
            <a:avLst>
              <a:gd name="adj" fmla="val 6000"/>
            </a:avLst>
          </a:prstGeom>
          <a:solidFill>
            <a:srgbClr val="F4F9FE"/>
          </a:solidFill>
          <a:ln w="12700">
            <a:solidFill>
              <a:srgbClr val="BDD7EE"/>
            </a:solidFill>
          </a:ln>
        </p:spPr>
      </p:sp>
      <p:sp>
        <p:nvSpPr>
          <p:cNvPr id="9" name="pos-text"/>
          <p:cNvSpPr txBox="1"/>
          <p:nvPr/>
        </p:nvSpPr>
        <p:spPr>
          <a:xfrm>
            <a:off x="889000" y="1320800"/>
            <a:ext cx="104140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5000"/>
              </a:lnSpc>
            </a:pPr>
            <a:r>
              <a:rPr lang="en-US" sz="1300" noProof="1" b="1">
                <a:solidFill>
                  <a:srgbClr val="223962"/>
                </a:solidFill>
                <a:latin typeface="MiSans"/>
                <a:ea typeface="MiSans"/>
              </a:rPr>
              <a:t>产品定位：</a:t>
            </a:r>
            <a:r>
              <a:rPr lang="en-US" sz="1300" noProof="1">
                <a:solidFill>
                  <a:srgbClr val="262626"/>
                </a:solidFill>
                <a:latin typeface="MiSans"/>
                <a:ea typeface="MiSans"/>
              </a:rPr>
              <a:t>令旗是一个本地优先的桌面 Agent 工作台，以 Electron 桌面客户端承载聊天、文件分析、工具执行、权限审批和任务状态管理。它把用户正在处理的本地文件、项目目录、企业知识和受控工具连接起来，让 Agent 在明确的权限边界内完成连续工作。</a:t>
            </a:r>
            <a:endParaRPr lang="en-US" sz="1300" noProof="1"/>
          </a:p>
        </p:txBody>
      </p:sp>
      <p:sp>
        <p:nvSpPr>
          <p:cNvPr id="10" name="card1"/>
          <p:cNvSpPr/>
          <p:nvPr/>
        </p:nvSpPr>
        <p:spPr>
          <a:xfrm>
            <a:off x="622300" y="2286000"/>
            <a:ext cx="3474720" cy="187452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</p:spPr>
      </p:sp>
      <p:sp>
        <p:nvSpPr>
          <p:cNvPr id="11" name="card1-badge"/>
          <p:cNvSpPr/>
          <p:nvPr/>
        </p:nvSpPr>
        <p:spPr>
          <a:xfrm>
            <a:off x="768350" y="2463800"/>
            <a:ext cx="566420" cy="56642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12" name="card1-num"/>
          <p:cNvSpPr txBox="1"/>
          <p:nvPr/>
        </p:nvSpPr>
        <p:spPr>
          <a:xfrm>
            <a:off x="768350" y="2463800"/>
            <a:ext cx="566420" cy="5664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 b="1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  <a:endParaRPr lang="en-US" sz="1600" noProof="1"/>
          </a:p>
        </p:txBody>
      </p:sp>
      <p:sp>
        <p:nvSpPr>
          <p:cNvPr id="13" name="card1-title"/>
          <p:cNvSpPr txBox="1"/>
          <p:nvPr/>
        </p:nvSpPr>
        <p:spPr>
          <a:xfrm>
            <a:off x="1600200" y="2616200"/>
            <a:ext cx="2203450" cy="2565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223962"/>
                </a:solidFill>
                <a:latin typeface="微软雅黑"/>
                <a:ea typeface="微软雅黑"/>
              </a:rPr>
              <a:t>客户端与协议</a:t>
            </a:r>
            <a:endParaRPr lang="en-US" sz="1600" noProof="1"/>
          </a:p>
        </p:txBody>
      </p:sp>
      <p:sp>
        <p:nvSpPr>
          <p:cNvPr id="14" name="card1-body"/>
          <p:cNvSpPr txBox="1"/>
          <p:nvPr/>
        </p:nvSpPr>
        <p:spPr>
          <a:xfrm>
            <a:off x="896620" y="3149600"/>
            <a:ext cx="292608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Electron + React + TypeScript 桌面客户端；</a:t>
            </a:r>
            <a:endParaRPr lang="en-US" sz="1200" noProof="1"/>
          </a:p>
          <a:p>
            <a:pPr algn="l">
              <a:lnSpc>
                <a:spcPct val="155000"/>
              </a:lnSpc>
            </a:pP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支持 OpenAI 兼容协议和 Anthropic 协议接入。</a:t>
            </a:r>
            <a:endParaRPr lang="en-US" sz="1200" noProof="1"/>
          </a:p>
        </p:txBody>
      </p:sp>
      <p:sp>
        <p:nvSpPr>
          <p:cNvPr id="15" name="card2"/>
          <p:cNvSpPr/>
          <p:nvPr/>
        </p:nvSpPr>
        <p:spPr>
          <a:xfrm>
            <a:off x="4325620" y="2286000"/>
            <a:ext cx="3474720" cy="187452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</p:spPr>
      </p:sp>
      <p:sp>
        <p:nvSpPr>
          <p:cNvPr id="16" name="card2-badge"/>
          <p:cNvSpPr/>
          <p:nvPr/>
        </p:nvSpPr>
        <p:spPr>
          <a:xfrm>
            <a:off x="4471670" y="2463800"/>
            <a:ext cx="566420" cy="56642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17" name="card2-num"/>
          <p:cNvSpPr txBox="1"/>
          <p:nvPr/>
        </p:nvSpPr>
        <p:spPr>
          <a:xfrm>
            <a:off x="4471670" y="2463800"/>
            <a:ext cx="566420" cy="5664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 b="1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  <a:endParaRPr lang="en-US" sz="1600" noProof="1"/>
          </a:p>
        </p:txBody>
      </p:sp>
      <p:sp>
        <p:nvSpPr>
          <p:cNvPr id="18" name="card2-title"/>
          <p:cNvSpPr txBox="1"/>
          <p:nvPr/>
        </p:nvSpPr>
        <p:spPr>
          <a:xfrm>
            <a:off x="5303520" y="2616200"/>
            <a:ext cx="2203450" cy="2565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223962"/>
                </a:solidFill>
                <a:latin typeface="微软雅黑"/>
                <a:ea typeface="微软雅黑"/>
              </a:rPr>
              <a:t>对话与会话</a:t>
            </a:r>
            <a:endParaRPr lang="en-US" sz="1600" noProof="1"/>
          </a:p>
        </p:txBody>
      </p:sp>
      <p:sp>
        <p:nvSpPr>
          <p:cNvPr id="19" name="card2-body"/>
          <p:cNvSpPr txBox="1"/>
          <p:nvPr/>
        </p:nvSpPr>
        <p:spPr>
          <a:xfrm>
            <a:off x="4599940" y="3149600"/>
            <a:ext cx="292608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SSE 流式回复、停止生成、失败重试和联通性检测；</a:t>
            </a:r>
            <a:endParaRPr lang="en-US" sz="1200" noProof="1"/>
          </a:p>
          <a:p>
            <a:pPr algn="l">
              <a:lnSpc>
                <a:spcPct val="155000"/>
              </a:lnSpc>
            </a:pP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多会话、项目目录关联和本地会话持久化。</a:t>
            </a:r>
            <a:endParaRPr lang="en-US" sz="1200" noProof="1"/>
          </a:p>
        </p:txBody>
      </p:sp>
      <p:sp>
        <p:nvSpPr>
          <p:cNvPr id="20" name="card3"/>
          <p:cNvSpPr/>
          <p:nvPr/>
        </p:nvSpPr>
        <p:spPr>
          <a:xfrm>
            <a:off x="8028940" y="2286000"/>
            <a:ext cx="3474720" cy="187452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</p:spPr>
      </p:sp>
      <p:sp>
        <p:nvSpPr>
          <p:cNvPr id="21" name="card3-badge"/>
          <p:cNvSpPr/>
          <p:nvPr/>
        </p:nvSpPr>
        <p:spPr>
          <a:xfrm>
            <a:off x="8174990" y="2463800"/>
            <a:ext cx="566420" cy="56642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22" name="card3-num"/>
          <p:cNvSpPr txBox="1"/>
          <p:nvPr/>
        </p:nvSpPr>
        <p:spPr>
          <a:xfrm>
            <a:off x="8174990" y="2463800"/>
            <a:ext cx="566420" cy="5664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 b="1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  <a:endParaRPr lang="en-US" sz="1600" noProof="1"/>
          </a:p>
        </p:txBody>
      </p:sp>
      <p:sp>
        <p:nvSpPr>
          <p:cNvPr id="23" name="card3-title"/>
          <p:cNvSpPr txBox="1"/>
          <p:nvPr/>
        </p:nvSpPr>
        <p:spPr>
          <a:xfrm>
            <a:off x="9006840" y="2616200"/>
            <a:ext cx="2203450" cy="2565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223962"/>
                </a:solidFill>
                <a:latin typeface="微软雅黑"/>
                <a:ea typeface="微软雅黑"/>
              </a:rPr>
              <a:t>附件与文件分析</a:t>
            </a:r>
            <a:endParaRPr lang="en-US" sz="1600" noProof="1"/>
          </a:p>
        </p:txBody>
      </p:sp>
      <p:sp>
        <p:nvSpPr>
          <p:cNvPr id="24" name="card3-body"/>
          <p:cNvSpPr txBox="1"/>
          <p:nvPr/>
        </p:nvSpPr>
        <p:spPr>
          <a:xfrm>
            <a:off x="8303260" y="3149600"/>
            <a:ext cx="292608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支持 TXT、MD、CSV、JSON、PDF、DOCX、XLSX、PPTX、图片和代码文件分析。</a:t>
            </a:r>
            <a:endParaRPr lang="en-US" sz="1200" noProof="1"/>
          </a:p>
        </p:txBody>
      </p:sp>
      <p:sp>
        <p:nvSpPr>
          <p:cNvPr id="25" name="card4"/>
          <p:cNvSpPr/>
          <p:nvPr/>
        </p:nvSpPr>
        <p:spPr>
          <a:xfrm>
            <a:off x="622300" y="4434840"/>
            <a:ext cx="3474720" cy="187452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</p:spPr>
      </p:sp>
      <p:sp>
        <p:nvSpPr>
          <p:cNvPr id="26" name="card4-badge"/>
          <p:cNvSpPr/>
          <p:nvPr/>
        </p:nvSpPr>
        <p:spPr>
          <a:xfrm>
            <a:off x="768350" y="4612640"/>
            <a:ext cx="566420" cy="56642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27" name="card4-num"/>
          <p:cNvSpPr txBox="1"/>
          <p:nvPr/>
        </p:nvSpPr>
        <p:spPr>
          <a:xfrm>
            <a:off x="768350" y="4612640"/>
            <a:ext cx="566420" cy="5664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 b="1">
                <a:solidFill>
                  <a:srgbClr val="FFFFFF"/>
                </a:solidFill>
                <a:latin typeface="微软雅黑"/>
                <a:ea typeface="微软雅黑"/>
              </a:rPr>
              <a:t>04</a:t>
            </a:r>
            <a:endParaRPr lang="en-US" sz="1600" noProof="1"/>
          </a:p>
        </p:txBody>
      </p:sp>
      <p:sp>
        <p:nvSpPr>
          <p:cNvPr id="28" name="card4-title"/>
          <p:cNvSpPr txBox="1"/>
          <p:nvPr/>
        </p:nvSpPr>
        <p:spPr>
          <a:xfrm>
            <a:off x="1600200" y="4765040"/>
            <a:ext cx="2203450" cy="2565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223962"/>
                </a:solidFill>
                <a:latin typeface="微软雅黑"/>
                <a:ea typeface="微软雅黑"/>
              </a:rPr>
              <a:t>内置工具</a:t>
            </a:r>
            <a:endParaRPr lang="en-US" sz="1600" noProof="1"/>
          </a:p>
        </p:txBody>
      </p:sp>
      <p:sp>
        <p:nvSpPr>
          <p:cNvPr id="29" name="card4-body"/>
          <p:cNvSpPr txBox="1"/>
          <p:nvPr/>
        </p:nvSpPr>
        <p:spPr>
          <a:xfrm>
            <a:off x="896620" y="5298440"/>
            <a:ext cx="292608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内置时间、计算、目录、文件读写和 HTTP 读取工具；</a:t>
            </a:r>
            <a:endParaRPr lang="en-US" sz="1200" noProof="1"/>
          </a:p>
          <a:p>
            <a:pPr algn="l">
              <a:lnSpc>
                <a:spcPct val="155000"/>
              </a:lnSpc>
            </a:pP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参数校验、超时、取消、错误码和结果截断。</a:t>
            </a:r>
            <a:endParaRPr lang="en-US" sz="1200" noProof="1"/>
          </a:p>
        </p:txBody>
      </p:sp>
      <p:sp>
        <p:nvSpPr>
          <p:cNvPr id="30" name="card5"/>
          <p:cNvSpPr/>
          <p:nvPr/>
        </p:nvSpPr>
        <p:spPr>
          <a:xfrm>
            <a:off x="4325620" y="4434840"/>
            <a:ext cx="3474720" cy="187452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</p:spPr>
      </p:sp>
      <p:sp>
        <p:nvSpPr>
          <p:cNvPr id="31" name="card5-badge"/>
          <p:cNvSpPr/>
          <p:nvPr/>
        </p:nvSpPr>
        <p:spPr>
          <a:xfrm>
            <a:off x="4471670" y="4612640"/>
            <a:ext cx="566420" cy="56642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2" name="card5-num"/>
          <p:cNvSpPr txBox="1"/>
          <p:nvPr/>
        </p:nvSpPr>
        <p:spPr>
          <a:xfrm>
            <a:off x="4471670" y="4612640"/>
            <a:ext cx="566420" cy="5664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 b="1">
                <a:solidFill>
                  <a:srgbClr val="FFFFFF"/>
                </a:solidFill>
                <a:latin typeface="微软雅黑"/>
                <a:ea typeface="微软雅黑"/>
              </a:rPr>
              <a:t>05</a:t>
            </a:r>
            <a:endParaRPr lang="en-US" sz="1600" noProof="1"/>
          </a:p>
        </p:txBody>
      </p:sp>
      <p:sp>
        <p:nvSpPr>
          <p:cNvPr id="33" name="card5-title"/>
          <p:cNvSpPr txBox="1"/>
          <p:nvPr/>
        </p:nvSpPr>
        <p:spPr>
          <a:xfrm>
            <a:off x="5303520" y="4765040"/>
            <a:ext cx="2203450" cy="2565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223962"/>
                </a:solidFill>
                <a:latin typeface="微软雅黑"/>
                <a:ea typeface="微软雅黑"/>
              </a:rPr>
              <a:t>权限与安全</a:t>
            </a:r>
            <a:endParaRPr lang="en-US" sz="1600" noProof="1"/>
          </a:p>
        </p:txBody>
      </p:sp>
      <p:sp>
        <p:nvSpPr>
          <p:cNvPr id="34" name="card5-body"/>
          <p:cNvSpPr txBox="1"/>
          <p:nvPr/>
        </p:nvSpPr>
        <p:spPr>
          <a:xfrm>
            <a:off x="4599940" y="5298440"/>
            <a:ext cx="292608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ask / full 权限模式及写文件审批；</a:t>
            </a:r>
            <a:endParaRPr lang="en-US" sz="1200" noProof="1"/>
          </a:p>
          <a:p>
            <a:pPr algn="l">
              <a:lnSpc>
                <a:spcPct val="155000"/>
              </a:lnSpc>
            </a:pP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路径越界和符号链接越界防护。</a:t>
            </a:r>
            <a:endParaRPr lang="en-US" sz="1200" noProof="1"/>
          </a:p>
        </p:txBody>
      </p:sp>
      <p:sp>
        <p:nvSpPr>
          <p:cNvPr id="35" name="card6"/>
          <p:cNvSpPr/>
          <p:nvPr/>
        </p:nvSpPr>
        <p:spPr>
          <a:xfrm>
            <a:off x="8028940" y="4434840"/>
            <a:ext cx="3474720" cy="187452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</p:spPr>
      </p:sp>
      <p:sp>
        <p:nvSpPr>
          <p:cNvPr id="36" name="card6-badge"/>
          <p:cNvSpPr/>
          <p:nvPr/>
        </p:nvSpPr>
        <p:spPr>
          <a:xfrm>
            <a:off x="8174990" y="4612640"/>
            <a:ext cx="566420" cy="56642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7" name="card6-num"/>
          <p:cNvSpPr txBox="1"/>
          <p:nvPr/>
        </p:nvSpPr>
        <p:spPr>
          <a:xfrm>
            <a:off x="8174990" y="4612640"/>
            <a:ext cx="566420" cy="5664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 b="1">
                <a:solidFill>
                  <a:srgbClr val="FFFFFF"/>
                </a:solidFill>
                <a:latin typeface="微软雅黑"/>
                <a:ea typeface="微软雅黑"/>
              </a:rPr>
              <a:t>06</a:t>
            </a:r>
            <a:endParaRPr lang="en-US" sz="1600" noProof="1"/>
          </a:p>
        </p:txBody>
      </p:sp>
      <p:sp>
        <p:nvSpPr>
          <p:cNvPr id="38" name="card6-title"/>
          <p:cNvSpPr txBox="1"/>
          <p:nvPr/>
        </p:nvSpPr>
        <p:spPr>
          <a:xfrm>
            <a:off x="9006840" y="4765040"/>
            <a:ext cx="2203450" cy="2565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223962"/>
                </a:solidFill>
                <a:latin typeface="微软雅黑"/>
                <a:ea typeface="微软雅黑"/>
              </a:rPr>
              <a:t>状态与扩展</a:t>
            </a:r>
            <a:endParaRPr lang="en-US" sz="1600" noProof="1"/>
          </a:p>
        </p:txBody>
      </p:sp>
      <p:sp>
        <p:nvSpPr>
          <p:cNvPr id="39" name="card6-body"/>
          <p:cNvSpPr txBox="1"/>
          <p:nvPr/>
        </p:nvSpPr>
        <p:spPr>
          <a:xfrm>
            <a:off x="8303260" y="5298440"/>
            <a:ext cx="292608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任务状态、错误恢复和待审批状态刷新恢复；</a:t>
            </a:r>
            <a:endParaRPr lang="en-US" sz="1200" noProof="1"/>
          </a:p>
          <a:p>
            <a:pPr algn="l">
              <a:lnSpc>
                <a:spcPct val="155000"/>
              </a:lnSpc>
            </a:pP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基础 MCP Client 和 Skill 管理能力。</a:t>
            </a:r>
            <a:endParaRPr lang="en-US" sz="12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30860" cy="44831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8060"/>
            <a:ext cx="8841740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32850" y="988060"/>
            <a:ext cx="3357880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814070" y="265430"/>
            <a:ext cx="8669020" cy="4394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223962"/>
                </a:solidFill>
                <a:latin typeface="微软雅黑"/>
                <a:ea typeface="微软雅黑"/>
              </a:rPr>
              <a:t>文档定位与 OpenViking 接入现状</a:t>
            </a:r>
            <a:endParaRPr lang="en-US" sz="24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600" noProof="1" b="1">
                <a:solidFill>
                  <a:srgbClr val="0070C0"/>
                </a:solidFill>
                <a:latin typeface="Arial"/>
                <a:ea typeface="微软雅黑"/>
              </a:rPr>
              <a:t>四方上行</a:t>
            </a:r>
            <a:endParaRPr lang="en-US" sz="1600" noProof="1"/>
          </a:p>
        </p:txBody>
      </p:sp>
      <p:sp>
        <p:nvSpPr>
          <p:cNvPr id="8" name="left-card"/>
          <p:cNvSpPr/>
          <p:nvPr/>
        </p:nvSpPr>
        <p:spPr>
          <a:xfrm>
            <a:off x="622300" y="1270000"/>
            <a:ext cx="5334000" cy="4191000"/>
          </a:xfrm>
          <a:prstGeom prst="roundRect">
            <a:avLst>
              <a:gd name="adj" fmla="val 3000"/>
            </a:avLst>
          </a:prstGeom>
          <a:solidFill>
            <a:srgbClr val="F2F7FC"/>
          </a:solidFill>
          <a:ln w="12700">
            <a:solidFill>
              <a:srgbClr val="0070C0"/>
            </a:solidFill>
          </a:ln>
        </p:spPr>
      </p:sp>
      <p:sp>
        <p:nvSpPr>
          <p:cNvPr id="9" name="left-head"/>
          <p:cNvSpPr/>
          <p:nvPr/>
        </p:nvSpPr>
        <p:spPr>
          <a:xfrm>
            <a:off x="622300" y="1270000"/>
            <a:ext cx="5334000" cy="5842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</p:spPr>
      </p:sp>
      <p:sp>
        <p:nvSpPr>
          <p:cNvPr id="10" name="left-head-text"/>
          <p:cNvSpPr txBox="1"/>
          <p:nvPr/>
        </p:nvSpPr>
        <p:spPr>
          <a:xfrm>
            <a:off x="927100" y="1270000"/>
            <a:ext cx="47244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FFFFFF"/>
                </a:solidFill>
                <a:latin typeface="微软雅黑"/>
                <a:ea typeface="微软雅黑"/>
              </a:rPr>
              <a:t>v1.5 核心调整</a:t>
            </a:r>
            <a:endParaRPr lang="en-US" sz="1600" noProof="1"/>
          </a:p>
        </p:txBody>
      </p:sp>
      <p:sp>
        <p:nvSpPr>
          <p:cNvPr id="11" name="left-body"/>
          <p:cNvSpPr txBox="1"/>
          <p:nvPr/>
        </p:nvSpPr>
        <p:spPr>
          <a:xfrm>
            <a:off x="952500" y="2108200"/>
            <a:ext cx="4699000" cy="309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400" noProof="1">
                <a:solidFill>
                  <a:srgbClr val="262626"/>
                </a:solidFill>
                <a:latin typeface="MiSans"/>
                <a:ea typeface="MiSans"/>
              </a:rPr>
              <a:t>将 OpenViking 定位为</a:t>
            </a:r>
            <a:r>
              <a:rPr lang="en-US" sz="1400" noProof="1" b="1">
                <a:solidFill>
                  <a:srgbClr val="262626"/>
                </a:solidFill>
                <a:latin typeface="MiSans"/>
                <a:ea typeface="MiSans"/>
              </a:rPr>
              <a:t>独立的上下文服务</a:t>
            </a:r>
            <a:r>
              <a:rPr lang="en-US" sz="1400" noProof="1">
                <a:solidFill>
                  <a:srgbClr val="262626"/>
                </a:solidFill>
                <a:latin typeface="MiSans"/>
                <a:ea typeface="MiSans"/>
              </a:rPr>
              <a:t>，而不是直接嵌入 Electron 的内部模块。</a:t>
            </a:r>
            <a:endParaRPr lang="en-US" sz="1400" noProof="1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400" noProof="1" b="1">
                <a:solidFill>
                  <a:srgbClr val="0070C0"/>
                </a:solidFill>
                <a:latin typeface="MiSans"/>
                <a:ea typeface="MiSans"/>
              </a:rPr>
              <a:t>令旗桌面客户端</a:t>
            </a:r>
            <a:r>
              <a:rPr lang="en-US" sz="1400" noProof="1">
                <a:solidFill>
                  <a:srgbClr val="262626"/>
                </a:solidFill>
                <a:latin typeface="MiSans"/>
                <a:ea typeface="MiSans"/>
              </a:rPr>
              <a:t>：负责用户界面和 Agent 编排。</a:t>
            </a:r>
            <a:endParaRPr lang="en-US" sz="1400" noProof="1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400" noProof="1" b="1">
                <a:solidFill>
                  <a:srgbClr val="0070C0"/>
                </a:solidFill>
                <a:latin typeface="MiSans"/>
                <a:ea typeface="MiSans"/>
              </a:rPr>
              <a:t>OpenViking Server</a:t>
            </a:r>
            <a:r>
              <a:rPr lang="en-US" sz="1400" noProof="1">
                <a:solidFill>
                  <a:srgbClr val="262626"/>
                </a:solidFill>
                <a:latin typeface="MiSans"/>
                <a:ea typeface="MiSans"/>
              </a:rPr>
              <a:t>：负责共享知识、资源检索和长期记忆。</a:t>
            </a:r>
            <a:endParaRPr lang="en-US" sz="1400" noProof="1"/>
          </a:p>
        </p:txBody>
      </p:sp>
      <p:sp>
        <p:nvSpPr>
          <p:cNvPr id="12" name="right-card"/>
          <p:cNvSpPr/>
          <p:nvPr/>
        </p:nvSpPr>
        <p:spPr>
          <a:xfrm>
            <a:off x="6235700" y="1270000"/>
            <a:ext cx="5334000" cy="4191000"/>
          </a:xfrm>
          <a:prstGeom prst="roundRect">
            <a:avLst>
              <a:gd name="adj" fmla="val 3000"/>
            </a:avLst>
          </a:prstGeom>
          <a:solidFill>
            <a:srgbClr val="FDF6EE"/>
          </a:solidFill>
          <a:ln w="12700">
            <a:solidFill>
              <a:srgbClr val="E89924"/>
            </a:solidFill>
          </a:ln>
        </p:spPr>
      </p:sp>
      <p:sp>
        <p:nvSpPr>
          <p:cNvPr id="13" name="right-head"/>
          <p:cNvSpPr/>
          <p:nvPr/>
        </p:nvSpPr>
        <p:spPr>
          <a:xfrm>
            <a:off x="6235700" y="1270000"/>
            <a:ext cx="5334000" cy="584200"/>
          </a:xfrm>
          <a:prstGeom prst="roundRect">
            <a:avLst>
              <a:gd name="adj" fmla="val 12000"/>
            </a:avLst>
          </a:prstGeom>
          <a:solidFill>
            <a:srgbClr val="E89924"/>
          </a:solidFill>
          <a:ln>
            <a:noFill/>
          </a:ln>
        </p:spPr>
      </p:sp>
      <p:sp>
        <p:nvSpPr>
          <p:cNvPr id="14" name="right-head-text"/>
          <p:cNvSpPr txBox="1"/>
          <p:nvPr/>
        </p:nvSpPr>
        <p:spPr>
          <a:xfrm>
            <a:off x="6540500" y="1270000"/>
            <a:ext cx="47244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FFFFFF"/>
                </a:solidFill>
                <a:latin typeface="微软雅黑"/>
                <a:ea typeface="微软雅黑"/>
              </a:rPr>
              <a:t>OpenViking 接入现状</a:t>
            </a:r>
            <a:endParaRPr lang="en-US" sz="1600" noProof="1"/>
          </a:p>
        </p:txBody>
      </p:sp>
      <p:sp>
        <p:nvSpPr>
          <p:cNvPr id="15" name="right-body"/>
          <p:cNvSpPr txBox="1"/>
          <p:nvPr/>
        </p:nvSpPr>
        <p:spPr>
          <a:xfrm>
            <a:off x="6565900" y="2108200"/>
            <a:ext cx="4699000" cy="309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400" noProof="1">
                <a:solidFill>
                  <a:srgbClr val="262626"/>
                </a:solidFill>
                <a:latin typeface="MiSans"/>
                <a:ea typeface="MiSans"/>
              </a:rPr>
              <a:t>当前项目</a:t>
            </a:r>
            <a:r>
              <a:rPr lang="en-US" sz="1400" noProof="1" b="1">
                <a:solidFill>
                  <a:srgbClr val="262626"/>
                </a:solidFill>
                <a:latin typeface="MiSans"/>
                <a:ea typeface="MiSans"/>
              </a:rPr>
              <a:t>尚未完成 OpenViking 集成</a:t>
            </a:r>
            <a:r>
              <a:rPr lang="en-US" sz="1400" noProof="1">
                <a:solidFill>
                  <a:srgbClr val="262626"/>
                </a:solidFill>
                <a:latin typeface="MiSans"/>
                <a:ea typeface="MiSans"/>
              </a:rPr>
              <a:t>。当前代码中还没有：</a:t>
            </a:r>
            <a:endParaRPr lang="en-US" sz="1400" noProof="1"/>
          </a:p>
          <a:p>
            <a:pPr algn="l">
              <a:lnSpc>
                <a:spcPct val="160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62626"/>
                </a:solidFill>
                <a:latin typeface="MiSans"/>
                <a:ea typeface="MiSans"/>
              </a:rPr>
              <a:t>OpenViking Server 客户端；</a:t>
            </a:r>
            <a:endParaRPr lang="en-US" sz="1400" noProof="1"/>
          </a:p>
          <a:p>
            <a:pPr algn="l">
              <a:lnSpc>
                <a:spcPct val="160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62626"/>
                </a:solidFill>
                <a:latin typeface="MiSans"/>
                <a:ea typeface="MiSans"/>
              </a:rPr>
              <a:t>资源导入接口；</a:t>
            </a:r>
            <a:endParaRPr lang="en-US" sz="1400" noProof="1"/>
          </a:p>
          <a:p>
            <a:pPr algn="l">
              <a:lnSpc>
                <a:spcPct val="160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62626"/>
                </a:solidFill>
                <a:latin typeface="MiSans"/>
                <a:ea typeface="MiSans"/>
              </a:rPr>
              <a:t>统一的共享知识空间。</a:t>
            </a:r>
            <a:endParaRPr lang="en-US" sz="1400" noProof="1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400" noProof="1">
                <a:solidFill>
                  <a:srgbClr val="262626"/>
                </a:solidFill>
                <a:latin typeface="MiSans"/>
                <a:ea typeface="MiSans"/>
              </a:rPr>
              <a:t>本文中的接入部分属于</a:t>
            </a:r>
            <a:r>
              <a:rPr lang="en-US" sz="1400" noProof="1" b="1">
                <a:solidFill>
                  <a:srgbClr val="262626"/>
                </a:solidFill>
                <a:latin typeface="MiSans"/>
                <a:ea typeface="MiSans"/>
              </a:rPr>
              <a:t>推荐架构和后续实施方案</a:t>
            </a:r>
            <a:r>
              <a:rPr lang="en-US" sz="1400" noProof="1">
                <a:solidFill>
                  <a:srgbClr val="262626"/>
                </a:solidFill>
                <a:latin typeface="MiSans"/>
                <a:ea typeface="MiSans"/>
              </a:rPr>
              <a:t>，不应理解为当前版本已完成的功能。</a:t>
            </a:r>
            <a:endParaRPr lang="en-US" sz="1400" noProof="1"/>
          </a:p>
        </p:txBody>
      </p:sp>
      <p:sp>
        <p:nvSpPr>
          <p:cNvPr id="16" name="bottom-box"/>
          <p:cNvSpPr/>
          <p:nvPr/>
        </p:nvSpPr>
        <p:spPr>
          <a:xfrm>
            <a:off x="622300" y="5740400"/>
            <a:ext cx="10947400" cy="711200"/>
          </a:xfrm>
          <a:prstGeom prst="roundRect">
            <a:avLst>
              <a:gd name="adj" fmla="val 8000"/>
            </a:avLst>
          </a:prstGeom>
          <a:solidFill>
            <a:srgbClr val="F4F9FE"/>
          </a:solidFill>
          <a:ln w="12700">
            <a:solidFill>
              <a:srgbClr val="BDD7EE"/>
            </a:solidFill>
          </a:ln>
        </p:spPr>
      </p:sp>
      <p:sp>
        <p:nvSpPr>
          <p:cNvPr id="17" name="bottom-text"/>
          <p:cNvSpPr txBox="1"/>
          <p:nvPr/>
        </p:nvSpPr>
        <p:spPr>
          <a:xfrm>
            <a:off x="889000" y="5740400"/>
            <a:ext cx="10414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223962"/>
                </a:solidFill>
                <a:latin typeface="MiSans"/>
                <a:ea typeface="MiSans"/>
              </a:rPr>
              <a:t>文档依据：</a:t>
            </a:r>
            <a:r>
              <a:rPr lang="en-US" sz="1200" noProof="1">
                <a:solidFill>
                  <a:srgbClr val="666666"/>
                </a:solidFill>
                <a:latin typeface="MiSans"/>
                <a:ea typeface="MiSans"/>
              </a:rPr>
              <a:t>根据 agent_app_v1.1 项目代码、项目 doc 目录文档、参考 PPT，以及 OpenViking 官方项目和《OpenViking介绍.md》整理形成。</a:t>
            </a:r>
            <a:endParaRPr lang="en-US" sz="12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>
              <a:alphaModFix amt="30000"/>
            </a:blip>
            <a:stretch>
              <a:fillRect/>
            </a:stretch>
          </a:blipFill>
          <a:ln>
            <a:noFill/>
          </a:ln>
        </p:spPr>
      </p:sp>
      <p:sp>
        <p:nvSpPr>
          <p:cNvPr id="3" name="band"/>
          <p:cNvSpPr/>
          <p:nvPr/>
        </p:nvSpPr>
        <p:spPr>
          <a:xfrm>
            <a:off x="0" y="2865120"/>
            <a:ext cx="12192000" cy="1136650"/>
          </a:xfrm>
          <a:prstGeom prst="rect">
            <a:avLst/>
          </a:prstGeom>
          <a:solidFill>
            <a:srgbClr val="5B9BD5"/>
          </a:solidFill>
          <a:ln>
            <a:noFill/>
          </a:ln>
        </p:spPr>
      </p:sp>
      <p:sp>
        <p:nvSpPr>
          <p:cNvPr id="4" name="num-box"/>
          <p:cNvSpPr/>
          <p:nvPr/>
        </p:nvSpPr>
        <p:spPr>
          <a:xfrm>
            <a:off x="1351280" y="2306320"/>
            <a:ext cx="1651000" cy="2306320"/>
          </a:xfrm>
          <a:prstGeom prst="roundRect">
            <a:avLst/>
          </a:prstGeom>
          <a:noFill/>
          <a:ln w="38100">
            <a:solidFill>
              <a:srgbClr val="5B9BD5"/>
            </a:solidFill>
          </a:ln>
          <a:effectLst>
            <a:outerShdw blurRad="63500" dist="0" dir="0" sx="100000" sy="100000" kx="0" ky="0" algn="bl" rotWithShape="0">
              <a:srgbClr val="000000">
                <a:alpha val="40000"/>
              </a:srgbClr>
            </a:outerShdw>
          </a:effectLst>
        </p:spPr>
      </p:sp>
      <p:sp>
        <p:nvSpPr>
          <p:cNvPr id="5" name="num"/>
          <p:cNvSpPr txBox="1"/>
          <p:nvPr/>
        </p:nvSpPr>
        <p:spPr>
          <a:xfrm>
            <a:off x="1473200" y="2848610"/>
            <a:ext cx="1409700" cy="1231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600" noProof="1">
                <a:solidFill>
                  <a:srgbClr val="FFFFFF"/>
                </a:solidFill>
                <a:latin typeface="Arial"/>
                <a:ea typeface="微软雅黑"/>
              </a:rPr>
              <a:t>02</a:t>
            </a:r>
            <a:endParaRPr lang="en-US" sz="7600" noProof="1"/>
          </a:p>
        </p:txBody>
      </p:sp>
      <p:sp>
        <p:nvSpPr>
          <p:cNvPr id="6" name="ch-title"/>
          <p:cNvSpPr txBox="1"/>
          <p:nvPr/>
        </p:nvSpPr>
        <p:spPr>
          <a:xfrm>
            <a:off x="3723640" y="3048000"/>
            <a:ext cx="8128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4000" noProof="1" b="1">
                <a:solidFill>
                  <a:srgbClr val="FFFFFF"/>
                </a:solidFill>
                <a:latin typeface="Arial"/>
                <a:ea typeface="微软雅黑"/>
              </a:rPr>
              <a:t>        OpenViking 定位与总体架构</a:t>
            </a:r>
            <a:endParaRPr lang="en-US" sz="4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600" noProof="1" b="1">
                <a:solidFill>
                  <a:srgbClr val="0070C0"/>
                </a:solidFill>
                <a:latin typeface="Arial"/>
                <a:ea typeface="微软雅黑"/>
              </a:rPr>
              <a:t>四方上行</a:t>
            </a:r>
            <a:endParaRPr lang="en-US" sz="16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30860" cy="44831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8060"/>
            <a:ext cx="8841740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32850" y="988060"/>
            <a:ext cx="3357880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814070" y="265430"/>
            <a:ext cx="8669020" cy="4394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223962"/>
                </a:solidFill>
                <a:latin typeface="微软雅黑"/>
                <a:ea typeface="微软雅黑"/>
              </a:rPr>
              <a:t>OpenViking 的正确定位</a:t>
            </a:r>
            <a:endParaRPr lang="en-US" sz="24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600" noProof="1" b="1">
                <a:solidFill>
                  <a:srgbClr val="0070C0"/>
                </a:solidFill>
                <a:latin typeface="Arial"/>
                <a:ea typeface="微软雅黑"/>
              </a:rPr>
              <a:t>四方上行</a:t>
            </a:r>
            <a:endParaRPr lang="en-US" sz="1600" noProof="1"/>
          </a:p>
        </p:txBody>
      </p:sp>
      <p:sp>
        <p:nvSpPr>
          <p:cNvPr id="8" name="intro"/>
          <p:cNvSpPr txBox="1"/>
          <p:nvPr/>
        </p:nvSpPr>
        <p:spPr>
          <a:xfrm>
            <a:off x="698500" y="1219200"/>
            <a:ext cx="108712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400" noProof="1">
                <a:solidFill>
                  <a:srgbClr val="262626"/>
                </a:solidFill>
                <a:latin typeface="MiSans"/>
                <a:ea typeface="MiSans"/>
              </a:rPr>
              <a:t>OpenViking 是面向 AI Agent 的开源上下文数据库（Context Database）。它不是聊天机器人，也不是令旗客户端本身，而是供多个 Agent 使用的上下文基础设施。</a:t>
            </a:r>
            <a:endParaRPr lang="en-US" sz="1400" noProof="1"/>
          </a:p>
        </p:txBody>
      </p:sp>
      <p:sp>
        <p:nvSpPr>
          <p:cNvPr id="9" name="res-card"/>
          <p:cNvSpPr/>
          <p:nvPr/>
        </p:nvSpPr>
        <p:spPr>
          <a:xfrm>
            <a:off x="622300" y="1930400"/>
            <a:ext cx="3474720" cy="154940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</p:spPr>
      </p:sp>
      <p:sp>
        <p:nvSpPr>
          <p:cNvPr id="10" name="res-icon"/>
          <p:cNvSpPr/>
          <p:nvPr>
            <p:extLst>
              <p:ext uri="{F5677B7D-0D2A-4D9B-9A5C-6D8D7D0E5A5D}">
                <pptd:icon encoding="base64url">eyJpY29uTmFtZSI6ImZhczpib3gtb3BlbiJ9</pptd:icon>
              </p:ext>
            </p:extLst>
          </p:nvPr>
        </p:nvSpPr>
        <p:spPr>
          <a:xfrm>
            <a:off x="838200" y="2133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560" y="237"/>
                </a:moveTo>
                <a:cubicBezTo>
                  <a:pt x="571" y="249"/>
                  <a:pt x="589" y="252"/>
                  <a:pt x="602" y="243"/>
                </a:cubicBezTo>
                <a:cubicBezTo>
                  <a:pt x="617" y="233"/>
                  <a:pt x="621" y="213"/>
                  <a:pt x="611" y="198"/>
                </a:cubicBezTo>
                <a:lnTo>
                  <a:pt x="563" y="126"/>
                </a:lnTo>
                <a:cubicBezTo>
                  <a:pt x="560" y="122"/>
                  <a:pt x="556" y="119"/>
                  <a:pt x="552" y="116"/>
                </a:cubicBezTo>
                <a:lnTo>
                  <a:pt x="351" y="5"/>
                </a:lnTo>
                <a:cubicBezTo>
                  <a:pt x="332" y="-6"/>
                  <a:pt x="309" y="-6"/>
                  <a:pt x="289" y="5"/>
                </a:cubicBezTo>
                <a:lnTo>
                  <a:pt x="89" y="116"/>
                </a:lnTo>
                <a:cubicBezTo>
                  <a:pt x="83" y="119"/>
                  <a:pt x="79" y="123"/>
                  <a:pt x="76" y="129"/>
                </a:cubicBezTo>
                <a:lnTo>
                  <a:pt x="28" y="219"/>
                </a:lnTo>
                <a:cubicBezTo>
                  <a:pt x="15" y="242"/>
                  <a:pt x="24" y="271"/>
                  <a:pt x="47" y="284"/>
                </a:cubicBezTo>
                <a:lnTo>
                  <a:pt x="80" y="301"/>
                </a:lnTo>
                <a:lnTo>
                  <a:pt x="80" y="355"/>
                </a:lnTo>
                <a:cubicBezTo>
                  <a:pt x="80" y="378"/>
                  <a:pt x="93" y="399"/>
                  <a:pt x="113" y="410"/>
                </a:cubicBezTo>
                <a:lnTo>
                  <a:pt x="289" y="510"/>
                </a:lnTo>
                <a:cubicBezTo>
                  <a:pt x="308" y="521"/>
                  <a:pt x="332" y="521"/>
                  <a:pt x="352" y="510"/>
                </a:cubicBezTo>
                <a:lnTo>
                  <a:pt x="528" y="410"/>
                </a:lnTo>
                <a:cubicBezTo>
                  <a:pt x="548" y="399"/>
                  <a:pt x="560" y="378"/>
                  <a:pt x="560" y="355"/>
                </a:cubicBezTo>
                <a:lnTo>
                  <a:pt x="560" y="237"/>
                </a:lnTo>
                <a:close/>
                <a:moveTo>
                  <a:pt x="320" y="227"/>
                </a:moveTo>
                <a:lnTo>
                  <a:pt x="170" y="144"/>
                </a:lnTo>
                <a:lnTo>
                  <a:pt x="320" y="61"/>
                </a:lnTo>
                <a:lnTo>
                  <a:pt x="470" y="144"/>
                </a:lnTo>
                <a:lnTo>
                  <a:pt x="320" y="227"/>
                </a:lnTo>
                <a:close/>
                <a:moveTo>
                  <a:pt x="279" y="278"/>
                </a:moveTo>
                <a:lnTo>
                  <a:pt x="257" y="324"/>
                </a:lnTo>
                <a:lnTo>
                  <a:pt x="92" y="235"/>
                </a:lnTo>
                <a:lnTo>
                  <a:pt x="117" y="188"/>
                </a:lnTo>
                <a:lnTo>
                  <a:pt x="279" y="278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</p:sp>
      <p:sp>
        <p:nvSpPr>
          <p:cNvPr id="11" name="res-title"/>
          <p:cNvSpPr txBox="1"/>
          <p:nvPr/>
        </p:nvSpPr>
        <p:spPr>
          <a:xfrm>
            <a:off x="1371600" y="21844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223962"/>
                </a:solidFill>
                <a:latin typeface="微软雅黑"/>
                <a:ea typeface="微软雅黑"/>
              </a:rPr>
              <a:t>Resources 资源</a:t>
            </a:r>
            <a:endParaRPr lang="en-US" sz="1600" noProof="1"/>
          </a:p>
        </p:txBody>
      </p:sp>
      <p:sp>
        <p:nvSpPr>
          <p:cNvPr id="12" name="res-body"/>
          <p:cNvSpPr txBox="1"/>
          <p:nvPr/>
        </p:nvSpPr>
        <p:spPr>
          <a:xfrm>
            <a:off x="889000" y="2641600"/>
            <a:ext cx="29464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项目文档、代码、网页、图片和其他业务资料。</a:t>
            </a:r>
            <a:endParaRPr lang="en-US" sz="1200" noProof="1"/>
          </a:p>
        </p:txBody>
      </p:sp>
      <p:sp>
        <p:nvSpPr>
          <p:cNvPr id="13" name="mem-card"/>
          <p:cNvSpPr/>
          <p:nvPr/>
        </p:nvSpPr>
        <p:spPr>
          <a:xfrm>
            <a:off x="4325620" y="1930400"/>
            <a:ext cx="3474720" cy="154940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</p:spPr>
      </p:sp>
      <p:sp>
        <p:nvSpPr>
          <p:cNvPr id="14" name="mem-icon"/>
          <p:cNvSpPr/>
          <p:nvPr>
            <p:extLst>
              <p:ext uri="{F5677B7D-0D2A-4D9B-9A5C-6D8D7D0E5A5D}">
                <pptd:icon encoding="base64url">eyJpY29uTmFtZSI6ImZhczpicmFpbiJ9</pptd:icon>
              </p:ext>
            </p:extLst>
          </p:nvPr>
        </p:nvSpPr>
        <p:spPr>
          <a:xfrm>
            <a:off x="4541520" y="2133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20" y="56"/>
                </a:moveTo>
                <a:cubicBezTo>
                  <a:pt x="120" y="25"/>
                  <a:pt x="145" y="0"/>
                  <a:pt x="176" y="0"/>
                </a:cubicBezTo>
                <a:lnTo>
                  <a:pt x="200" y="0"/>
                </a:lnTo>
                <a:cubicBezTo>
                  <a:pt x="218" y="0"/>
                  <a:pt x="232" y="14"/>
                  <a:pt x="232" y="32"/>
                </a:cubicBezTo>
                <a:lnTo>
                  <a:pt x="232" y="480"/>
                </a:lnTo>
                <a:cubicBezTo>
                  <a:pt x="232" y="498"/>
                  <a:pt x="218" y="512"/>
                  <a:pt x="200" y="512"/>
                </a:cubicBezTo>
                <a:lnTo>
                  <a:pt x="168" y="512"/>
                </a:lnTo>
                <a:cubicBezTo>
                  <a:pt x="138" y="512"/>
                  <a:pt x="113" y="492"/>
                  <a:pt x="106" y="464"/>
                </a:cubicBezTo>
                <a:cubicBezTo>
                  <a:pt x="105" y="464"/>
                  <a:pt x="105" y="464"/>
                  <a:pt x="104" y="464"/>
                </a:cubicBezTo>
                <a:cubicBezTo>
                  <a:pt x="60" y="464"/>
                  <a:pt x="24" y="428"/>
                  <a:pt x="24" y="384"/>
                </a:cubicBezTo>
                <a:cubicBezTo>
                  <a:pt x="24" y="366"/>
                  <a:pt x="30" y="349"/>
                  <a:pt x="40" y="336"/>
                </a:cubicBezTo>
                <a:cubicBezTo>
                  <a:pt x="21" y="321"/>
                  <a:pt x="8" y="298"/>
                  <a:pt x="8" y="272"/>
                </a:cubicBezTo>
                <a:cubicBezTo>
                  <a:pt x="8" y="241"/>
                  <a:pt x="26" y="214"/>
                  <a:pt x="51" y="201"/>
                </a:cubicBezTo>
                <a:cubicBezTo>
                  <a:pt x="44" y="189"/>
                  <a:pt x="40" y="175"/>
                  <a:pt x="40" y="160"/>
                </a:cubicBezTo>
                <a:cubicBezTo>
                  <a:pt x="40" y="116"/>
                  <a:pt x="76" y="80"/>
                  <a:pt x="120" y="80"/>
                </a:cubicBezTo>
                <a:lnTo>
                  <a:pt x="120" y="56"/>
                </a:lnTo>
                <a:close/>
                <a:moveTo>
                  <a:pt x="392" y="56"/>
                </a:moveTo>
                <a:lnTo>
                  <a:pt x="392" y="80"/>
                </a:lnTo>
                <a:cubicBezTo>
                  <a:pt x="436" y="80"/>
                  <a:pt x="472" y="116"/>
                  <a:pt x="472" y="160"/>
                </a:cubicBezTo>
                <a:cubicBezTo>
                  <a:pt x="472" y="175"/>
                  <a:pt x="468" y="189"/>
                  <a:pt x="461" y="201"/>
                </a:cubicBezTo>
                <a:cubicBezTo>
                  <a:pt x="487" y="214"/>
                  <a:pt x="504" y="241"/>
                  <a:pt x="504" y="272"/>
                </a:cubicBezTo>
                <a:cubicBezTo>
                  <a:pt x="504" y="298"/>
                  <a:pt x="491" y="321"/>
                  <a:pt x="472" y="336"/>
                </a:cubicBezTo>
                <a:cubicBezTo>
                  <a:pt x="482" y="349"/>
                  <a:pt x="488" y="366"/>
                  <a:pt x="488" y="384"/>
                </a:cubicBezTo>
                <a:cubicBezTo>
                  <a:pt x="488" y="428"/>
                  <a:pt x="452" y="464"/>
                  <a:pt x="408" y="464"/>
                </a:cubicBezTo>
                <a:cubicBezTo>
                  <a:pt x="407" y="464"/>
                  <a:pt x="407" y="464"/>
                  <a:pt x="406" y="464"/>
                </a:cubicBezTo>
                <a:cubicBezTo>
                  <a:pt x="399" y="492"/>
                  <a:pt x="374" y="512"/>
                  <a:pt x="344" y="512"/>
                </a:cubicBezTo>
                <a:lnTo>
                  <a:pt x="312" y="512"/>
                </a:lnTo>
                <a:cubicBezTo>
                  <a:pt x="294" y="512"/>
                  <a:pt x="280" y="498"/>
                  <a:pt x="280" y="480"/>
                </a:cubicBezTo>
                <a:lnTo>
                  <a:pt x="280" y="32"/>
                </a:lnTo>
                <a:cubicBezTo>
                  <a:pt x="280" y="14"/>
                  <a:pt x="294" y="0"/>
                  <a:pt x="312" y="0"/>
                </a:cubicBezTo>
                <a:lnTo>
                  <a:pt x="336" y="0"/>
                </a:lnTo>
                <a:cubicBezTo>
                  <a:pt x="367" y="0"/>
                  <a:pt x="392" y="25"/>
                  <a:pt x="392" y="56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</p:sp>
      <p:sp>
        <p:nvSpPr>
          <p:cNvPr id="15" name="mem-title"/>
          <p:cNvSpPr txBox="1"/>
          <p:nvPr/>
        </p:nvSpPr>
        <p:spPr>
          <a:xfrm>
            <a:off x="5074920" y="21844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223962"/>
                </a:solidFill>
                <a:latin typeface="微软雅黑"/>
                <a:ea typeface="微软雅黑"/>
              </a:rPr>
              <a:t>Memories 记忆</a:t>
            </a:r>
            <a:endParaRPr lang="en-US" sz="1600" noProof="1"/>
          </a:p>
        </p:txBody>
      </p:sp>
      <p:sp>
        <p:nvSpPr>
          <p:cNvPr id="16" name="mem-body"/>
          <p:cNvSpPr txBox="1"/>
          <p:nvPr/>
        </p:nvSpPr>
        <p:spPr>
          <a:xfrm>
            <a:off x="4592320" y="2641600"/>
            <a:ext cx="29464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用户偏好、长期记忆和 Agent 经验。</a:t>
            </a:r>
            <a:endParaRPr lang="en-US" sz="1200" noProof="1"/>
          </a:p>
        </p:txBody>
      </p:sp>
      <p:sp>
        <p:nvSpPr>
          <p:cNvPr id="17" name="skill-card"/>
          <p:cNvSpPr/>
          <p:nvPr/>
        </p:nvSpPr>
        <p:spPr>
          <a:xfrm>
            <a:off x="8028940" y="1930400"/>
            <a:ext cx="3474720" cy="154940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</p:spPr>
      </p:sp>
      <p:sp>
        <p:nvSpPr>
          <p:cNvPr id="18" name="skill-icon"/>
          <p:cNvSpPr/>
          <p:nvPr>
            <p:extLst>
              <p:ext uri="{F5677B7D-0D2A-4D9B-9A5C-6D8D7D0E5A5D}">
                <pptd:icon encoding="base64url">eyJpY29uTmFtZSI6ImZhczp3YW5kLW1hZ2ljLXNwYXJrbGVzIn0</pptd:icon>
              </p:ext>
            </p:extLst>
          </p:nvPr>
        </p:nvSpPr>
        <p:spPr>
          <a:xfrm>
            <a:off x="8244840" y="2133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263" y="-27"/>
                </a:moveTo>
                <a:lnTo>
                  <a:pt x="278" y="10"/>
                </a:lnTo>
                <a:lnTo>
                  <a:pt x="315" y="25"/>
                </a:lnTo>
                <a:cubicBezTo>
                  <a:pt x="318" y="26"/>
                  <a:pt x="320" y="29"/>
                  <a:pt x="320" y="32"/>
                </a:cubicBezTo>
                <a:cubicBezTo>
                  <a:pt x="320" y="35"/>
                  <a:pt x="318" y="38"/>
                  <a:pt x="315" y="39"/>
                </a:cubicBezTo>
                <a:lnTo>
                  <a:pt x="278" y="54"/>
                </a:lnTo>
                <a:lnTo>
                  <a:pt x="263" y="91"/>
                </a:lnTo>
                <a:cubicBezTo>
                  <a:pt x="262" y="94"/>
                  <a:pt x="259" y="96"/>
                  <a:pt x="256" y="96"/>
                </a:cubicBezTo>
                <a:cubicBezTo>
                  <a:pt x="253" y="96"/>
                  <a:pt x="250" y="94"/>
                  <a:pt x="249" y="91"/>
                </a:cubicBezTo>
                <a:lnTo>
                  <a:pt x="234" y="54"/>
                </a:lnTo>
                <a:lnTo>
                  <a:pt x="197" y="39"/>
                </a:lnTo>
                <a:cubicBezTo>
                  <a:pt x="194" y="38"/>
                  <a:pt x="192" y="35"/>
                  <a:pt x="192" y="32"/>
                </a:cubicBezTo>
                <a:cubicBezTo>
                  <a:pt x="192" y="29"/>
                  <a:pt x="194" y="26"/>
                  <a:pt x="197" y="25"/>
                </a:cubicBezTo>
                <a:lnTo>
                  <a:pt x="234" y="10"/>
                </a:lnTo>
                <a:lnTo>
                  <a:pt x="249" y="-27"/>
                </a:lnTo>
                <a:cubicBezTo>
                  <a:pt x="250" y="-30"/>
                  <a:pt x="253" y="-32"/>
                  <a:pt x="256" y="-32"/>
                </a:cubicBezTo>
                <a:cubicBezTo>
                  <a:pt x="259" y="-32"/>
                  <a:pt x="262" y="-30"/>
                  <a:pt x="263" y="-27"/>
                </a:cubicBezTo>
                <a:close/>
              </a:path>
              <a:path w="576" h="512">
                <a:moveTo>
                  <a:pt x="111" y="42"/>
                </a:moveTo>
                <a:lnTo>
                  <a:pt x="132" y="92"/>
                </a:lnTo>
                <a:lnTo>
                  <a:pt x="182" y="113"/>
                </a:lnTo>
                <a:cubicBezTo>
                  <a:pt x="188" y="116"/>
                  <a:pt x="192" y="122"/>
                  <a:pt x="192" y="128"/>
                </a:cubicBezTo>
                <a:cubicBezTo>
                  <a:pt x="192" y="134"/>
                  <a:pt x="188" y="140"/>
                  <a:pt x="182" y="143"/>
                </a:cubicBezTo>
                <a:lnTo>
                  <a:pt x="132" y="164"/>
                </a:lnTo>
                <a:lnTo>
                  <a:pt x="111" y="214"/>
                </a:lnTo>
                <a:cubicBezTo>
                  <a:pt x="108" y="220"/>
                  <a:pt x="102" y="224"/>
                  <a:pt x="96" y="224"/>
                </a:cubicBezTo>
                <a:cubicBezTo>
                  <a:pt x="90" y="224"/>
                  <a:pt x="84" y="220"/>
                  <a:pt x="81" y="214"/>
                </a:cubicBezTo>
                <a:lnTo>
                  <a:pt x="60" y="164"/>
                </a:lnTo>
                <a:lnTo>
                  <a:pt x="10" y="143"/>
                </a:lnTo>
                <a:cubicBezTo>
                  <a:pt x="4" y="140"/>
                  <a:pt x="0" y="134"/>
                  <a:pt x="0" y="128"/>
                </a:cubicBezTo>
                <a:cubicBezTo>
                  <a:pt x="0" y="122"/>
                  <a:pt x="4" y="116"/>
                  <a:pt x="10" y="113"/>
                </a:cubicBezTo>
                <a:lnTo>
                  <a:pt x="60" y="92"/>
                </a:lnTo>
                <a:lnTo>
                  <a:pt x="81" y="42"/>
                </a:lnTo>
                <a:cubicBezTo>
                  <a:pt x="84" y="36"/>
                  <a:pt x="90" y="32"/>
                  <a:pt x="96" y="32"/>
                </a:cubicBezTo>
                <a:cubicBezTo>
                  <a:pt x="102" y="32"/>
                  <a:pt x="108" y="36"/>
                  <a:pt x="111" y="42"/>
                </a:cubicBezTo>
                <a:close/>
              </a:path>
              <a:path w="576" h="512">
                <a:moveTo>
                  <a:pt x="464" y="304"/>
                </a:moveTo>
                <a:cubicBezTo>
                  <a:pt x="470" y="304"/>
                  <a:pt x="476" y="308"/>
                  <a:pt x="479" y="314"/>
                </a:cubicBezTo>
                <a:lnTo>
                  <a:pt x="500" y="364"/>
                </a:lnTo>
                <a:lnTo>
                  <a:pt x="550" y="385"/>
                </a:lnTo>
                <a:cubicBezTo>
                  <a:pt x="556" y="388"/>
                  <a:pt x="560" y="394"/>
                  <a:pt x="560" y="400"/>
                </a:cubicBezTo>
                <a:cubicBezTo>
                  <a:pt x="560" y="406"/>
                  <a:pt x="556" y="412"/>
                  <a:pt x="550" y="415"/>
                </a:cubicBezTo>
                <a:lnTo>
                  <a:pt x="500" y="436"/>
                </a:lnTo>
                <a:lnTo>
                  <a:pt x="479" y="486"/>
                </a:lnTo>
                <a:cubicBezTo>
                  <a:pt x="476" y="492"/>
                  <a:pt x="470" y="496"/>
                  <a:pt x="464" y="496"/>
                </a:cubicBezTo>
                <a:cubicBezTo>
                  <a:pt x="458" y="496"/>
                  <a:pt x="452" y="492"/>
                  <a:pt x="449" y="486"/>
                </a:cubicBezTo>
                <a:lnTo>
                  <a:pt x="428" y="436"/>
                </a:lnTo>
                <a:lnTo>
                  <a:pt x="378" y="415"/>
                </a:lnTo>
                <a:cubicBezTo>
                  <a:pt x="372" y="412"/>
                  <a:pt x="368" y="406"/>
                  <a:pt x="368" y="400"/>
                </a:cubicBezTo>
                <a:cubicBezTo>
                  <a:pt x="368" y="394"/>
                  <a:pt x="372" y="388"/>
                  <a:pt x="378" y="385"/>
                </a:cubicBezTo>
                <a:lnTo>
                  <a:pt x="428" y="364"/>
                </a:lnTo>
                <a:lnTo>
                  <a:pt x="449" y="314"/>
                </a:lnTo>
                <a:cubicBezTo>
                  <a:pt x="452" y="308"/>
                  <a:pt x="458" y="304"/>
                  <a:pt x="464" y="304"/>
                </a:cubicBezTo>
                <a:close/>
              </a:path>
              <a:path w="576" h="512">
                <a:moveTo>
                  <a:pt x="460" y="0"/>
                </a:moveTo>
                <a:cubicBezTo>
                  <a:pt x="471" y="0"/>
                  <a:pt x="482" y="4"/>
                  <a:pt x="490" y="12"/>
                </a:cubicBezTo>
                <a:lnTo>
                  <a:pt x="532" y="55"/>
                </a:lnTo>
                <a:cubicBezTo>
                  <a:pt x="540" y="62"/>
                  <a:pt x="544" y="73"/>
                  <a:pt x="544" y="84"/>
                </a:cubicBezTo>
                <a:cubicBezTo>
                  <a:pt x="544" y="95"/>
                  <a:pt x="540" y="106"/>
                  <a:pt x="532" y="114"/>
                </a:cubicBezTo>
                <a:lnTo>
                  <a:pt x="444" y="202"/>
                </a:lnTo>
                <a:lnTo>
                  <a:pt x="342" y="100"/>
                </a:lnTo>
                <a:lnTo>
                  <a:pt x="430" y="12"/>
                </a:lnTo>
                <a:cubicBezTo>
                  <a:pt x="438" y="4"/>
                  <a:pt x="449" y="0"/>
                  <a:pt x="460" y="0"/>
                </a:cubicBezTo>
                <a:close/>
              </a:path>
              <a:path w="576" h="512">
                <a:moveTo>
                  <a:pt x="44" y="399"/>
                </a:moveTo>
                <a:lnTo>
                  <a:pt x="308" y="134"/>
                </a:lnTo>
                <a:lnTo>
                  <a:pt x="410" y="236"/>
                </a:lnTo>
                <a:lnTo>
                  <a:pt x="146" y="500"/>
                </a:lnTo>
                <a:cubicBezTo>
                  <a:pt x="138" y="508"/>
                  <a:pt x="127" y="512"/>
                  <a:pt x="116" y="512"/>
                </a:cubicBezTo>
                <a:cubicBezTo>
                  <a:pt x="105" y="512"/>
                  <a:pt x="94" y="508"/>
                  <a:pt x="87" y="500"/>
                </a:cubicBezTo>
                <a:lnTo>
                  <a:pt x="44" y="458"/>
                </a:lnTo>
                <a:cubicBezTo>
                  <a:pt x="36" y="450"/>
                  <a:pt x="32" y="439"/>
                  <a:pt x="32" y="428"/>
                </a:cubicBezTo>
                <a:cubicBezTo>
                  <a:pt x="32" y="417"/>
                  <a:pt x="36" y="406"/>
                  <a:pt x="44" y="399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</p:sp>
      <p:sp>
        <p:nvSpPr>
          <p:cNvPr id="19" name="skill-title"/>
          <p:cNvSpPr txBox="1"/>
          <p:nvPr/>
        </p:nvSpPr>
        <p:spPr>
          <a:xfrm>
            <a:off x="8778240" y="21844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223962"/>
                </a:solidFill>
                <a:latin typeface="微软雅黑"/>
                <a:ea typeface="微软雅黑"/>
              </a:rPr>
              <a:t>Skills 技能</a:t>
            </a:r>
            <a:endParaRPr lang="en-US" sz="1600" noProof="1"/>
          </a:p>
        </p:txBody>
      </p:sp>
      <p:sp>
        <p:nvSpPr>
          <p:cNvPr id="20" name="skill-body"/>
          <p:cNvSpPr txBox="1"/>
          <p:nvPr/>
        </p:nvSpPr>
        <p:spPr>
          <a:xfrm>
            <a:off x="8295640" y="2641600"/>
            <a:ext cx="29464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可复用的技能、规则和工作方法。</a:t>
            </a:r>
            <a:endParaRPr lang="en-US" sz="1200" noProof="1"/>
          </a:p>
        </p:txBody>
      </p:sp>
      <p:sp>
        <p:nvSpPr>
          <p:cNvPr id="21" name="fs-box"/>
          <p:cNvSpPr/>
          <p:nvPr/>
        </p:nvSpPr>
        <p:spPr>
          <a:xfrm>
            <a:off x="622300" y="3708400"/>
            <a:ext cx="7112000" cy="2540000"/>
          </a:xfrm>
          <a:prstGeom prst="roundRect">
            <a:avLst>
              <a:gd name="adj" fmla="val 4000"/>
            </a:avLst>
          </a:prstGeom>
          <a:solidFill>
            <a:srgbClr val="223962"/>
          </a:solidFill>
          <a:ln>
            <a:noFill/>
          </a:ln>
        </p:spPr>
      </p:sp>
      <p:sp>
        <p:nvSpPr>
          <p:cNvPr id="22" name="fs-title"/>
          <p:cNvSpPr txBox="1"/>
          <p:nvPr/>
        </p:nvSpPr>
        <p:spPr>
          <a:xfrm>
            <a:off x="927100" y="38862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 b="1">
                <a:solidFill>
                  <a:srgbClr val="FFC000"/>
                </a:solidFill>
                <a:latin typeface="微软雅黑"/>
                <a:ea typeface="微软雅黑"/>
              </a:rPr>
              <a:t>viking:// 虚拟文件系统</a:t>
            </a:r>
            <a:endParaRPr lang="en-US" sz="1300" noProof="1"/>
          </a:p>
        </p:txBody>
      </p:sp>
      <p:sp>
        <p:nvSpPr>
          <p:cNvPr id="23" name="fs-code"/>
          <p:cNvSpPr txBox="1"/>
          <p:nvPr/>
        </p:nvSpPr>
        <p:spPr>
          <a:xfrm>
            <a:off x="927100" y="4216400"/>
            <a:ext cx="6502400" cy="185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FFFFFF"/>
                </a:solidFill>
                <a:latin typeface="Courier New"/>
                <a:ea typeface="等线"/>
              </a:rPr>
              <a:t>viking://</a:t>
            </a:r>
            <a:endParaRPr lang="en-US" sz="1200" noProof="1"/>
          </a:p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FFFFFF"/>
                </a:solidFill>
                <a:latin typeface="Courier New"/>
                <a:ea typeface="等线"/>
              </a:rPr>
              <a:t>├── resources/              </a:t>
            </a:r>
            <a:r>
              <a:rPr lang="en-US" sz="1200" noProof="1">
                <a:solidFill>
                  <a:srgbClr val="9DC3E6"/>
                </a:solidFill>
                <a:latin typeface="Courier New"/>
                <a:ea typeface="等线"/>
              </a:rPr>
              <a:t># 组织共享资源</a:t>
            </a:r>
            <a:endParaRPr lang="en-US" sz="1200" noProof="1"/>
          </a:p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FFFFFF"/>
                </a:solidFill>
                <a:latin typeface="Courier New"/>
                <a:ea typeface="等线"/>
              </a:rPr>
              <a:t>└── user/&lt;user_id&gt;/</a:t>
            </a:r>
            <a:endParaRPr lang="en-US" sz="1200" noProof="1"/>
          </a:p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FFFFFF"/>
                </a:solidFill>
                <a:latin typeface="Courier New"/>
                <a:ea typeface="等线"/>
              </a:rPr>
              <a:t>    ├── memories/         </a:t>
            </a:r>
            <a:r>
              <a:rPr lang="en-US" sz="1200" noProof="1">
                <a:solidFill>
                  <a:srgbClr val="9DC3E6"/>
                </a:solidFill>
                <a:latin typeface="Courier New"/>
                <a:ea typeface="等线"/>
              </a:rPr>
              <a:t># 用户个人记忆</a:t>
            </a:r>
            <a:endParaRPr lang="en-US" sz="1200" noProof="1"/>
          </a:p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FFFFFF"/>
                </a:solidFill>
                <a:latin typeface="Courier New"/>
                <a:ea typeface="等线"/>
              </a:rPr>
              <a:t>    ├── resources/          </a:t>
            </a:r>
            <a:r>
              <a:rPr lang="en-US" sz="1200" noProof="1">
                <a:solidFill>
                  <a:srgbClr val="9DC3E6"/>
                </a:solidFill>
                <a:latin typeface="Courier New"/>
                <a:ea typeface="等线"/>
              </a:rPr>
              <a:t># 用户私有资源</a:t>
            </a:r>
            <a:endParaRPr lang="en-US" sz="1200" noProof="1"/>
          </a:p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FFFFFF"/>
                </a:solidFill>
                <a:latin typeface="Courier New"/>
                <a:ea typeface="等线"/>
              </a:rPr>
              <a:t>    └── skills/                  </a:t>
            </a:r>
            <a:r>
              <a:rPr lang="en-US" sz="1200" noProof="1">
                <a:solidFill>
                  <a:srgbClr val="9DC3E6"/>
                </a:solidFill>
                <a:latin typeface="Courier New"/>
                <a:ea typeface="等线"/>
              </a:rPr>
              <a:t># 用户或项目技能</a:t>
            </a:r>
            <a:endParaRPr lang="en-US" sz="1200" noProof="1"/>
          </a:p>
        </p:txBody>
      </p:sp>
      <p:sp>
        <p:nvSpPr>
          <p:cNvPr id="24" name="cap-box"/>
          <p:cNvSpPr/>
          <p:nvPr/>
        </p:nvSpPr>
        <p:spPr>
          <a:xfrm>
            <a:off x="7937500" y="3708400"/>
            <a:ext cx="3632200" cy="2540000"/>
          </a:xfrm>
          <a:prstGeom prst="roundRect">
            <a:avLst>
              <a:gd name="adj" fmla="val 4000"/>
            </a:avLst>
          </a:prstGeom>
          <a:solidFill>
            <a:srgbClr val="F4F9FE"/>
          </a:solidFill>
          <a:ln w="12700">
            <a:solidFill>
              <a:srgbClr val="BDD7EE"/>
            </a:solidFill>
          </a:ln>
        </p:spPr>
      </p:sp>
      <p:sp>
        <p:nvSpPr>
          <p:cNvPr id="25" name="cap-title"/>
          <p:cNvSpPr txBox="1"/>
          <p:nvPr/>
        </p:nvSpPr>
        <p:spPr>
          <a:xfrm>
            <a:off x="8191500" y="3886200"/>
            <a:ext cx="3124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 b="1">
                <a:solidFill>
                  <a:srgbClr val="223962"/>
                </a:solidFill>
                <a:latin typeface="微软雅黑"/>
                <a:ea typeface="微软雅黑"/>
              </a:rPr>
              <a:t>提供的基础能力</a:t>
            </a:r>
            <a:endParaRPr lang="en-US" sz="1300" noProof="1"/>
          </a:p>
        </p:txBody>
      </p:sp>
      <p:sp>
        <p:nvSpPr>
          <p:cNvPr id="26" name="cap-list"/>
          <p:cNvSpPr txBox="1"/>
          <p:nvPr/>
        </p:nvSpPr>
        <p:spPr>
          <a:xfrm>
            <a:off x="8191500" y="4241800"/>
            <a:ext cx="3124200" cy="185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70000"/>
              </a:lnSpc>
              <a:spcBef>
                <a:spcPts val="10"/>
              </a:spcBef>
              <a:buChar char="•"/>
            </a:pPr>
            <a:r>
              <a:rPr lang="en-US" sz="1300" noProof="1">
                <a:solidFill>
                  <a:srgbClr val="262626"/>
                </a:solidFill>
                <a:latin typeface="MiSans"/>
                <a:ea typeface="MiSans"/>
              </a:rPr>
              <a:t>资源导入</a:t>
            </a:r>
            <a:endParaRPr lang="en-US" sz="1300" noProof="1"/>
          </a:p>
          <a:p>
            <a:pPr algn="l">
              <a:lnSpc>
                <a:spcPct val="170000"/>
              </a:lnSpc>
              <a:spcBef>
                <a:spcPts val="10"/>
              </a:spcBef>
              <a:buChar char="•"/>
            </a:pPr>
            <a:r>
              <a:rPr lang="en-US" sz="1300" noProof="1">
                <a:solidFill>
                  <a:srgbClr val="262626"/>
                </a:solidFill>
                <a:latin typeface="MiSans"/>
                <a:ea typeface="MiSans"/>
              </a:rPr>
              <a:t>目录浏览</a:t>
            </a:r>
            <a:endParaRPr lang="en-US" sz="1300" noProof="1"/>
          </a:p>
          <a:p>
            <a:pPr algn="l">
              <a:lnSpc>
                <a:spcPct val="170000"/>
              </a:lnSpc>
              <a:spcBef>
                <a:spcPts val="10"/>
              </a:spcBef>
              <a:buChar char="•"/>
            </a:pPr>
            <a:r>
              <a:rPr lang="en-US" sz="1300" noProof="1">
                <a:solidFill>
                  <a:srgbClr val="262626"/>
                </a:solidFill>
                <a:latin typeface="MiSans"/>
                <a:ea typeface="MiSans"/>
              </a:rPr>
              <a:t>语义检索</a:t>
            </a:r>
            <a:endParaRPr lang="en-US" sz="1300" noProof="1"/>
          </a:p>
          <a:p>
            <a:pPr algn="l">
              <a:lnSpc>
                <a:spcPct val="170000"/>
              </a:lnSpc>
              <a:spcBef>
                <a:spcPts val="10"/>
              </a:spcBef>
              <a:buChar char="•"/>
            </a:pPr>
            <a:r>
              <a:rPr lang="en-US" sz="1300" noProof="1">
                <a:solidFill>
                  <a:srgbClr val="262626"/>
                </a:solidFill>
                <a:latin typeface="MiSans"/>
                <a:ea typeface="MiSans"/>
              </a:rPr>
              <a:t>分层读取</a:t>
            </a:r>
            <a:endParaRPr lang="en-US" sz="1300" noProof="1"/>
          </a:p>
          <a:p>
            <a:pPr algn="l">
              <a:lnSpc>
                <a:spcPct val="170000"/>
              </a:lnSpc>
              <a:spcBef>
                <a:spcPts val="10"/>
              </a:spcBef>
              <a:buChar char="•"/>
            </a:pPr>
            <a:r>
              <a:rPr lang="en-US" sz="1300" noProof="1">
                <a:solidFill>
                  <a:srgbClr val="262626"/>
                </a:solidFill>
                <a:latin typeface="MiSans"/>
                <a:ea typeface="MiSans"/>
              </a:rPr>
              <a:t>长期记忆</a:t>
            </a:r>
            <a:endParaRPr lang="en-US" sz="13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30860" cy="44831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8060"/>
            <a:ext cx="8841740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32850" y="988060"/>
            <a:ext cx="3357880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814070" y="265430"/>
            <a:ext cx="8669020" cy="4394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223962"/>
                </a:solidFill>
                <a:latin typeface="微软雅黑"/>
                <a:ea typeface="微软雅黑"/>
              </a:rPr>
              <a:t>三层按需加载机制</a:t>
            </a:r>
            <a:endParaRPr lang="en-US" sz="24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600" noProof="1" b="1">
                <a:solidFill>
                  <a:srgbClr val="0070C0"/>
                </a:solidFill>
                <a:latin typeface="Arial"/>
                <a:ea typeface="微软雅黑"/>
              </a:rPr>
              <a:t>四方上行</a:t>
            </a:r>
            <a:endParaRPr lang="en-US" sz="1600" noProof="1"/>
          </a:p>
        </p:txBody>
      </p:sp>
      <p:sp>
        <p:nvSpPr>
          <p:cNvPr id="8" name="l0-bar"/>
          <p:cNvSpPr/>
          <p:nvPr/>
        </p:nvSpPr>
        <p:spPr>
          <a:xfrm>
            <a:off x="622300" y="1320800"/>
            <a:ext cx="10927080" cy="99060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</p:spPr>
      </p:sp>
      <p:sp>
        <p:nvSpPr>
          <p:cNvPr id="9" name="l0-label"/>
          <p:cNvSpPr txBox="1"/>
          <p:nvPr/>
        </p:nvSpPr>
        <p:spPr>
          <a:xfrm>
            <a:off x="977900" y="1524000"/>
            <a:ext cx="2844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223962"/>
                </a:solidFill>
                <a:latin typeface="微软雅黑"/>
                <a:ea typeface="微软雅黑"/>
              </a:rPr>
              <a:t>L0 Abstract</a:t>
            </a:r>
            <a:endParaRPr lang="en-US" sz="1600" noProof="1"/>
          </a:p>
        </p:txBody>
      </p:sp>
      <p:sp>
        <p:nvSpPr>
          <p:cNvPr id="10" name="l0-desc"/>
          <p:cNvSpPr txBox="1"/>
          <p:nvPr/>
        </p:nvSpPr>
        <p:spPr>
          <a:xfrm>
            <a:off x="4178300" y="1549400"/>
            <a:ext cx="6908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100" noProof="1" b="1">
                <a:solidFill>
                  <a:srgbClr val="223962"/>
                </a:solidFill>
                <a:latin typeface="微软雅黑"/>
                <a:ea typeface="微软雅黑"/>
              </a:rPr>
              <a:t>一句话摘要</a:t>
            </a:r>
            <a:endParaRPr lang="en-US" sz="1100" noProof="1"/>
          </a:p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666666"/>
                </a:solidFill>
                <a:latin typeface="微软雅黑"/>
                <a:ea typeface="微软雅黑"/>
              </a:rPr>
              <a:t>用于快速判断内容是否与当前任务相关，是检索召回的默认层级。</a:t>
            </a:r>
            <a:endParaRPr lang="en-US" sz="1100" noProof="1"/>
          </a:p>
        </p:txBody>
      </p:sp>
      <p:sp>
        <p:nvSpPr>
          <p:cNvPr id="11" name="l1-bar"/>
          <p:cNvSpPr/>
          <p:nvPr/>
        </p:nvSpPr>
        <p:spPr>
          <a:xfrm>
            <a:off x="622300" y="2489200"/>
            <a:ext cx="10927080" cy="99060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</p:spPr>
      </p:sp>
      <p:sp>
        <p:nvSpPr>
          <p:cNvPr id="12" name="l1-label"/>
          <p:cNvSpPr txBox="1"/>
          <p:nvPr/>
        </p:nvSpPr>
        <p:spPr>
          <a:xfrm>
            <a:off x="977900" y="2692400"/>
            <a:ext cx="2844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223962"/>
                </a:solidFill>
                <a:latin typeface="微软雅黑"/>
                <a:ea typeface="微软雅黑"/>
              </a:rPr>
              <a:t>L1 Overview</a:t>
            </a:r>
            <a:endParaRPr lang="en-US" sz="1600" noProof="1"/>
          </a:p>
        </p:txBody>
      </p:sp>
      <p:sp>
        <p:nvSpPr>
          <p:cNvPr id="13" name="l1-desc"/>
          <p:cNvSpPr txBox="1"/>
          <p:nvPr/>
        </p:nvSpPr>
        <p:spPr>
          <a:xfrm>
            <a:off x="4178300" y="2717800"/>
            <a:ext cx="6908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100" noProof="1" b="1">
                <a:solidFill>
                  <a:srgbClr val="223962"/>
                </a:solidFill>
                <a:latin typeface="微软雅黑"/>
                <a:ea typeface="微软雅黑"/>
              </a:rPr>
              <a:t>概要和结构</a:t>
            </a:r>
            <a:endParaRPr lang="en-US" sz="1100" noProof="1"/>
          </a:p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666666"/>
                </a:solidFill>
                <a:latin typeface="微软雅黑"/>
                <a:ea typeface="微软雅黑"/>
              </a:rPr>
              <a:t>用于了解内容全貌、规划下一步需要深入读取的部分。</a:t>
            </a:r>
            <a:endParaRPr lang="en-US" sz="1100" noProof="1"/>
          </a:p>
        </p:txBody>
      </p:sp>
      <p:sp>
        <p:nvSpPr>
          <p:cNvPr id="14" name="l2-bar"/>
          <p:cNvSpPr/>
          <p:nvPr/>
        </p:nvSpPr>
        <p:spPr>
          <a:xfrm>
            <a:off x="622300" y="3657600"/>
            <a:ext cx="10927080" cy="99060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</p:spPr>
      </p:sp>
      <p:sp>
        <p:nvSpPr>
          <p:cNvPr id="15" name="l2-label"/>
          <p:cNvSpPr txBox="1"/>
          <p:nvPr/>
        </p:nvSpPr>
        <p:spPr>
          <a:xfrm>
            <a:off x="977900" y="3860800"/>
            <a:ext cx="2844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223962"/>
                </a:solidFill>
                <a:latin typeface="微软雅黑"/>
                <a:ea typeface="微软雅黑"/>
              </a:rPr>
              <a:t>L2 Details</a:t>
            </a:r>
            <a:endParaRPr lang="en-US" sz="1600" noProof="1"/>
          </a:p>
        </p:txBody>
      </p:sp>
      <p:sp>
        <p:nvSpPr>
          <p:cNvPr id="16" name="l2-desc"/>
          <p:cNvSpPr txBox="1"/>
          <p:nvPr/>
        </p:nvSpPr>
        <p:spPr>
          <a:xfrm>
            <a:off x="4178300" y="3886200"/>
            <a:ext cx="6908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100" noProof="1" b="1">
                <a:solidFill>
                  <a:srgbClr val="223962"/>
                </a:solidFill>
                <a:latin typeface="微软雅黑"/>
                <a:ea typeface="微软雅黑"/>
              </a:rPr>
              <a:t>完整原文</a:t>
            </a:r>
            <a:endParaRPr lang="en-US" sz="1100" noProof="1"/>
          </a:p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666666"/>
                </a:solidFill>
                <a:latin typeface="微软雅黑"/>
                <a:ea typeface="微软雅黑"/>
              </a:rPr>
              <a:t>只在真正需要时读取，避免无关上下文进入模型。</a:t>
            </a:r>
            <a:endParaRPr lang="en-US" sz="1100" noProof="1"/>
          </a:p>
        </p:txBody>
      </p:sp>
      <p:sp>
        <p:nvSpPr>
          <p:cNvPr id="17" name="arrow-down1"/>
          <p:cNvSpPr/>
          <p:nvPr/>
        </p:nvSpPr>
        <p:spPr>
          <a:xfrm>
            <a:off x="5918200" y="2311400"/>
            <a:ext cx="330200" cy="177800"/>
          </a:xfrm>
          <a:prstGeom prst="downArrow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18" name="arrow-down2"/>
          <p:cNvSpPr/>
          <p:nvPr/>
        </p:nvSpPr>
        <p:spPr>
          <a:xfrm>
            <a:off x="5918200" y="3479800"/>
            <a:ext cx="330200" cy="177800"/>
          </a:xfrm>
          <a:prstGeom prst="downArrow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19" name="value-box"/>
          <p:cNvSpPr/>
          <p:nvPr/>
        </p:nvSpPr>
        <p:spPr>
          <a:xfrm>
            <a:off x="622300" y="4978400"/>
            <a:ext cx="10927080" cy="1219200"/>
          </a:xfrm>
          <a:prstGeom prst="roundRect">
            <a:avLst>
              <a:gd name="adj" fmla="val 6000"/>
            </a:avLst>
          </a:prstGeom>
          <a:solidFill>
            <a:srgbClr val="F4F9FE"/>
          </a:solidFill>
          <a:ln w="12700">
            <a:solidFill>
              <a:srgbClr val="BDD7EE"/>
            </a:solidFill>
          </a:ln>
        </p:spPr>
      </p:sp>
      <p:sp>
        <p:nvSpPr>
          <p:cNvPr id="20" name="value-title"/>
          <p:cNvSpPr txBox="1"/>
          <p:nvPr/>
        </p:nvSpPr>
        <p:spPr>
          <a:xfrm>
            <a:off x="977900" y="51562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 b="1">
                <a:solidFill>
                  <a:srgbClr val="223962"/>
                </a:solidFill>
                <a:latin typeface="微软雅黑"/>
                <a:ea typeface="微软雅黑"/>
              </a:rPr>
              <a:t>分层加载的价值</a:t>
            </a:r>
            <a:endParaRPr lang="en-US" sz="1300" noProof="1"/>
          </a:p>
        </p:txBody>
      </p:sp>
      <p:sp>
        <p:nvSpPr>
          <p:cNvPr id="21" name="value-body"/>
          <p:cNvSpPr txBox="1"/>
          <p:nvPr/>
        </p:nvSpPr>
        <p:spPr>
          <a:xfrm>
            <a:off x="977900" y="5486400"/>
            <a:ext cx="102362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300" noProof="1">
                <a:solidFill>
                  <a:srgbClr val="262626"/>
                </a:solidFill>
                <a:latin typeface="MiSans"/>
                <a:ea typeface="MiSans"/>
              </a:rPr>
              <a:t>减少无关上下文进入模型，降低 Token 消耗；保留目录浏览轨迹，便于调试检索结果，让 Agent 按需、渐进地获取上下文。</a:t>
            </a:r>
            <a:endParaRPr lang="en-US" sz="13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30860" cy="44831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8060"/>
            <a:ext cx="8841740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32850" y="988060"/>
            <a:ext cx="3357880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814070" y="265430"/>
            <a:ext cx="8669020" cy="4394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223962"/>
                </a:solidFill>
                <a:latin typeface="微软雅黑"/>
                <a:ea typeface="微软雅黑"/>
              </a:rPr>
              <a:t>推荐总体架构：中心共享 + 用户隔离</a:t>
            </a:r>
            <a:endParaRPr lang="en-US" sz="24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600" noProof="1" b="1">
                <a:solidFill>
                  <a:srgbClr val="0070C0"/>
                </a:solidFill>
                <a:latin typeface="Arial"/>
                <a:ea typeface="微软雅黑"/>
              </a:rPr>
              <a:t>四方上行</a:t>
            </a:r>
            <a:endParaRPr lang="en-US" sz="1600" noProof="1"/>
          </a:p>
        </p:txBody>
      </p:sp>
      <p:sp>
        <p:nvSpPr>
          <p:cNvPr id="8" name="intro"/>
          <p:cNvSpPr txBox="1"/>
          <p:nvPr/>
        </p:nvSpPr>
        <p:spPr>
          <a:xfrm>
            <a:off x="698500" y="1193800"/>
            <a:ext cx="108712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400" noProof="1">
                <a:solidFill>
                  <a:srgbClr val="262626"/>
                </a:solidFill>
                <a:latin typeface="MiSans"/>
                <a:ea typeface="MiSans"/>
              </a:rPr>
              <a:t>OpenViking 建议作为</a:t>
            </a:r>
            <a:r>
              <a:rPr lang="en-US" sz="1400" noProof="1" b="1">
                <a:solidFill>
                  <a:srgbClr val="262626"/>
                </a:solidFill>
                <a:latin typeface="MiSans"/>
                <a:ea typeface="MiSans"/>
              </a:rPr>
              <a:t>独立服务</a:t>
            </a:r>
            <a:r>
              <a:rPr lang="en-US" sz="1400" noProof="1">
                <a:solidFill>
                  <a:srgbClr val="262626"/>
                </a:solidFill>
                <a:latin typeface="MiSans"/>
                <a:ea typeface="MiSans"/>
              </a:rPr>
              <a:t>运行，拥有自己的服务进程和端口。开发或单机体验时，默认可使用 </a:t>
            </a:r>
            <a:r>
              <a:rPr lang="en-US" sz="1400" noProof="1" b="1">
                <a:solidFill>
                  <a:srgbClr val="0070C0"/>
                </a:solidFill>
                <a:latin typeface="MiSans"/>
                <a:ea typeface="MiSans"/>
              </a:rPr>
              <a:t>http://127.0.0.1:1933</a:t>
            </a:r>
            <a:r>
              <a:rPr lang="en-US" sz="1400" noProof="1">
                <a:solidFill>
                  <a:srgbClr val="262626"/>
                </a:solidFill>
                <a:latin typeface="MiSans"/>
                <a:ea typeface="MiSans"/>
              </a:rPr>
              <a:t>（1933 为常见示例端口，实际部署应以服务配置为准）。</a:t>
            </a:r>
            <a:endParaRPr lang="en-US" sz="1400" noProof="1"/>
          </a:p>
        </p:txBody>
      </p:sp>
      <p:graphicFrame>
        <p:nvGraphicFramePr>
          <p:cNvPr id="9" name="deploy-table"/>
          <p:cNvGraphicFramePr>
            <a:graphicFrameLocks noGrp="1"/>
          </p:cNvGraphicFramePr>
          <p:nvPr/>
        </p:nvGraphicFramePr>
        <p:xfrm>
          <a:off x="622300" y="2184400"/>
          <a:ext cx="10947400" cy="2768600"/>
        </p:xfrm>
        <a:graphic>
          <a:graphicData uri="http://schemas.openxmlformats.org/drawingml/2006/table">
            <a:tbl>
              <a:tblPr/>
              <a:tblGrid>
                <a:gridCol w="2189480"/>
                <a:gridCol w="5473700"/>
                <a:gridCol w="3284220"/>
              </a:tblGrid>
              <a:tr h="498348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400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部署形态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70C0"/>
                      </a:solidFill>
                    </a:lnL>
                    <a:lnR w="12700">
                      <a:solidFill>
                        <a:srgbClr val="0070C0"/>
                      </a:solidFill>
                    </a:lnR>
                    <a:lnT w="12700">
                      <a:solidFill>
                        <a:srgbClr val="0070C0"/>
                      </a:solidFill>
                    </a:lnT>
                    <a:lnB w="12700">
                      <a:solidFill>
                        <a:srgbClr val="0070C0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400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说明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70C0"/>
                      </a:solidFill>
                    </a:lnL>
                    <a:lnR w="12700">
                      <a:solidFill>
                        <a:srgbClr val="0070C0"/>
                      </a:solidFill>
                    </a:lnR>
                    <a:lnT w="12700">
                      <a:solidFill>
                        <a:srgbClr val="0070C0"/>
                      </a:solidFill>
                    </a:lnT>
                    <a:lnB w="12700">
                      <a:solidFill>
                        <a:srgbClr val="0070C0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400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适用场景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70C0"/>
                      </a:solidFill>
                    </a:lnL>
                    <a:lnR w="12700">
                      <a:solidFill>
                        <a:srgbClr val="0070C0"/>
                      </a:solidFill>
                    </a:lnR>
                    <a:lnT w="12700">
                      <a:solidFill>
                        <a:srgbClr val="0070C0"/>
                      </a:solidFill>
                    </a:lnT>
                    <a:lnB w="12700">
                      <a:solidFill>
                        <a:srgbClr val="0070C0"/>
                      </a:solidFill>
                    </a:lnB>
                    <a:solidFill>
                      <a:srgbClr val="0070C0"/>
                    </a:solidFill>
                  </a:tcPr>
                </a:tc>
              </a:tr>
              <a:tr h="747522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 b="1">
                          <a:solidFill>
                            <a:srgbClr val="262626"/>
                          </a:solidFill>
                          <a:latin typeface="MiSans"/>
                          <a:ea typeface="MiSans"/>
                        </a:rPr>
                        <a:t>中心共享服务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62626"/>
                          </a:solidFill>
                          <a:latin typeface="MiSans"/>
                          <a:ea typeface="MiSans"/>
                        </a:rPr>
                        <a:t>内网部署一个 OpenViking Server，多个令旗客户端通过 HTTP/SDK 访问。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62626"/>
                          </a:solidFill>
                          <a:latin typeface="MiSans"/>
                          <a:ea typeface="MiSans"/>
                        </a:rPr>
                        <a:t>企业团队、部门知识库、多人协作。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7522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 b="1">
                          <a:solidFill>
                            <a:srgbClr val="262626"/>
                          </a:solidFill>
                          <a:latin typeface="MiSans"/>
                          <a:ea typeface="MiSans"/>
                        </a:rPr>
                        <a:t>本地伴随服务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62626"/>
                          </a:solidFill>
                          <a:latin typeface="MiSans"/>
                          <a:ea typeface="MiSans"/>
                        </a:rPr>
                        <a:t>安装包同时提供 OpenViking Server，桌面端启动独立进程并访问本机端口。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62626"/>
                          </a:solidFill>
                          <a:latin typeface="MiSans"/>
                          <a:ea typeface="MiSans"/>
                        </a:rPr>
                        <a:t>单人使用、离线场景、开发调试。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</a:tr>
              <a:tr h="775208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 b="1">
                          <a:solidFill>
                            <a:srgbClr val="262626"/>
                          </a:solidFill>
                          <a:latin typeface="MiSans"/>
                          <a:ea typeface="MiSans"/>
                        </a:rPr>
                        <a:t>混合模式（推荐）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62626"/>
                          </a:solidFill>
                          <a:latin typeface="MiSans"/>
                          <a:ea typeface="MiSans"/>
                        </a:rPr>
                        <a:t>中心服务保存组织知识；客户端保留本地缓存和个人临时资料。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62626"/>
                          </a:solidFill>
                          <a:latin typeface="MiSans"/>
                          <a:ea typeface="MiSans"/>
                        </a:rPr>
                        <a:t>既需要共享，又需要个人隐私和离线容错。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note-box"/>
          <p:cNvSpPr/>
          <p:nvPr/>
        </p:nvSpPr>
        <p:spPr>
          <a:xfrm>
            <a:off x="622300" y="5207000"/>
            <a:ext cx="10947400" cy="1168400"/>
          </a:xfrm>
          <a:prstGeom prst="roundRect">
            <a:avLst>
              <a:gd name="adj" fmla="val 6000"/>
            </a:avLst>
          </a:prstGeom>
          <a:solidFill>
            <a:srgbClr val="FDF6EE"/>
          </a:solidFill>
          <a:ln w="12700">
            <a:solidFill>
              <a:srgbClr val="E89924"/>
            </a:solidFill>
          </a:ln>
        </p:spPr>
      </p:sp>
      <p:sp>
        <p:nvSpPr>
          <p:cNvPr id="11" name="note-text"/>
          <p:cNvSpPr txBox="1"/>
          <p:nvPr/>
        </p:nvSpPr>
        <p:spPr>
          <a:xfrm>
            <a:off x="889000" y="5334000"/>
            <a:ext cx="104140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5000"/>
              </a:lnSpc>
            </a:pP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「本地伴随服务」仍然是独立进程，不是把 OpenViking 的内部存储模块直接编译进 Electron——这样可降低桌面端耦合，也方便未来将服务迁移到企业服务器。</a:t>
            </a:r>
            <a:endParaRPr lang="en-US" sz="1200" noProof="1"/>
          </a:p>
          <a:p>
            <a:pPr algn="l">
              <a:lnSpc>
                <a:spcPct val="155000"/>
              </a:lnSpc>
              <a:spcBef>
                <a:spcPts val="600"/>
              </a:spcBef>
            </a:pP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生产环境不应把服务端口直接暴露到公网，应放在企业内网、VPN 或 HTTPS 反向代理之后，并配合身份认证和资源权限。</a:t>
            </a:r>
            <a:endParaRPr lang="en-US" sz="12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30860" cy="44831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8060"/>
            <a:ext cx="8841740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32850" y="988060"/>
            <a:ext cx="3357880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814070" y="265430"/>
            <a:ext cx="8669020" cy="4394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223962"/>
                </a:solidFill>
                <a:latin typeface="微软雅黑"/>
                <a:ea typeface="微软雅黑"/>
              </a:rPr>
              <a:t>分层职责架构</a:t>
            </a:r>
            <a:endParaRPr lang="en-US" sz="24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600" noProof="1" b="1">
                <a:solidFill>
                  <a:srgbClr val="0070C0"/>
                </a:solidFill>
                <a:latin typeface="Arial"/>
                <a:ea typeface="微软雅黑"/>
              </a:rPr>
              <a:t>四方上行</a:t>
            </a:r>
            <a:endParaRPr lang="en-US" sz="1600" noProof="1"/>
          </a:p>
        </p:txBody>
      </p:sp>
      <p:sp>
        <p:nvSpPr>
          <p:cNvPr id="8" name="layer1"/>
          <p:cNvSpPr/>
          <p:nvPr/>
        </p:nvSpPr>
        <p:spPr>
          <a:xfrm>
            <a:off x="622300" y="1244600"/>
            <a:ext cx="10927080" cy="91440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</p:spPr>
      </p:sp>
      <p:sp>
        <p:nvSpPr>
          <p:cNvPr id="9" name="layer1-label"/>
          <p:cNvSpPr txBox="1"/>
          <p:nvPr/>
        </p:nvSpPr>
        <p:spPr>
          <a:xfrm>
            <a:off x="977900" y="1422400"/>
            <a:ext cx="2844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223962"/>
                </a:solidFill>
                <a:latin typeface="微软雅黑"/>
                <a:ea typeface="微软雅黑"/>
              </a:rPr>
              <a:t>令旗桌面客户端</a:t>
            </a:r>
            <a:endParaRPr lang="en-US" sz="1600" noProof="1"/>
          </a:p>
        </p:txBody>
      </p:sp>
      <p:sp>
        <p:nvSpPr>
          <p:cNvPr id="10" name="layer1-desc"/>
          <p:cNvSpPr txBox="1"/>
          <p:nvPr/>
        </p:nvSpPr>
        <p:spPr>
          <a:xfrm>
            <a:off x="4178300" y="1447800"/>
            <a:ext cx="6908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100" noProof="1" b="1">
                <a:solidFill>
                  <a:srgbClr val="223962"/>
                </a:solidFill>
                <a:latin typeface="微软雅黑"/>
                <a:ea typeface="微软雅黑"/>
              </a:rPr>
              <a:t>多个客户端实例</a:t>
            </a:r>
            <a:endParaRPr lang="en-US" sz="1100" noProof="1"/>
          </a:p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666666"/>
                </a:solidFill>
                <a:latin typeface="微软雅黑"/>
                <a:ea typeface="微软雅黑"/>
              </a:rPr>
              <a:t>负责聊天界面、文件选择、Agent 编排、权限审批和结果展示。</a:t>
            </a:r>
            <a:endParaRPr lang="en-US" sz="1100" noProof="1"/>
          </a:p>
        </p:txBody>
      </p:sp>
      <p:sp>
        <p:nvSpPr>
          <p:cNvPr id="11" name="arrow1"/>
          <p:cNvSpPr/>
          <p:nvPr/>
        </p:nvSpPr>
        <p:spPr>
          <a:xfrm>
            <a:off x="5334000" y="2184400"/>
            <a:ext cx="279400" cy="177800"/>
          </a:xfrm>
          <a:prstGeom prst="downArrow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12" name="arrow1-label"/>
          <p:cNvSpPr txBox="1"/>
          <p:nvPr/>
        </p:nvSpPr>
        <p:spPr>
          <a:xfrm>
            <a:off x="5715000" y="2159000"/>
            <a:ext cx="152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 b="1">
                <a:solidFill>
                  <a:srgbClr val="223962"/>
                </a:solidFill>
                <a:latin typeface="微软雅黑"/>
                <a:ea typeface="微软雅黑"/>
              </a:rPr>
              <a:t>IPC</a:t>
            </a:r>
            <a:endParaRPr lang="en-US" sz="1300" noProof="1"/>
          </a:p>
        </p:txBody>
      </p:sp>
      <p:sp>
        <p:nvSpPr>
          <p:cNvPr id="13" name="layer2"/>
          <p:cNvSpPr/>
          <p:nvPr/>
        </p:nvSpPr>
        <p:spPr>
          <a:xfrm>
            <a:off x="622300" y="2387600"/>
            <a:ext cx="10927080" cy="91440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</p:spPr>
      </p:sp>
      <p:sp>
        <p:nvSpPr>
          <p:cNvPr id="14" name="layer2-label"/>
          <p:cNvSpPr txBox="1"/>
          <p:nvPr/>
        </p:nvSpPr>
        <p:spPr>
          <a:xfrm>
            <a:off x="977900" y="2565400"/>
            <a:ext cx="2844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223962"/>
                </a:solidFill>
                <a:latin typeface="微软雅黑"/>
                <a:ea typeface="微软雅黑"/>
              </a:rPr>
              <a:t>主进程 / Orchestrator</a:t>
            </a:r>
            <a:endParaRPr lang="en-US" sz="1600" noProof="1"/>
          </a:p>
        </p:txBody>
      </p:sp>
      <p:sp>
        <p:nvSpPr>
          <p:cNvPr id="15" name="layer2-desc"/>
          <p:cNvSpPr txBox="1"/>
          <p:nvPr/>
        </p:nvSpPr>
        <p:spPr>
          <a:xfrm>
            <a:off x="4178300" y="2590800"/>
            <a:ext cx="6908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100" noProof="1" b="1">
                <a:solidFill>
                  <a:srgbClr val="223962"/>
                </a:solidFill>
                <a:latin typeface="微软雅黑"/>
                <a:ea typeface="微软雅黑"/>
              </a:rPr>
              <a:t>令旗主进程 / Agent Orchestrator</a:t>
            </a:r>
            <a:endParaRPr lang="en-US" sz="1100" noProof="1"/>
          </a:p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666666"/>
                </a:solidFill>
                <a:latin typeface="微软雅黑"/>
                <a:ea typeface="微软雅黑"/>
              </a:rPr>
              <a:t>负责模型请求、任务状态、工具调用、上下文拼装和访问策略。</a:t>
            </a:r>
            <a:endParaRPr lang="en-US" sz="1100" noProof="1"/>
          </a:p>
        </p:txBody>
      </p:sp>
      <p:sp>
        <p:nvSpPr>
          <p:cNvPr id="16" name="arrow2"/>
          <p:cNvSpPr/>
          <p:nvPr/>
        </p:nvSpPr>
        <p:spPr>
          <a:xfrm>
            <a:off x="5334000" y="3327400"/>
            <a:ext cx="279400" cy="177800"/>
          </a:xfrm>
          <a:prstGeom prst="downArrow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17" name="arrow2-label"/>
          <p:cNvSpPr txBox="1"/>
          <p:nvPr/>
        </p:nvSpPr>
        <p:spPr>
          <a:xfrm>
            <a:off x="5715000" y="3302000"/>
            <a:ext cx="330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 b="1">
                <a:solidFill>
                  <a:srgbClr val="223962"/>
                </a:solidFill>
                <a:latin typeface="微软雅黑"/>
                <a:ea typeface="微软雅黑"/>
              </a:rPr>
              <a:t>HTTP / SDK（必要时 MCP）</a:t>
            </a:r>
            <a:endParaRPr lang="en-US" sz="1300" noProof="1"/>
          </a:p>
        </p:txBody>
      </p:sp>
      <p:sp>
        <p:nvSpPr>
          <p:cNvPr id="18" name="layer3"/>
          <p:cNvSpPr/>
          <p:nvPr/>
        </p:nvSpPr>
        <p:spPr>
          <a:xfrm>
            <a:off x="622300" y="3530600"/>
            <a:ext cx="10927080" cy="914400"/>
          </a:xfrm>
          <a:prstGeom prst="roundRect">
            <a:avLst/>
          </a:prstGeom>
          <a:solidFill>
            <a:srgbClr val="CFE2F3"/>
          </a:solidFill>
          <a:ln w="19050">
            <a:solidFill>
              <a:srgbClr val="0070C0"/>
            </a:solidFill>
          </a:ln>
        </p:spPr>
      </p:sp>
      <p:sp>
        <p:nvSpPr>
          <p:cNvPr id="19" name="layer3-label"/>
          <p:cNvSpPr txBox="1"/>
          <p:nvPr/>
        </p:nvSpPr>
        <p:spPr>
          <a:xfrm>
            <a:off x="977900" y="3708400"/>
            <a:ext cx="2844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223962"/>
                </a:solidFill>
                <a:latin typeface="微软雅黑"/>
                <a:ea typeface="微软雅黑"/>
              </a:rPr>
              <a:t>OpenViking Server</a:t>
            </a:r>
            <a:endParaRPr lang="en-US" sz="1600" noProof="1"/>
          </a:p>
        </p:txBody>
      </p:sp>
      <p:sp>
        <p:nvSpPr>
          <p:cNvPr id="20" name="layer3-desc"/>
          <p:cNvSpPr txBox="1"/>
          <p:nvPr/>
        </p:nvSpPr>
        <p:spPr>
          <a:xfrm>
            <a:off x="4178300" y="3733800"/>
            <a:ext cx="6908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100" noProof="1" b="1">
                <a:solidFill>
                  <a:srgbClr val="223962"/>
                </a:solidFill>
                <a:latin typeface="微软雅黑"/>
                <a:ea typeface="微软雅黑"/>
              </a:rPr>
              <a:t>独立上下文服务</a:t>
            </a:r>
            <a:endParaRPr lang="en-US" sz="1100" noProof="1"/>
          </a:p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666666"/>
                </a:solidFill>
                <a:latin typeface="微软雅黑"/>
                <a:ea typeface="微软雅黑"/>
              </a:rPr>
              <a:t>负责共享资源、目录结构、语义检索、分层读取和长期记忆。</a:t>
            </a:r>
            <a:endParaRPr lang="en-US" sz="1100" noProof="1"/>
          </a:p>
        </p:txBody>
      </p:sp>
      <p:sp>
        <p:nvSpPr>
          <p:cNvPr id="21" name="arrow3"/>
          <p:cNvSpPr/>
          <p:nvPr/>
        </p:nvSpPr>
        <p:spPr>
          <a:xfrm>
            <a:off x="5334000" y="4470400"/>
            <a:ext cx="279400" cy="177800"/>
          </a:xfrm>
          <a:prstGeom prst="downArrow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22" name="layer4"/>
          <p:cNvSpPr/>
          <p:nvPr/>
        </p:nvSpPr>
        <p:spPr>
          <a:xfrm>
            <a:off x="622300" y="4673600"/>
            <a:ext cx="10927080" cy="91440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</p:spPr>
      </p:sp>
      <p:sp>
        <p:nvSpPr>
          <p:cNvPr id="23" name="layer4-label"/>
          <p:cNvSpPr txBox="1"/>
          <p:nvPr/>
        </p:nvSpPr>
        <p:spPr>
          <a:xfrm>
            <a:off x="977900" y="4851400"/>
            <a:ext cx="2844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223962"/>
                </a:solidFill>
                <a:latin typeface="微软雅黑"/>
                <a:ea typeface="微软雅黑"/>
              </a:rPr>
              <a:t>资源存储与索引</a:t>
            </a:r>
            <a:endParaRPr lang="en-US" sz="1600" noProof="1"/>
          </a:p>
        </p:txBody>
      </p:sp>
      <p:sp>
        <p:nvSpPr>
          <p:cNvPr id="24" name="layer4-desc"/>
          <p:cNvSpPr txBox="1"/>
          <p:nvPr/>
        </p:nvSpPr>
        <p:spPr>
          <a:xfrm>
            <a:off x="4178300" y="4876800"/>
            <a:ext cx="6908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100" noProof="1" b="1">
                <a:solidFill>
                  <a:srgbClr val="223962"/>
                </a:solidFill>
                <a:latin typeface="微软雅黑"/>
                <a:ea typeface="微软雅黑"/>
              </a:rPr>
              <a:t>内容层 + 索引层</a:t>
            </a:r>
            <a:endParaRPr lang="en-US" sz="1100" noProof="1"/>
          </a:p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666666"/>
                </a:solidFill>
                <a:latin typeface="微软雅黑"/>
                <a:ea typeface="微软雅黑"/>
              </a:rPr>
              <a:t>AGFS / VikingFS 内容层 + Vector Index 向量索引层。</a:t>
            </a:r>
            <a:endParaRPr lang="en-US" sz="1100" noProof="1"/>
          </a:p>
        </p:txBody>
      </p:sp>
      <p:sp>
        <p:nvSpPr>
          <p:cNvPr id="25" name="bottom-note"/>
          <p:cNvSpPr txBox="1"/>
          <p:nvPr/>
        </p:nvSpPr>
        <p:spPr>
          <a:xfrm>
            <a:off x="768350" y="5918200"/>
            <a:ext cx="1066165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223962"/>
                </a:solidFill>
                <a:latin typeface="微软雅黑"/>
                <a:ea typeface="微软雅黑"/>
              </a:rPr>
              <a:t>各层职责清晰、接口标准化，桌面端与上下文服务可独立升级演进</a:t>
            </a:r>
            <a:endParaRPr lang="en-US" sz="13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>
              <a:alphaModFix amt="30000"/>
            </a:blip>
            <a:stretch>
              <a:fillRect/>
            </a:stretch>
          </a:blipFill>
          <a:ln>
            <a:noFill/>
          </a:ln>
        </p:spPr>
      </p:sp>
      <p:sp>
        <p:nvSpPr>
          <p:cNvPr id="3" name="band"/>
          <p:cNvSpPr/>
          <p:nvPr/>
        </p:nvSpPr>
        <p:spPr>
          <a:xfrm>
            <a:off x="0" y="2865120"/>
            <a:ext cx="12192000" cy="1136650"/>
          </a:xfrm>
          <a:prstGeom prst="rect">
            <a:avLst/>
          </a:prstGeom>
          <a:solidFill>
            <a:srgbClr val="5B9BD5"/>
          </a:solidFill>
          <a:ln>
            <a:noFill/>
          </a:ln>
        </p:spPr>
      </p:sp>
      <p:sp>
        <p:nvSpPr>
          <p:cNvPr id="4" name="num-box"/>
          <p:cNvSpPr/>
          <p:nvPr/>
        </p:nvSpPr>
        <p:spPr>
          <a:xfrm>
            <a:off x="1351280" y="2306320"/>
            <a:ext cx="1651000" cy="2306320"/>
          </a:xfrm>
          <a:prstGeom prst="roundRect">
            <a:avLst/>
          </a:prstGeom>
          <a:noFill/>
          <a:ln w="38100">
            <a:solidFill>
              <a:srgbClr val="5B9BD5"/>
            </a:solidFill>
          </a:ln>
          <a:effectLst>
            <a:outerShdw blurRad="63500" dist="0" dir="0" sx="100000" sy="100000" kx="0" ky="0" algn="bl" rotWithShape="0">
              <a:srgbClr val="000000">
                <a:alpha val="40000"/>
              </a:srgbClr>
            </a:outerShdw>
          </a:effectLst>
        </p:spPr>
      </p:sp>
      <p:sp>
        <p:nvSpPr>
          <p:cNvPr id="5" name="num"/>
          <p:cNvSpPr txBox="1"/>
          <p:nvPr/>
        </p:nvSpPr>
        <p:spPr>
          <a:xfrm>
            <a:off x="1473200" y="2848610"/>
            <a:ext cx="1409700" cy="1231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600" noProof="1">
                <a:solidFill>
                  <a:srgbClr val="FFFFFF"/>
                </a:solidFill>
                <a:latin typeface="Arial"/>
                <a:ea typeface="微软雅黑"/>
              </a:rPr>
              <a:t>03</a:t>
            </a:r>
            <a:endParaRPr lang="en-US" sz="7600" noProof="1"/>
          </a:p>
        </p:txBody>
      </p:sp>
      <p:sp>
        <p:nvSpPr>
          <p:cNvPr id="6" name="ch-title"/>
          <p:cNvSpPr txBox="1"/>
          <p:nvPr/>
        </p:nvSpPr>
        <p:spPr>
          <a:xfrm>
            <a:off x="3723640" y="3048000"/>
            <a:ext cx="8128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4000" noProof="1" b="1">
                <a:solidFill>
                  <a:srgbClr val="FFFFFF"/>
                </a:solidFill>
                <a:latin typeface="Arial"/>
                <a:ea typeface="微软雅黑"/>
              </a:rPr>
              <a:t>        共享知识与数据治理</a:t>
            </a:r>
            <a:endParaRPr lang="en-US" sz="4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600" noProof="1" b="1">
                <a:solidFill>
                  <a:srgbClr val="0070C0"/>
                </a:solidFill>
                <a:latin typeface="Arial"/>
                <a:ea typeface="微软雅黑"/>
              </a:rPr>
              <a:t>四方上行</a:t>
            </a:r>
            <a:endParaRPr lang="en-US" sz="16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30860" cy="44831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8060"/>
            <a:ext cx="8841740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32850" y="988060"/>
            <a:ext cx="3357880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814070" y="265430"/>
            <a:ext cx="8669020" cy="4394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223962"/>
                </a:solidFill>
                <a:latin typeface="微软雅黑"/>
                <a:ea typeface="微软雅黑"/>
              </a:rPr>
              <a:t>共享知识与个人数据边界</a:t>
            </a:r>
            <a:endParaRPr lang="en-US" sz="24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600" noProof="1" b="1">
                <a:solidFill>
                  <a:srgbClr val="0070C0"/>
                </a:solidFill>
                <a:latin typeface="Arial"/>
                <a:ea typeface="微软雅黑"/>
              </a:rPr>
              <a:t>四方上行</a:t>
            </a:r>
            <a:endParaRPr lang="en-US" sz="1600" noProof="1"/>
          </a:p>
        </p:txBody>
      </p:sp>
      <p:sp>
        <p:nvSpPr>
          <p:cNvPr id="8" name="intro"/>
          <p:cNvSpPr txBox="1"/>
          <p:nvPr/>
        </p:nvSpPr>
        <p:spPr>
          <a:xfrm>
            <a:off x="698500" y="1193800"/>
            <a:ext cx="10871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400" noProof="1">
                <a:solidFill>
                  <a:srgbClr val="262626"/>
                </a:solidFill>
                <a:latin typeface="MiSans"/>
                <a:ea typeface="MiSans"/>
              </a:rPr>
              <a:t>「大家都可以上传，大家都可以使用」需要建立在</a:t>
            </a:r>
            <a:r>
              <a:rPr lang="en-US" sz="1400" noProof="1" b="1">
                <a:solidFill>
                  <a:srgbClr val="262626"/>
                </a:solidFill>
                <a:latin typeface="MiSans"/>
                <a:ea typeface="MiSans"/>
              </a:rPr>
              <a:t>资源分类和权限控制</a:t>
            </a:r>
            <a:r>
              <a:rPr lang="en-US" sz="1400" noProof="1">
                <a:solidFill>
                  <a:srgbClr val="262626"/>
                </a:solidFill>
                <a:latin typeface="MiSans"/>
                <a:ea typeface="MiSans"/>
              </a:rPr>
              <a:t>之上，不应让所有用户无条件写入所有内容。</a:t>
            </a:r>
            <a:endParaRPr lang="en-US" sz="1400" noProof="1"/>
          </a:p>
        </p:txBody>
      </p:sp>
      <p:sp>
        <p:nvSpPr>
          <p:cNvPr id="9" name="c1"/>
          <p:cNvSpPr/>
          <p:nvPr/>
        </p:nvSpPr>
        <p:spPr>
          <a:xfrm>
            <a:off x="622300" y="1803400"/>
            <a:ext cx="5334000" cy="154940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</p:spPr>
      </p:sp>
      <p:sp>
        <p:nvSpPr>
          <p:cNvPr id="10" name="c1-title"/>
          <p:cNvSpPr txBox="1"/>
          <p:nvPr/>
        </p:nvSpPr>
        <p:spPr>
          <a:xfrm>
            <a:off x="901700" y="1955800"/>
            <a:ext cx="4699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223962"/>
                </a:solidFill>
                <a:latin typeface="微软雅黑"/>
                <a:ea typeface="微软雅黑"/>
              </a:rPr>
              <a:t>组织共享资源</a:t>
            </a:r>
            <a:endParaRPr lang="en-US" sz="1600" noProof="1"/>
          </a:p>
        </p:txBody>
      </p:sp>
      <p:sp>
        <p:nvSpPr>
          <p:cNvPr id="11" name="c1-body"/>
          <p:cNvSpPr txBox="1"/>
          <p:nvPr/>
        </p:nvSpPr>
        <p:spPr>
          <a:xfrm>
            <a:off x="901700" y="2311400"/>
            <a:ext cx="46990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公司制度、产品手册、公共流程、已发布项目文档、标准模板和经过审核的知识材料，可供多个用户检索和阅读。</a:t>
            </a:r>
            <a:endParaRPr lang="en-US" sz="1200" noProof="1"/>
          </a:p>
        </p:txBody>
      </p:sp>
      <p:sp>
        <p:nvSpPr>
          <p:cNvPr id="12" name="c2"/>
          <p:cNvSpPr/>
          <p:nvPr/>
        </p:nvSpPr>
        <p:spPr>
          <a:xfrm>
            <a:off x="6235700" y="1803400"/>
            <a:ext cx="5334000" cy="154940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</p:spPr>
      </p:sp>
      <p:sp>
        <p:nvSpPr>
          <p:cNvPr id="13" name="c2-title"/>
          <p:cNvSpPr txBox="1"/>
          <p:nvPr/>
        </p:nvSpPr>
        <p:spPr>
          <a:xfrm>
            <a:off x="6515100" y="1955800"/>
            <a:ext cx="4699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223962"/>
                </a:solidFill>
                <a:latin typeface="微软雅黑"/>
                <a:ea typeface="微软雅黑"/>
              </a:rPr>
              <a:t>部门或项目资源</a:t>
            </a:r>
            <a:endParaRPr lang="en-US" sz="1600" noProof="1"/>
          </a:p>
        </p:txBody>
      </p:sp>
      <p:sp>
        <p:nvSpPr>
          <p:cNvPr id="14" name="c2-body"/>
          <p:cNvSpPr txBox="1"/>
          <p:nvPr/>
        </p:nvSpPr>
        <p:spPr>
          <a:xfrm>
            <a:off x="6515100" y="2311400"/>
            <a:ext cx="46990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财务、审计、研发、法务和项目资料按部门、项目或角色授权；用户可发现自己有权限的目录，但不应通过客户端绕过原有业务系统权限。</a:t>
            </a:r>
            <a:endParaRPr lang="en-US" sz="1200" noProof="1"/>
          </a:p>
        </p:txBody>
      </p:sp>
      <p:sp>
        <p:nvSpPr>
          <p:cNvPr id="15" name="c3"/>
          <p:cNvSpPr/>
          <p:nvPr/>
        </p:nvSpPr>
        <p:spPr>
          <a:xfrm>
            <a:off x="622300" y="3530600"/>
            <a:ext cx="5334000" cy="154940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</p:spPr>
      </p:sp>
      <p:sp>
        <p:nvSpPr>
          <p:cNvPr id="16" name="c3-title"/>
          <p:cNvSpPr txBox="1"/>
          <p:nvPr/>
        </p:nvSpPr>
        <p:spPr>
          <a:xfrm>
            <a:off x="901700" y="3683000"/>
            <a:ext cx="4699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223962"/>
                </a:solidFill>
                <a:latin typeface="微软雅黑"/>
                <a:ea typeface="微软雅黑"/>
              </a:rPr>
              <a:t>用户个人空间</a:t>
            </a:r>
            <a:endParaRPr lang="en-US" sz="1600" noProof="1"/>
          </a:p>
        </p:txBody>
      </p:sp>
      <p:sp>
        <p:nvSpPr>
          <p:cNvPr id="17" name="c3-body"/>
          <p:cNvSpPr txBox="1"/>
          <p:nvPr/>
        </p:nvSpPr>
        <p:spPr>
          <a:xfrm>
            <a:off x="901700" y="4038600"/>
            <a:ext cx="46990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用户偏好、个人工作习惯、未发布草稿和个人 Agent 经验，进入 user/&lt;user_id&gt;/memories 或用户私有资源目录，默认不与其他用户共享。</a:t>
            </a:r>
            <a:endParaRPr lang="en-US" sz="1200" noProof="1"/>
          </a:p>
        </p:txBody>
      </p:sp>
      <p:sp>
        <p:nvSpPr>
          <p:cNvPr id="18" name="c4"/>
          <p:cNvSpPr/>
          <p:nvPr/>
        </p:nvSpPr>
        <p:spPr>
          <a:xfrm>
            <a:off x="6235700" y="3530600"/>
            <a:ext cx="5334000" cy="154940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</p:spPr>
      </p:sp>
      <p:sp>
        <p:nvSpPr>
          <p:cNvPr id="19" name="c4-title"/>
          <p:cNvSpPr txBox="1"/>
          <p:nvPr/>
        </p:nvSpPr>
        <p:spPr>
          <a:xfrm>
            <a:off x="6515100" y="3683000"/>
            <a:ext cx="4699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223962"/>
                </a:solidFill>
                <a:latin typeface="微软雅黑"/>
                <a:ea typeface="微软雅黑"/>
              </a:rPr>
              <a:t>Skills 的位置</a:t>
            </a:r>
            <a:endParaRPr lang="en-US" sz="1600" noProof="1"/>
          </a:p>
        </p:txBody>
      </p:sp>
      <p:sp>
        <p:nvSpPr>
          <p:cNvPr id="20" name="c4-body"/>
          <p:cNvSpPr txBox="1"/>
          <p:nvPr/>
        </p:nvSpPr>
        <p:spPr>
          <a:xfrm>
            <a:off x="6515100" y="4038600"/>
            <a:ext cx="46990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Skill 作为可选的文本规则，可有组织级、部门级、项目级和个人级版本；不应被当成知识库的替代品，也不应拥有独立的文件执行权限。</a:t>
            </a:r>
            <a:endParaRPr lang="en-US" sz="1200" noProof="1"/>
          </a:p>
        </p:txBody>
      </p:sp>
      <p:sp>
        <p:nvSpPr>
          <p:cNvPr id="21" name="fs-box"/>
          <p:cNvSpPr/>
          <p:nvPr/>
        </p:nvSpPr>
        <p:spPr>
          <a:xfrm>
            <a:off x="622300" y="5308600"/>
            <a:ext cx="10947400" cy="1092200"/>
          </a:xfrm>
          <a:prstGeom prst="roundRect">
            <a:avLst>
              <a:gd name="adj" fmla="val 6000"/>
            </a:avLst>
          </a:prstGeom>
          <a:solidFill>
            <a:srgbClr val="223962"/>
          </a:solidFill>
          <a:ln>
            <a:noFill/>
          </a:ln>
        </p:spPr>
      </p:sp>
      <p:sp>
        <p:nvSpPr>
          <p:cNvPr id="22" name="fs-left"/>
          <p:cNvSpPr txBox="1"/>
          <p:nvPr/>
        </p:nvSpPr>
        <p:spPr>
          <a:xfrm>
            <a:off x="927100" y="5435600"/>
            <a:ext cx="5080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45000"/>
              </a:lnSpc>
            </a:pPr>
            <a:r>
              <a:rPr lang="en-US" sz="1100" noProof="1" b="1">
                <a:solidFill>
                  <a:srgbClr val="FFC000"/>
                </a:solidFill>
                <a:latin typeface="Courier New"/>
                <a:ea typeface="等线"/>
              </a:rPr>
              <a:t>viking://resources/</a:t>
            </a:r>
            <a:endParaRPr lang="en-US" sz="1100" noProof="1"/>
          </a:p>
          <a:p>
            <a:pPr algn="l">
              <a:lnSpc>
                <a:spcPct val="145000"/>
              </a:lnSpc>
            </a:pPr>
            <a:r>
              <a:rPr lang="en-US" sz="1100" noProof="1">
                <a:solidFill>
                  <a:srgbClr val="FFFFFF"/>
                </a:solidFill>
                <a:latin typeface="Courier New"/>
                <a:ea typeface="等线"/>
              </a:rPr>
              <a:t>company/ 公司公开制度和标准资料</a:t>
            </a:r>
            <a:endParaRPr lang="en-US" sz="1100" noProof="1"/>
          </a:p>
          <a:p>
            <a:pPr algn="l">
              <a:lnSpc>
                <a:spcPct val="145000"/>
              </a:lnSpc>
            </a:pPr>
            <a:r>
              <a:rPr lang="en-US" sz="1100" noProof="1">
                <a:solidFill>
                  <a:srgbClr val="FFFFFF"/>
                </a:solidFill>
                <a:latin typeface="Courier New"/>
                <a:ea typeface="等线"/>
              </a:rPr>
              <a:t>departments/ 部门授权资料 · projects/ 项目资料</a:t>
            </a:r>
            <a:endParaRPr lang="en-US" sz="1100" noProof="1"/>
          </a:p>
          <a:p>
            <a:pPr algn="l">
              <a:lnSpc>
                <a:spcPct val="145000"/>
              </a:lnSpc>
            </a:pPr>
            <a:r>
              <a:rPr lang="en-US" sz="1100" noProof="1">
                <a:solidFill>
                  <a:srgbClr val="FFFFFF"/>
                </a:solidFill>
                <a:latin typeface="Courier New"/>
                <a:ea typeface="等线"/>
              </a:rPr>
              <a:t>published/ 已审核发布内容</a:t>
            </a:r>
            <a:endParaRPr lang="en-US" sz="1100" noProof="1"/>
          </a:p>
        </p:txBody>
      </p:sp>
      <p:sp>
        <p:nvSpPr>
          <p:cNvPr id="23" name="fs-right"/>
          <p:cNvSpPr txBox="1"/>
          <p:nvPr/>
        </p:nvSpPr>
        <p:spPr>
          <a:xfrm>
            <a:off x="6350000" y="5435600"/>
            <a:ext cx="4953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45000"/>
              </a:lnSpc>
            </a:pPr>
            <a:r>
              <a:rPr lang="en-US" sz="1100" noProof="1" b="1">
                <a:solidFill>
                  <a:srgbClr val="FFC000"/>
                </a:solidFill>
                <a:latin typeface="Courier New"/>
                <a:ea typeface="等线"/>
              </a:rPr>
              <a:t>viking://user/&lt;user_id&gt;/</a:t>
            </a:r>
            <a:endParaRPr lang="en-US" sz="1100" noProof="1"/>
          </a:p>
          <a:p>
            <a:pPr algn="l">
              <a:lnSpc>
                <a:spcPct val="145000"/>
              </a:lnSpc>
            </a:pPr>
            <a:r>
              <a:rPr lang="en-US" sz="1100" noProof="1">
                <a:solidFill>
                  <a:srgbClr val="FFFFFF"/>
                </a:solidFill>
                <a:latin typeface="Courier New"/>
                <a:ea typeface="等线"/>
              </a:rPr>
              <a:t>memories/ 个人长期记忆</a:t>
            </a:r>
            <a:endParaRPr lang="en-US" sz="1100" noProof="1"/>
          </a:p>
          <a:p>
            <a:pPr algn="l">
              <a:lnSpc>
                <a:spcPct val="145000"/>
              </a:lnSpc>
            </a:pPr>
            <a:r>
              <a:rPr lang="en-US" sz="1100" noProof="1">
                <a:solidFill>
                  <a:srgbClr val="FFFFFF"/>
                </a:solidFill>
                <a:latin typeface="Courier New"/>
                <a:ea typeface="等线"/>
              </a:rPr>
              <a:t>resources/ 个人资料</a:t>
            </a:r>
            <a:endParaRPr lang="en-US" sz="1100" noProof="1"/>
          </a:p>
          <a:p>
            <a:pPr algn="l">
              <a:lnSpc>
                <a:spcPct val="145000"/>
              </a:lnSpc>
            </a:pPr>
            <a:r>
              <a:rPr lang="en-US" sz="1100" noProof="1">
                <a:solidFill>
                  <a:srgbClr val="FFFFFF"/>
                </a:solidFill>
                <a:latin typeface="Courier New"/>
                <a:ea typeface="等线"/>
              </a:rPr>
              <a:t>skills/ 个人规则</a:t>
            </a:r>
            <a:endParaRPr lang="en-US" sz="110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30860" cy="44831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8060"/>
            <a:ext cx="8841740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32850" y="988060"/>
            <a:ext cx="3357880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814070" y="265430"/>
            <a:ext cx="8669020" cy="4394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223962"/>
                </a:solidFill>
                <a:latin typeface="微软雅黑"/>
                <a:ea typeface="微软雅黑"/>
              </a:rPr>
              <a:t>知识上传与发布流程</a:t>
            </a:r>
            <a:endParaRPr lang="en-US" sz="24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600" noProof="1" b="1">
                <a:solidFill>
                  <a:srgbClr val="0070C0"/>
                </a:solidFill>
                <a:latin typeface="Arial"/>
                <a:ea typeface="微软雅黑"/>
              </a:rPr>
              <a:t>四方上行</a:t>
            </a:r>
            <a:endParaRPr lang="en-US" sz="1600" noProof="1"/>
          </a:p>
        </p:txBody>
      </p:sp>
      <p:sp>
        <p:nvSpPr>
          <p:cNvPr id="8" name="s1"/>
          <p:cNvSpPr/>
          <p:nvPr/>
        </p:nvSpPr>
        <p:spPr>
          <a:xfrm>
            <a:off x="622300" y="1270000"/>
            <a:ext cx="2413000" cy="106680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</p:spPr>
      </p:sp>
      <p:sp>
        <p:nvSpPr>
          <p:cNvPr id="9" name="s1-text"/>
          <p:cNvSpPr txBox="1"/>
          <p:nvPr/>
        </p:nvSpPr>
        <p:spPr>
          <a:xfrm>
            <a:off x="749300" y="1371600"/>
            <a:ext cx="21590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223962"/>
                </a:solidFill>
                <a:latin typeface="MiSans"/>
                <a:ea typeface="MiSans"/>
              </a:rPr>
              <a:t>1. 选择文件</a:t>
            </a:r>
            <a:endParaRPr lang="en-US" sz="1600" noProof="1"/>
          </a:p>
          <a:p>
            <a:pPr algn="ctr">
              <a:lnSpc>
                <a:spcPct val="120000"/>
              </a:lnSpc>
              <a:spcBef>
                <a:spcPts val="400"/>
              </a:spcBef>
            </a:pPr>
            <a:r>
              <a:rPr lang="en-US" sz="1100" noProof="1">
                <a:solidFill>
                  <a:srgbClr val="666666"/>
                </a:solidFill>
                <a:latin typeface="MiSans"/>
                <a:ea typeface="MiSans"/>
              </a:rPr>
              <a:t>用户在客户端选择待上传文件</a:t>
            </a:r>
            <a:endParaRPr lang="en-US" sz="1600" noProof="1"/>
          </a:p>
        </p:txBody>
      </p:sp>
      <p:sp>
        <p:nvSpPr>
          <p:cNvPr id="10" name="a1"/>
          <p:cNvSpPr/>
          <p:nvPr/>
        </p:nvSpPr>
        <p:spPr>
          <a:xfrm>
            <a:off x="3086100" y="1676400"/>
            <a:ext cx="203200" cy="254000"/>
          </a:xfrm>
          <a:prstGeom prst="rightArrow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11" name="s2"/>
          <p:cNvSpPr/>
          <p:nvPr/>
        </p:nvSpPr>
        <p:spPr>
          <a:xfrm>
            <a:off x="3340100" y="1270000"/>
            <a:ext cx="2413000" cy="106680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</p:spPr>
      </p:sp>
      <p:sp>
        <p:nvSpPr>
          <p:cNvPr id="12" name="s2-text"/>
          <p:cNvSpPr txBox="1"/>
          <p:nvPr/>
        </p:nvSpPr>
        <p:spPr>
          <a:xfrm>
            <a:off x="3467100" y="1371600"/>
            <a:ext cx="21590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223962"/>
                </a:solidFill>
                <a:latin typeface="MiSans"/>
                <a:ea typeface="MiSans"/>
              </a:rPr>
              <a:t>2. 客户端校验</a:t>
            </a:r>
            <a:endParaRPr lang="en-US" sz="1600" noProof="1"/>
          </a:p>
          <a:p>
            <a:pPr algn="ctr">
              <a:lnSpc>
                <a:spcPct val="120000"/>
              </a:lnSpc>
              <a:spcBef>
                <a:spcPts val="400"/>
              </a:spcBef>
            </a:pPr>
            <a:r>
              <a:rPr lang="en-US" sz="1100" noProof="1">
                <a:solidFill>
                  <a:srgbClr val="666666"/>
                </a:solidFill>
                <a:latin typeface="MiSans"/>
                <a:ea typeface="MiSans"/>
              </a:rPr>
              <a:t>校验类型、大小和敏感级别</a:t>
            </a:r>
            <a:endParaRPr lang="en-US" sz="1600" noProof="1"/>
          </a:p>
        </p:txBody>
      </p:sp>
      <p:sp>
        <p:nvSpPr>
          <p:cNvPr id="13" name="a2"/>
          <p:cNvSpPr/>
          <p:nvPr/>
        </p:nvSpPr>
        <p:spPr>
          <a:xfrm>
            <a:off x="5803900" y="1676400"/>
            <a:ext cx="203200" cy="254000"/>
          </a:xfrm>
          <a:prstGeom prst="rightArrow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14" name="s3"/>
          <p:cNvSpPr/>
          <p:nvPr/>
        </p:nvSpPr>
        <p:spPr>
          <a:xfrm>
            <a:off x="6057900" y="1270000"/>
            <a:ext cx="2413000" cy="106680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</p:spPr>
      </p:sp>
      <p:sp>
        <p:nvSpPr>
          <p:cNvPr id="15" name="s3-text"/>
          <p:cNvSpPr txBox="1"/>
          <p:nvPr/>
        </p:nvSpPr>
        <p:spPr>
          <a:xfrm>
            <a:off x="6184900" y="1371600"/>
            <a:ext cx="21590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223962"/>
                </a:solidFill>
                <a:latin typeface="MiSans"/>
                <a:ea typeface="MiSans"/>
              </a:rPr>
              <a:t>3. 上传到待处理区</a:t>
            </a:r>
            <a:endParaRPr lang="en-US" sz="1600" noProof="1"/>
          </a:p>
          <a:p>
            <a:pPr algn="ctr">
              <a:lnSpc>
                <a:spcPct val="120000"/>
              </a:lnSpc>
              <a:spcBef>
                <a:spcPts val="400"/>
              </a:spcBef>
            </a:pPr>
            <a:r>
              <a:rPr lang="en-US" sz="1100" noProof="1">
                <a:solidFill>
                  <a:srgbClr val="666666"/>
                </a:solidFill>
                <a:latin typeface="MiSans"/>
                <a:ea typeface="MiSans"/>
              </a:rPr>
              <a:t>文件进入服务侧待处理区</a:t>
            </a:r>
            <a:endParaRPr lang="en-US" sz="1600" noProof="1"/>
          </a:p>
        </p:txBody>
      </p:sp>
      <p:sp>
        <p:nvSpPr>
          <p:cNvPr id="16" name="a3"/>
          <p:cNvSpPr/>
          <p:nvPr/>
        </p:nvSpPr>
        <p:spPr>
          <a:xfrm>
            <a:off x="8521700" y="1676400"/>
            <a:ext cx="203200" cy="254000"/>
          </a:xfrm>
          <a:prstGeom prst="rightArrow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17" name="s4"/>
          <p:cNvSpPr/>
          <p:nvPr/>
        </p:nvSpPr>
        <p:spPr>
          <a:xfrm>
            <a:off x="8775700" y="1270000"/>
            <a:ext cx="2413000" cy="106680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</p:spPr>
      </p:sp>
      <p:sp>
        <p:nvSpPr>
          <p:cNvPr id="18" name="s4-text"/>
          <p:cNvSpPr txBox="1"/>
          <p:nvPr/>
        </p:nvSpPr>
        <p:spPr>
          <a:xfrm>
            <a:off x="8902700" y="1371600"/>
            <a:ext cx="21590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223962"/>
                </a:solidFill>
                <a:latin typeface="MiSans"/>
                <a:ea typeface="MiSans"/>
              </a:rPr>
              <a:t>4. 解析与索引</a:t>
            </a:r>
            <a:endParaRPr lang="en-US" sz="1600" noProof="1"/>
          </a:p>
          <a:p>
            <a:pPr algn="ctr">
              <a:lnSpc>
                <a:spcPct val="120000"/>
              </a:lnSpc>
              <a:spcBef>
                <a:spcPts val="400"/>
              </a:spcBef>
            </a:pPr>
            <a:r>
              <a:rPr lang="en-US" sz="1100" noProof="1">
                <a:solidFill>
                  <a:srgbClr val="666666"/>
                </a:solidFill>
                <a:latin typeface="MiSans"/>
                <a:ea typeface="MiSans"/>
              </a:rPr>
              <a:t>服务解析文本、生成摘要和索引</a:t>
            </a:r>
            <a:endParaRPr lang="en-US" sz="1600" noProof="1"/>
          </a:p>
        </p:txBody>
      </p:sp>
      <p:sp>
        <p:nvSpPr>
          <p:cNvPr id="19" name="a-down"/>
          <p:cNvSpPr/>
          <p:nvPr/>
        </p:nvSpPr>
        <p:spPr>
          <a:xfrm>
            <a:off x="1689100" y="2413000"/>
            <a:ext cx="279400" cy="203200"/>
          </a:xfrm>
          <a:prstGeom prst="downArrow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20" name="s5"/>
          <p:cNvSpPr/>
          <p:nvPr/>
        </p:nvSpPr>
        <p:spPr>
          <a:xfrm>
            <a:off x="622300" y="2692400"/>
            <a:ext cx="2413000" cy="106680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</p:spPr>
      </p:sp>
      <p:sp>
        <p:nvSpPr>
          <p:cNvPr id="21" name="s5-text"/>
          <p:cNvSpPr txBox="1"/>
          <p:nvPr/>
        </p:nvSpPr>
        <p:spPr>
          <a:xfrm>
            <a:off x="749300" y="2794000"/>
            <a:ext cx="21590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223962"/>
                </a:solidFill>
                <a:latin typeface="MiSans"/>
                <a:ea typeface="MiSans"/>
              </a:rPr>
              <a:t>5. 待审核状态</a:t>
            </a:r>
            <a:endParaRPr lang="en-US" sz="1600" noProof="1"/>
          </a:p>
          <a:p>
            <a:pPr algn="ctr">
              <a:lnSpc>
                <a:spcPct val="120000"/>
              </a:lnSpc>
              <a:spcBef>
                <a:spcPts val="400"/>
              </a:spcBef>
            </a:pPr>
            <a:r>
              <a:rPr lang="en-US" sz="1100" noProof="1">
                <a:solidFill>
                  <a:srgbClr val="666666"/>
                </a:solidFill>
                <a:latin typeface="MiSans"/>
                <a:ea typeface="MiSans"/>
              </a:rPr>
              <a:t>进入待审核或待发布状态</a:t>
            </a:r>
            <a:endParaRPr lang="en-US" sz="1600" noProof="1"/>
          </a:p>
        </p:txBody>
      </p:sp>
      <p:sp>
        <p:nvSpPr>
          <p:cNvPr id="22" name="a5"/>
          <p:cNvSpPr/>
          <p:nvPr/>
        </p:nvSpPr>
        <p:spPr>
          <a:xfrm>
            <a:off x="3086100" y="3098800"/>
            <a:ext cx="203200" cy="254000"/>
          </a:xfrm>
          <a:prstGeom prst="rightArrow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23" name="s6"/>
          <p:cNvSpPr/>
          <p:nvPr/>
        </p:nvSpPr>
        <p:spPr>
          <a:xfrm>
            <a:off x="3340100" y="2692400"/>
            <a:ext cx="2413000" cy="106680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</p:spPr>
      </p:sp>
      <p:sp>
        <p:nvSpPr>
          <p:cNvPr id="24" name="s6-text"/>
          <p:cNvSpPr txBox="1"/>
          <p:nvPr/>
        </p:nvSpPr>
        <p:spPr>
          <a:xfrm>
            <a:off x="3467100" y="2794000"/>
            <a:ext cx="21590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223962"/>
                </a:solidFill>
                <a:latin typeface="MiSans"/>
                <a:ea typeface="MiSans"/>
              </a:rPr>
              <a:t>6. 确认发布信息</a:t>
            </a:r>
            <a:endParaRPr lang="en-US" sz="1600" noProof="1"/>
          </a:p>
          <a:p>
            <a:pPr algn="ctr">
              <a:lnSpc>
                <a:spcPct val="120000"/>
              </a:lnSpc>
              <a:spcBef>
                <a:spcPts val="400"/>
              </a:spcBef>
            </a:pPr>
            <a:r>
              <a:rPr lang="en-US" sz="1100" noProof="1">
                <a:solidFill>
                  <a:srgbClr val="666666"/>
                </a:solidFill>
                <a:latin typeface="MiSans"/>
                <a:ea typeface="MiSans"/>
              </a:rPr>
              <a:t>管理员/负责人确认目录、标签和权限</a:t>
            </a:r>
            <a:endParaRPr lang="en-US" sz="1600" noProof="1"/>
          </a:p>
        </p:txBody>
      </p:sp>
      <p:sp>
        <p:nvSpPr>
          <p:cNvPr id="25" name="a6"/>
          <p:cNvSpPr/>
          <p:nvPr/>
        </p:nvSpPr>
        <p:spPr>
          <a:xfrm>
            <a:off x="5803900" y="3098800"/>
            <a:ext cx="203200" cy="254000"/>
          </a:xfrm>
          <a:prstGeom prst="rightArrow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26" name="s7"/>
          <p:cNvSpPr/>
          <p:nvPr/>
        </p:nvSpPr>
        <p:spPr>
          <a:xfrm>
            <a:off x="6057900" y="2692400"/>
            <a:ext cx="2413000" cy="106680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</p:spPr>
      </p:sp>
      <p:sp>
        <p:nvSpPr>
          <p:cNvPr id="27" name="s7-text"/>
          <p:cNvSpPr txBox="1"/>
          <p:nvPr/>
        </p:nvSpPr>
        <p:spPr>
          <a:xfrm>
            <a:off x="6184900" y="2794000"/>
            <a:ext cx="21590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223962"/>
                </a:solidFill>
                <a:latin typeface="MiSans"/>
                <a:ea typeface="MiSans"/>
              </a:rPr>
              <a:t>7. 发布共享空间</a:t>
            </a:r>
            <a:endParaRPr lang="en-US" sz="1600" noProof="1"/>
          </a:p>
          <a:p>
            <a:pPr algn="ctr">
              <a:lnSpc>
                <a:spcPct val="120000"/>
              </a:lnSpc>
              <a:spcBef>
                <a:spcPts val="400"/>
              </a:spcBef>
            </a:pPr>
            <a:r>
              <a:rPr lang="en-US" sz="1100" noProof="1">
                <a:solidFill>
                  <a:srgbClr val="666666"/>
                </a:solidFill>
                <a:latin typeface="MiSans"/>
                <a:ea typeface="MiSans"/>
              </a:rPr>
              <a:t>发布到共享资源空间</a:t>
            </a:r>
            <a:endParaRPr lang="en-US" sz="1600" noProof="1"/>
          </a:p>
        </p:txBody>
      </p:sp>
      <p:sp>
        <p:nvSpPr>
          <p:cNvPr id="28" name="a7"/>
          <p:cNvSpPr/>
          <p:nvPr/>
        </p:nvSpPr>
        <p:spPr>
          <a:xfrm>
            <a:off x="8521700" y="3098800"/>
            <a:ext cx="203200" cy="254000"/>
          </a:xfrm>
          <a:prstGeom prst="rightArrow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29" name="s8"/>
          <p:cNvSpPr/>
          <p:nvPr/>
        </p:nvSpPr>
        <p:spPr>
          <a:xfrm>
            <a:off x="8775700" y="2692400"/>
            <a:ext cx="2413000" cy="106680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</p:spPr>
      </p:sp>
      <p:sp>
        <p:nvSpPr>
          <p:cNvPr id="30" name="s8-text"/>
          <p:cNvSpPr txBox="1"/>
          <p:nvPr/>
        </p:nvSpPr>
        <p:spPr>
          <a:xfrm>
            <a:off x="8902700" y="2794000"/>
            <a:ext cx="21590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223962"/>
                </a:solidFill>
                <a:latin typeface="MiSans"/>
                <a:ea typeface="MiSans"/>
              </a:rPr>
              <a:t>8. 按权限使用</a:t>
            </a:r>
            <a:endParaRPr lang="en-US" sz="1600" noProof="1"/>
          </a:p>
          <a:p>
            <a:pPr algn="ctr">
              <a:lnSpc>
                <a:spcPct val="120000"/>
              </a:lnSpc>
              <a:spcBef>
                <a:spcPts val="400"/>
              </a:spcBef>
            </a:pPr>
            <a:r>
              <a:rPr lang="en-US" sz="1100" noProof="1">
                <a:solidFill>
                  <a:srgbClr val="666666"/>
                </a:solidFill>
                <a:latin typeface="MiSans"/>
                <a:ea typeface="MiSans"/>
              </a:rPr>
              <a:t>其他用户按权限检索和读取</a:t>
            </a:r>
            <a:endParaRPr lang="en-US" sz="1600" noProof="1"/>
          </a:p>
        </p:txBody>
      </p:sp>
      <p:sp>
        <p:nvSpPr>
          <p:cNvPr id="31" name="gov-box"/>
          <p:cNvSpPr/>
          <p:nvPr/>
        </p:nvSpPr>
        <p:spPr>
          <a:xfrm>
            <a:off x="622300" y="4038600"/>
            <a:ext cx="10947400" cy="1473200"/>
          </a:xfrm>
          <a:prstGeom prst="roundRect">
            <a:avLst>
              <a:gd name="adj" fmla="val 5000"/>
            </a:avLst>
          </a:prstGeom>
          <a:solidFill>
            <a:srgbClr val="F4F9FE"/>
          </a:solidFill>
          <a:ln w="12700">
            <a:solidFill>
              <a:srgbClr val="BDD7EE"/>
            </a:solidFill>
          </a:ln>
        </p:spPr>
      </p:sp>
      <p:sp>
        <p:nvSpPr>
          <p:cNvPr id="32" name="gov-title"/>
          <p:cNvSpPr txBox="1"/>
          <p:nvPr/>
        </p:nvSpPr>
        <p:spPr>
          <a:xfrm>
            <a:off x="927100" y="41910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 b="1">
                <a:solidFill>
                  <a:srgbClr val="223962"/>
                </a:solidFill>
                <a:latin typeface="微软雅黑"/>
                <a:ea typeface="微软雅黑"/>
              </a:rPr>
              <a:t>生产环境建议增加的治理字段</a:t>
            </a:r>
            <a:endParaRPr lang="en-US" sz="1300" noProof="1"/>
          </a:p>
        </p:txBody>
      </p:sp>
      <p:sp>
        <p:nvSpPr>
          <p:cNvPr id="33" name="gov-left"/>
          <p:cNvSpPr txBox="1"/>
          <p:nvPr/>
        </p:nvSpPr>
        <p:spPr>
          <a:xfrm>
            <a:off x="927100" y="4521200"/>
            <a:ext cx="50800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  <a:spcBef>
                <a:spcPts val="10"/>
              </a:spcBef>
              <a:buChar char="•"/>
            </a:pP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资源所属组织、部门和项目；</a:t>
            </a:r>
            <a:endParaRPr lang="en-US" sz="1200" noProof="1"/>
          </a:p>
          <a:p>
            <a:pPr algn="l">
              <a:lnSpc>
                <a:spcPct val="160000"/>
              </a:lnSpc>
              <a:spcBef>
                <a:spcPts val="10"/>
              </a:spcBef>
              <a:buChar char="•"/>
            </a:pP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资源负责人和审核人；</a:t>
            </a:r>
            <a:endParaRPr lang="en-US" sz="1200" noProof="1"/>
          </a:p>
          <a:p>
            <a:pPr algn="l">
              <a:lnSpc>
                <a:spcPct val="160000"/>
              </a:lnSpc>
              <a:spcBef>
                <a:spcPts val="10"/>
              </a:spcBef>
              <a:buChar char="•"/>
            </a:pP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数据敏感级别和保密期限。</a:t>
            </a:r>
            <a:endParaRPr lang="en-US" sz="1200" noProof="1"/>
          </a:p>
        </p:txBody>
      </p:sp>
      <p:sp>
        <p:nvSpPr>
          <p:cNvPr id="34" name="gov-right"/>
          <p:cNvSpPr txBox="1"/>
          <p:nvPr/>
        </p:nvSpPr>
        <p:spPr>
          <a:xfrm>
            <a:off x="6350000" y="4521200"/>
            <a:ext cx="49530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  <a:spcBef>
                <a:spcPts val="10"/>
              </a:spcBef>
              <a:buChar char="•"/>
            </a:pP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生效时间、更新时间和废弃状态；</a:t>
            </a:r>
            <a:endParaRPr lang="en-US" sz="1200" noProof="1"/>
          </a:p>
          <a:p>
            <a:pPr algn="l">
              <a:lnSpc>
                <a:spcPct val="160000"/>
              </a:lnSpc>
              <a:spcBef>
                <a:spcPts val="10"/>
              </a:spcBef>
              <a:buChar char="•"/>
            </a:pP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允许访问的用户组或角色；</a:t>
            </a:r>
            <a:endParaRPr lang="en-US" sz="1200" noProof="1"/>
          </a:p>
          <a:p>
            <a:pPr algn="l">
              <a:lnSpc>
                <a:spcPct val="160000"/>
              </a:lnSpc>
              <a:spcBef>
                <a:spcPts val="10"/>
              </a:spcBef>
              <a:buChar char="•"/>
            </a:pP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原始文件位置、版本号和内容哈希。</a:t>
            </a:r>
            <a:endParaRPr lang="en-US" sz="1200" noProof="1"/>
          </a:p>
        </p:txBody>
      </p:sp>
      <p:sp>
        <p:nvSpPr>
          <p:cNvPr id="35" name="note"/>
          <p:cNvSpPr txBox="1"/>
          <p:nvPr/>
        </p:nvSpPr>
        <p:spPr>
          <a:xfrm>
            <a:off x="698500" y="5689600"/>
            <a:ext cx="108712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666666"/>
                </a:solidFill>
                <a:latin typeface="MiSans"/>
                <a:ea typeface="MiSans"/>
              </a:rPr>
              <a:t>导入资源时，OpenViking 可自动解析内容、生成摘要、调用 Embedding 模型并建立索引；项目文档和代码建议以</a:t>
            </a:r>
            <a:r>
              <a:rPr lang="en-US" sz="1200" noProof="1" b="1">
                <a:solidFill>
                  <a:srgbClr val="666666"/>
                </a:solidFill>
                <a:latin typeface="MiSans"/>
                <a:ea typeface="MiSans"/>
              </a:rPr>
              <a:t>目录或批量任务</a:t>
            </a:r>
            <a:r>
              <a:rPr lang="en-US" sz="1200" noProof="1">
                <a:solidFill>
                  <a:srgbClr val="666666"/>
                </a:solidFill>
                <a:latin typeface="MiSans"/>
                <a:ea typeface="MiSans"/>
              </a:rPr>
              <a:t>导入，不建议用户通过 UI 逐条录入。</a:t>
            </a:r>
            <a:endParaRPr lang="en-US" sz="120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>
              <a:alphaModFix amt="30000"/>
            </a:blip>
            <a:stretch>
              <a:fillRect/>
            </a:stretch>
          </a:blipFill>
          <a:ln>
            <a:noFill/>
          </a:ln>
        </p:spPr>
      </p:sp>
      <p:sp>
        <p:nvSpPr>
          <p:cNvPr id="3" name="band"/>
          <p:cNvSpPr/>
          <p:nvPr/>
        </p:nvSpPr>
        <p:spPr>
          <a:xfrm>
            <a:off x="0" y="2865120"/>
            <a:ext cx="12192000" cy="1136650"/>
          </a:xfrm>
          <a:prstGeom prst="rect">
            <a:avLst/>
          </a:prstGeom>
          <a:solidFill>
            <a:srgbClr val="5B9BD5"/>
          </a:solidFill>
          <a:ln>
            <a:noFill/>
          </a:ln>
        </p:spPr>
      </p:sp>
      <p:sp>
        <p:nvSpPr>
          <p:cNvPr id="4" name="num-box"/>
          <p:cNvSpPr/>
          <p:nvPr/>
        </p:nvSpPr>
        <p:spPr>
          <a:xfrm>
            <a:off x="1351280" y="2306320"/>
            <a:ext cx="1651000" cy="2306320"/>
          </a:xfrm>
          <a:prstGeom prst="roundRect">
            <a:avLst/>
          </a:prstGeom>
          <a:noFill/>
          <a:ln w="38100">
            <a:solidFill>
              <a:srgbClr val="5B9BD5"/>
            </a:solidFill>
          </a:ln>
          <a:effectLst>
            <a:outerShdw blurRad="63500" dist="0" dir="0" sx="100000" sy="100000" kx="0" ky="0" algn="bl" rotWithShape="0">
              <a:srgbClr val="000000">
                <a:alpha val="40000"/>
              </a:srgbClr>
            </a:outerShdw>
          </a:effectLst>
        </p:spPr>
      </p:sp>
      <p:sp>
        <p:nvSpPr>
          <p:cNvPr id="5" name="num"/>
          <p:cNvSpPr txBox="1"/>
          <p:nvPr/>
        </p:nvSpPr>
        <p:spPr>
          <a:xfrm>
            <a:off x="1473200" y="2848610"/>
            <a:ext cx="1409700" cy="1231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600" noProof="1">
                <a:solidFill>
                  <a:srgbClr val="FFFFFF"/>
                </a:solidFill>
                <a:latin typeface="Arial"/>
                <a:ea typeface="微软雅黑"/>
              </a:rPr>
              <a:t>04</a:t>
            </a:r>
            <a:endParaRPr lang="en-US" sz="7600" noProof="1"/>
          </a:p>
        </p:txBody>
      </p:sp>
      <p:sp>
        <p:nvSpPr>
          <p:cNvPr id="6" name="ch-title"/>
          <p:cNvSpPr txBox="1"/>
          <p:nvPr/>
        </p:nvSpPr>
        <p:spPr>
          <a:xfrm>
            <a:off x="3723640" y="3048000"/>
            <a:ext cx="8128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4000" noProof="1" b="1">
                <a:solidFill>
                  <a:srgbClr val="FFFFFF"/>
                </a:solidFill>
                <a:latin typeface="Arial"/>
                <a:ea typeface="微软雅黑"/>
              </a:rPr>
              <a:t>        接入方式与工作流程</a:t>
            </a:r>
            <a:endParaRPr lang="en-US" sz="4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600" noProof="1" b="1">
                <a:solidFill>
                  <a:srgbClr val="0070C0"/>
                </a:solidFill>
                <a:latin typeface="Arial"/>
                <a:ea typeface="微软雅黑"/>
              </a:rPr>
              <a:t>四方上行</a:t>
            </a:r>
            <a:endParaRPr lang="en-US" sz="1600" noProof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30860" cy="44831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8060"/>
            <a:ext cx="8841740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32850" y="988060"/>
            <a:ext cx="3357880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814070" y="265430"/>
            <a:ext cx="8669020" cy="4394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223962"/>
                </a:solidFill>
                <a:latin typeface="微软雅黑"/>
                <a:ea typeface="微软雅黑"/>
              </a:rPr>
              <a:t>推荐访问链路与客户端封装</a:t>
            </a:r>
            <a:endParaRPr lang="en-US" sz="24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600" noProof="1" b="1">
                <a:solidFill>
                  <a:srgbClr val="0070C0"/>
                </a:solidFill>
                <a:latin typeface="Arial"/>
                <a:ea typeface="微软雅黑"/>
              </a:rPr>
              <a:t>四方上行</a:t>
            </a:r>
            <a:endParaRPr lang="en-US" sz="1600" noProof="1"/>
          </a:p>
        </p:txBody>
      </p:sp>
      <p:sp>
        <p:nvSpPr>
          <p:cNvPr id="8" name="chain-title"/>
          <p:cNvSpPr txBox="1"/>
          <p:nvPr/>
        </p:nvSpPr>
        <p:spPr>
          <a:xfrm>
            <a:off x="622300" y="1219200"/>
            <a:ext cx="533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 b="1">
                <a:solidFill>
                  <a:srgbClr val="223962"/>
                </a:solidFill>
                <a:latin typeface="微软雅黑"/>
                <a:ea typeface="微软雅黑"/>
              </a:rPr>
              <a:t>推荐访问链路</a:t>
            </a:r>
            <a:endParaRPr lang="en-US" sz="1300" noProof="1"/>
          </a:p>
        </p:txBody>
      </p:sp>
      <p:sp>
        <p:nvSpPr>
          <p:cNvPr id="9" name="ch1"/>
          <p:cNvSpPr/>
          <p:nvPr/>
        </p:nvSpPr>
        <p:spPr>
          <a:xfrm>
            <a:off x="622300" y="1549400"/>
            <a:ext cx="5334000" cy="66040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</p:spPr>
      </p:sp>
      <p:sp>
        <p:nvSpPr>
          <p:cNvPr id="10" name="ch1-text"/>
          <p:cNvSpPr txBox="1"/>
          <p:nvPr/>
        </p:nvSpPr>
        <p:spPr>
          <a:xfrm>
            <a:off x="622300" y="1549400"/>
            <a:ext cx="5334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223962"/>
                </a:solidFill>
                <a:latin typeface="微软雅黑"/>
                <a:ea typeface="微软雅黑"/>
              </a:rPr>
              <a:t>React 渲染进程</a:t>
            </a:r>
            <a:endParaRPr lang="en-US" sz="1400" noProof="1"/>
          </a:p>
        </p:txBody>
      </p:sp>
      <p:sp>
        <p:nvSpPr>
          <p:cNvPr id="11" name="cha1"/>
          <p:cNvSpPr/>
          <p:nvPr/>
        </p:nvSpPr>
        <p:spPr>
          <a:xfrm>
            <a:off x="3149600" y="2235200"/>
            <a:ext cx="279400" cy="177800"/>
          </a:xfrm>
          <a:prstGeom prst="downArrow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12" name="ch2"/>
          <p:cNvSpPr/>
          <p:nvPr/>
        </p:nvSpPr>
        <p:spPr>
          <a:xfrm>
            <a:off x="622300" y="2438400"/>
            <a:ext cx="5334000" cy="66040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</p:spPr>
      </p:sp>
      <p:sp>
        <p:nvSpPr>
          <p:cNvPr id="13" name="ch2-text"/>
          <p:cNvSpPr txBox="1"/>
          <p:nvPr/>
        </p:nvSpPr>
        <p:spPr>
          <a:xfrm>
            <a:off x="622300" y="2438400"/>
            <a:ext cx="5334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223962"/>
                </a:solidFill>
                <a:latin typeface="微软雅黑"/>
                <a:ea typeface="微软雅黑"/>
              </a:rPr>
              <a:t>Electron Preload 白名单 API</a:t>
            </a:r>
            <a:endParaRPr lang="en-US" sz="1400" noProof="1"/>
          </a:p>
        </p:txBody>
      </p:sp>
      <p:sp>
        <p:nvSpPr>
          <p:cNvPr id="14" name="cha2"/>
          <p:cNvSpPr/>
          <p:nvPr/>
        </p:nvSpPr>
        <p:spPr>
          <a:xfrm>
            <a:off x="3149600" y="3124200"/>
            <a:ext cx="279400" cy="177800"/>
          </a:xfrm>
          <a:prstGeom prst="downArrow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15" name="ch3"/>
          <p:cNvSpPr/>
          <p:nvPr/>
        </p:nvSpPr>
        <p:spPr>
          <a:xfrm>
            <a:off x="622300" y="3327400"/>
            <a:ext cx="5334000" cy="66040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</p:spPr>
      </p:sp>
      <p:sp>
        <p:nvSpPr>
          <p:cNvPr id="16" name="ch3-text"/>
          <p:cNvSpPr txBox="1"/>
          <p:nvPr/>
        </p:nvSpPr>
        <p:spPr>
          <a:xfrm>
            <a:off x="622300" y="3327400"/>
            <a:ext cx="5334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223962"/>
                </a:solidFill>
                <a:latin typeface="微软雅黑"/>
                <a:ea typeface="微软雅黑"/>
              </a:rPr>
              <a:t>Electron 主进程 / Agent Orchestrator</a:t>
            </a:r>
            <a:endParaRPr lang="en-US" sz="1400" noProof="1"/>
          </a:p>
        </p:txBody>
      </p:sp>
      <p:sp>
        <p:nvSpPr>
          <p:cNvPr id="17" name="cha3"/>
          <p:cNvSpPr/>
          <p:nvPr/>
        </p:nvSpPr>
        <p:spPr>
          <a:xfrm>
            <a:off x="3149600" y="4013200"/>
            <a:ext cx="279400" cy="177800"/>
          </a:xfrm>
          <a:prstGeom prst="downArrow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18" name="ch4"/>
          <p:cNvSpPr/>
          <p:nvPr/>
        </p:nvSpPr>
        <p:spPr>
          <a:xfrm>
            <a:off x="622300" y="4216400"/>
            <a:ext cx="5334000" cy="66040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0070C0"/>
            </a:solidFill>
          </a:ln>
        </p:spPr>
      </p:sp>
      <p:sp>
        <p:nvSpPr>
          <p:cNvPr id="19" name="ch4-text"/>
          <p:cNvSpPr txBox="1"/>
          <p:nvPr/>
        </p:nvSpPr>
        <p:spPr>
          <a:xfrm>
            <a:off x="622300" y="4216400"/>
            <a:ext cx="5334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223962"/>
                </a:solidFill>
                <a:latin typeface="微软雅黑"/>
                <a:ea typeface="微软雅黑"/>
              </a:rPr>
              <a:t>OpenVikingClient（主进程服务层）</a:t>
            </a:r>
            <a:endParaRPr lang="en-US" sz="1400" noProof="1"/>
          </a:p>
        </p:txBody>
      </p:sp>
      <p:sp>
        <p:nvSpPr>
          <p:cNvPr id="20" name="cha4"/>
          <p:cNvSpPr/>
          <p:nvPr/>
        </p:nvSpPr>
        <p:spPr>
          <a:xfrm>
            <a:off x="3149600" y="4902200"/>
            <a:ext cx="279400" cy="177800"/>
          </a:xfrm>
          <a:prstGeom prst="downArrow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21" name="ch5"/>
          <p:cNvSpPr/>
          <p:nvPr/>
        </p:nvSpPr>
        <p:spPr>
          <a:xfrm>
            <a:off x="622300" y="5105400"/>
            <a:ext cx="5334000" cy="6604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22" name="ch5-text"/>
          <p:cNvSpPr txBox="1"/>
          <p:nvPr/>
        </p:nvSpPr>
        <p:spPr>
          <a:xfrm>
            <a:off x="622300" y="5105400"/>
            <a:ext cx="5334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 b="1">
                <a:solidFill>
                  <a:srgbClr val="FFFFFF"/>
                </a:solidFill>
                <a:latin typeface="微软雅黑"/>
                <a:ea typeface="微软雅黑"/>
              </a:rPr>
              <a:t>OpenViking Server</a:t>
            </a:r>
            <a:endParaRPr lang="en-US" sz="1600" noProof="1"/>
          </a:p>
        </p:txBody>
      </p:sp>
      <p:sp>
        <p:nvSpPr>
          <p:cNvPr id="23" name="cap-card"/>
          <p:cNvSpPr/>
          <p:nvPr/>
        </p:nvSpPr>
        <p:spPr>
          <a:xfrm>
            <a:off x="6350000" y="1219200"/>
            <a:ext cx="5219700" cy="4546600"/>
          </a:xfrm>
          <a:prstGeom prst="roundRect">
            <a:avLst>
              <a:gd name="adj" fmla="val 3000"/>
            </a:avLst>
          </a:prstGeom>
          <a:solidFill>
            <a:srgbClr val="F2F7FC"/>
          </a:solidFill>
          <a:ln w="12700">
            <a:solidFill>
              <a:srgbClr val="0070C0"/>
            </a:solidFill>
          </a:ln>
        </p:spPr>
      </p:sp>
      <p:sp>
        <p:nvSpPr>
          <p:cNvPr id="24" name="cap-title"/>
          <p:cNvSpPr txBox="1"/>
          <p:nvPr/>
        </p:nvSpPr>
        <p:spPr>
          <a:xfrm>
            <a:off x="6654800" y="13970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223962"/>
                </a:solidFill>
                <a:latin typeface="微软雅黑"/>
                <a:ea typeface="微软雅黑"/>
              </a:rPr>
              <a:t>OpenVikingClient 建议封装的能力</a:t>
            </a:r>
            <a:endParaRPr lang="en-US" sz="1600" noProof="1"/>
          </a:p>
        </p:txBody>
      </p:sp>
      <p:sp>
        <p:nvSpPr>
          <p:cNvPr id="25" name="cap-list"/>
          <p:cNvSpPr txBox="1"/>
          <p:nvPr/>
        </p:nvSpPr>
        <p:spPr>
          <a:xfrm>
            <a:off x="6654800" y="1803400"/>
            <a:ext cx="4622800" cy="381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  <a:spcBef>
                <a:spcPts val="10"/>
              </a:spcBef>
              <a:buChar char="•"/>
            </a:pPr>
            <a:r>
              <a:rPr lang="en-US" sz="1200" noProof="1" b="1">
                <a:solidFill>
                  <a:srgbClr val="262626"/>
                </a:solidFill>
                <a:latin typeface="MiSans"/>
                <a:ea typeface="MiSans"/>
              </a:rPr>
              <a:t>health</a:t>
            </a: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：服务健康检查和启动状态；</a:t>
            </a:r>
            <a:endParaRPr lang="en-US" sz="1200" noProof="1"/>
          </a:p>
          <a:p>
            <a:pPr algn="l">
              <a:lnSpc>
                <a:spcPct val="160000"/>
              </a:lnSpc>
              <a:spcBef>
                <a:spcPts val="10"/>
              </a:spcBef>
              <a:buChar char="•"/>
            </a:pPr>
            <a:r>
              <a:rPr lang="en-US" sz="1200" noProof="1" b="1">
                <a:solidFill>
                  <a:srgbClr val="262626"/>
                </a:solidFill>
                <a:latin typeface="MiSans"/>
                <a:ea typeface="MiSans"/>
              </a:rPr>
              <a:t>add_resource</a:t>
            </a: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：导入项目文档、代码和业务资料；</a:t>
            </a:r>
            <a:endParaRPr lang="en-US" sz="1200" noProof="1"/>
          </a:p>
          <a:p>
            <a:pPr algn="l">
              <a:lnSpc>
                <a:spcPct val="160000"/>
              </a:lnSpc>
              <a:spcBef>
                <a:spcPts val="10"/>
              </a:spcBef>
              <a:buChar char="•"/>
            </a:pPr>
            <a:r>
              <a:rPr lang="en-US" sz="1200" noProof="1" b="1">
                <a:solidFill>
                  <a:srgbClr val="262626"/>
                </a:solidFill>
                <a:latin typeface="MiSans"/>
                <a:ea typeface="MiSans"/>
              </a:rPr>
              <a:t>find / search</a:t>
            </a: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：根据用户任务召回相关上下文；</a:t>
            </a:r>
            <a:endParaRPr lang="en-US" sz="1200" noProof="1"/>
          </a:p>
          <a:p>
            <a:pPr algn="l">
              <a:lnSpc>
                <a:spcPct val="160000"/>
              </a:lnSpc>
              <a:spcBef>
                <a:spcPts val="10"/>
              </a:spcBef>
              <a:buChar char="•"/>
            </a:pPr>
            <a:r>
              <a:rPr lang="en-US" sz="1200" noProof="1" b="1">
                <a:solidFill>
                  <a:srgbClr val="262626"/>
                </a:solidFill>
                <a:latin typeface="MiSans"/>
                <a:ea typeface="MiSans"/>
              </a:rPr>
              <a:t>read</a:t>
            </a: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：按命中的 URI 读取 L0、L1 或 L2 内容；</a:t>
            </a:r>
            <a:endParaRPr lang="en-US" sz="1200" noProof="1"/>
          </a:p>
          <a:p>
            <a:pPr algn="l">
              <a:lnSpc>
                <a:spcPct val="160000"/>
              </a:lnSpc>
              <a:spcBef>
                <a:spcPts val="10"/>
              </a:spcBef>
              <a:buChar char="•"/>
            </a:pPr>
            <a:r>
              <a:rPr lang="en-US" sz="1200" noProof="1" b="1">
                <a:solidFill>
                  <a:srgbClr val="262626"/>
                </a:solidFill>
                <a:latin typeface="MiSans"/>
                <a:ea typeface="MiSans"/>
              </a:rPr>
              <a:t>remember / session API</a:t>
            </a: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：保存可共享或个人范围的长期记忆；</a:t>
            </a:r>
            <a:endParaRPr lang="en-US" sz="1200" noProof="1"/>
          </a:p>
          <a:p>
            <a:pPr algn="l">
              <a:lnSpc>
                <a:spcPct val="160000"/>
              </a:lnSpc>
              <a:spcBef>
                <a:spcPts val="10"/>
              </a:spcBef>
              <a:buChar char="•"/>
            </a:pP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统一处理认证、超时、重试、错误转换和访问日志。</a:t>
            </a:r>
            <a:endParaRPr lang="en-US" sz="1200" noProof="1"/>
          </a:p>
        </p:txBody>
      </p:sp>
      <p:sp>
        <p:nvSpPr>
          <p:cNvPr id="26" name="sec-note"/>
          <p:cNvSpPr/>
          <p:nvPr/>
        </p:nvSpPr>
        <p:spPr>
          <a:xfrm>
            <a:off x="622300" y="5943600"/>
            <a:ext cx="10947400" cy="558800"/>
          </a:xfrm>
          <a:prstGeom prst="roundRect">
            <a:avLst>
              <a:gd name="adj" fmla="val 10000"/>
            </a:avLst>
          </a:prstGeom>
          <a:solidFill>
            <a:srgbClr val="FDF6EE"/>
          </a:solidFill>
          <a:ln w="12700">
            <a:solidFill>
              <a:srgbClr val="E89924"/>
            </a:solidFill>
          </a:ln>
        </p:spPr>
      </p:sp>
      <p:sp>
        <p:nvSpPr>
          <p:cNvPr id="27" name="sec-note-text"/>
          <p:cNvSpPr txBox="1"/>
          <p:nvPr/>
        </p:nvSpPr>
        <p:spPr>
          <a:xfrm>
            <a:off x="889000" y="5943600"/>
            <a:ext cx="10414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渲染进程不直接访问 OpenViking，也不直接持有服务端认证信息；所有访问都经过主进程的服务封装和权限策略。</a:t>
            </a:r>
            <a:endParaRPr lang="en-US" sz="1200" noProof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30860" cy="44831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8060"/>
            <a:ext cx="8841740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32850" y="988060"/>
            <a:ext cx="3357880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814070" y="265430"/>
            <a:ext cx="8669020" cy="4394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223962"/>
                </a:solidFill>
                <a:latin typeface="微软雅黑"/>
                <a:ea typeface="微软雅黑"/>
              </a:rPr>
              <a:t>结合 Agent 的工作流程</a:t>
            </a:r>
            <a:endParaRPr lang="en-US" sz="24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600" noProof="1" b="1">
                <a:solidFill>
                  <a:srgbClr val="0070C0"/>
                </a:solidFill>
                <a:latin typeface="Arial"/>
                <a:ea typeface="微软雅黑"/>
              </a:rPr>
              <a:t>四方上行</a:t>
            </a:r>
            <a:endParaRPr lang="en-US" sz="1600" noProof="1"/>
          </a:p>
        </p:txBody>
      </p:sp>
      <p:sp>
        <p:nvSpPr>
          <p:cNvPr id="8" name="s1"/>
          <p:cNvSpPr/>
          <p:nvPr/>
        </p:nvSpPr>
        <p:spPr>
          <a:xfrm>
            <a:off x="622300" y="1244600"/>
            <a:ext cx="2413000" cy="101600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</p:spPr>
      </p:sp>
      <p:sp>
        <p:nvSpPr>
          <p:cNvPr id="9" name="s1-text"/>
          <p:cNvSpPr txBox="1"/>
          <p:nvPr/>
        </p:nvSpPr>
        <p:spPr>
          <a:xfrm>
            <a:off x="749300" y="1346200"/>
            <a:ext cx="2159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223962"/>
                </a:solidFill>
                <a:latin typeface="MiSans"/>
                <a:ea typeface="MiSans"/>
              </a:rPr>
              <a:t>1. 用户提出任务</a:t>
            </a:r>
            <a:endParaRPr lang="en-US" sz="1600" noProof="1"/>
          </a:p>
          <a:p>
            <a:pPr algn="ctr">
              <a:lnSpc>
                <a:spcPct val="120000"/>
              </a:lnSpc>
              <a:spcBef>
                <a:spcPts val="400"/>
              </a:spcBef>
            </a:pPr>
            <a:r>
              <a:rPr lang="en-US" sz="1100" noProof="1">
                <a:solidFill>
                  <a:srgbClr val="666666"/>
                </a:solidFill>
                <a:latin typeface="MiSans"/>
                <a:ea typeface="MiSans"/>
              </a:rPr>
              <a:t>自然语言任务进入会话</a:t>
            </a:r>
            <a:endParaRPr lang="en-US" sz="1600" noProof="1"/>
          </a:p>
        </p:txBody>
      </p:sp>
      <p:sp>
        <p:nvSpPr>
          <p:cNvPr id="10" name="a1"/>
          <p:cNvSpPr/>
          <p:nvPr/>
        </p:nvSpPr>
        <p:spPr>
          <a:xfrm>
            <a:off x="3086100" y="1625600"/>
            <a:ext cx="203200" cy="254000"/>
          </a:xfrm>
          <a:prstGeom prst="rightArrow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11" name="s2"/>
          <p:cNvSpPr/>
          <p:nvPr/>
        </p:nvSpPr>
        <p:spPr>
          <a:xfrm>
            <a:off x="3340100" y="1244600"/>
            <a:ext cx="2413000" cy="101600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</p:spPr>
      </p:sp>
      <p:sp>
        <p:nvSpPr>
          <p:cNvPr id="12" name="s2-text"/>
          <p:cNvSpPr txBox="1"/>
          <p:nvPr/>
        </p:nvSpPr>
        <p:spPr>
          <a:xfrm>
            <a:off x="3467100" y="1346200"/>
            <a:ext cx="2159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223962"/>
                </a:solidFill>
                <a:latin typeface="MiSans"/>
                <a:ea typeface="MiSans"/>
              </a:rPr>
              <a:t>2. 判断知识需求</a:t>
            </a:r>
            <a:endParaRPr lang="en-US" sz="1600" noProof="1"/>
          </a:p>
          <a:p>
            <a:pPr algn="ctr">
              <a:lnSpc>
                <a:spcPct val="120000"/>
              </a:lnSpc>
              <a:spcBef>
                <a:spcPts val="400"/>
              </a:spcBef>
            </a:pPr>
            <a:r>
              <a:rPr lang="en-US" sz="1100" noProof="1">
                <a:solidFill>
                  <a:srgbClr val="666666"/>
                </a:solidFill>
                <a:latin typeface="MiSans"/>
                <a:ea typeface="MiSans"/>
              </a:rPr>
              <a:t>是否需要共享知识或历史记忆</a:t>
            </a:r>
            <a:endParaRPr lang="en-US" sz="1600" noProof="1"/>
          </a:p>
        </p:txBody>
      </p:sp>
      <p:sp>
        <p:nvSpPr>
          <p:cNvPr id="13" name="a2"/>
          <p:cNvSpPr/>
          <p:nvPr/>
        </p:nvSpPr>
        <p:spPr>
          <a:xfrm>
            <a:off x="5803900" y="1625600"/>
            <a:ext cx="203200" cy="254000"/>
          </a:xfrm>
          <a:prstGeom prst="rightArrow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14" name="s3"/>
          <p:cNvSpPr/>
          <p:nvPr/>
        </p:nvSpPr>
        <p:spPr>
          <a:xfrm>
            <a:off x="6057900" y="1244600"/>
            <a:ext cx="2413000" cy="101600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</p:spPr>
      </p:sp>
      <p:sp>
        <p:nvSpPr>
          <p:cNvPr id="15" name="s3-text"/>
          <p:cNvSpPr txBox="1"/>
          <p:nvPr/>
        </p:nvSpPr>
        <p:spPr>
          <a:xfrm>
            <a:off x="6184900" y="1346200"/>
            <a:ext cx="2159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223962"/>
                </a:solidFill>
                <a:latin typeface="MiSans"/>
                <a:ea typeface="MiSans"/>
              </a:rPr>
              <a:t>3. 召回上下文</a:t>
            </a:r>
            <a:endParaRPr lang="en-US" sz="1600" noProof="1"/>
          </a:p>
          <a:p>
            <a:pPr algn="ctr">
              <a:lnSpc>
                <a:spcPct val="120000"/>
              </a:lnSpc>
              <a:spcBef>
                <a:spcPts val="400"/>
              </a:spcBef>
            </a:pPr>
            <a:r>
              <a:rPr lang="en-US" sz="1100" noProof="1">
                <a:solidFill>
                  <a:srgbClr val="666666"/>
                </a:solidFill>
                <a:latin typeface="MiSans"/>
                <a:ea typeface="MiSans"/>
              </a:rPr>
              <a:t>OpenViking 召回相关目录和摘要</a:t>
            </a:r>
            <a:endParaRPr lang="en-US" sz="1600" noProof="1"/>
          </a:p>
        </p:txBody>
      </p:sp>
      <p:sp>
        <p:nvSpPr>
          <p:cNvPr id="16" name="a3"/>
          <p:cNvSpPr/>
          <p:nvPr/>
        </p:nvSpPr>
        <p:spPr>
          <a:xfrm>
            <a:off x="8521700" y="1625600"/>
            <a:ext cx="203200" cy="254000"/>
          </a:xfrm>
          <a:prstGeom prst="rightArrow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17" name="s4"/>
          <p:cNvSpPr/>
          <p:nvPr/>
        </p:nvSpPr>
        <p:spPr>
          <a:xfrm>
            <a:off x="8775700" y="1244600"/>
            <a:ext cx="2413000" cy="101600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</p:spPr>
      </p:sp>
      <p:sp>
        <p:nvSpPr>
          <p:cNvPr id="18" name="s4-text"/>
          <p:cNvSpPr txBox="1"/>
          <p:nvPr/>
        </p:nvSpPr>
        <p:spPr>
          <a:xfrm>
            <a:off x="8902700" y="1346200"/>
            <a:ext cx="2159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223962"/>
                </a:solidFill>
                <a:latin typeface="MiSans"/>
                <a:ea typeface="MiSans"/>
              </a:rPr>
              <a:t>4. 按需读取</a:t>
            </a:r>
            <a:endParaRPr lang="en-US" sz="1600" noProof="1"/>
          </a:p>
          <a:p>
            <a:pPr algn="ctr">
              <a:lnSpc>
                <a:spcPct val="120000"/>
              </a:lnSpc>
              <a:spcBef>
                <a:spcPts val="400"/>
              </a:spcBef>
            </a:pPr>
            <a:r>
              <a:rPr lang="en-US" sz="1100" noProof="1">
                <a:solidFill>
                  <a:srgbClr val="666666"/>
                </a:solidFill>
                <a:latin typeface="MiSans"/>
                <a:ea typeface="MiSans"/>
              </a:rPr>
              <a:t>读取 L1 或 L2 详细内容</a:t>
            </a:r>
            <a:endParaRPr lang="en-US" sz="1600" noProof="1"/>
          </a:p>
        </p:txBody>
      </p:sp>
      <p:sp>
        <p:nvSpPr>
          <p:cNvPr id="19" name="a-down"/>
          <p:cNvSpPr/>
          <p:nvPr/>
        </p:nvSpPr>
        <p:spPr>
          <a:xfrm>
            <a:off x="1689100" y="2336800"/>
            <a:ext cx="279400" cy="177800"/>
          </a:xfrm>
          <a:prstGeom prst="downArrow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20" name="s5"/>
          <p:cNvSpPr/>
          <p:nvPr/>
        </p:nvSpPr>
        <p:spPr>
          <a:xfrm>
            <a:off x="622300" y="2590800"/>
            <a:ext cx="2413000" cy="101600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</p:spPr>
      </p:sp>
      <p:sp>
        <p:nvSpPr>
          <p:cNvPr id="21" name="s5-text"/>
          <p:cNvSpPr txBox="1"/>
          <p:nvPr/>
        </p:nvSpPr>
        <p:spPr>
          <a:xfrm>
            <a:off x="749300" y="2692400"/>
            <a:ext cx="2159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223962"/>
                </a:solidFill>
                <a:latin typeface="MiSans"/>
                <a:ea typeface="MiSans"/>
              </a:rPr>
              <a:t>5. 组装提示</a:t>
            </a:r>
            <a:endParaRPr lang="en-US" sz="1600" noProof="1"/>
          </a:p>
          <a:p>
            <a:pPr algn="ctr">
              <a:lnSpc>
                <a:spcPct val="120000"/>
              </a:lnSpc>
              <a:spcBef>
                <a:spcPts val="400"/>
              </a:spcBef>
            </a:pPr>
            <a:r>
              <a:rPr lang="en-US" sz="1100" noProof="1">
                <a:solidFill>
                  <a:srgbClr val="666666"/>
                </a:solidFill>
                <a:latin typeface="MiSans"/>
                <a:ea typeface="MiSans"/>
              </a:rPr>
              <a:t>必要上下文交给模型</a:t>
            </a:r>
            <a:endParaRPr lang="en-US" sz="1600" noProof="1"/>
          </a:p>
        </p:txBody>
      </p:sp>
      <p:sp>
        <p:nvSpPr>
          <p:cNvPr id="22" name="a5"/>
          <p:cNvSpPr/>
          <p:nvPr/>
        </p:nvSpPr>
        <p:spPr>
          <a:xfrm>
            <a:off x="3086100" y="2971800"/>
            <a:ext cx="203200" cy="254000"/>
          </a:xfrm>
          <a:prstGeom prst="rightArrow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23" name="s6"/>
          <p:cNvSpPr/>
          <p:nvPr/>
        </p:nvSpPr>
        <p:spPr>
          <a:xfrm>
            <a:off x="3340100" y="2590800"/>
            <a:ext cx="2413000" cy="101600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</p:spPr>
      </p:sp>
      <p:sp>
        <p:nvSpPr>
          <p:cNvPr id="24" name="s6-text"/>
          <p:cNvSpPr txBox="1"/>
          <p:nvPr/>
        </p:nvSpPr>
        <p:spPr>
          <a:xfrm>
            <a:off x="3467100" y="2692400"/>
            <a:ext cx="2159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223962"/>
                </a:solidFill>
                <a:latin typeface="MiSans"/>
                <a:ea typeface="MiSans"/>
              </a:rPr>
              <a:t>6. 模型决策</a:t>
            </a:r>
            <a:endParaRPr lang="en-US" sz="1600" noProof="1"/>
          </a:p>
          <a:p>
            <a:pPr algn="ctr">
              <a:lnSpc>
                <a:spcPct val="120000"/>
              </a:lnSpc>
              <a:spcBef>
                <a:spcPts val="400"/>
              </a:spcBef>
            </a:pPr>
            <a:r>
              <a:rPr lang="en-US" sz="1100" noProof="1">
                <a:solidFill>
                  <a:srgbClr val="666666"/>
                </a:solidFill>
                <a:latin typeface="MiSans"/>
                <a:ea typeface="MiSans"/>
              </a:rPr>
              <a:t>决定是否调用本地或外部业务工具</a:t>
            </a:r>
            <a:endParaRPr lang="en-US" sz="1600" noProof="1"/>
          </a:p>
        </p:txBody>
      </p:sp>
      <p:sp>
        <p:nvSpPr>
          <p:cNvPr id="25" name="a6"/>
          <p:cNvSpPr/>
          <p:nvPr/>
        </p:nvSpPr>
        <p:spPr>
          <a:xfrm>
            <a:off x="5803900" y="2971800"/>
            <a:ext cx="203200" cy="254000"/>
          </a:xfrm>
          <a:prstGeom prst="rightArrow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26" name="s7"/>
          <p:cNvSpPr/>
          <p:nvPr/>
        </p:nvSpPr>
        <p:spPr>
          <a:xfrm>
            <a:off x="6057900" y="2590800"/>
            <a:ext cx="2413000" cy="101600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</p:spPr>
      </p:sp>
      <p:sp>
        <p:nvSpPr>
          <p:cNvPr id="27" name="s7-text"/>
          <p:cNvSpPr txBox="1"/>
          <p:nvPr/>
        </p:nvSpPr>
        <p:spPr>
          <a:xfrm>
            <a:off x="6184900" y="2692400"/>
            <a:ext cx="2159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223962"/>
                </a:solidFill>
                <a:latin typeface="MiSans"/>
                <a:ea typeface="MiSans"/>
              </a:rPr>
              <a:t>7. 权限检查</a:t>
            </a:r>
            <a:endParaRPr lang="en-US" sz="1600" noProof="1"/>
          </a:p>
          <a:p>
            <a:pPr algn="ctr">
              <a:lnSpc>
                <a:spcPct val="120000"/>
              </a:lnSpc>
              <a:spcBef>
                <a:spcPts val="400"/>
              </a:spcBef>
            </a:pPr>
            <a:r>
              <a:rPr lang="en-US" sz="1100" noProof="1">
                <a:solidFill>
                  <a:srgbClr val="666666"/>
                </a:solidFill>
                <a:latin typeface="MiSans"/>
                <a:ea typeface="MiSans"/>
              </a:rPr>
              <a:t>工具执行前检查和必要审批</a:t>
            </a:r>
            <a:endParaRPr lang="en-US" sz="1600" noProof="1"/>
          </a:p>
        </p:txBody>
      </p:sp>
      <p:sp>
        <p:nvSpPr>
          <p:cNvPr id="28" name="a7"/>
          <p:cNvSpPr/>
          <p:nvPr/>
        </p:nvSpPr>
        <p:spPr>
          <a:xfrm>
            <a:off x="8521700" y="2971800"/>
            <a:ext cx="203200" cy="254000"/>
          </a:xfrm>
          <a:prstGeom prst="rightArrow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29" name="s8"/>
          <p:cNvSpPr/>
          <p:nvPr/>
        </p:nvSpPr>
        <p:spPr>
          <a:xfrm>
            <a:off x="8775700" y="2590800"/>
            <a:ext cx="2413000" cy="101600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</p:spPr>
      </p:sp>
      <p:sp>
        <p:nvSpPr>
          <p:cNvPr id="30" name="s8-text"/>
          <p:cNvSpPr txBox="1"/>
          <p:nvPr/>
        </p:nvSpPr>
        <p:spPr>
          <a:xfrm>
            <a:off x="8902700" y="2692400"/>
            <a:ext cx="2159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223962"/>
                </a:solidFill>
                <a:latin typeface="MiSans"/>
                <a:ea typeface="MiSans"/>
              </a:rPr>
              <a:t>8. 结果回写</a:t>
            </a:r>
            <a:endParaRPr lang="en-US" sz="1600" noProof="1"/>
          </a:p>
          <a:p>
            <a:pPr algn="ctr">
              <a:lnSpc>
                <a:spcPct val="120000"/>
              </a:lnSpc>
              <a:spcBef>
                <a:spcPts val="400"/>
              </a:spcBef>
            </a:pPr>
            <a:r>
              <a:rPr lang="en-US" sz="1100" noProof="1">
                <a:solidFill>
                  <a:srgbClr val="666666"/>
                </a:solidFill>
                <a:latin typeface="MiSans"/>
                <a:ea typeface="MiSans"/>
              </a:rPr>
              <a:t>回写会话；可选提交并抽取长期记忆</a:t>
            </a:r>
            <a:endParaRPr lang="en-US" sz="1600" noProof="1"/>
          </a:p>
        </p:txBody>
      </p:sp>
      <p:sp>
        <p:nvSpPr>
          <p:cNvPr id="31" name="trade-box"/>
          <p:cNvSpPr/>
          <p:nvPr/>
        </p:nvSpPr>
        <p:spPr>
          <a:xfrm>
            <a:off x="622300" y="3886200"/>
            <a:ext cx="10947400" cy="1549400"/>
          </a:xfrm>
          <a:prstGeom prst="roundRect">
            <a:avLst>
              <a:gd name="adj" fmla="val 5000"/>
            </a:avLst>
          </a:prstGeom>
          <a:solidFill>
            <a:srgbClr val="F4F9FE"/>
          </a:solidFill>
          <a:ln w="12700">
            <a:solidFill>
              <a:srgbClr val="BDD7EE"/>
            </a:solidFill>
          </a:ln>
        </p:spPr>
      </p:sp>
      <p:sp>
        <p:nvSpPr>
          <p:cNvPr id="32" name="trade-title"/>
          <p:cNvSpPr txBox="1"/>
          <p:nvPr/>
        </p:nvSpPr>
        <p:spPr>
          <a:xfrm>
            <a:off x="927100" y="40386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 b="1">
                <a:solidFill>
                  <a:srgbClr val="223962"/>
                </a:solidFill>
                <a:latin typeface="微软雅黑"/>
                <a:ea typeface="微软雅黑"/>
              </a:rPr>
              <a:t>HTTP / SDK 与 MCP 的取舍</a:t>
            </a:r>
            <a:endParaRPr lang="en-US" sz="1300" noProof="1"/>
          </a:p>
        </p:txBody>
      </p:sp>
      <p:sp>
        <p:nvSpPr>
          <p:cNvPr id="33" name="trade-body"/>
          <p:cNvSpPr txBox="1"/>
          <p:nvPr/>
        </p:nvSpPr>
        <p:spPr>
          <a:xfrm>
            <a:off x="927100" y="4368800"/>
            <a:ext cx="10337800" cy="939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  <a:spcBef>
                <a:spcPts val="10"/>
              </a:spcBef>
              <a:buChar char="•"/>
            </a:pPr>
            <a:r>
              <a:rPr lang="en-US" sz="1200" noProof="1" b="1">
                <a:solidFill>
                  <a:srgbClr val="0070C0"/>
                </a:solidFill>
                <a:latin typeface="MiSans"/>
                <a:ea typeface="MiSans"/>
              </a:rPr>
              <a:t>HTTP / SDK</a:t>
            </a: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：适合令旗自己严格控制调用顺序，推荐作为主入口；</a:t>
            </a:r>
            <a:endParaRPr lang="en-US" sz="1200" noProof="1"/>
          </a:p>
          <a:p>
            <a:pPr algn="l">
              <a:lnSpc>
                <a:spcPct val="160000"/>
              </a:lnSpc>
              <a:spcBef>
                <a:spcPts val="10"/>
              </a:spcBef>
              <a:buChar char="•"/>
            </a:pPr>
            <a:r>
              <a:rPr lang="en-US" sz="1200" noProof="1" b="1">
                <a:solidFill>
                  <a:srgbClr val="0070C0"/>
                </a:solidFill>
                <a:latin typeface="MiSans"/>
                <a:ea typeface="MiSans"/>
              </a:rPr>
              <a:t>MCP</a:t>
            </a: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：适合让模型自主决定何时搜索、读取或保存记忆，可作为可选工具入口；</a:t>
            </a:r>
            <a:endParaRPr lang="en-US" sz="1200" noProof="1"/>
          </a:p>
          <a:p>
            <a:pPr algn="l">
              <a:lnSpc>
                <a:spcPct val="160000"/>
              </a:lnSpc>
              <a:spcBef>
                <a:spcPts val="10"/>
              </a:spcBef>
              <a:buChar char="•"/>
            </a:pP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两种方式可以共存，但同一个操作最好只有一个主入口，避免重复导入、重复召回或重复写入。</a:t>
            </a:r>
            <a:endParaRPr lang="en-US" sz="1200" noProof="1"/>
          </a:p>
        </p:txBody>
      </p:sp>
      <p:sp>
        <p:nvSpPr>
          <p:cNvPr id="34" name="duty-strip"/>
          <p:cNvSpPr/>
          <p:nvPr/>
        </p:nvSpPr>
        <p:spPr>
          <a:xfrm>
            <a:off x="622300" y="5638800"/>
            <a:ext cx="10947400" cy="660400"/>
          </a:xfrm>
          <a:prstGeom prst="roundRect">
            <a:avLst>
              <a:gd name="adj" fmla="val 8000"/>
            </a:avLst>
          </a:prstGeom>
          <a:solidFill>
            <a:srgbClr val="223962"/>
          </a:solidFill>
          <a:ln>
            <a:noFill/>
          </a:ln>
        </p:spPr>
      </p:sp>
      <p:sp>
        <p:nvSpPr>
          <p:cNvPr id="35" name="duty-text"/>
          <p:cNvSpPr txBox="1"/>
          <p:nvPr/>
        </p:nvSpPr>
        <p:spPr>
          <a:xfrm>
            <a:off x="889000" y="5638800"/>
            <a:ext cx="10414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>
                <a:solidFill>
                  <a:srgbClr val="FFFFFF"/>
                </a:solidFill>
                <a:latin typeface="MiSans"/>
                <a:ea typeface="MiSans"/>
              </a:rPr>
              <a:t>OpenViking 负责「找到和组织上下文」，令旗负责「理解任务、编排工具、执行权限和展示结果」，两者职责清晰，便于独立升级。</a:t>
            </a:r>
            <a:endParaRPr lang="en-US" sz="1300" noProof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30860" cy="44831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8060"/>
            <a:ext cx="8841740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32850" y="988060"/>
            <a:ext cx="3357880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814070" y="265430"/>
            <a:ext cx="8669020" cy="4394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223962"/>
                </a:solidFill>
                <a:latin typeface="微软雅黑"/>
                <a:ea typeface="微软雅黑"/>
              </a:rPr>
              <a:t>与当前项目的对应关系</a:t>
            </a:r>
            <a:endParaRPr lang="en-US" sz="24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600" noProof="1" b="1">
                <a:solidFill>
                  <a:srgbClr val="0070C0"/>
                </a:solidFill>
                <a:latin typeface="Arial"/>
                <a:ea typeface="微软雅黑"/>
              </a:rPr>
              <a:t>四方上行</a:t>
            </a:r>
            <a:endParaRPr lang="en-US" sz="1600" noProof="1"/>
          </a:p>
        </p:txBody>
      </p:sp>
      <p:graphicFrame>
        <p:nvGraphicFramePr>
          <p:cNvPr id="8" name="map-table"/>
          <p:cNvGraphicFramePr>
            <a:graphicFrameLocks noGrp="1"/>
          </p:cNvGraphicFramePr>
          <p:nvPr/>
        </p:nvGraphicFramePr>
        <p:xfrm>
          <a:off x="622300" y="1270000"/>
          <a:ext cx="10947400" cy="5080000"/>
        </p:xfrm>
        <a:graphic>
          <a:graphicData uri="http://schemas.openxmlformats.org/drawingml/2006/table">
            <a:tbl>
              <a:tblPr/>
              <a:tblGrid>
                <a:gridCol w="1313688"/>
                <a:gridCol w="4707382"/>
                <a:gridCol w="4926330"/>
              </a:tblGrid>
              <a:tr h="508000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400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领域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70C0"/>
                      </a:solidFill>
                    </a:lnL>
                    <a:lnR w="12700">
                      <a:solidFill>
                        <a:srgbClr val="0070C0"/>
                      </a:solidFill>
                    </a:lnR>
                    <a:lnT w="12700">
                      <a:solidFill>
                        <a:srgbClr val="0070C0"/>
                      </a:solidFill>
                    </a:lnT>
                    <a:lnB w="12700">
                      <a:solidFill>
                        <a:srgbClr val="0070C0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400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当前项目已有能力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70C0"/>
                      </a:solidFill>
                    </a:lnL>
                    <a:lnR w="12700">
                      <a:solidFill>
                        <a:srgbClr val="0070C0"/>
                      </a:solidFill>
                    </a:lnR>
                    <a:lnT w="12700">
                      <a:solidFill>
                        <a:srgbClr val="0070C0"/>
                      </a:solidFill>
                    </a:lnT>
                    <a:lnB w="12700">
                      <a:solidFill>
                        <a:srgbClr val="0070C0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400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OpenViking 接入后的变化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70C0"/>
                      </a:solidFill>
                    </a:lnL>
                    <a:lnR w="12700">
                      <a:solidFill>
                        <a:srgbClr val="0070C0"/>
                      </a:solidFill>
                    </a:lnR>
                    <a:lnT w="12700">
                      <a:solidFill>
                        <a:srgbClr val="0070C0"/>
                      </a:solidFill>
                    </a:lnT>
                    <a:lnB w="12700">
                      <a:solidFill>
                        <a:srgbClr val="0070C0"/>
                      </a:solidFill>
                    </a:lnB>
                    <a:solidFill>
                      <a:srgbClr val="0070C0"/>
                    </a:solidFill>
                  </a:tcPr>
                </a:tc>
              </a:tr>
              <a:tr h="655320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 b="1">
                          <a:solidFill>
                            <a:srgbClr val="262626"/>
                          </a:solidFill>
                          <a:latin typeface="MiSans"/>
                          <a:ea typeface="MiSans"/>
                        </a:rPr>
                        <a:t>对话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62626"/>
                          </a:solidFill>
                          <a:latin typeface="MiSans"/>
                          <a:ea typeface="MiSans"/>
                        </a:rPr>
                        <a:t>React Chat + Electron 主进程流式请求。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62626"/>
                          </a:solidFill>
                          <a:latin typeface="MiSans"/>
                          <a:ea typeface="MiSans"/>
                        </a:rPr>
                        <a:t>在请求前增加共享上下文召回和按需读取。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 b="1">
                          <a:solidFill>
                            <a:srgbClr val="262626"/>
                          </a:solidFill>
                          <a:latin typeface="MiSans"/>
                          <a:ea typeface="MiSans"/>
                        </a:rPr>
                        <a:t>会话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62626"/>
                          </a:solidFill>
                          <a:latin typeface="MiSans"/>
                          <a:ea typeface="MiSans"/>
                        </a:rPr>
                        <a:t>localStorage 保存本地会话。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62626"/>
                          </a:solidFill>
                          <a:latin typeface="MiSans"/>
                          <a:ea typeface="MiSans"/>
                        </a:rPr>
                        <a:t>可选提交会话，抽取组织记忆或个人记忆。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</a:tr>
              <a:tr h="655320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 b="1">
                          <a:solidFill>
                            <a:srgbClr val="262626"/>
                          </a:solidFill>
                          <a:latin typeface="MiSans"/>
                          <a:ea typeface="MiSans"/>
                        </a:rPr>
                        <a:t>文件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62626"/>
                          </a:solidFill>
                          <a:latin typeface="MiSans"/>
                          <a:ea typeface="MiSans"/>
                        </a:rPr>
                        <a:t>本地附件解析，任务结束后清理临时文件。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62626"/>
                          </a:solidFill>
                          <a:latin typeface="MiSans"/>
                          <a:ea typeface="MiSans"/>
                        </a:rPr>
                        <a:t>经审核的文件可异步导入共享资源空间。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 b="1">
                          <a:solidFill>
                            <a:srgbClr val="262626"/>
                          </a:solidFill>
                          <a:latin typeface="MiSans"/>
                          <a:ea typeface="MiSans"/>
                        </a:rPr>
                        <a:t>工具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62626"/>
                          </a:solidFill>
                          <a:latin typeface="MiSans"/>
                          <a:ea typeface="MiSans"/>
                        </a:rPr>
                        <a:t>ToolRegistry、执行器、超时、取消和权限分级。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62626"/>
                          </a:solidFill>
                          <a:latin typeface="MiSans"/>
                          <a:ea typeface="MiSans"/>
                        </a:rPr>
                        <a:t>OpenViking 检索能力可封装为主进程服务或可选工具。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</a:tr>
              <a:tr h="655320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 b="1">
                          <a:solidFill>
                            <a:srgbClr val="262626"/>
                          </a:solidFill>
                          <a:latin typeface="MiSans"/>
                          <a:ea typeface="MiSans"/>
                        </a:rPr>
                        <a:t>权限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62626"/>
                          </a:solidFill>
                          <a:latin typeface="MiSans"/>
                          <a:ea typeface="MiSans"/>
                        </a:rPr>
                        <a:t>ask / full 模式，写文件有审批。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62626"/>
                          </a:solidFill>
                          <a:latin typeface="MiSans"/>
                          <a:ea typeface="MiSans"/>
                        </a:rPr>
                        <a:t>增加用户、部门、项目和资源访问权限校验。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 b="1">
                          <a:solidFill>
                            <a:srgbClr val="262626"/>
                          </a:solidFill>
                          <a:latin typeface="MiSans"/>
                          <a:ea typeface="MiSans"/>
                        </a:rPr>
                        <a:t>MCP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62626"/>
                          </a:solidFill>
                          <a:latin typeface="MiSans"/>
                          <a:ea typeface="MiSans"/>
                        </a:rPr>
                        <a:t>当前支持本地 stdio MCP Server。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62626"/>
                          </a:solidFill>
                          <a:latin typeface="MiSans"/>
                          <a:ea typeface="MiSans"/>
                        </a:rPr>
                        <a:t>可选连接 OpenViking MCP，但不取代 HTTP/SDK 主链路。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</a:tr>
              <a:tr h="640080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 b="1">
                          <a:solidFill>
                            <a:srgbClr val="262626"/>
                          </a:solidFill>
                          <a:latin typeface="MiSans"/>
                          <a:ea typeface="MiSans"/>
                        </a:rPr>
                        <a:t>Skill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62626"/>
                          </a:solidFill>
                          <a:latin typeface="MiSans"/>
                          <a:ea typeface="MiSans"/>
                        </a:rPr>
                        <a:t>当前按会话注入 Markdown 规则。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62626"/>
                          </a:solidFill>
                          <a:latin typeface="MiSans"/>
                          <a:ea typeface="MiSans"/>
                        </a:rPr>
                        <a:t>可与 OpenViking 的 Skill 空间协同，但仍只作为文本规则。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>
              <a:alphaModFix amt="30000"/>
            </a:blip>
            <a:stretch>
              <a:fillRect/>
            </a:stretch>
          </a:blipFill>
          <a:ln>
            <a:noFill/>
          </a:ln>
        </p:spPr>
      </p:sp>
      <p:sp>
        <p:nvSpPr>
          <p:cNvPr id="3" name="band"/>
          <p:cNvSpPr/>
          <p:nvPr/>
        </p:nvSpPr>
        <p:spPr>
          <a:xfrm>
            <a:off x="0" y="2865120"/>
            <a:ext cx="12192000" cy="1136650"/>
          </a:xfrm>
          <a:prstGeom prst="rect">
            <a:avLst/>
          </a:prstGeom>
          <a:solidFill>
            <a:srgbClr val="5B9BD5"/>
          </a:solidFill>
          <a:ln>
            <a:noFill/>
          </a:ln>
        </p:spPr>
      </p:sp>
      <p:sp>
        <p:nvSpPr>
          <p:cNvPr id="4" name="num-box"/>
          <p:cNvSpPr/>
          <p:nvPr/>
        </p:nvSpPr>
        <p:spPr>
          <a:xfrm>
            <a:off x="1351280" y="2306320"/>
            <a:ext cx="1651000" cy="2306320"/>
          </a:xfrm>
          <a:prstGeom prst="roundRect">
            <a:avLst/>
          </a:prstGeom>
          <a:noFill/>
          <a:ln w="38100">
            <a:solidFill>
              <a:srgbClr val="5B9BD5"/>
            </a:solidFill>
          </a:ln>
          <a:effectLst>
            <a:outerShdw blurRad="63500" dist="0" dir="0" sx="100000" sy="100000" kx="0" ky="0" algn="bl" rotWithShape="0">
              <a:srgbClr val="000000">
                <a:alpha val="40000"/>
              </a:srgbClr>
            </a:outerShdw>
          </a:effectLst>
        </p:spPr>
      </p:sp>
      <p:sp>
        <p:nvSpPr>
          <p:cNvPr id="5" name="num"/>
          <p:cNvSpPr txBox="1"/>
          <p:nvPr/>
        </p:nvSpPr>
        <p:spPr>
          <a:xfrm>
            <a:off x="1473200" y="2848610"/>
            <a:ext cx="1409700" cy="1231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600" noProof="1">
                <a:solidFill>
                  <a:srgbClr val="FFFFFF"/>
                </a:solidFill>
                <a:latin typeface="Arial"/>
                <a:ea typeface="微软雅黑"/>
              </a:rPr>
              <a:t>05</a:t>
            </a:r>
            <a:endParaRPr lang="en-US" sz="7600" noProof="1"/>
          </a:p>
        </p:txBody>
      </p:sp>
      <p:sp>
        <p:nvSpPr>
          <p:cNvPr id="6" name="ch-title"/>
          <p:cNvSpPr txBox="1"/>
          <p:nvPr/>
        </p:nvSpPr>
        <p:spPr>
          <a:xfrm>
            <a:off x="3723640" y="3048000"/>
            <a:ext cx="8128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4000" noProof="1" b="1">
                <a:solidFill>
                  <a:srgbClr val="FFFFFF"/>
                </a:solidFill>
                <a:latin typeface="Arial"/>
                <a:ea typeface="微软雅黑"/>
              </a:rPr>
              <a:t>        安全、部署与实施</a:t>
            </a:r>
            <a:endParaRPr lang="en-US" sz="4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600" noProof="1" b="1">
                <a:solidFill>
                  <a:srgbClr val="0070C0"/>
                </a:solidFill>
                <a:latin typeface="Arial"/>
                <a:ea typeface="微软雅黑"/>
              </a:rPr>
              <a:t>四方上行</a:t>
            </a:r>
            <a:endParaRPr lang="en-US" sz="1600" noProof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30860" cy="44831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8060"/>
            <a:ext cx="8841740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32850" y="988060"/>
            <a:ext cx="3357880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814070" y="265430"/>
            <a:ext cx="8669020" cy="4394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223962"/>
                </a:solidFill>
                <a:latin typeface="微软雅黑"/>
                <a:ea typeface="微软雅黑"/>
              </a:rPr>
              <a:t>安全与运维要求</a:t>
            </a:r>
            <a:endParaRPr lang="en-US" sz="24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600" noProof="1" b="1">
                <a:solidFill>
                  <a:srgbClr val="0070C0"/>
                </a:solidFill>
                <a:latin typeface="Arial"/>
                <a:ea typeface="微软雅黑"/>
              </a:rPr>
              <a:t>四方上行</a:t>
            </a:r>
            <a:endParaRPr lang="en-US" sz="1600" noProof="1"/>
          </a:p>
        </p:txBody>
      </p:sp>
      <p:sp>
        <p:nvSpPr>
          <p:cNvPr id="8" name="sec1"/>
          <p:cNvSpPr/>
          <p:nvPr/>
        </p:nvSpPr>
        <p:spPr>
          <a:xfrm>
            <a:off x="622300" y="1270000"/>
            <a:ext cx="3479800" cy="5029200"/>
          </a:xfrm>
          <a:prstGeom prst="roundRect">
            <a:avLst>
              <a:gd name="adj" fmla="val 3000"/>
            </a:avLst>
          </a:prstGeom>
          <a:solidFill>
            <a:srgbClr val="F2F7FC"/>
          </a:solidFill>
          <a:ln w="12700">
            <a:solidFill>
              <a:srgbClr val="0070C0"/>
            </a:solidFill>
          </a:ln>
        </p:spPr>
      </p:sp>
      <p:sp>
        <p:nvSpPr>
          <p:cNvPr id="9" name="sec1-head"/>
          <p:cNvSpPr/>
          <p:nvPr/>
        </p:nvSpPr>
        <p:spPr>
          <a:xfrm>
            <a:off x="622300" y="1270000"/>
            <a:ext cx="3479800" cy="5588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</p:spPr>
      </p:sp>
      <p:sp>
        <p:nvSpPr>
          <p:cNvPr id="10" name="sec1-head-text"/>
          <p:cNvSpPr txBox="1"/>
          <p:nvPr/>
        </p:nvSpPr>
        <p:spPr>
          <a:xfrm>
            <a:off x="622300" y="1270000"/>
            <a:ext cx="3479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 b="1">
                <a:solidFill>
                  <a:srgbClr val="FFFFFF"/>
                </a:solidFill>
                <a:latin typeface="微软雅黑"/>
                <a:ea typeface="微软雅黑"/>
              </a:rPr>
              <a:t>访问安全</a:t>
            </a:r>
            <a:endParaRPr lang="en-US" sz="1600" noProof="1"/>
          </a:p>
        </p:txBody>
      </p:sp>
      <p:sp>
        <p:nvSpPr>
          <p:cNvPr id="11" name="sec1-body"/>
          <p:cNvSpPr txBox="1"/>
          <p:nvPr/>
        </p:nvSpPr>
        <p:spPr>
          <a:xfrm>
            <a:off x="901700" y="2032000"/>
            <a:ext cx="2946400" cy="408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OpenViking Server 部署在内网或受控网络，不直接暴露公网端口；</a:t>
            </a:r>
            <a:endParaRPr lang="en-US" sz="1200" noProof="1"/>
          </a:p>
          <a:p>
            <a:pPr algn="l">
              <a:lnSpc>
                <a:spcPct val="155000"/>
              </a:lnSpc>
              <a:spcBef>
                <a:spcPts val="800"/>
              </a:spcBef>
              <a:buChar char="•"/>
            </a:pP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远程访问使用 HTTPS、身份认证和用户隔离；</a:t>
            </a:r>
            <a:endParaRPr lang="en-US" sz="1200" noProof="1"/>
          </a:p>
          <a:p>
            <a:pPr algn="l">
              <a:lnSpc>
                <a:spcPct val="155000"/>
              </a:lnSpc>
              <a:spcBef>
                <a:spcPts val="800"/>
              </a:spcBef>
              <a:buChar char="•"/>
            </a:pP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资源访问必须结合组织、部门、项目和角色权限；</a:t>
            </a:r>
            <a:endParaRPr lang="en-US" sz="1200" noProof="1"/>
          </a:p>
          <a:p>
            <a:pPr algn="l">
              <a:lnSpc>
                <a:spcPct val="155000"/>
              </a:lnSpc>
              <a:spcBef>
                <a:spcPts val="800"/>
              </a:spcBef>
              <a:buChar char="•"/>
            </a:pP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Electron 渲染进程不保存 OpenViking 服务密钥；</a:t>
            </a:r>
            <a:endParaRPr lang="en-US" sz="1200" noProof="1"/>
          </a:p>
          <a:p>
            <a:pPr algn="l">
              <a:lnSpc>
                <a:spcPct val="155000"/>
              </a:lnSpc>
              <a:spcBef>
                <a:spcPts val="800"/>
              </a:spcBef>
              <a:buChar char="•"/>
            </a:pP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主进程记录服务调用、资源 URI、用户和结果摘要。</a:t>
            </a:r>
            <a:endParaRPr lang="en-US" sz="1200" noProof="1"/>
          </a:p>
        </p:txBody>
      </p:sp>
      <p:sp>
        <p:nvSpPr>
          <p:cNvPr id="12" name="sec2"/>
          <p:cNvSpPr/>
          <p:nvPr/>
        </p:nvSpPr>
        <p:spPr>
          <a:xfrm>
            <a:off x="4356100" y="1270000"/>
            <a:ext cx="3479800" cy="5029200"/>
          </a:xfrm>
          <a:prstGeom prst="roundRect">
            <a:avLst>
              <a:gd name="adj" fmla="val 3000"/>
            </a:avLst>
          </a:prstGeom>
          <a:solidFill>
            <a:srgbClr val="F2F7FC"/>
          </a:solidFill>
          <a:ln w="12700">
            <a:solidFill>
              <a:srgbClr val="0070C0"/>
            </a:solidFill>
          </a:ln>
        </p:spPr>
      </p:sp>
      <p:sp>
        <p:nvSpPr>
          <p:cNvPr id="13" name="sec2-head"/>
          <p:cNvSpPr/>
          <p:nvPr/>
        </p:nvSpPr>
        <p:spPr>
          <a:xfrm>
            <a:off x="4356100" y="1270000"/>
            <a:ext cx="3479800" cy="5588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</p:spPr>
      </p:sp>
      <p:sp>
        <p:nvSpPr>
          <p:cNvPr id="14" name="sec2-head-text"/>
          <p:cNvSpPr txBox="1"/>
          <p:nvPr/>
        </p:nvSpPr>
        <p:spPr>
          <a:xfrm>
            <a:off x="4356100" y="1270000"/>
            <a:ext cx="3479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 b="1">
                <a:solidFill>
                  <a:srgbClr val="FFFFFF"/>
                </a:solidFill>
                <a:latin typeface="微软雅黑"/>
                <a:ea typeface="微软雅黑"/>
              </a:rPr>
              <a:t>数据安全</a:t>
            </a:r>
            <a:endParaRPr lang="en-US" sz="1600" noProof="1"/>
          </a:p>
        </p:txBody>
      </p:sp>
      <p:sp>
        <p:nvSpPr>
          <p:cNvPr id="15" name="sec2-body"/>
          <p:cNvSpPr txBox="1"/>
          <p:nvPr/>
        </p:nvSpPr>
        <p:spPr>
          <a:xfrm>
            <a:off x="4635500" y="2032000"/>
            <a:ext cx="2946400" cy="408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原始文件、解析文本、摘要、向量和访问日志分别设置保留策略；</a:t>
            </a:r>
            <a:endParaRPr lang="en-US" sz="1200" noProof="1"/>
          </a:p>
          <a:p>
            <a:pPr algn="l">
              <a:lnSpc>
                <a:spcPct val="155000"/>
              </a:lnSpc>
              <a:spcBef>
                <a:spcPts val="800"/>
              </a:spcBef>
              <a:buChar char="•"/>
            </a:pP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敏感资源发布前经过审核，必要时脱敏或分区存储；</a:t>
            </a:r>
            <a:endParaRPr lang="en-US" sz="1200" noProof="1"/>
          </a:p>
          <a:p>
            <a:pPr algn="l">
              <a:lnSpc>
                <a:spcPct val="155000"/>
              </a:lnSpc>
              <a:spcBef>
                <a:spcPts val="800"/>
              </a:spcBef>
              <a:buChar char="•"/>
            </a:pP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个人记忆默认用户隔离，不自动写入组织共享空间；</a:t>
            </a:r>
            <a:endParaRPr lang="en-US" sz="1200" noProof="1"/>
          </a:p>
          <a:p>
            <a:pPr algn="l">
              <a:lnSpc>
                <a:spcPct val="155000"/>
              </a:lnSpc>
              <a:spcBef>
                <a:spcPts val="800"/>
              </a:spcBef>
              <a:buChar char="•"/>
            </a:pP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资源删除或失效后，应同步处理索引和缓存；</a:t>
            </a:r>
            <a:endParaRPr lang="en-US" sz="1200" noProof="1"/>
          </a:p>
          <a:p>
            <a:pPr algn="l">
              <a:lnSpc>
                <a:spcPct val="155000"/>
              </a:lnSpc>
              <a:spcBef>
                <a:spcPts val="800"/>
              </a:spcBef>
              <a:buChar char="•"/>
            </a:pP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备份恢复必须同时覆盖内容层和向量索引层。</a:t>
            </a:r>
            <a:endParaRPr lang="en-US" sz="1200" noProof="1"/>
          </a:p>
        </p:txBody>
      </p:sp>
      <p:sp>
        <p:nvSpPr>
          <p:cNvPr id="16" name="sec3"/>
          <p:cNvSpPr/>
          <p:nvPr/>
        </p:nvSpPr>
        <p:spPr>
          <a:xfrm>
            <a:off x="8089900" y="1270000"/>
            <a:ext cx="3479800" cy="5029200"/>
          </a:xfrm>
          <a:prstGeom prst="roundRect">
            <a:avLst>
              <a:gd name="adj" fmla="val 3000"/>
            </a:avLst>
          </a:prstGeom>
          <a:solidFill>
            <a:srgbClr val="FDF6EE"/>
          </a:solidFill>
          <a:ln w="12700">
            <a:solidFill>
              <a:srgbClr val="E89924"/>
            </a:solidFill>
          </a:ln>
        </p:spPr>
      </p:sp>
      <p:sp>
        <p:nvSpPr>
          <p:cNvPr id="17" name="sec3-head"/>
          <p:cNvSpPr/>
          <p:nvPr/>
        </p:nvSpPr>
        <p:spPr>
          <a:xfrm>
            <a:off x="8089900" y="1270000"/>
            <a:ext cx="3479800" cy="558800"/>
          </a:xfrm>
          <a:prstGeom prst="roundRect">
            <a:avLst>
              <a:gd name="adj" fmla="val 12000"/>
            </a:avLst>
          </a:prstGeom>
          <a:solidFill>
            <a:srgbClr val="E89924"/>
          </a:solidFill>
          <a:ln>
            <a:noFill/>
          </a:ln>
        </p:spPr>
      </p:sp>
      <p:sp>
        <p:nvSpPr>
          <p:cNvPr id="18" name="sec3-head-text"/>
          <p:cNvSpPr txBox="1"/>
          <p:nvPr/>
        </p:nvSpPr>
        <p:spPr>
          <a:xfrm>
            <a:off x="8089900" y="1270000"/>
            <a:ext cx="3479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 b="1">
                <a:solidFill>
                  <a:srgbClr val="FFFFFF"/>
                </a:solidFill>
                <a:latin typeface="微软雅黑"/>
                <a:ea typeface="微软雅黑"/>
              </a:rPr>
              <a:t>许可证</a:t>
            </a:r>
            <a:endParaRPr lang="en-US" sz="1600" noProof="1"/>
          </a:p>
        </p:txBody>
      </p:sp>
      <p:sp>
        <p:nvSpPr>
          <p:cNvPr id="19" name="sec3-body"/>
          <p:cNvSpPr txBox="1"/>
          <p:nvPr/>
        </p:nvSpPr>
        <p:spPr>
          <a:xfrm>
            <a:off x="8369300" y="2032000"/>
            <a:ext cx="2946400" cy="408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OpenViking 开源主项目采用 </a:t>
            </a:r>
            <a:r>
              <a:rPr lang="en-US" sz="1200" noProof="1" b="1">
                <a:solidFill>
                  <a:srgbClr val="E89924"/>
                </a:solidFill>
                <a:latin typeface="MiSans"/>
                <a:ea typeface="MiSans"/>
              </a:rPr>
              <a:t>AGPL-3.0</a:t>
            </a: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。</a:t>
            </a:r>
            <a:endParaRPr lang="en-US" sz="1200" noProof="1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若作为独立服务部署，仍应由项目负责人和法务评估以下场景中的许可证义务：</a:t>
            </a:r>
            <a:endParaRPr lang="en-US" sz="1200" noProof="1"/>
          </a:p>
          <a:p>
            <a:pPr algn="l">
              <a:lnSpc>
                <a:spcPct val="155000"/>
              </a:lnSpc>
              <a:spcBef>
                <a:spcPts val="800"/>
              </a:spcBef>
              <a:buChar char="•"/>
            </a:pP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服务部署；</a:t>
            </a:r>
            <a:endParaRPr lang="en-US" sz="12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源码修改；</a:t>
            </a:r>
            <a:endParaRPr lang="en-US" sz="12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对外分发；</a:t>
            </a:r>
            <a:endParaRPr lang="en-US" sz="12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商业交付。</a:t>
            </a:r>
            <a:endParaRPr lang="en-US" sz="1200" noProof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30860" cy="44831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8060"/>
            <a:ext cx="8841740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32850" y="988060"/>
            <a:ext cx="3357880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814070" y="265430"/>
            <a:ext cx="8669020" cy="4394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223962"/>
                </a:solidFill>
                <a:latin typeface="微软雅黑"/>
                <a:ea typeface="微软雅黑"/>
              </a:rPr>
              <a:t>部署与配置建议</a:t>
            </a:r>
            <a:endParaRPr lang="en-US" sz="24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600" noProof="1" b="1">
                <a:solidFill>
                  <a:srgbClr val="0070C0"/>
                </a:solidFill>
                <a:latin typeface="Arial"/>
                <a:ea typeface="微软雅黑"/>
              </a:rPr>
              <a:t>四方上行</a:t>
            </a:r>
            <a:endParaRPr lang="en-US" sz="1600" noProof="1"/>
          </a:p>
        </p:txBody>
      </p:sp>
      <p:sp>
        <p:nvSpPr>
          <p:cNvPr id="8" name="dev-card"/>
          <p:cNvSpPr/>
          <p:nvPr/>
        </p:nvSpPr>
        <p:spPr>
          <a:xfrm>
            <a:off x="622300" y="1270000"/>
            <a:ext cx="5334000" cy="5029200"/>
          </a:xfrm>
          <a:prstGeom prst="roundRect">
            <a:avLst>
              <a:gd name="adj" fmla="val 3000"/>
            </a:avLst>
          </a:prstGeom>
          <a:solidFill>
            <a:srgbClr val="F2F7FC"/>
          </a:solidFill>
          <a:ln w="12700">
            <a:solidFill>
              <a:srgbClr val="0070C0"/>
            </a:solidFill>
          </a:ln>
        </p:spPr>
      </p:sp>
      <p:sp>
        <p:nvSpPr>
          <p:cNvPr id="9" name="dev-head"/>
          <p:cNvSpPr/>
          <p:nvPr/>
        </p:nvSpPr>
        <p:spPr>
          <a:xfrm>
            <a:off x="622300" y="1270000"/>
            <a:ext cx="5334000" cy="5588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</p:spPr>
      </p:sp>
      <p:sp>
        <p:nvSpPr>
          <p:cNvPr id="10" name="dev-head-text"/>
          <p:cNvSpPr txBox="1"/>
          <p:nvPr/>
        </p:nvSpPr>
        <p:spPr>
          <a:xfrm>
            <a:off x="622300" y="1270000"/>
            <a:ext cx="5334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 b="1">
                <a:solidFill>
                  <a:srgbClr val="FFFFFF"/>
                </a:solidFill>
                <a:latin typeface="微软雅黑"/>
                <a:ea typeface="微软雅黑"/>
              </a:rPr>
              <a:t>开发环境（Python 3.10+）</a:t>
            </a:r>
            <a:endParaRPr lang="en-US" sz="1600" noProof="1"/>
          </a:p>
        </p:txBody>
      </p:sp>
      <p:sp>
        <p:nvSpPr>
          <p:cNvPr id="11" name="dev-code-box"/>
          <p:cNvSpPr/>
          <p:nvPr/>
        </p:nvSpPr>
        <p:spPr>
          <a:xfrm>
            <a:off x="901700" y="2032000"/>
            <a:ext cx="4775200" cy="2133600"/>
          </a:xfrm>
          <a:prstGeom prst="roundRect">
            <a:avLst>
              <a:gd name="adj" fmla="val 4000"/>
            </a:avLst>
          </a:prstGeom>
          <a:solidFill>
            <a:srgbClr val="223962"/>
          </a:solidFill>
          <a:ln>
            <a:noFill/>
          </a:ln>
        </p:spPr>
      </p:sp>
      <p:sp>
        <p:nvSpPr>
          <p:cNvPr id="12" name="dev-code"/>
          <p:cNvSpPr txBox="1"/>
          <p:nvPr/>
        </p:nvSpPr>
        <p:spPr>
          <a:xfrm>
            <a:off x="1155700" y="2184400"/>
            <a:ext cx="4318000" cy="185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55000"/>
              </a:lnSpc>
            </a:pPr>
            <a:r>
              <a:rPr lang="en-US" sz="1200" noProof="1">
                <a:solidFill>
                  <a:srgbClr val="FFFFFF"/>
                </a:solidFill>
                <a:latin typeface="Courier New"/>
                <a:ea typeface="等线"/>
              </a:rPr>
              <a:t>py -3.10 -m venv .venv</a:t>
            </a:r>
            <a:endParaRPr lang="en-US" sz="1200" noProof="1"/>
          </a:p>
          <a:p>
            <a:pPr algn="l">
              <a:lnSpc>
                <a:spcPct val="155000"/>
              </a:lnSpc>
            </a:pPr>
            <a:r>
              <a:rPr lang="en-US" sz="1200" noProof="1">
                <a:solidFill>
                  <a:srgbClr val="FFFFFF"/>
                </a:solidFill>
                <a:latin typeface="Courier New"/>
                <a:ea typeface="等线"/>
              </a:rPr>
              <a:t>.\.venv\Scripts\Activate.ps1</a:t>
            </a:r>
            <a:endParaRPr lang="en-US" sz="1200" noProof="1"/>
          </a:p>
          <a:p>
            <a:pPr algn="l">
              <a:lnSpc>
                <a:spcPct val="155000"/>
              </a:lnSpc>
            </a:pPr>
            <a:r>
              <a:rPr lang="en-US" sz="1200" noProof="1">
                <a:solidFill>
                  <a:srgbClr val="FFFFFF"/>
                </a:solidFill>
                <a:latin typeface="Courier New"/>
                <a:ea typeface="等线"/>
              </a:rPr>
              <a:t>pip install openviking --upgrade</a:t>
            </a:r>
            <a:endParaRPr lang="en-US" sz="1200" noProof="1"/>
          </a:p>
          <a:p>
            <a:pPr algn="l">
              <a:lnSpc>
                <a:spcPct val="155000"/>
              </a:lnSpc>
            </a:pPr>
            <a:r>
              <a:rPr lang="en-US" sz="1200" noProof="1">
                <a:solidFill>
                  <a:srgbClr val="FFFFFF"/>
                </a:solidFill>
                <a:latin typeface="Courier New"/>
                <a:ea typeface="等线"/>
              </a:rPr>
              <a:t>openviking-server init</a:t>
            </a:r>
            <a:endParaRPr lang="en-US" sz="1200" noProof="1"/>
          </a:p>
          <a:p>
            <a:pPr algn="l">
              <a:lnSpc>
                <a:spcPct val="155000"/>
              </a:lnSpc>
            </a:pPr>
            <a:r>
              <a:rPr lang="en-US" sz="1200" noProof="1">
                <a:solidFill>
                  <a:srgbClr val="FFFFFF"/>
                </a:solidFill>
                <a:latin typeface="Courier New"/>
                <a:ea typeface="等线"/>
              </a:rPr>
              <a:t>openviking-server doctor</a:t>
            </a:r>
            <a:endParaRPr lang="en-US" sz="1200" noProof="1"/>
          </a:p>
          <a:p>
            <a:pPr algn="l">
              <a:lnSpc>
                <a:spcPct val="155000"/>
              </a:lnSpc>
            </a:pPr>
            <a:r>
              <a:rPr lang="en-US" sz="1200" noProof="1">
                <a:solidFill>
                  <a:srgbClr val="FFFFFF"/>
                </a:solidFill>
                <a:latin typeface="Courier New"/>
                <a:ea typeface="等线"/>
              </a:rPr>
              <a:t>openviking-server</a:t>
            </a:r>
            <a:endParaRPr lang="en-US" sz="1200" noProof="1"/>
          </a:p>
        </p:txBody>
      </p:sp>
      <p:sp>
        <p:nvSpPr>
          <p:cNvPr id="13" name="dev-note"/>
          <p:cNvSpPr txBox="1"/>
          <p:nvPr/>
        </p:nvSpPr>
        <p:spPr>
          <a:xfrm>
            <a:off x="901700" y="4368800"/>
            <a:ext cx="4775200" cy="172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令旗启动后轮询 </a:t>
            </a:r>
            <a:r>
              <a:rPr lang="en-US" sz="1200" noProof="1" b="1">
                <a:solidFill>
                  <a:srgbClr val="0070C0"/>
                </a:solidFill>
                <a:latin typeface="MiSans"/>
                <a:ea typeface="MiSans"/>
              </a:rPr>
              <a:t>http://127.0.0.1:1933/health</a:t>
            </a: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。</a:t>
            </a:r>
            <a:endParaRPr lang="en-US" sz="1200" noProof="1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服务未就绪时，客户端应显示「上下文服务不可用」，但</a:t>
            </a:r>
            <a:r>
              <a:rPr lang="en-US" sz="1200" noProof="1" b="1">
                <a:solidFill>
                  <a:srgbClr val="262626"/>
                </a:solidFill>
                <a:latin typeface="MiSans"/>
                <a:ea typeface="MiSans"/>
              </a:rPr>
              <a:t>不应阻断</a:t>
            </a: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普通聊天和本地工具能力。</a:t>
            </a:r>
            <a:endParaRPr lang="en-US" sz="1200" noProof="1"/>
          </a:p>
        </p:txBody>
      </p:sp>
      <p:sp>
        <p:nvSpPr>
          <p:cNvPr id="14" name="prod-card"/>
          <p:cNvSpPr/>
          <p:nvPr/>
        </p:nvSpPr>
        <p:spPr>
          <a:xfrm>
            <a:off x="6235700" y="1270000"/>
            <a:ext cx="5334000" cy="5029200"/>
          </a:xfrm>
          <a:prstGeom prst="roundRect">
            <a:avLst>
              <a:gd name="adj" fmla="val 3000"/>
            </a:avLst>
          </a:prstGeom>
          <a:solidFill>
            <a:srgbClr val="F2F7FC"/>
          </a:solidFill>
          <a:ln w="12700">
            <a:solidFill>
              <a:srgbClr val="0070C0"/>
            </a:solidFill>
          </a:ln>
        </p:spPr>
      </p:sp>
      <p:sp>
        <p:nvSpPr>
          <p:cNvPr id="15" name="prod-head"/>
          <p:cNvSpPr/>
          <p:nvPr/>
        </p:nvSpPr>
        <p:spPr>
          <a:xfrm>
            <a:off x="6235700" y="1270000"/>
            <a:ext cx="5334000" cy="5588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</p:spPr>
      </p:sp>
      <p:sp>
        <p:nvSpPr>
          <p:cNvPr id="16" name="prod-head-text"/>
          <p:cNvSpPr txBox="1"/>
          <p:nvPr/>
        </p:nvSpPr>
        <p:spPr>
          <a:xfrm>
            <a:off x="6235700" y="1270000"/>
            <a:ext cx="5334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 b="1">
                <a:solidFill>
                  <a:srgbClr val="FFFFFF"/>
                </a:solidFill>
                <a:latin typeface="微软雅黑"/>
                <a:ea typeface="微软雅黑"/>
              </a:rPr>
              <a:t>生产环境</a:t>
            </a:r>
            <a:endParaRPr lang="en-US" sz="1600" noProof="1"/>
          </a:p>
        </p:txBody>
      </p:sp>
      <p:sp>
        <p:nvSpPr>
          <p:cNvPr id="17" name="prod-intro"/>
          <p:cNvSpPr txBox="1"/>
          <p:nvPr/>
        </p:nvSpPr>
        <p:spPr>
          <a:xfrm>
            <a:off x="6515100" y="2006600"/>
            <a:ext cx="4775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建议将 OpenViking Server 独立部署在企业内网、专用主机或容器环境中，并配置：</a:t>
            </a:r>
            <a:endParaRPr lang="en-US" sz="1200" noProof="1"/>
          </a:p>
        </p:txBody>
      </p:sp>
      <p:sp>
        <p:nvSpPr>
          <p:cNvPr id="18" name="prod-list"/>
          <p:cNvSpPr txBox="1"/>
          <p:nvPr/>
        </p:nvSpPr>
        <p:spPr>
          <a:xfrm>
            <a:off x="6515100" y="2616200"/>
            <a:ext cx="4775200" cy="350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70000"/>
              </a:lnSpc>
              <a:spcBef>
                <a:spcPts val="10"/>
              </a:spcBef>
              <a:buChar char="•"/>
            </a:pP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HTTPS 或内网安全通道；</a:t>
            </a:r>
            <a:endParaRPr lang="en-US" sz="1200" noProof="1"/>
          </a:p>
          <a:p>
            <a:pPr algn="l">
              <a:lnSpc>
                <a:spcPct val="170000"/>
              </a:lnSpc>
              <a:spcBef>
                <a:spcPts val="10"/>
              </a:spcBef>
              <a:buChar char="•"/>
            </a:pP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用户认证、组织隔离和资源 ACL；</a:t>
            </a:r>
            <a:endParaRPr lang="en-US" sz="1200" noProof="1"/>
          </a:p>
          <a:p>
            <a:pPr algn="l">
              <a:lnSpc>
                <a:spcPct val="170000"/>
              </a:lnSpc>
              <a:spcBef>
                <a:spcPts val="10"/>
              </a:spcBef>
              <a:buChar char="•"/>
            </a:pP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Embedding 与模型服务配置；</a:t>
            </a:r>
            <a:endParaRPr lang="en-US" sz="1200" noProof="1"/>
          </a:p>
          <a:p>
            <a:pPr algn="l">
              <a:lnSpc>
                <a:spcPct val="170000"/>
              </a:lnSpc>
              <a:spcBef>
                <a:spcPts val="10"/>
              </a:spcBef>
              <a:buChar char="•"/>
            </a:pP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内容、索引和配置的备份策略；</a:t>
            </a:r>
            <a:endParaRPr lang="en-US" sz="1200" noProof="1"/>
          </a:p>
          <a:p>
            <a:pPr algn="l">
              <a:lnSpc>
                <a:spcPct val="170000"/>
              </a:lnSpc>
              <a:spcBef>
                <a:spcPts val="10"/>
              </a:spcBef>
              <a:buChar char="•"/>
            </a:pP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服务健康检查、容量监控和检索延迟监控；</a:t>
            </a:r>
            <a:endParaRPr lang="en-US" sz="1200" noProof="1"/>
          </a:p>
          <a:p>
            <a:pPr algn="l">
              <a:lnSpc>
                <a:spcPct val="170000"/>
              </a:lnSpc>
              <a:spcBef>
                <a:spcPts val="10"/>
              </a:spcBef>
              <a:buChar char="•"/>
            </a:pPr>
            <a:r>
              <a:rPr lang="en-US" sz="1200" noProof="1">
                <a:solidFill>
                  <a:srgbClr val="262626"/>
                </a:solidFill>
                <a:latin typeface="MiSans"/>
                <a:ea typeface="MiSans"/>
              </a:rPr>
              <a:t>资源导入队列和失败重试。</a:t>
            </a:r>
            <a:endParaRPr lang="en-US" sz="1200" noProof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30860" cy="44831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8060"/>
            <a:ext cx="8841740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32850" y="988060"/>
            <a:ext cx="3357880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814070" y="265430"/>
            <a:ext cx="8669020" cy="4394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223962"/>
                </a:solidFill>
                <a:latin typeface="微软雅黑"/>
                <a:ea typeface="微软雅黑"/>
              </a:rPr>
              <a:t>实施路线</a:t>
            </a:r>
            <a:endParaRPr lang="en-US" sz="24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600" noProof="1" b="1">
                <a:solidFill>
                  <a:srgbClr val="0070C0"/>
                </a:solidFill>
                <a:latin typeface="Arial"/>
                <a:ea typeface="微软雅黑"/>
              </a:rPr>
              <a:t>四方上行</a:t>
            </a:r>
            <a:endParaRPr lang="en-US" sz="1600" noProof="1"/>
          </a:p>
        </p:txBody>
      </p:sp>
      <p:sp>
        <p:nvSpPr>
          <p:cNvPr id="8" name="st1"/>
          <p:cNvSpPr/>
          <p:nvPr/>
        </p:nvSpPr>
        <p:spPr>
          <a:xfrm>
            <a:off x="622300" y="1397000"/>
            <a:ext cx="1955800" cy="4876800"/>
          </a:xfrm>
          <a:prstGeom prst="roundRect">
            <a:avLst>
              <a:gd name="adj" fmla="val 5000"/>
            </a:avLst>
          </a:prstGeom>
          <a:solidFill>
            <a:srgbClr val="F2F7FC"/>
          </a:solidFill>
          <a:ln w="12700">
            <a:solidFill>
              <a:srgbClr val="0070C0"/>
            </a:solidFill>
          </a:ln>
        </p:spPr>
      </p:sp>
      <p:sp>
        <p:nvSpPr>
          <p:cNvPr id="9" name="st1-head"/>
          <p:cNvSpPr/>
          <p:nvPr/>
        </p:nvSpPr>
        <p:spPr>
          <a:xfrm>
            <a:off x="622300" y="1397000"/>
            <a:ext cx="1955800" cy="5334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</p:spPr>
      </p:sp>
      <p:sp>
        <p:nvSpPr>
          <p:cNvPr id="10" name="st1-head-text"/>
          <p:cNvSpPr txBox="1"/>
          <p:nvPr/>
        </p:nvSpPr>
        <p:spPr>
          <a:xfrm>
            <a:off x="622300" y="1397000"/>
            <a:ext cx="19558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 b="1">
                <a:solidFill>
                  <a:srgbClr val="FFFFFF"/>
                </a:solidFill>
                <a:latin typeface="微软雅黑"/>
                <a:ea typeface="微软雅黑"/>
              </a:rPr>
              <a:t>阶段一</a:t>
            </a:r>
            <a:endParaRPr lang="en-US" sz="1600" noProof="1"/>
          </a:p>
        </p:txBody>
      </p:sp>
      <p:sp>
        <p:nvSpPr>
          <p:cNvPr id="11" name="st1-title"/>
          <p:cNvSpPr txBox="1"/>
          <p:nvPr/>
        </p:nvSpPr>
        <p:spPr>
          <a:xfrm>
            <a:off x="774700" y="2082800"/>
            <a:ext cx="1651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 b="1">
                <a:solidFill>
                  <a:srgbClr val="223962"/>
                </a:solidFill>
                <a:latin typeface="微软雅黑"/>
                <a:ea typeface="微软雅黑"/>
              </a:rPr>
              <a:t>基础联通</a:t>
            </a:r>
            <a:endParaRPr lang="en-US" sz="1300" noProof="1"/>
          </a:p>
        </p:txBody>
      </p:sp>
      <p:sp>
        <p:nvSpPr>
          <p:cNvPr id="12" name="st1-body"/>
          <p:cNvSpPr txBox="1"/>
          <p:nvPr/>
        </p:nvSpPr>
        <p:spPr>
          <a:xfrm>
            <a:off x="774700" y="2438400"/>
            <a:ext cx="1651000" cy="365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100" noProof="1">
                <a:solidFill>
                  <a:srgbClr val="262626"/>
                </a:solidFill>
                <a:latin typeface="MiSans"/>
                <a:ea typeface="MiSans"/>
              </a:rPr>
              <a:t>主进程增加 OpenVikingClient、服务地址配置、健康检查、超时和错误提示。</a:t>
            </a:r>
            <a:endParaRPr lang="en-US" sz="1100" noProof="1"/>
          </a:p>
          <a:p>
            <a:pPr algn="l">
              <a:lnSpc>
                <a:spcPct val="155000"/>
              </a:lnSpc>
              <a:spcBef>
                <a:spcPts val="800"/>
              </a:spcBef>
            </a:pPr>
            <a:r>
              <a:rPr lang="en-US" sz="1100" noProof="1">
                <a:solidFill>
                  <a:srgbClr val="262626"/>
                </a:solidFill>
                <a:latin typeface="MiSans"/>
                <a:ea typeface="MiSans"/>
              </a:rPr>
              <a:t>只验证服务可连接，不改变现有聊天流程。</a:t>
            </a:r>
            <a:endParaRPr lang="en-US" sz="1100" noProof="1"/>
          </a:p>
        </p:txBody>
      </p:sp>
      <p:sp>
        <p:nvSpPr>
          <p:cNvPr id="13" name="ar1"/>
          <p:cNvSpPr/>
          <p:nvPr/>
        </p:nvSpPr>
        <p:spPr>
          <a:xfrm>
            <a:off x="2628900" y="3657600"/>
            <a:ext cx="177800" cy="228600"/>
          </a:xfrm>
          <a:prstGeom prst="rightArrow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14" name="st2"/>
          <p:cNvSpPr/>
          <p:nvPr/>
        </p:nvSpPr>
        <p:spPr>
          <a:xfrm>
            <a:off x="2857500" y="1397000"/>
            <a:ext cx="1955800" cy="4876800"/>
          </a:xfrm>
          <a:prstGeom prst="roundRect">
            <a:avLst>
              <a:gd name="adj" fmla="val 5000"/>
            </a:avLst>
          </a:prstGeom>
          <a:solidFill>
            <a:srgbClr val="F2F7FC"/>
          </a:solidFill>
          <a:ln w="12700">
            <a:solidFill>
              <a:srgbClr val="0070C0"/>
            </a:solidFill>
          </a:ln>
        </p:spPr>
      </p:sp>
      <p:sp>
        <p:nvSpPr>
          <p:cNvPr id="15" name="st2-head"/>
          <p:cNvSpPr/>
          <p:nvPr/>
        </p:nvSpPr>
        <p:spPr>
          <a:xfrm>
            <a:off x="2857500" y="1397000"/>
            <a:ext cx="1955800" cy="5334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</p:spPr>
      </p:sp>
      <p:sp>
        <p:nvSpPr>
          <p:cNvPr id="16" name="st2-head-text"/>
          <p:cNvSpPr txBox="1"/>
          <p:nvPr/>
        </p:nvSpPr>
        <p:spPr>
          <a:xfrm>
            <a:off x="2857500" y="1397000"/>
            <a:ext cx="19558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 b="1">
                <a:solidFill>
                  <a:srgbClr val="FFFFFF"/>
                </a:solidFill>
                <a:latin typeface="微软雅黑"/>
                <a:ea typeface="微软雅黑"/>
              </a:rPr>
              <a:t>阶段二</a:t>
            </a:r>
            <a:endParaRPr lang="en-US" sz="1600" noProof="1"/>
          </a:p>
        </p:txBody>
      </p:sp>
      <p:sp>
        <p:nvSpPr>
          <p:cNvPr id="17" name="st2-title"/>
          <p:cNvSpPr txBox="1"/>
          <p:nvPr/>
        </p:nvSpPr>
        <p:spPr>
          <a:xfrm>
            <a:off x="3009900" y="2082800"/>
            <a:ext cx="1651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 b="1">
                <a:solidFill>
                  <a:srgbClr val="223962"/>
                </a:solidFill>
                <a:latin typeface="微软雅黑"/>
                <a:ea typeface="微软雅黑"/>
              </a:rPr>
              <a:t>资源导入与检索</a:t>
            </a:r>
            <a:endParaRPr lang="en-US" sz="1300" noProof="1"/>
          </a:p>
        </p:txBody>
      </p:sp>
      <p:sp>
        <p:nvSpPr>
          <p:cNvPr id="18" name="st2-body"/>
          <p:cNvSpPr txBox="1"/>
          <p:nvPr/>
        </p:nvSpPr>
        <p:spPr>
          <a:xfrm>
            <a:off x="3009900" y="2438400"/>
            <a:ext cx="1651000" cy="365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100" noProof="1">
                <a:solidFill>
                  <a:srgbClr val="262626"/>
                </a:solidFill>
                <a:latin typeface="MiSans"/>
                <a:ea typeface="MiSans"/>
              </a:rPr>
              <a:t>增加共享资源导入任务，将项目文档和业务资料批量导入 OpenViking。</a:t>
            </a:r>
            <a:endParaRPr lang="en-US" sz="1100" noProof="1"/>
          </a:p>
          <a:p>
            <a:pPr algn="l">
              <a:lnSpc>
                <a:spcPct val="155000"/>
              </a:lnSpc>
              <a:spcBef>
                <a:spcPts val="800"/>
              </a:spcBef>
            </a:pPr>
            <a:r>
              <a:rPr lang="en-US" sz="1100" noProof="1">
                <a:solidFill>
                  <a:srgbClr val="262626"/>
                </a:solidFill>
                <a:latin typeface="MiSans"/>
                <a:ea typeface="MiSans"/>
              </a:rPr>
              <a:t>Agent 请求前召回摘要，按需读取详细内容。</a:t>
            </a:r>
            <a:endParaRPr lang="en-US" sz="1100" noProof="1"/>
          </a:p>
        </p:txBody>
      </p:sp>
      <p:sp>
        <p:nvSpPr>
          <p:cNvPr id="19" name="ar2"/>
          <p:cNvSpPr/>
          <p:nvPr/>
        </p:nvSpPr>
        <p:spPr>
          <a:xfrm>
            <a:off x="4864100" y="3657600"/>
            <a:ext cx="177800" cy="228600"/>
          </a:xfrm>
          <a:prstGeom prst="rightArrow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20" name="st3"/>
          <p:cNvSpPr/>
          <p:nvPr/>
        </p:nvSpPr>
        <p:spPr>
          <a:xfrm>
            <a:off x="5092700" y="1397000"/>
            <a:ext cx="1955800" cy="4876800"/>
          </a:xfrm>
          <a:prstGeom prst="roundRect">
            <a:avLst>
              <a:gd name="adj" fmla="val 5000"/>
            </a:avLst>
          </a:prstGeom>
          <a:solidFill>
            <a:srgbClr val="F2F7FC"/>
          </a:solidFill>
          <a:ln w="12700">
            <a:solidFill>
              <a:srgbClr val="0070C0"/>
            </a:solidFill>
          </a:ln>
        </p:spPr>
      </p:sp>
      <p:sp>
        <p:nvSpPr>
          <p:cNvPr id="21" name="st3-head"/>
          <p:cNvSpPr/>
          <p:nvPr/>
        </p:nvSpPr>
        <p:spPr>
          <a:xfrm>
            <a:off x="5092700" y="1397000"/>
            <a:ext cx="1955800" cy="5334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</p:spPr>
      </p:sp>
      <p:sp>
        <p:nvSpPr>
          <p:cNvPr id="22" name="st3-head-text"/>
          <p:cNvSpPr txBox="1"/>
          <p:nvPr/>
        </p:nvSpPr>
        <p:spPr>
          <a:xfrm>
            <a:off x="5092700" y="1397000"/>
            <a:ext cx="19558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 b="1">
                <a:solidFill>
                  <a:srgbClr val="FFFFFF"/>
                </a:solidFill>
                <a:latin typeface="微软雅黑"/>
                <a:ea typeface="微软雅黑"/>
              </a:rPr>
              <a:t>阶段三</a:t>
            </a:r>
            <a:endParaRPr lang="en-US" sz="1600" noProof="1"/>
          </a:p>
        </p:txBody>
      </p:sp>
      <p:sp>
        <p:nvSpPr>
          <p:cNvPr id="23" name="st3-title"/>
          <p:cNvSpPr txBox="1"/>
          <p:nvPr/>
        </p:nvSpPr>
        <p:spPr>
          <a:xfrm>
            <a:off x="5245100" y="2082800"/>
            <a:ext cx="1651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 b="1">
                <a:solidFill>
                  <a:srgbClr val="223962"/>
                </a:solidFill>
                <a:latin typeface="微软雅黑"/>
                <a:ea typeface="微软雅黑"/>
              </a:rPr>
              <a:t>组织权限</a:t>
            </a:r>
            <a:endParaRPr lang="en-US" sz="1300" noProof="1"/>
          </a:p>
        </p:txBody>
      </p:sp>
      <p:sp>
        <p:nvSpPr>
          <p:cNvPr id="24" name="st3-body"/>
          <p:cNvSpPr txBox="1"/>
          <p:nvPr/>
        </p:nvSpPr>
        <p:spPr>
          <a:xfrm>
            <a:off x="5245100" y="2438400"/>
            <a:ext cx="1651000" cy="365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100" noProof="1">
                <a:solidFill>
                  <a:srgbClr val="262626"/>
                </a:solidFill>
                <a:latin typeface="MiSans"/>
                <a:ea typeface="MiSans"/>
              </a:rPr>
              <a:t>增加用户、部门、项目、资源目录和发布审核模型。</a:t>
            </a:r>
            <a:endParaRPr lang="en-US" sz="1100" noProof="1"/>
          </a:p>
          <a:p>
            <a:pPr algn="l">
              <a:lnSpc>
                <a:spcPct val="155000"/>
              </a:lnSpc>
              <a:spcBef>
                <a:spcPts val="800"/>
              </a:spcBef>
            </a:pPr>
            <a:r>
              <a:rPr lang="en-US" sz="1100" noProof="1">
                <a:solidFill>
                  <a:srgbClr val="262626"/>
                </a:solidFill>
                <a:latin typeface="MiSans"/>
                <a:ea typeface="MiSans"/>
              </a:rPr>
              <a:t>确保「可检索」与「可读取」都经过权限判断。</a:t>
            </a:r>
            <a:endParaRPr lang="en-US" sz="1100" noProof="1"/>
          </a:p>
        </p:txBody>
      </p:sp>
      <p:sp>
        <p:nvSpPr>
          <p:cNvPr id="25" name="ar3"/>
          <p:cNvSpPr/>
          <p:nvPr/>
        </p:nvSpPr>
        <p:spPr>
          <a:xfrm>
            <a:off x="7099300" y="3657600"/>
            <a:ext cx="177800" cy="228600"/>
          </a:xfrm>
          <a:prstGeom prst="rightArrow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26" name="st4"/>
          <p:cNvSpPr/>
          <p:nvPr/>
        </p:nvSpPr>
        <p:spPr>
          <a:xfrm>
            <a:off x="7327900" y="1397000"/>
            <a:ext cx="1955800" cy="4876800"/>
          </a:xfrm>
          <a:prstGeom prst="roundRect">
            <a:avLst>
              <a:gd name="adj" fmla="val 5000"/>
            </a:avLst>
          </a:prstGeom>
          <a:solidFill>
            <a:srgbClr val="F2F7FC"/>
          </a:solidFill>
          <a:ln w="12700">
            <a:solidFill>
              <a:srgbClr val="0070C0"/>
            </a:solidFill>
          </a:ln>
        </p:spPr>
      </p:sp>
      <p:sp>
        <p:nvSpPr>
          <p:cNvPr id="27" name="st4-head"/>
          <p:cNvSpPr/>
          <p:nvPr/>
        </p:nvSpPr>
        <p:spPr>
          <a:xfrm>
            <a:off x="7327900" y="1397000"/>
            <a:ext cx="1955800" cy="5334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</p:spPr>
      </p:sp>
      <p:sp>
        <p:nvSpPr>
          <p:cNvPr id="28" name="st4-head-text"/>
          <p:cNvSpPr txBox="1"/>
          <p:nvPr/>
        </p:nvSpPr>
        <p:spPr>
          <a:xfrm>
            <a:off x="7327900" y="1397000"/>
            <a:ext cx="19558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 b="1">
                <a:solidFill>
                  <a:srgbClr val="FFFFFF"/>
                </a:solidFill>
                <a:latin typeface="微软雅黑"/>
                <a:ea typeface="微软雅黑"/>
              </a:rPr>
              <a:t>阶段四</a:t>
            </a:r>
            <a:endParaRPr lang="en-US" sz="1600" noProof="1"/>
          </a:p>
        </p:txBody>
      </p:sp>
      <p:sp>
        <p:nvSpPr>
          <p:cNvPr id="29" name="st4-title"/>
          <p:cNvSpPr txBox="1"/>
          <p:nvPr/>
        </p:nvSpPr>
        <p:spPr>
          <a:xfrm>
            <a:off x="7480300" y="2082800"/>
            <a:ext cx="1651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 b="1">
                <a:solidFill>
                  <a:srgbClr val="223962"/>
                </a:solidFill>
                <a:latin typeface="微软雅黑"/>
                <a:ea typeface="微软雅黑"/>
              </a:rPr>
              <a:t>记忆和协同</a:t>
            </a:r>
            <a:endParaRPr lang="en-US" sz="1300" noProof="1"/>
          </a:p>
        </p:txBody>
      </p:sp>
      <p:sp>
        <p:nvSpPr>
          <p:cNvPr id="30" name="st4-body"/>
          <p:cNvSpPr txBox="1"/>
          <p:nvPr/>
        </p:nvSpPr>
        <p:spPr>
          <a:xfrm>
            <a:off x="7480300" y="2438400"/>
            <a:ext cx="1651000" cy="365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100" noProof="1">
                <a:solidFill>
                  <a:srgbClr val="262626"/>
                </a:solidFill>
                <a:latin typeface="MiSans"/>
                <a:ea typeface="MiSans"/>
              </a:rPr>
              <a:t>增加会话提交、记忆抽取、个人记忆与组织记忆分离。</a:t>
            </a:r>
            <a:endParaRPr lang="en-US" sz="1100" noProof="1"/>
          </a:p>
          <a:p>
            <a:pPr algn="l">
              <a:lnSpc>
                <a:spcPct val="155000"/>
              </a:lnSpc>
              <a:spcBef>
                <a:spcPts val="800"/>
              </a:spcBef>
            </a:pPr>
            <a:r>
              <a:rPr lang="en-US" sz="1100" noProof="1">
                <a:solidFill>
                  <a:srgbClr val="262626"/>
                </a:solidFill>
                <a:latin typeface="MiSans"/>
                <a:ea typeface="MiSans"/>
              </a:rPr>
              <a:t>以及资源版本和审计能力。</a:t>
            </a:r>
            <a:endParaRPr lang="en-US" sz="1100" noProof="1"/>
          </a:p>
        </p:txBody>
      </p:sp>
      <p:sp>
        <p:nvSpPr>
          <p:cNvPr id="31" name="ar4"/>
          <p:cNvSpPr/>
          <p:nvPr/>
        </p:nvSpPr>
        <p:spPr>
          <a:xfrm>
            <a:off x="9334500" y="3657600"/>
            <a:ext cx="177800" cy="228600"/>
          </a:xfrm>
          <a:prstGeom prst="rightArrow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32" name="st5"/>
          <p:cNvSpPr/>
          <p:nvPr/>
        </p:nvSpPr>
        <p:spPr>
          <a:xfrm>
            <a:off x="9563100" y="1397000"/>
            <a:ext cx="1955800" cy="4876800"/>
          </a:xfrm>
          <a:prstGeom prst="roundRect">
            <a:avLst>
              <a:gd name="adj" fmla="val 5000"/>
            </a:avLst>
          </a:prstGeom>
          <a:solidFill>
            <a:srgbClr val="F2F7FC"/>
          </a:solidFill>
          <a:ln w="12700">
            <a:solidFill>
              <a:srgbClr val="0070C0"/>
            </a:solidFill>
          </a:ln>
        </p:spPr>
      </p:sp>
      <p:sp>
        <p:nvSpPr>
          <p:cNvPr id="33" name="st5-head"/>
          <p:cNvSpPr/>
          <p:nvPr/>
        </p:nvSpPr>
        <p:spPr>
          <a:xfrm>
            <a:off x="9563100" y="1397000"/>
            <a:ext cx="1955800" cy="533400"/>
          </a:xfrm>
          <a:prstGeom prst="roundRect">
            <a:avLst>
              <a:gd name="adj" fmla="val 12000"/>
            </a:avLst>
          </a:prstGeom>
          <a:solidFill>
            <a:srgbClr val="E89924"/>
          </a:solidFill>
          <a:ln>
            <a:noFill/>
          </a:ln>
        </p:spPr>
      </p:sp>
      <p:sp>
        <p:nvSpPr>
          <p:cNvPr id="34" name="st5-head-text"/>
          <p:cNvSpPr txBox="1"/>
          <p:nvPr/>
        </p:nvSpPr>
        <p:spPr>
          <a:xfrm>
            <a:off x="9563100" y="1397000"/>
            <a:ext cx="19558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 b="1">
                <a:solidFill>
                  <a:srgbClr val="FFFFFF"/>
                </a:solidFill>
                <a:latin typeface="微软雅黑"/>
                <a:ea typeface="微软雅黑"/>
              </a:rPr>
              <a:t>阶段五</a:t>
            </a:r>
            <a:endParaRPr lang="en-US" sz="1600" noProof="1"/>
          </a:p>
        </p:txBody>
      </p:sp>
      <p:sp>
        <p:nvSpPr>
          <p:cNvPr id="35" name="st5-title"/>
          <p:cNvSpPr txBox="1"/>
          <p:nvPr/>
        </p:nvSpPr>
        <p:spPr>
          <a:xfrm>
            <a:off x="9715500" y="2082800"/>
            <a:ext cx="1651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 b="1">
                <a:solidFill>
                  <a:srgbClr val="223962"/>
                </a:solidFill>
                <a:latin typeface="微软雅黑"/>
                <a:ea typeface="微软雅黑"/>
              </a:rPr>
              <a:t>服务化交付</a:t>
            </a:r>
            <a:endParaRPr lang="en-US" sz="1300" noProof="1"/>
          </a:p>
        </p:txBody>
      </p:sp>
      <p:sp>
        <p:nvSpPr>
          <p:cNvPr id="36" name="st5-body"/>
          <p:cNvSpPr txBox="1"/>
          <p:nvPr/>
        </p:nvSpPr>
        <p:spPr>
          <a:xfrm>
            <a:off x="9715500" y="2438400"/>
            <a:ext cx="1651000" cy="365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100" noProof="1">
                <a:solidFill>
                  <a:srgbClr val="262626"/>
                </a:solidFill>
                <a:latin typeface="MiSans"/>
                <a:ea typeface="MiSans"/>
              </a:rPr>
              <a:t>根据客户规模选择中心服务、私有化部署或混合模式。</a:t>
            </a:r>
            <a:endParaRPr lang="en-US" sz="1100" noProof="1"/>
          </a:p>
          <a:p>
            <a:pPr algn="l">
              <a:lnSpc>
                <a:spcPct val="155000"/>
              </a:lnSpc>
              <a:spcBef>
                <a:spcPts val="800"/>
              </a:spcBef>
            </a:pPr>
            <a:r>
              <a:rPr lang="en-US" sz="1100" noProof="1">
                <a:solidFill>
                  <a:srgbClr val="262626"/>
                </a:solidFill>
                <a:latin typeface="MiSans"/>
                <a:ea typeface="MiSans"/>
              </a:rPr>
              <a:t>完善安装包、升级、备份、监控和许可证合规流程。</a:t>
            </a:r>
            <a:endParaRPr lang="en-US" sz="1100" noProof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30860" cy="44831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8060"/>
            <a:ext cx="8841740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32850" y="988060"/>
            <a:ext cx="3357880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814070" y="265430"/>
            <a:ext cx="8669020" cy="4394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223962"/>
                </a:solidFill>
                <a:latin typeface="微软雅黑"/>
                <a:ea typeface="微软雅黑"/>
              </a:rPr>
              <a:t>后续规划</a:t>
            </a:r>
            <a:endParaRPr lang="en-US" sz="24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600" noProof="1" b="1">
                <a:solidFill>
                  <a:srgbClr val="0070C0"/>
                </a:solidFill>
                <a:latin typeface="Arial"/>
                <a:ea typeface="微软雅黑"/>
              </a:rPr>
              <a:t>四方上行</a:t>
            </a:r>
            <a:endParaRPr lang="en-US" sz="1600" noProof="1"/>
          </a:p>
        </p:txBody>
      </p:sp>
      <p:sp>
        <p:nvSpPr>
          <p:cNvPr id="8" name="f1"/>
          <p:cNvSpPr/>
          <p:nvPr/>
        </p:nvSpPr>
        <p:spPr>
          <a:xfrm>
            <a:off x="622300" y="1397000"/>
            <a:ext cx="2603500" cy="223520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</p:spPr>
      </p:sp>
      <p:sp>
        <p:nvSpPr>
          <p:cNvPr id="9" name="f1-icon"/>
          <p:cNvSpPr/>
          <p:nvPr>
            <p:extLst>
              <p:ext uri="{F5677B7D-0D2A-4D9B-9A5C-6D8D7D0E5A5D}">
                <pptd:icon encoding="base64url">eyJpY29uTmFtZSI6ImZhczpjb21wcmVzcyJ9</pptd:icon>
              </p:ext>
            </p:extLst>
          </p:nvPr>
        </p:nvSpPr>
        <p:spPr>
          <a:xfrm>
            <a:off x="825500" y="16002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160" y="64"/>
                </a:moveTo>
                <a:cubicBezTo>
                  <a:pt x="160" y="46"/>
                  <a:pt x="146" y="32"/>
                  <a:pt x="128" y="32"/>
                </a:cubicBezTo>
                <a:cubicBezTo>
                  <a:pt x="110" y="32"/>
                  <a:pt x="96" y="46"/>
                  <a:pt x="96" y="64"/>
                </a:cubicBezTo>
                <a:lnTo>
                  <a:pt x="96" y="128"/>
                </a:lnTo>
                <a:lnTo>
                  <a:pt x="32" y="128"/>
                </a:lnTo>
                <a:cubicBezTo>
                  <a:pt x="14" y="128"/>
                  <a:pt x="0" y="142"/>
                  <a:pt x="0" y="160"/>
                </a:cubicBezTo>
                <a:cubicBezTo>
                  <a:pt x="0" y="178"/>
                  <a:pt x="14" y="192"/>
                  <a:pt x="32" y="192"/>
                </a:cubicBezTo>
                <a:lnTo>
                  <a:pt x="128" y="192"/>
                </a:lnTo>
                <a:cubicBezTo>
                  <a:pt x="146" y="192"/>
                  <a:pt x="160" y="178"/>
                  <a:pt x="160" y="160"/>
                </a:cubicBezTo>
                <a:lnTo>
                  <a:pt x="160" y="64"/>
                </a:lnTo>
                <a:close/>
              </a:path>
              <a:path w="448" h="512">
                <a:moveTo>
                  <a:pt x="32" y="320"/>
                </a:moveTo>
                <a:cubicBezTo>
                  <a:pt x="14" y="320"/>
                  <a:pt x="0" y="334"/>
                  <a:pt x="0" y="352"/>
                </a:cubicBezTo>
                <a:cubicBezTo>
                  <a:pt x="0" y="370"/>
                  <a:pt x="14" y="384"/>
                  <a:pt x="32" y="384"/>
                </a:cubicBezTo>
                <a:lnTo>
                  <a:pt x="96" y="384"/>
                </a:lnTo>
                <a:lnTo>
                  <a:pt x="96" y="448"/>
                </a:lnTo>
                <a:cubicBezTo>
                  <a:pt x="96" y="466"/>
                  <a:pt x="110" y="480"/>
                  <a:pt x="128" y="480"/>
                </a:cubicBezTo>
                <a:cubicBezTo>
                  <a:pt x="146" y="480"/>
                  <a:pt x="160" y="466"/>
                  <a:pt x="160" y="448"/>
                </a:cubicBezTo>
                <a:lnTo>
                  <a:pt x="160" y="352"/>
                </a:lnTo>
                <a:cubicBezTo>
                  <a:pt x="160" y="334"/>
                  <a:pt x="146" y="320"/>
                  <a:pt x="128" y="320"/>
                </a:cubicBezTo>
                <a:lnTo>
                  <a:pt x="32" y="320"/>
                </a:lnTo>
                <a:close/>
              </a:path>
              <a:path w="448" h="512">
                <a:moveTo>
                  <a:pt x="352" y="64"/>
                </a:moveTo>
                <a:cubicBezTo>
                  <a:pt x="352" y="46"/>
                  <a:pt x="338" y="32"/>
                  <a:pt x="320" y="32"/>
                </a:cubicBezTo>
                <a:cubicBezTo>
                  <a:pt x="302" y="32"/>
                  <a:pt x="288" y="46"/>
                  <a:pt x="288" y="64"/>
                </a:cubicBezTo>
                <a:lnTo>
                  <a:pt x="288" y="160"/>
                </a:lnTo>
                <a:cubicBezTo>
                  <a:pt x="288" y="178"/>
                  <a:pt x="302" y="192"/>
                  <a:pt x="320" y="192"/>
                </a:cubicBezTo>
                <a:lnTo>
                  <a:pt x="416" y="192"/>
                </a:lnTo>
                <a:cubicBezTo>
                  <a:pt x="434" y="192"/>
                  <a:pt x="448" y="178"/>
                  <a:pt x="448" y="160"/>
                </a:cubicBezTo>
                <a:cubicBezTo>
                  <a:pt x="448" y="142"/>
                  <a:pt x="434" y="128"/>
                  <a:pt x="416" y="128"/>
                </a:cubicBezTo>
                <a:lnTo>
                  <a:pt x="352" y="128"/>
                </a:lnTo>
                <a:lnTo>
                  <a:pt x="352" y="64"/>
                </a:lnTo>
                <a:close/>
              </a:path>
              <a:path w="448" h="512">
                <a:moveTo>
                  <a:pt x="320" y="320"/>
                </a:moveTo>
                <a:cubicBezTo>
                  <a:pt x="302" y="320"/>
                  <a:pt x="288" y="334"/>
                  <a:pt x="288" y="352"/>
                </a:cubicBezTo>
                <a:lnTo>
                  <a:pt x="288" y="448"/>
                </a:lnTo>
                <a:cubicBezTo>
                  <a:pt x="288" y="466"/>
                  <a:pt x="302" y="480"/>
                  <a:pt x="320" y="480"/>
                </a:cubicBezTo>
                <a:cubicBezTo>
                  <a:pt x="338" y="480"/>
                  <a:pt x="352" y="466"/>
                  <a:pt x="352" y="448"/>
                </a:cubicBezTo>
                <a:lnTo>
                  <a:pt x="352" y="384"/>
                </a:lnTo>
                <a:lnTo>
                  <a:pt x="416" y="384"/>
                </a:lnTo>
                <a:cubicBezTo>
                  <a:pt x="434" y="384"/>
                  <a:pt x="448" y="370"/>
                  <a:pt x="448" y="352"/>
                </a:cubicBezTo>
                <a:cubicBezTo>
                  <a:pt x="448" y="334"/>
                  <a:pt x="434" y="320"/>
                  <a:pt x="416" y="320"/>
                </a:cubicBezTo>
                <a:lnTo>
                  <a:pt x="320" y="32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</p:sp>
      <p:sp>
        <p:nvSpPr>
          <p:cNvPr id="10" name="f1-title"/>
          <p:cNvSpPr txBox="1"/>
          <p:nvPr/>
        </p:nvSpPr>
        <p:spPr>
          <a:xfrm>
            <a:off x="1282700" y="1625600"/>
            <a:ext cx="177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 b="1">
                <a:solidFill>
                  <a:srgbClr val="223962"/>
                </a:solidFill>
                <a:latin typeface="微软雅黑"/>
                <a:ea typeface="微软雅黑"/>
              </a:rPr>
              <a:t>长上下文</a:t>
            </a:r>
            <a:endParaRPr lang="en-US" sz="1300" noProof="1"/>
          </a:p>
        </p:txBody>
      </p:sp>
      <p:sp>
        <p:nvSpPr>
          <p:cNvPr id="11" name="f1-body"/>
          <p:cNvSpPr txBox="1"/>
          <p:nvPr/>
        </p:nvSpPr>
        <p:spPr>
          <a:xfrm>
            <a:off x="850900" y="2108200"/>
            <a:ext cx="2159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100" noProof="1">
                <a:solidFill>
                  <a:srgbClr val="666666"/>
                </a:solidFill>
                <a:latin typeface="MiSans"/>
                <a:ea typeface="MiSans"/>
              </a:rPr>
              <a:t>长上下文压缩、摘要和关键消息保留。</a:t>
            </a:r>
            <a:endParaRPr lang="en-US" sz="1100" noProof="1"/>
          </a:p>
        </p:txBody>
      </p:sp>
      <p:sp>
        <p:nvSpPr>
          <p:cNvPr id="12" name="f2"/>
          <p:cNvSpPr/>
          <p:nvPr/>
        </p:nvSpPr>
        <p:spPr>
          <a:xfrm>
            <a:off x="3403600" y="1397000"/>
            <a:ext cx="2603500" cy="223520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</p:spPr>
      </p:sp>
      <p:sp>
        <p:nvSpPr>
          <p:cNvPr id="13" name="f2-icon"/>
          <p:cNvSpPr/>
          <p:nvPr>
            <p:extLst>
              <p:ext uri="{F5677B7D-0D2A-4D9B-9A5C-6D8D7D0E5A5D}">
                <pptd:icon encoding="base64url">eyJpY29uTmFtZSI6ImZhczpmbGFzay12aWFsIn0</pptd:icon>
              </p:ext>
            </p:extLst>
          </p:nvPr>
        </p:nvSpPr>
        <p:spPr>
          <a:xfrm>
            <a:off x="3606800" y="16002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185" y="412"/>
                </a:moveTo>
                <a:cubicBezTo>
                  <a:pt x="182" y="419"/>
                  <a:pt x="179" y="426"/>
                  <a:pt x="178" y="434"/>
                </a:cubicBezTo>
                <a:cubicBezTo>
                  <a:pt x="163" y="443"/>
                  <a:pt x="146" y="448"/>
                  <a:pt x="128" y="448"/>
                </a:cubicBezTo>
                <a:cubicBezTo>
                  <a:pt x="75" y="448"/>
                  <a:pt x="32" y="405"/>
                  <a:pt x="32" y="352"/>
                </a:cubicBezTo>
                <a:lnTo>
                  <a:pt x="32" y="64"/>
                </a:lnTo>
                <a:cubicBezTo>
                  <a:pt x="14" y="64"/>
                  <a:pt x="0" y="50"/>
                  <a:pt x="0" y="32"/>
                </a:cubicBezTo>
                <a:cubicBezTo>
                  <a:pt x="0" y="14"/>
                  <a:pt x="14" y="0"/>
                  <a:pt x="32" y="0"/>
                </a:cubicBezTo>
                <a:lnTo>
                  <a:pt x="224" y="0"/>
                </a:lnTo>
                <a:cubicBezTo>
                  <a:pt x="242" y="0"/>
                  <a:pt x="256" y="14"/>
                  <a:pt x="256" y="32"/>
                </a:cubicBezTo>
                <a:cubicBezTo>
                  <a:pt x="256" y="50"/>
                  <a:pt x="242" y="64"/>
                  <a:pt x="224" y="64"/>
                </a:cubicBezTo>
                <a:lnTo>
                  <a:pt x="224" y="320"/>
                </a:lnTo>
                <a:lnTo>
                  <a:pt x="185" y="412"/>
                </a:lnTo>
                <a:close/>
                <a:moveTo>
                  <a:pt x="96" y="64"/>
                </a:moveTo>
                <a:lnTo>
                  <a:pt x="96" y="192"/>
                </a:lnTo>
                <a:lnTo>
                  <a:pt x="160" y="192"/>
                </a:lnTo>
                <a:lnTo>
                  <a:pt x="160" y="64"/>
                </a:lnTo>
                <a:lnTo>
                  <a:pt x="96" y="64"/>
                </a:lnTo>
                <a:close/>
              </a:path>
              <a:path w="640" h="512">
                <a:moveTo>
                  <a:pt x="352" y="0"/>
                </a:moveTo>
                <a:lnTo>
                  <a:pt x="512" y="0"/>
                </a:lnTo>
                <a:cubicBezTo>
                  <a:pt x="530" y="0"/>
                  <a:pt x="544" y="14"/>
                  <a:pt x="544" y="32"/>
                </a:cubicBezTo>
                <a:cubicBezTo>
                  <a:pt x="544" y="50"/>
                  <a:pt x="530" y="64"/>
                  <a:pt x="512" y="64"/>
                </a:cubicBezTo>
                <a:lnTo>
                  <a:pt x="512" y="217"/>
                </a:lnTo>
                <a:lnTo>
                  <a:pt x="603" y="430"/>
                </a:lnTo>
                <a:cubicBezTo>
                  <a:pt x="606" y="436"/>
                  <a:pt x="607" y="442"/>
                  <a:pt x="608" y="447"/>
                </a:cubicBezTo>
                <a:lnTo>
                  <a:pt x="608" y="448"/>
                </a:lnTo>
                <a:lnTo>
                  <a:pt x="608" y="448"/>
                </a:lnTo>
                <a:cubicBezTo>
                  <a:pt x="608" y="450"/>
                  <a:pt x="608" y="452"/>
                  <a:pt x="608" y="453"/>
                </a:cubicBezTo>
                <a:cubicBezTo>
                  <a:pt x="608" y="486"/>
                  <a:pt x="582" y="512"/>
                  <a:pt x="549" y="512"/>
                </a:cubicBezTo>
                <a:lnTo>
                  <a:pt x="282" y="512"/>
                </a:lnTo>
                <a:cubicBezTo>
                  <a:pt x="250" y="512"/>
                  <a:pt x="224" y="486"/>
                  <a:pt x="224" y="453"/>
                </a:cubicBezTo>
                <a:cubicBezTo>
                  <a:pt x="224" y="452"/>
                  <a:pt x="224" y="450"/>
                  <a:pt x="224" y="448"/>
                </a:cubicBezTo>
                <a:lnTo>
                  <a:pt x="224" y="448"/>
                </a:lnTo>
                <a:lnTo>
                  <a:pt x="224" y="447"/>
                </a:lnTo>
                <a:cubicBezTo>
                  <a:pt x="225" y="442"/>
                  <a:pt x="226" y="436"/>
                  <a:pt x="229" y="430"/>
                </a:cubicBezTo>
                <a:lnTo>
                  <a:pt x="320" y="217"/>
                </a:lnTo>
                <a:lnTo>
                  <a:pt x="320" y="64"/>
                </a:lnTo>
                <a:cubicBezTo>
                  <a:pt x="302" y="64"/>
                  <a:pt x="288" y="50"/>
                  <a:pt x="288" y="32"/>
                </a:cubicBezTo>
                <a:cubicBezTo>
                  <a:pt x="288" y="14"/>
                  <a:pt x="302" y="0"/>
                  <a:pt x="320" y="0"/>
                </a:cubicBezTo>
                <a:lnTo>
                  <a:pt x="352" y="0"/>
                </a:lnTo>
                <a:close/>
                <a:moveTo>
                  <a:pt x="453" y="243"/>
                </a:moveTo>
                <a:cubicBezTo>
                  <a:pt x="450" y="235"/>
                  <a:pt x="448" y="226"/>
                  <a:pt x="448" y="217"/>
                </a:cubicBezTo>
                <a:lnTo>
                  <a:pt x="448" y="64"/>
                </a:lnTo>
                <a:lnTo>
                  <a:pt x="384" y="64"/>
                </a:lnTo>
                <a:lnTo>
                  <a:pt x="384" y="217"/>
                </a:lnTo>
                <a:cubicBezTo>
                  <a:pt x="384" y="226"/>
                  <a:pt x="382" y="235"/>
                  <a:pt x="379" y="243"/>
                </a:cubicBezTo>
                <a:lnTo>
                  <a:pt x="346" y="320"/>
                </a:lnTo>
                <a:lnTo>
                  <a:pt x="486" y="320"/>
                </a:lnTo>
                <a:lnTo>
                  <a:pt x="453" y="243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</p:sp>
      <p:sp>
        <p:nvSpPr>
          <p:cNvPr id="14" name="f2-title"/>
          <p:cNvSpPr txBox="1"/>
          <p:nvPr/>
        </p:nvSpPr>
        <p:spPr>
          <a:xfrm>
            <a:off x="4064000" y="1625600"/>
            <a:ext cx="177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 b="1">
                <a:solidFill>
                  <a:srgbClr val="223962"/>
                </a:solidFill>
                <a:latin typeface="微软雅黑"/>
                <a:ea typeface="微软雅黑"/>
              </a:rPr>
              <a:t>自动化测试</a:t>
            </a:r>
            <a:endParaRPr lang="en-US" sz="1300" noProof="1"/>
          </a:p>
        </p:txBody>
      </p:sp>
      <p:sp>
        <p:nvSpPr>
          <p:cNvPr id="15" name="f2-body"/>
          <p:cNvSpPr txBox="1"/>
          <p:nvPr/>
        </p:nvSpPr>
        <p:spPr>
          <a:xfrm>
            <a:off x="3632200" y="2108200"/>
            <a:ext cx="2159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100" noProof="1">
                <a:solidFill>
                  <a:srgbClr val="666666"/>
                </a:solidFill>
                <a:latin typeface="MiSans"/>
                <a:ea typeface="MiSans"/>
              </a:rPr>
              <a:t>OpenViking 资源导入、检索和读取的自动化测试。</a:t>
            </a:r>
            <a:endParaRPr lang="en-US" sz="1100" noProof="1"/>
          </a:p>
        </p:txBody>
      </p:sp>
      <p:sp>
        <p:nvSpPr>
          <p:cNvPr id="16" name="f3"/>
          <p:cNvSpPr/>
          <p:nvPr/>
        </p:nvSpPr>
        <p:spPr>
          <a:xfrm>
            <a:off x="6184900" y="1397000"/>
            <a:ext cx="2603500" cy="223520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</p:spPr>
      </p:sp>
      <p:sp>
        <p:nvSpPr>
          <p:cNvPr id="17" name="f3-icon"/>
          <p:cNvSpPr/>
          <p:nvPr>
            <p:extLst>
              <p:ext uri="{F5677B7D-0D2A-4D9B-9A5C-6D8D7D0E5A5D}">
                <pptd:icon encoding="base64url">eyJpY29uTmFtZSI6ImZhczpjbGlwYm9hcmQtY2hlY2sifQ</pptd:icon>
              </p:ext>
            </p:extLst>
          </p:nvPr>
        </p:nvSpPr>
        <p:spPr>
          <a:xfrm>
            <a:off x="6388100" y="16002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256" y="0"/>
                </a:moveTo>
                <a:cubicBezTo>
                  <a:pt x="280" y="0"/>
                  <a:pt x="300" y="13"/>
                  <a:pt x="311" y="32"/>
                </a:cubicBezTo>
                <a:lnTo>
                  <a:pt x="320" y="32"/>
                </a:lnTo>
                <a:cubicBezTo>
                  <a:pt x="355" y="32"/>
                  <a:pt x="384" y="61"/>
                  <a:pt x="384" y="96"/>
                </a:cubicBezTo>
                <a:lnTo>
                  <a:pt x="384" y="448"/>
                </a:lnTo>
                <a:cubicBezTo>
                  <a:pt x="384" y="483"/>
                  <a:pt x="355" y="512"/>
                  <a:pt x="320" y="512"/>
                </a:cubicBezTo>
                <a:lnTo>
                  <a:pt x="64" y="512"/>
                </a:lnTo>
                <a:cubicBezTo>
                  <a:pt x="29" y="512"/>
                  <a:pt x="0" y="483"/>
                  <a:pt x="0" y="448"/>
                </a:cubicBezTo>
                <a:lnTo>
                  <a:pt x="0" y="96"/>
                </a:lnTo>
                <a:cubicBezTo>
                  <a:pt x="0" y="61"/>
                  <a:pt x="29" y="32"/>
                  <a:pt x="64" y="32"/>
                </a:cubicBezTo>
                <a:lnTo>
                  <a:pt x="73" y="32"/>
                </a:lnTo>
                <a:cubicBezTo>
                  <a:pt x="84" y="13"/>
                  <a:pt x="104" y="0"/>
                  <a:pt x="128" y="0"/>
                </a:cubicBezTo>
                <a:lnTo>
                  <a:pt x="256" y="0"/>
                </a:lnTo>
                <a:close/>
                <a:moveTo>
                  <a:pt x="283" y="213"/>
                </a:moveTo>
                <a:cubicBezTo>
                  <a:pt x="272" y="205"/>
                  <a:pt x="257" y="207"/>
                  <a:pt x="249" y="218"/>
                </a:cubicBezTo>
                <a:lnTo>
                  <a:pt x="164" y="336"/>
                </a:lnTo>
                <a:lnTo>
                  <a:pt x="137" y="308"/>
                </a:lnTo>
                <a:cubicBezTo>
                  <a:pt x="128" y="299"/>
                  <a:pt x="113" y="298"/>
                  <a:pt x="103" y="308"/>
                </a:cubicBezTo>
                <a:cubicBezTo>
                  <a:pt x="94" y="317"/>
                  <a:pt x="94" y="332"/>
                  <a:pt x="103" y="342"/>
                </a:cubicBezTo>
                <a:lnTo>
                  <a:pt x="149" y="390"/>
                </a:lnTo>
                <a:cubicBezTo>
                  <a:pt x="154" y="395"/>
                  <a:pt x="161" y="397"/>
                  <a:pt x="168" y="397"/>
                </a:cubicBezTo>
                <a:cubicBezTo>
                  <a:pt x="175" y="396"/>
                  <a:pt x="182" y="393"/>
                  <a:pt x="186" y="387"/>
                </a:cubicBezTo>
                <a:lnTo>
                  <a:pt x="288" y="246"/>
                </a:lnTo>
                <a:cubicBezTo>
                  <a:pt x="296" y="235"/>
                  <a:pt x="294" y="220"/>
                  <a:pt x="283" y="213"/>
                </a:cubicBezTo>
                <a:close/>
                <a:moveTo>
                  <a:pt x="136" y="64"/>
                </a:moveTo>
                <a:cubicBezTo>
                  <a:pt x="123" y="64"/>
                  <a:pt x="112" y="75"/>
                  <a:pt x="112" y="88"/>
                </a:cubicBezTo>
                <a:cubicBezTo>
                  <a:pt x="112" y="101"/>
                  <a:pt x="123" y="112"/>
                  <a:pt x="136" y="112"/>
                </a:cubicBezTo>
                <a:lnTo>
                  <a:pt x="248" y="112"/>
                </a:lnTo>
                <a:cubicBezTo>
                  <a:pt x="261" y="112"/>
                  <a:pt x="272" y="101"/>
                  <a:pt x="272" y="88"/>
                </a:cubicBezTo>
                <a:cubicBezTo>
                  <a:pt x="272" y="75"/>
                  <a:pt x="261" y="64"/>
                  <a:pt x="248" y="64"/>
                </a:cubicBezTo>
                <a:lnTo>
                  <a:pt x="136" y="6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</p:sp>
      <p:sp>
        <p:nvSpPr>
          <p:cNvPr id="18" name="f3-title"/>
          <p:cNvSpPr txBox="1"/>
          <p:nvPr/>
        </p:nvSpPr>
        <p:spPr>
          <a:xfrm>
            <a:off x="6845300" y="1625600"/>
            <a:ext cx="177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 b="1">
                <a:solidFill>
                  <a:srgbClr val="223962"/>
                </a:solidFill>
                <a:latin typeface="微软雅黑"/>
                <a:ea typeface="微软雅黑"/>
              </a:rPr>
              <a:t>审计日志</a:t>
            </a:r>
            <a:endParaRPr lang="en-US" sz="1300" noProof="1"/>
          </a:p>
        </p:txBody>
      </p:sp>
      <p:sp>
        <p:nvSpPr>
          <p:cNvPr id="19" name="f3-body"/>
          <p:cNvSpPr txBox="1"/>
          <p:nvPr/>
        </p:nvSpPr>
        <p:spPr>
          <a:xfrm>
            <a:off x="6413500" y="2108200"/>
            <a:ext cx="2159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100" noProof="1">
                <a:solidFill>
                  <a:srgbClr val="666666"/>
                </a:solidFill>
                <a:latin typeface="MiSans"/>
                <a:ea typeface="MiSans"/>
              </a:rPr>
              <a:t>共享资源的审核发布和完整审计日志。</a:t>
            </a:r>
            <a:endParaRPr lang="en-US" sz="1100" noProof="1"/>
          </a:p>
        </p:txBody>
      </p:sp>
      <p:sp>
        <p:nvSpPr>
          <p:cNvPr id="20" name="f4"/>
          <p:cNvSpPr/>
          <p:nvPr/>
        </p:nvSpPr>
        <p:spPr>
          <a:xfrm>
            <a:off x="8966200" y="1397000"/>
            <a:ext cx="2603500" cy="223520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</p:spPr>
      </p:sp>
      <p:sp>
        <p:nvSpPr>
          <p:cNvPr id="21" name="f4-icon"/>
          <p:cNvSpPr/>
          <p:nvPr>
            <p:extLst>
              <p:ext uri="{F5677B7D-0D2A-4D9B-9A5C-6D8D7D0E5A5D}">
                <pptd:icon encoding="base64url">eyJpY29uTmFtZSI6ImZhczpicmFpbiJ9</pptd:icon>
              </p:ext>
            </p:extLst>
          </p:nvPr>
        </p:nvSpPr>
        <p:spPr>
          <a:xfrm>
            <a:off x="9169400" y="16002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20" y="56"/>
                </a:moveTo>
                <a:cubicBezTo>
                  <a:pt x="120" y="25"/>
                  <a:pt x="145" y="0"/>
                  <a:pt x="176" y="0"/>
                </a:cubicBezTo>
                <a:lnTo>
                  <a:pt x="200" y="0"/>
                </a:lnTo>
                <a:cubicBezTo>
                  <a:pt x="218" y="0"/>
                  <a:pt x="232" y="14"/>
                  <a:pt x="232" y="32"/>
                </a:cubicBezTo>
                <a:lnTo>
                  <a:pt x="232" y="480"/>
                </a:lnTo>
                <a:cubicBezTo>
                  <a:pt x="232" y="498"/>
                  <a:pt x="218" y="512"/>
                  <a:pt x="200" y="512"/>
                </a:cubicBezTo>
                <a:lnTo>
                  <a:pt x="168" y="512"/>
                </a:lnTo>
                <a:cubicBezTo>
                  <a:pt x="138" y="512"/>
                  <a:pt x="113" y="492"/>
                  <a:pt x="106" y="464"/>
                </a:cubicBezTo>
                <a:cubicBezTo>
                  <a:pt x="105" y="464"/>
                  <a:pt x="105" y="464"/>
                  <a:pt x="104" y="464"/>
                </a:cubicBezTo>
                <a:cubicBezTo>
                  <a:pt x="60" y="464"/>
                  <a:pt x="24" y="428"/>
                  <a:pt x="24" y="384"/>
                </a:cubicBezTo>
                <a:cubicBezTo>
                  <a:pt x="24" y="366"/>
                  <a:pt x="30" y="349"/>
                  <a:pt x="40" y="336"/>
                </a:cubicBezTo>
                <a:cubicBezTo>
                  <a:pt x="21" y="321"/>
                  <a:pt x="8" y="298"/>
                  <a:pt x="8" y="272"/>
                </a:cubicBezTo>
                <a:cubicBezTo>
                  <a:pt x="8" y="241"/>
                  <a:pt x="26" y="214"/>
                  <a:pt x="51" y="201"/>
                </a:cubicBezTo>
                <a:cubicBezTo>
                  <a:pt x="44" y="189"/>
                  <a:pt x="40" y="175"/>
                  <a:pt x="40" y="160"/>
                </a:cubicBezTo>
                <a:cubicBezTo>
                  <a:pt x="40" y="116"/>
                  <a:pt x="76" y="80"/>
                  <a:pt x="120" y="80"/>
                </a:cubicBezTo>
                <a:lnTo>
                  <a:pt x="120" y="56"/>
                </a:lnTo>
                <a:close/>
                <a:moveTo>
                  <a:pt x="392" y="56"/>
                </a:moveTo>
                <a:lnTo>
                  <a:pt x="392" y="80"/>
                </a:lnTo>
                <a:cubicBezTo>
                  <a:pt x="436" y="80"/>
                  <a:pt x="472" y="116"/>
                  <a:pt x="472" y="160"/>
                </a:cubicBezTo>
                <a:cubicBezTo>
                  <a:pt x="472" y="175"/>
                  <a:pt x="468" y="189"/>
                  <a:pt x="461" y="201"/>
                </a:cubicBezTo>
                <a:cubicBezTo>
                  <a:pt x="487" y="214"/>
                  <a:pt x="504" y="241"/>
                  <a:pt x="504" y="272"/>
                </a:cubicBezTo>
                <a:cubicBezTo>
                  <a:pt x="504" y="298"/>
                  <a:pt x="491" y="321"/>
                  <a:pt x="472" y="336"/>
                </a:cubicBezTo>
                <a:cubicBezTo>
                  <a:pt x="482" y="349"/>
                  <a:pt x="488" y="366"/>
                  <a:pt x="488" y="384"/>
                </a:cubicBezTo>
                <a:cubicBezTo>
                  <a:pt x="488" y="428"/>
                  <a:pt x="452" y="464"/>
                  <a:pt x="408" y="464"/>
                </a:cubicBezTo>
                <a:cubicBezTo>
                  <a:pt x="407" y="464"/>
                  <a:pt x="407" y="464"/>
                  <a:pt x="406" y="464"/>
                </a:cubicBezTo>
                <a:cubicBezTo>
                  <a:pt x="399" y="492"/>
                  <a:pt x="374" y="512"/>
                  <a:pt x="344" y="512"/>
                </a:cubicBezTo>
                <a:lnTo>
                  <a:pt x="312" y="512"/>
                </a:lnTo>
                <a:cubicBezTo>
                  <a:pt x="294" y="512"/>
                  <a:pt x="280" y="498"/>
                  <a:pt x="280" y="480"/>
                </a:cubicBezTo>
                <a:lnTo>
                  <a:pt x="280" y="32"/>
                </a:lnTo>
                <a:cubicBezTo>
                  <a:pt x="280" y="14"/>
                  <a:pt x="294" y="0"/>
                  <a:pt x="312" y="0"/>
                </a:cubicBezTo>
                <a:lnTo>
                  <a:pt x="336" y="0"/>
                </a:lnTo>
                <a:cubicBezTo>
                  <a:pt x="367" y="0"/>
                  <a:pt x="392" y="25"/>
                  <a:pt x="392" y="56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</p:sp>
      <p:sp>
        <p:nvSpPr>
          <p:cNvPr id="22" name="f4-title"/>
          <p:cNvSpPr txBox="1"/>
          <p:nvPr/>
        </p:nvSpPr>
        <p:spPr>
          <a:xfrm>
            <a:off x="9626600" y="1625600"/>
            <a:ext cx="177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 b="1">
                <a:solidFill>
                  <a:srgbClr val="223962"/>
                </a:solidFill>
                <a:latin typeface="微软雅黑"/>
                <a:ea typeface="微软雅黑"/>
              </a:rPr>
              <a:t>记忆策略</a:t>
            </a:r>
            <a:endParaRPr lang="en-US" sz="1300" noProof="1"/>
          </a:p>
        </p:txBody>
      </p:sp>
      <p:sp>
        <p:nvSpPr>
          <p:cNvPr id="23" name="f4-body"/>
          <p:cNvSpPr txBox="1"/>
          <p:nvPr/>
        </p:nvSpPr>
        <p:spPr>
          <a:xfrm>
            <a:off x="9194800" y="2108200"/>
            <a:ext cx="2159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100" noProof="1">
                <a:solidFill>
                  <a:srgbClr val="666666"/>
                </a:solidFill>
                <a:latin typeface="MiSans"/>
                <a:ea typeface="MiSans"/>
              </a:rPr>
              <a:t>组织级、项目级和个人级记忆策略。</a:t>
            </a:r>
            <a:endParaRPr lang="en-US" sz="1100" noProof="1"/>
          </a:p>
        </p:txBody>
      </p:sp>
      <p:sp>
        <p:nvSpPr>
          <p:cNvPr id="24" name="f5"/>
          <p:cNvSpPr/>
          <p:nvPr/>
        </p:nvSpPr>
        <p:spPr>
          <a:xfrm>
            <a:off x="622300" y="3886200"/>
            <a:ext cx="2603500" cy="223520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</p:spPr>
      </p:sp>
      <p:sp>
        <p:nvSpPr>
          <p:cNvPr id="25" name="f5-icon"/>
          <p:cNvSpPr/>
          <p:nvPr>
            <p:extLst>
              <p:ext uri="{F5677B7D-0D2A-4D9B-9A5C-6D8D7D0E5A5D}">
                <pptd:icon encoding="base64url">eyJpY29uTmFtZSI6ImZhczpwbHVnIn0</pptd:icon>
              </p:ext>
            </p:extLst>
          </p:nvPr>
        </p:nvSpPr>
        <p:spPr>
          <a:xfrm>
            <a:off x="825500" y="40894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128" y="-32"/>
                </a:moveTo>
                <a:cubicBezTo>
                  <a:pt x="146" y="-32"/>
                  <a:pt x="160" y="-18"/>
                  <a:pt x="160" y="0"/>
                </a:cubicBezTo>
                <a:lnTo>
                  <a:pt x="160" y="96"/>
                </a:lnTo>
                <a:lnTo>
                  <a:pt x="288" y="96"/>
                </a:lnTo>
                <a:lnTo>
                  <a:pt x="288" y="0"/>
                </a:lnTo>
                <a:cubicBezTo>
                  <a:pt x="288" y="-18"/>
                  <a:pt x="302" y="-32"/>
                  <a:pt x="320" y="-32"/>
                </a:cubicBezTo>
                <a:cubicBezTo>
                  <a:pt x="338" y="-32"/>
                  <a:pt x="352" y="-18"/>
                  <a:pt x="352" y="0"/>
                </a:cubicBezTo>
                <a:lnTo>
                  <a:pt x="352" y="96"/>
                </a:lnTo>
                <a:lnTo>
                  <a:pt x="416" y="96"/>
                </a:lnTo>
                <a:cubicBezTo>
                  <a:pt x="434" y="96"/>
                  <a:pt x="448" y="110"/>
                  <a:pt x="448" y="128"/>
                </a:cubicBezTo>
                <a:cubicBezTo>
                  <a:pt x="448" y="146"/>
                  <a:pt x="434" y="160"/>
                  <a:pt x="416" y="160"/>
                </a:cubicBezTo>
                <a:lnTo>
                  <a:pt x="416" y="224"/>
                </a:lnTo>
                <a:cubicBezTo>
                  <a:pt x="416" y="319"/>
                  <a:pt x="347" y="398"/>
                  <a:pt x="256" y="413"/>
                </a:cubicBezTo>
                <a:lnTo>
                  <a:pt x="256" y="480"/>
                </a:lnTo>
                <a:cubicBezTo>
                  <a:pt x="256" y="498"/>
                  <a:pt x="242" y="512"/>
                  <a:pt x="224" y="512"/>
                </a:cubicBezTo>
                <a:cubicBezTo>
                  <a:pt x="206" y="512"/>
                  <a:pt x="192" y="498"/>
                  <a:pt x="192" y="480"/>
                </a:cubicBezTo>
                <a:lnTo>
                  <a:pt x="192" y="413"/>
                </a:lnTo>
                <a:cubicBezTo>
                  <a:pt x="101" y="398"/>
                  <a:pt x="32" y="319"/>
                  <a:pt x="32" y="224"/>
                </a:cubicBezTo>
                <a:lnTo>
                  <a:pt x="32" y="160"/>
                </a:lnTo>
                <a:cubicBezTo>
                  <a:pt x="14" y="160"/>
                  <a:pt x="0" y="146"/>
                  <a:pt x="0" y="128"/>
                </a:cubicBezTo>
                <a:cubicBezTo>
                  <a:pt x="0" y="110"/>
                  <a:pt x="14" y="96"/>
                  <a:pt x="32" y="96"/>
                </a:cubicBezTo>
                <a:lnTo>
                  <a:pt x="96" y="96"/>
                </a:lnTo>
                <a:lnTo>
                  <a:pt x="96" y="0"/>
                </a:lnTo>
                <a:cubicBezTo>
                  <a:pt x="96" y="-18"/>
                  <a:pt x="110" y="-32"/>
                  <a:pt x="128" y="-32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</p:sp>
      <p:sp>
        <p:nvSpPr>
          <p:cNvPr id="26" name="f5-title"/>
          <p:cNvSpPr txBox="1"/>
          <p:nvPr/>
        </p:nvSpPr>
        <p:spPr>
          <a:xfrm>
            <a:off x="1282700" y="4114800"/>
            <a:ext cx="177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 b="1">
                <a:solidFill>
                  <a:srgbClr val="223962"/>
                </a:solidFill>
                <a:latin typeface="微软雅黑"/>
                <a:ea typeface="微软雅黑"/>
              </a:rPr>
              <a:t>更多连接</a:t>
            </a:r>
            <a:endParaRPr lang="en-US" sz="1300" noProof="1"/>
          </a:p>
        </p:txBody>
      </p:sp>
      <p:sp>
        <p:nvSpPr>
          <p:cNvPr id="27" name="f5-body"/>
          <p:cNvSpPr txBox="1"/>
          <p:nvPr/>
        </p:nvSpPr>
        <p:spPr>
          <a:xfrm>
            <a:off x="850900" y="4597400"/>
            <a:ext cx="2159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100" noProof="1">
                <a:solidFill>
                  <a:srgbClr val="666666"/>
                </a:solidFill>
                <a:latin typeface="MiSans"/>
                <a:ea typeface="MiSans"/>
              </a:rPr>
              <a:t>更多本地文件和企业系统连接能力。</a:t>
            </a:r>
            <a:endParaRPr lang="en-US" sz="1100" noProof="1"/>
          </a:p>
        </p:txBody>
      </p:sp>
      <p:sp>
        <p:nvSpPr>
          <p:cNvPr id="28" name="f6"/>
          <p:cNvSpPr/>
          <p:nvPr/>
        </p:nvSpPr>
        <p:spPr>
          <a:xfrm>
            <a:off x="3403600" y="3886200"/>
            <a:ext cx="2603500" cy="223520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</p:spPr>
      </p:sp>
      <p:sp>
        <p:nvSpPr>
          <p:cNvPr id="29" name="f6-icon"/>
          <p:cNvSpPr/>
          <p:nvPr>
            <p:extLst>
              <p:ext uri="{F5677B7D-0D2A-4D9B-9A5C-6D8D7D0E5A5D}">
                <pptd:icon encoding="base64url">eyJpY29uTmFtZSI6ImZhczpyb3RhdGUifQ</pptd:icon>
              </p:ext>
            </p:extLst>
          </p:nvPr>
        </p:nvSpPr>
        <p:spPr>
          <a:xfrm>
            <a:off x="3606800" y="40894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80" y="192"/>
                </a:moveTo>
                <a:lnTo>
                  <a:pt x="488" y="192"/>
                </a:lnTo>
                <a:cubicBezTo>
                  <a:pt x="501" y="192"/>
                  <a:pt x="512" y="181"/>
                  <a:pt x="512" y="168"/>
                </a:cubicBezTo>
                <a:lnTo>
                  <a:pt x="512" y="24"/>
                </a:lnTo>
                <a:cubicBezTo>
                  <a:pt x="512" y="14"/>
                  <a:pt x="506" y="6"/>
                  <a:pt x="497" y="2"/>
                </a:cubicBezTo>
                <a:cubicBezTo>
                  <a:pt x="488" y="-2"/>
                  <a:pt x="478" y="0"/>
                  <a:pt x="471" y="7"/>
                </a:cubicBezTo>
                <a:lnTo>
                  <a:pt x="419" y="59"/>
                </a:lnTo>
                <a:cubicBezTo>
                  <a:pt x="375" y="22"/>
                  <a:pt x="318" y="0"/>
                  <a:pt x="256" y="0"/>
                </a:cubicBezTo>
                <a:cubicBezTo>
                  <a:pt x="127" y="0"/>
                  <a:pt x="20" y="95"/>
                  <a:pt x="3" y="220"/>
                </a:cubicBezTo>
                <a:cubicBezTo>
                  <a:pt x="0" y="237"/>
                  <a:pt x="12" y="253"/>
                  <a:pt x="30" y="256"/>
                </a:cubicBezTo>
                <a:cubicBezTo>
                  <a:pt x="47" y="258"/>
                  <a:pt x="63" y="246"/>
                  <a:pt x="66" y="229"/>
                </a:cubicBezTo>
                <a:cubicBezTo>
                  <a:pt x="79" y="136"/>
                  <a:pt x="159" y="64"/>
                  <a:pt x="256" y="64"/>
                </a:cubicBezTo>
                <a:cubicBezTo>
                  <a:pt x="300" y="64"/>
                  <a:pt x="341" y="79"/>
                  <a:pt x="374" y="104"/>
                </a:cubicBezTo>
                <a:lnTo>
                  <a:pt x="327" y="151"/>
                </a:lnTo>
                <a:cubicBezTo>
                  <a:pt x="320" y="158"/>
                  <a:pt x="318" y="168"/>
                  <a:pt x="322" y="177"/>
                </a:cubicBezTo>
                <a:cubicBezTo>
                  <a:pt x="326" y="186"/>
                  <a:pt x="334" y="192"/>
                  <a:pt x="344" y="192"/>
                </a:cubicBezTo>
                <a:lnTo>
                  <a:pt x="480" y="192"/>
                </a:lnTo>
                <a:close/>
                <a:moveTo>
                  <a:pt x="510" y="293"/>
                </a:moveTo>
                <a:cubicBezTo>
                  <a:pt x="512" y="275"/>
                  <a:pt x="500" y="259"/>
                  <a:pt x="482" y="256"/>
                </a:cubicBezTo>
                <a:cubicBezTo>
                  <a:pt x="465" y="254"/>
                  <a:pt x="449" y="266"/>
                  <a:pt x="446" y="283"/>
                </a:cubicBezTo>
                <a:cubicBezTo>
                  <a:pt x="433" y="376"/>
                  <a:pt x="353" y="448"/>
                  <a:pt x="256" y="448"/>
                </a:cubicBezTo>
                <a:cubicBezTo>
                  <a:pt x="212" y="448"/>
                  <a:pt x="171" y="433"/>
                  <a:pt x="138" y="408"/>
                </a:cubicBezTo>
                <a:lnTo>
                  <a:pt x="185" y="361"/>
                </a:lnTo>
                <a:cubicBezTo>
                  <a:pt x="192" y="354"/>
                  <a:pt x="194" y="344"/>
                  <a:pt x="190" y="335"/>
                </a:cubicBezTo>
                <a:cubicBezTo>
                  <a:pt x="186" y="326"/>
                  <a:pt x="178" y="320"/>
                  <a:pt x="168" y="320"/>
                </a:cubicBezTo>
                <a:lnTo>
                  <a:pt x="24" y="320"/>
                </a:lnTo>
                <a:cubicBezTo>
                  <a:pt x="11" y="320"/>
                  <a:pt x="0" y="331"/>
                  <a:pt x="0" y="344"/>
                </a:cubicBezTo>
                <a:lnTo>
                  <a:pt x="0" y="488"/>
                </a:lnTo>
                <a:cubicBezTo>
                  <a:pt x="0" y="498"/>
                  <a:pt x="6" y="507"/>
                  <a:pt x="15" y="510"/>
                </a:cubicBezTo>
                <a:cubicBezTo>
                  <a:pt x="24" y="514"/>
                  <a:pt x="34" y="512"/>
                  <a:pt x="41" y="505"/>
                </a:cubicBezTo>
                <a:lnTo>
                  <a:pt x="93" y="453"/>
                </a:lnTo>
                <a:cubicBezTo>
                  <a:pt x="137" y="490"/>
                  <a:pt x="194" y="512"/>
                  <a:pt x="256" y="512"/>
                </a:cubicBezTo>
                <a:cubicBezTo>
                  <a:pt x="385" y="512"/>
                  <a:pt x="492" y="417"/>
                  <a:pt x="509" y="293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</p:sp>
      <p:sp>
        <p:nvSpPr>
          <p:cNvPr id="30" name="f6-title"/>
          <p:cNvSpPr txBox="1"/>
          <p:nvPr/>
        </p:nvSpPr>
        <p:spPr>
          <a:xfrm>
            <a:off x="4064000" y="4114800"/>
            <a:ext cx="177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 b="1">
                <a:solidFill>
                  <a:srgbClr val="223962"/>
                </a:solidFill>
                <a:latin typeface="微软雅黑"/>
                <a:ea typeface="微软雅黑"/>
              </a:rPr>
              <a:t>断线恢复</a:t>
            </a:r>
            <a:endParaRPr lang="en-US" sz="1300" noProof="1"/>
          </a:p>
        </p:txBody>
      </p:sp>
      <p:sp>
        <p:nvSpPr>
          <p:cNvPr id="31" name="f6-body"/>
          <p:cNvSpPr txBox="1"/>
          <p:nvPr/>
        </p:nvSpPr>
        <p:spPr>
          <a:xfrm>
            <a:off x="3632200" y="4597400"/>
            <a:ext cx="2159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100" noProof="1">
                <a:solidFill>
                  <a:srgbClr val="666666"/>
                </a:solidFill>
                <a:latin typeface="MiSans"/>
                <a:ea typeface="MiSans"/>
              </a:rPr>
              <a:t>网络失败自动重试和断线恢复。</a:t>
            </a:r>
            <a:endParaRPr lang="en-US" sz="1100" noProof="1"/>
          </a:p>
        </p:txBody>
      </p:sp>
      <p:sp>
        <p:nvSpPr>
          <p:cNvPr id="32" name="f7"/>
          <p:cNvSpPr/>
          <p:nvPr/>
        </p:nvSpPr>
        <p:spPr>
          <a:xfrm>
            <a:off x="6184900" y="3886200"/>
            <a:ext cx="2603500" cy="223520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</p:spPr>
      </p:sp>
      <p:sp>
        <p:nvSpPr>
          <p:cNvPr id="33" name="f7-icon"/>
          <p:cNvSpPr/>
          <p:nvPr>
            <p:extLst>
              <p:ext uri="{F5677B7D-0D2A-4D9B-9A5C-6D8D7D0E5A5D}">
                <pptd:icon encoding="base64url">eyJpY29uTmFtZSI6ImZhczp3aW5kb3ctcmVzdG9yZSJ9</pptd:icon>
              </p:ext>
            </p:extLst>
          </p:nvPr>
        </p:nvSpPr>
        <p:spPr>
          <a:xfrm>
            <a:off x="6388100" y="40894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512" y="96"/>
                </a:moveTo>
                <a:lnTo>
                  <a:pt x="160" y="96"/>
                </a:lnTo>
                <a:cubicBezTo>
                  <a:pt x="160" y="61"/>
                  <a:pt x="189" y="32"/>
                  <a:pt x="224" y="32"/>
                </a:cubicBezTo>
                <a:lnTo>
                  <a:pt x="512" y="32"/>
                </a:lnTo>
                <a:cubicBezTo>
                  <a:pt x="547" y="32"/>
                  <a:pt x="576" y="61"/>
                  <a:pt x="576" y="96"/>
                </a:cubicBezTo>
                <a:lnTo>
                  <a:pt x="576" y="288"/>
                </a:lnTo>
                <a:cubicBezTo>
                  <a:pt x="576" y="323"/>
                  <a:pt x="547" y="352"/>
                  <a:pt x="512" y="352"/>
                </a:cubicBezTo>
                <a:lnTo>
                  <a:pt x="464" y="352"/>
                </a:lnTo>
                <a:lnTo>
                  <a:pt x="464" y="288"/>
                </a:lnTo>
                <a:lnTo>
                  <a:pt x="512" y="288"/>
                </a:lnTo>
                <a:lnTo>
                  <a:pt x="512" y="96"/>
                </a:lnTo>
                <a:close/>
              </a:path>
              <a:path w="576" h="512">
                <a:moveTo>
                  <a:pt x="0" y="224"/>
                </a:moveTo>
                <a:cubicBezTo>
                  <a:pt x="0" y="189"/>
                  <a:pt x="29" y="160"/>
                  <a:pt x="64" y="160"/>
                </a:cubicBezTo>
                <a:lnTo>
                  <a:pt x="352" y="160"/>
                </a:lnTo>
                <a:cubicBezTo>
                  <a:pt x="387" y="160"/>
                  <a:pt x="416" y="189"/>
                  <a:pt x="416" y="224"/>
                </a:cubicBezTo>
                <a:lnTo>
                  <a:pt x="416" y="416"/>
                </a:lnTo>
                <a:cubicBezTo>
                  <a:pt x="416" y="451"/>
                  <a:pt x="387" y="480"/>
                  <a:pt x="352" y="480"/>
                </a:cubicBezTo>
                <a:lnTo>
                  <a:pt x="64" y="480"/>
                </a:lnTo>
                <a:cubicBezTo>
                  <a:pt x="29" y="480"/>
                  <a:pt x="0" y="451"/>
                  <a:pt x="0" y="416"/>
                </a:cubicBezTo>
                <a:lnTo>
                  <a:pt x="0" y="224"/>
                </a:lnTo>
                <a:close/>
                <a:moveTo>
                  <a:pt x="64" y="264"/>
                </a:moveTo>
                <a:cubicBezTo>
                  <a:pt x="64" y="277"/>
                  <a:pt x="75" y="288"/>
                  <a:pt x="88" y="288"/>
                </a:cubicBezTo>
                <a:lnTo>
                  <a:pt x="328" y="288"/>
                </a:lnTo>
                <a:cubicBezTo>
                  <a:pt x="341" y="288"/>
                  <a:pt x="352" y="277"/>
                  <a:pt x="352" y="264"/>
                </a:cubicBezTo>
                <a:cubicBezTo>
                  <a:pt x="352" y="251"/>
                  <a:pt x="341" y="240"/>
                  <a:pt x="328" y="240"/>
                </a:cubicBezTo>
                <a:lnTo>
                  <a:pt x="88" y="240"/>
                </a:lnTo>
                <a:cubicBezTo>
                  <a:pt x="75" y="240"/>
                  <a:pt x="64" y="251"/>
                  <a:pt x="64" y="264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</p:sp>
      <p:sp>
        <p:nvSpPr>
          <p:cNvPr id="34" name="f7-title"/>
          <p:cNvSpPr txBox="1"/>
          <p:nvPr/>
        </p:nvSpPr>
        <p:spPr>
          <a:xfrm>
            <a:off x="6845300" y="4114800"/>
            <a:ext cx="177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 b="1">
                <a:solidFill>
                  <a:srgbClr val="223962"/>
                </a:solidFill>
                <a:latin typeface="微软雅黑"/>
                <a:ea typeface="微软雅黑"/>
              </a:rPr>
              <a:t>多窗口协同</a:t>
            </a:r>
            <a:endParaRPr lang="en-US" sz="1300" noProof="1"/>
          </a:p>
        </p:txBody>
      </p:sp>
      <p:sp>
        <p:nvSpPr>
          <p:cNvPr id="35" name="f7-body"/>
          <p:cNvSpPr txBox="1"/>
          <p:nvPr/>
        </p:nvSpPr>
        <p:spPr>
          <a:xfrm>
            <a:off x="6413500" y="4597400"/>
            <a:ext cx="2159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100" noProof="1">
                <a:solidFill>
                  <a:srgbClr val="666666"/>
                </a:solidFill>
                <a:latin typeface="MiSans"/>
                <a:ea typeface="MiSans"/>
              </a:rPr>
              <a:t>多窗口会话同步。</a:t>
            </a:r>
            <a:endParaRPr lang="en-US" sz="1100" noProof="1"/>
          </a:p>
        </p:txBody>
      </p:sp>
      <p:sp>
        <p:nvSpPr>
          <p:cNvPr id="36" name="f8"/>
          <p:cNvSpPr/>
          <p:nvPr/>
        </p:nvSpPr>
        <p:spPr>
          <a:xfrm>
            <a:off x="8966200" y="3886200"/>
            <a:ext cx="2603500" cy="223520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0070C0"/>
            </a:solidFill>
          </a:ln>
        </p:spPr>
      </p:sp>
      <p:sp>
        <p:nvSpPr>
          <p:cNvPr id="37" name="f8-icon"/>
          <p:cNvSpPr/>
          <p:nvPr>
            <p:extLst>
              <p:ext uri="{F5677B7D-0D2A-4D9B-9A5C-6D8D7D0E5A5D}">
                <pptd:icon encoding="base64url">eyJpY29uTmFtZSI6ImZhczpzaGllbGQtaGFsdmVkIn0</pptd:icon>
              </p:ext>
            </p:extLst>
          </p:nvPr>
        </p:nvSpPr>
        <p:spPr>
          <a:xfrm>
            <a:off x="9169400" y="40894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61" y="0"/>
                  <a:pt x="265" y="1"/>
                  <a:pt x="269" y="3"/>
                </a:cubicBezTo>
                <a:lnTo>
                  <a:pt x="458" y="83"/>
                </a:lnTo>
                <a:cubicBezTo>
                  <a:pt x="480" y="92"/>
                  <a:pt x="496" y="114"/>
                  <a:pt x="496" y="140"/>
                </a:cubicBezTo>
                <a:cubicBezTo>
                  <a:pt x="496" y="239"/>
                  <a:pt x="455" y="421"/>
                  <a:pt x="283" y="503"/>
                </a:cubicBezTo>
                <a:cubicBezTo>
                  <a:pt x="266" y="511"/>
                  <a:pt x="246" y="511"/>
                  <a:pt x="230" y="503"/>
                </a:cubicBezTo>
                <a:cubicBezTo>
                  <a:pt x="57" y="421"/>
                  <a:pt x="17" y="239"/>
                  <a:pt x="16" y="140"/>
                </a:cubicBezTo>
                <a:cubicBezTo>
                  <a:pt x="16" y="114"/>
                  <a:pt x="32" y="92"/>
                  <a:pt x="54" y="83"/>
                </a:cubicBezTo>
                <a:lnTo>
                  <a:pt x="243" y="3"/>
                </a:lnTo>
                <a:cubicBezTo>
                  <a:pt x="247" y="1"/>
                  <a:pt x="251" y="0"/>
                  <a:pt x="256" y="0"/>
                </a:cubicBezTo>
                <a:close/>
                <a:moveTo>
                  <a:pt x="256" y="67"/>
                </a:moveTo>
                <a:lnTo>
                  <a:pt x="256" y="445"/>
                </a:lnTo>
                <a:cubicBezTo>
                  <a:pt x="394" y="378"/>
                  <a:pt x="431" y="230"/>
                  <a:pt x="432" y="142"/>
                </a:cubicBezTo>
                <a:lnTo>
                  <a:pt x="256" y="67"/>
                </a:lnTo>
                <a:lnTo>
                  <a:pt x="256" y="67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</p:sp>
      <p:sp>
        <p:nvSpPr>
          <p:cNvPr id="38" name="f8-title"/>
          <p:cNvSpPr txBox="1"/>
          <p:nvPr/>
        </p:nvSpPr>
        <p:spPr>
          <a:xfrm>
            <a:off x="9626600" y="4114800"/>
            <a:ext cx="177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 b="1">
                <a:solidFill>
                  <a:srgbClr val="223962"/>
                </a:solidFill>
                <a:latin typeface="微软雅黑"/>
                <a:ea typeface="微软雅黑"/>
              </a:rPr>
              <a:t>数据保护</a:t>
            </a:r>
            <a:endParaRPr lang="en-US" sz="1300" noProof="1"/>
          </a:p>
        </p:txBody>
      </p:sp>
      <p:sp>
        <p:nvSpPr>
          <p:cNvPr id="39" name="f8-body"/>
          <p:cNvSpPr txBox="1"/>
          <p:nvPr/>
        </p:nvSpPr>
        <p:spPr>
          <a:xfrm>
            <a:off x="9194800" y="4597400"/>
            <a:ext cx="2159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100" noProof="1">
                <a:solidFill>
                  <a:srgbClr val="666666"/>
                </a:solidFill>
                <a:latin typeface="MiSans"/>
                <a:ea typeface="MiSans"/>
              </a:rPr>
              <a:t>更完整的敏感数据识别、脱敏和访问告警。</a:t>
            </a:r>
            <a:endParaRPr lang="en-US" sz="1100" noProof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30860" cy="44831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8060"/>
            <a:ext cx="8841740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32850" y="988060"/>
            <a:ext cx="3357880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814070" y="265430"/>
            <a:ext cx="8669020" cy="4394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223962"/>
                </a:solidFill>
                <a:latin typeface="微软雅黑"/>
                <a:ea typeface="微软雅黑"/>
              </a:rPr>
              <a:t>总结</a:t>
            </a:r>
            <a:endParaRPr lang="en-US" sz="24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600" noProof="1" b="1">
                <a:solidFill>
                  <a:srgbClr val="0070C0"/>
                </a:solidFill>
                <a:latin typeface="Arial"/>
                <a:ea typeface="微软雅黑"/>
              </a:rPr>
              <a:t>四方上行</a:t>
            </a:r>
            <a:endParaRPr lang="en-US" sz="1600" noProof="1"/>
          </a:p>
        </p:txBody>
      </p:sp>
      <p:sp>
        <p:nvSpPr>
          <p:cNvPr id="8" name="quote-box"/>
          <p:cNvSpPr/>
          <p:nvPr/>
        </p:nvSpPr>
        <p:spPr>
          <a:xfrm>
            <a:off x="1016000" y="1473200"/>
            <a:ext cx="10160000" cy="1905000"/>
          </a:xfrm>
          <a:prstGeom prst="roundRect">
            <a:avLst>
              <a:gd name="adj" fmla="val 5000"/>
            </a:avLst>
          </a:prstGeom>
          <a:solidFill>
            <a:srgbClr val="F4F9FE"/>
          </a:solidFill>
          <a:ln w="19050">
            <a:solidFill>
              <a:srgbClr val="0070C0"/>
            </a:solidFill>
          </a:ln>
        </p:spPr>
      </p:sp>
      <p:sp>
        <p:nvSpPr>
          <p:cNvPr id="9" name="quote-icon"/>
          <p:cNvSpPr/>
          <p:nvPr>
            <p:extLst>
              <p:ext uri="{F5677B7D-0D2A-4D9B-9A5C-6D8D7D0E5A5D}">
                <pptd:icon encoding="base64url">eyJpY29uTmFtZSI6ImZhczpxdW90ZS1sZWZ0In0</pptd:icon>
              </p:ext>
            </p:extLst>
          </p:nvPr>
        </p:nvSpPr>
        <p:spPr>
          <a:xfrm>
            <a:off x="1320800" y="1676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0" y="216"/>
                </a:moveTo>
                <a:cubicBezTo>
                  <a:pt x="0" y="150"/>
                  <a:pt x="54" y="96"/>
                  <a:pt x="120" y="96"/>
                </a:cubicBezTo>
                <a:lnTo>
                  <a:pt x="128" y="96"/>
                </a:lnTo>
                <a:cubicBezTo>
                  <a:pt x="146" y="96"/>
                  <a:pt x="160" y="110"/>
                  <a:pt x="160" y="128"/>
                </a:cubicBezTo>
                <a:cubicBezTo>
                  <a:pt x="160" y="146"/>
                  <a:pt x="146" y="160"/>
                  <a:pt x="128" y="160"/>
                </a:cubicBezTo>
                <a:lnTo>
                  <a:pt x="120" y="160"/>
                </a:lnTo>
                <a:cubicBezTo>
                  <a:pt x="89" y="160"/>
                  <a:pt x="64" y="185"/>
                  <a:pt x="64" y="216"/>
                </a:cubicBezTo>
                <a:lnTo>
                  <a:pt x="64" y="224"/>
                </a:lnTo>
                <a:lnTo>
                  <a:pt x="128" y="224"/>
                </a:lnTo>
                <a:cubicBezTo>
                  <a:pt x="163" y="224"/>
                  <a:pt x="192" y="253"/>
                  <a:pt x="192" y="288"/>
                </a:cubicBezTo>
                <a:lnTo>
                  <a:pt x="192" y="352"/>
                </a:lnTo>
                <a:cubicBezTo>
                  <a:pt x="192" y="387"/>
                  <a:pt x="163" y="416"/>
                  <a:pt x="128" y="416"/>
                </a:cubicBezTo>
                <a:lnTo>
                  <a:pt x="64" y="416"/>
                </a:lnTo>
                <a:cubicBezTo>
                  <a:pt x="29" y="416"/>
                  <a:pt x="0" y="387"/>
                  <a:pt x="0" y="352"/>
                </a:cubicBezTo>
                <a:lnTo>
                  <a:pt x="0" y="216"/>
                </a:lnTo>
                <a:close/>
                <a:moveTo>
                  <a:pt x="256" y="216"/>
                </a:moveTo>
                <a:cubicBezTo>
                  <a:pt x="256" y="150"/>
                  <a:pt x="310" y="96"/>
                  <a:pt x="376" y="96"/>
                </a:cubicBezTo>
                <a:lnTo>
                  <a:pt x="384" y="96"/>
                </a:lnTo>
                <a:cubicBezTo>
                  <a:pt x="402" y="96"/>
                  <a:pt x="416" y="110"/>
                  <a:pt x="416" y="128"/>
                </a:cubicBezTo>
                <a:cubicBezTo>
                  <a:pt x="416" y="146"/>
                  <a:pt x="402" y="160"/>
                  <a:pt x="384" y="160"/>
                </a:cubicBezTo>
                <a:lnTo>
                  <a:pt x="376" y="160"/>
                </a:lnTo>
                <a:cubicBezTo>
                  <a:pt x="345" y="160"/>
                  <a:pt x="320" y="185"/>
                  <a:pt x="320" y="216"/>
                </a:cubicBezTo>
                <a:lnTo>
                  <a:pt x="320" y="224"/>
                </a:lnTo>
                <a:lnTo>
                  <a:pt x="384" y="224"/>
                </a:lnTo>
                <a:cubicBezTo>
                  <a:pt x="419" y="224"/>
                  <a:pt x="448" y="253"/>
                  <a:pt x="448" y="288"/>
                </a:cubicBezTo>
                <a:lnTo>
                  <a:pt x="448" y="352"/>
                </a:lnTo>
                <a:cubicBezTo>
                  <a:pt x="448" y="387"/>
                  <a:pt x="419" y="416"/>
                  <a:pt x="384" y="416"/>
                </a:cubicBezTo>
                <a:lnTo>
                  <a:pt x="320" y="416"/>
                </a:lnTo>
                <a:cubicBezTo>
                  <a:pt x="285" y="416"/>
                  <a:pt x="256" y="387"/>
                  <a:pt x="256" y="352"/>
                </a:cubicBezTo>
                <a:lnTo>
                  <a:pt x="256" y="216"/>
                </a:lnTo>
                <a:close/>
              </a:path>
            </a:pathLst>
          </a:custGeom>
          <a:solidFill>
            <a:srgbClr val="5B9BD5"/>
          </a:solidFill>
          <a:ln>
            <a:noFill/>
          </a:ln>
        </p:spPr>
      </p:sp>
      <p:sp>
        <p:nvSpPr>
          <p:cNvPr id="10" name="quote-text"/>
          <p:cNvSpPr txBox="1"/>
          <p:nvPr/>
        </p:nvSpPr>
        <p:spPr>
          <a:xfrm>
            <a:off x="1905000" y="1676400"/>
            <a:ext cx="88900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70000"/>
              </a:lnSpc>
            </a:pPr>
            <a:r>
              <a:rPr lang="en-US" sz="1600" noProof="1" b="1">
                <a:solidFill>
                  <a:srgbClr val="223962"/>
                </a:solidFill>
                <a:latin typeface="MiSans"/>
                <a:ea typeface="MiSans"/>
              </a:rPr>
              <a:t>令旗负责与人交互、理解任务、编排 Agent、执行工具和控制权限；OpenViking 负责集中管理上下文资源、共享知识、语义检索和长期记忆。</a:t>
            </a:r>
            <a:endParaRPr lang="en-US" sz="1600" noProof="1"/>
          </a:p>
        </p:txBody>
      </p:sp>
      <p:sp>
        <p:nvSpPr>
          <p:cNvPr id="11" name="sum-body"/>
          <p:cNvSpPr txBox="1"/>
          <p:nvPr/>
        </p:nvSpPr>
        <p:spPr>
          <a:xfrm>
            <a:off x="1016000" y="3759200"/>
            <a:ext cx="10160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70000"/>
              </a:lnSpc>
            </a:pPr>
            <a:r>
              <a:rPr lang="en-US" sz="1400" noProof="1">
                <a:solidFill>
                  <a:srgbClr val="262626"/>
                </a:solidFill>
                <a:latin typeface="MiSans"/>
                <a:ea typeface="MiSans"/>
              </a:rPr>
              <a:t>面向多人共享知识库的正式方案，应优先采用</a:t>
            </a:r>
            <a:r>
              <a:rPr lang="en-US" sz="1400" noProof="1" b="1">
                <a:solidFill>
                  <a:srgbClr val="262626"/>
                </a:solidFill>
                <a:latin typeface="MiSans"/>
                <a:ea typeface="MiSans"/>
              </a:rPr>
              <a:t>独立 OpenViking Server</a:t>
            </a:r>
            <a:r>
              <a:rPr lang="en-US" sz="1400" noProof="1">
                <a:solidFill>
                  <a:srgbClr val="262626"/>
                </a:solidFill>
                <a:latin typeface="MiSans"/>
                <a:ea typeface="MiSans"/>
              </a:rPr>
              <a:t>，并以「中心共享 + 用户隔离」的方式管理资源。桌面端可以连接本地伴随服务，但不应把 OpenViking 内部存储直接嵌入 Electron。</a:t>
            </a:r>
            <a:endParaRPr lang="en-US" sz="1400" noProof="1"/>
          </a:p>
        </p:txBody>
      </p:sp>
      <p:sp>
        <p:nvSpPr>
          <p:cNvPr id="12" name="slogan-strip"/>
          <p:cNvSpPr/>
          <p:nvPr/>
        </p:nvSpPr>
        <p:spPr>
          <a:xfrm>
            <a:off x="622300" y="5537200"/>
            <a:ext cx="10947400" cy="787400"/>
          </a:xfrm>
          <a:prstGeom prst="roundRect">
            <a:avLst>
              <a:gd name="adj" fmla="val 8000"/>
            </a:avLst>
          </a:prstGeom>
          <a:solidFill>
            <a:srgbClr val="223962"/>
          </a:solidFill>
          <a:ln>
            <a:noFill/>
          </a:ln>
        </p:spPr>
      </p:sp>
      <p:sp>
        <p:nvSpPr>
          <p:cNvPr id="13" name="slogan-text"/>
          <p:cNvSpPr txBox="1"/>
          <p:nvPr/>
        </p:nvSpPr>
        <p:spPr>
          <a:xfrm>
            <a:off x="889000" y="5537200"/>
            <a:ext cx="10414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>
                <a:solidFill>
                  <a:srgbClr val="FFFFFF"/>
                </a:solidFill>
                <a:latin typeface="MiSans"/>
                <a:ea typeface="MiSans"/>
              </a:rPr>
              <a:t>用桌面 Agent 连接本地工作，用共享上下文连接组织知识，让每个人都能在安全边界内高效完成工作。</a:t>
            </a:r>
            <a:endParaRPr lang="en-US" sz="1400" noProof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"/>
          <p:cNvSpPr txBox="1"/>
          <p:nvPr/>
        </p:nvSpPr>
        <p:spPr>
          <a:xfrm>
            <a:off x="4191000" y="7620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800" noProof="1" b="1">
                <a:solidFill>
                  <a:srgbClr val="0070C0"/>
                </a:solidFill>
                <a:latin typeface="Arial"/>
                <a:ea typeface="微软雅黑"/>
              </a:rPr>
              <a:t>四方上行</a:t>
            </a:r>
            <a:endParaRPr lang="en-US" sz="1800" noProof="1"/>
          </a:p>
        </p:txBody>
      </p:sp>
      <p:sp>
        <p:nvSpPr>
          <p:cNvPr id="3" name="thanks"/>
          <p:cNvSpPr txBox="1"/>
          <p:nvPr/>
        </p:nvSpPr>
        <p:spPr>
          <a:xfrm>
            <a:off x="2921000" y="2413000"/>
            <a:ext cx="6350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200" noProof="1" b="1">
                <a:solidFill>
                  <a:srgbClr val="0070C0"/>
                </a:solidFill>
                <a:latin typeface="Arial"/>
                <a:ea typeface="微软雅黑"/>
              </a:rPr>
              <a:t>谢谢</a:t>
            </a:r>
            <a:endParaRPr lang="en-US" sz="7200" noProof="1"/>
          </a:p>
        </p:txBody>
      </p:sp>
      <p:sp>
        <p:nvSpPr>
          <p:cNvPr id="4" name="slogan"/>
          <p:cNvSpPr txBox="1"/>
          <p:nvPr/>
        </p:nvSpPr>
        <p:spPr>
          <a:xfrm>
            <a:off x="1651000" y="4191000"/>
            <a:ext cx="889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700" noProof="1">
                <a:solidFill>
                  <a:srgbClr val="000000"/>
                </a:solidFill>
                <a:latin typeface="MiSans"/>
                <a:ea typeface="MiSans"/>
              </a:rPr>
              <a:t>用桌面 Agent 连接本地工作，用共享上下文连接组织知识</a:t>
            </a:r>
            <a:endParaRPr lang="en-US" sz="1700" noProof="1"/>
          </a:p>
        </p:txBody>
      </p:sp>
      <p:sp>
        <p:nvSpPr>
          <p:cNvPr id="5" name="company"/>
          <p:cNvSpPr txBox="1"/>
          <p:nvPr/>
        </p:nvSpPr>
        <p:spPr>
          <a:xfrm>
            <a:off x="4191000" y="53340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>
                <a:solidFill>
                  <a:srgbClr val="7F7F7F"/>
                </a:solidFill>
                <a:latin typeface="MiSans"/>
                <a:ea typeface="MiSans"/>
              </a:rPr>
              <a:t>北京四方上行软件技术有限公司</a:t>
            </a:r>
            <a:endParaRPr lang="en-US" sz="1400" noProof="1"/>
          </a:p>
        </p:txBody>
      </p:sp>
      <p:sp>
        <p:nvSpPr>
          <p:cNvPr id="6" name="bar"/>
          <p:cNvSpPr/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24</Slides>
</Properties>
</file>

<file path=docProps/core.xml><?xml version="1.0" encoding="utf-8"?>
<cp:coreProperties xmlns:dc="http://purl.org/dc/elements/1.1/" xmlns:cp="http://schemas.openxmlformats.org/package/2006/metadata/core-properties">
  <dc:title>LINGQI（令旗）桌面客户端 Agent v1.5 · OpenViking 集成方案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
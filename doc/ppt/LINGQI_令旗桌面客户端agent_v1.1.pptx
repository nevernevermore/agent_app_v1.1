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79" r:id="rId9"/>
    <p:sldId id="280" r:id="rId10"/>
    <p:sldId id="281" r:id="rId11"/>
    <p:sldId id="267" r:id="rId12"/>
    <p:sldId id="282" r:id="rId13"/>
    <p:sldId id="283" r:id="rId14"/>
    <p:sldId id="284" r:id="rId15"/>
    <p:sldId id="285" r:id="rId16"/>
    <p:sldId id="286" r:id="rId17"/>
    <p:sldId id="272" r:id="rId18"/>
    <p:sldId id="273" r:id="rId19"/>
    <p:sldId id="274" r:id="rId20"/>
    <p:sldId id="276" r:id="rId21"/>
    <p:sldId id="277" r:id="rId22"/>
  </p:sldIdLst>
  <p:sldSz cx="12192000" cy="6858000"/>
  <p:notesSz cx="12192000" cy="6858000"/>
  <p:embeddedFontLst>
    <p:embeddedFont>
      <p:font typeface="微软雅黑" panose="020B0503020204020204" charset="-122"/>
      <p:regular r:id="rId29"/>
      <p:bold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吴久龙" initials="authorId_862189687" lastIdx="0" clrIdx="0"/>
  <p:cmAuthor id="2" name="阿卡" initials="authorId_862189687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font" Target="fonts/font6.fntdata"/><Relationship Id="rId33" Type="http://schemas.openxmlformats.org/officeDocument/2006/relationships/font" Target="fonts/font5.fntdata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4.xml"/><Relationship Id="rId23" Type="http://schemas.openxmlformats.org/officeDocument/2006/relationships/tags" Target="../tags/tag43.xml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tags" Target="../tags/tag4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79.xml"/><Relationship Id="rId22" Type="http://schemas.openxmlformats.org/officeDocument/2006/relationships/tags" Target="../tags/tag78.xml"/><Relationship Id="rId21" Type="http://schemas.openxmlformats.org/officeDocument/2006/relationships/tags" Target="../tags/tag77.xml"/><Relationship Id="rId20" Type="http://schemas.openxmlformats.org/officeDocument/2006/relationships/tags" Target="../tags/tag76.xml"/><Relationship Id="rId2" Type="http://schemas.openxmlformats.org/officeDocument/2006/relationships/tags" Target="../tags/tag58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tags" Target="../tags/tag5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07.xml"/><Relationship Id="rId2" Type="http://schemas.openxmlformats.org/officeDocument/2006/relationships/tags" Target="../tags/tag89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27.xml"/><Relationship Id="rId2" Type="http://schemas.openxmlformats.org/officeDocument/2006/relationships/tags" Target="../tags/tag109.xml"/><Relationship Id="rId19" Type="http://schemas.openxmlformats.org/officeDocument/2006/relationships/tags" Target="../tags/tag126.xml"/><Relationship Id="rId18" Type="http://schemas.openxmlformats.org/officeDocument/2006/relationships/tags" Target="../tags/tag125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tags" Target="../tags/tag10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152.xml"/><Relationship Id="rId24" Type="http://schemas.openxmlformats.org/officeDocument/2006/relationships/tags" Target="../tags/tag151.xml"/><Relationship Id="rId23" Type="http://schemas.openxmlformats.org/officeDocument/2006/relationships/tags" Target="../tags/tag150.xml"/><Relationship Id="rId22" Type="http://schemas.openxmlformats.org/officeDocument/2006/relationships/tags" Target="../tags/tag149.xml"/><Relationship Id="rId21" Type="http://schemas.openxmlformats.org/officeDocument/2006/relationships/tags" Target="../tags/tag148.xml"/><Relationship Id="rId20" Type="http://schemas.openxmlformats.org/officeDocument/2006/relationships/tags" Target="../tags/tag147.xml"/><Relationship Id="rId2" Type="http://schemas.openxmlformats.org/officeDocument/2006/relationships/tags" Target="../tags/tag129.xml"/><Relationship Id="rId19" Type="http://schemas.openxmlformats.org/officeDocument/2006/relationships/tags" Target="../tags/tag146.xml"/><Relationship Id="rId18" Type="http://schemas.openxmlformats.org/officeDocument/2006/relationships/tags" Target="../tags/tag145.xml"/><Relationship Id="rId17" Type="http://schemas.openxmlformats.org/officeDocument/2006/relationships/tags" Target="../tags/tag144.xml"/><Relationship Id="rId16" Type="http://schemas.openxmlformats.org/officeDocument/2006/relationships/tags" Target="../tags/tag143.xml"/><Relationship Id="rId15" Type="http://schemas.openxmlformats.org/officeDocument/2006/relationships/tags" Target="../tags/tag142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tags" Target="../tags/tag1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yline"/>
          <p:cNvPicPr/>
          <p:nvPr/>
        </p:nvPicPr>
        <p:blipFill>
          <a:blip r:embed="rId1"/>
          <a:stretch>
            <a:fillRect/>
          </a:stretch>
        </p:blipFill>
        <p:spPr>
          <a:xfrm>
            <a:off x="949960" y="2180590"/>
            <a:ext cx="10337800" cy="2679700"/>
          </a:xfrm>
          <a:prstGeom prst="rect">
            <a:avLst/>
          </a:prstGeom>
          <a:ln>
            <a:noFill/>
          </a:ln>
        </p:spPr>
      </p:pic>
      <p:sp>
        <p:nvSpPr>
          <p:cNvPr id="3" name="navy-bar"/>
          <p:cNvSpPr/>
          <p:nvPr/>
        </p:nvSpPr>
        <p:spPr>
          <a:xfrm>
            <a:off x="0" y="4292600"/>
            <a:ext cx="12192000" cy="2565400"/>
          </a:xfrm>
          <a:prstGeom prst="rect">
            <a:avLst/>
          </a:prstGeom>
          <a:solidFill>
            <a:srgbClr val="223962"/>
          </a:solidFill>
          <a:ln>
            <a:noFill/>
          </a:ln>
        </p:spPr>
      </p:sp>
      <p:sp>
        <p:nvSpPr>
          <p:cNvPr id="4" name="title-box"/>
          <p:cNvSpPr/>
          <p:nvPr/>
        </p:nvSpPr>
        <p:spPr>
          <a:xfrm>
            <a:off x="904240" y="1671320"/>
            <a:ext cx="10172700" cy="78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</p:sp>
      <p:sp>
        <p:nvSpPr>
          <p:cNvPr id="5" name="title"/>
          <p:cNvSpPr txBox="1"/>
          <p:nvPr/>
        </p:nvSpPr>
        <p:spPr>
          <a:xfrm>
            <a:off x="904240" y="1671320"/>
            <a:ext cx="101727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LINGQI 令旗桌面客户端 Agent</a:t>
            </a:r>
            <a:endParaRPr lang="en-US" sz="3800" noProof="1"/>
          </a:p>
        </p:txBody>
      </p:sp>
      <p:sp>
        <p:nvSpPr>
          <p:cNvPr id="6" name="subtitle"/>
          <p:cNvSpPr txBox="1"/>
          <p:nvPr/>
        </p:nvSpPr>
        <p:spPr>
          <a:xfrm>
            <a:off x="904240" y="2600960"/>
            <a:ext cx="10172700" cy="490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--本地桌面 Agent 工作台</a:t>
            </a:r>
            <a:endParaRPr lang="en-US" sz="2000" noProof="1"/>
          </a:p>
        </p:txBody>
      </p:sp>
      <p:sp>
        <p:nvSpPr>
          <p:cNvPr id="7" name="subtitle-2"/>
          <p:cNvSpPr txBox="1"/>
          <p:nvPr/>
        </p:nvSpPr>
        <p:spPr>
          <a:xfrm>
            <a:off x="904240" y="835660"/>
            <a:ext cx="10172700" cy="7086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让大模型在本地受控地完成工作 · 连接文件、工具与企业知识</a:t>
            </a:r>
            <a:endParaRPr lang="en-US" sz="2200" noProof="1"/>
          </a:p>
        </p:txBody>
      </p:sp>
      <p:sp>
        <p:nvSpPr>
          <p:cNvPr id="8" name="company"/>
          <p:cNvSpPr txBox="1"/>
          <p:nvPr/>
        </p:nvSpPr>
        <p:spPr>
          <a:xfrm>
            <a:off x="2649220" y="3509010"/>
            <a:ext cx="6432550" cy="4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2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北京四方上行软件技术有限公司</a:t>
            </a:r>
            <a:endParaRPr lang="en-US" sz="3200" noProof="1"/>
          </a:p>
        </p:txBody>
      </p:sp>
      <p:sp>
        <p:nvSpPr>
          <p:cNvPr id="9" name="slogan"/>
          <p:cNvSpPr txBox="1"/>
          <p:nvPr/>
        </p:nvSpPr>
        <p:spPr>
          <a:xfrm>
            <a:off x="121920" y="5689600"/>
            <a:ext cx="1194816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kern="0" spc="200" noProof="1">
                <a:solidFill>
                  <a:srgbClr val="BFBFBF"/>
                </a:solidFill>
                <a:latin typeface="Arial" panose="020B0604020202020204"/>
                <a:ea typeface="微软雅黑" panose="020B0503020204020204" charset="-122"/>
              </a:rPr>
              <a:t>用桌面 Agent 连接本地文件、工具与大模型，让每个人都能安全、高效地完成业务工作</a:t>
            </a:r>
            <a:endParaRPr lang="en-US" sz="15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公司简介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intro"/>
          <p:cNvSpPr txBox="1"/>
          <p:nvPr/>
        </p:nvSpPr>
        <p:spPr>
          <a:xfrm>
            <a:off x="701040" y="1270000"/>
            <a:ext cx="10795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北京四方上行软件技术有限公司成立于2021年1月，注册资本1000万元，是国家级高新技术企业。公司团队骨干由多年耕耘金融科技领域的业务专家和技术专家组成，目前有员工30人左右。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在AI领域，四方上行致力于用AI技术为金融机构提供业务解决方案和技术解决方案，促进客户的数字化转型。目前已取得或正在申请的知识产权包括：</a:t>
            </a:r>
            <a:endParaRPr lang="en-US" sz="1600" noProof="1"/>
          </a:p>
        </p:txBody>
      </p:sp>
      <p:sp>
        <p:nvSpPr>
          <p:cNvPr id="9" name="ip-box"/>
          <p:cNvSpPr/>
          <p:nvPr/>
        </p:nvSpPr>
        <p:spPr>
          <a:xfrm>
            <a:off x="641350" y="3020695"/>
            <a:ext cx="10795000" cy="3327400"/>
          </a:xfrm>
          <a:prstGeom prst="roundRect">
            <a:avLst>
              <a:gd name="adj" fmla="val 4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10" name="ip-list"/>
          <p:cNvSpPr txBox="1"/>
          <p:nvPr/>
        </p:nvSpPr>
        <p:spPr>
          <a:xfrm>
            <a:off x="956310" y="3198495"/>
            <a:ext cx="10160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标准知识库系统（可建设审计、合规、会计、风险、监管规定、公司制度等）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银行历史技术资产库管理（历史源代码、文档、脚本、数据字典随查随用）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测试案例生成（RAG+知识库）／网银（复杂办公系统）智能功能导航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AI驱动超级（财务）出纳（多银行账户现金管理，AI+RPA）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自然语言驱动多行资金管理（企业端超级网银，AI+RPA）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领导（管理）驾驶舱（简约办公AGENT，NLP+知识库+传统数据库+RPA+接口）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NLP2SQL自然语言查询工具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LINGQI（令旗）桌面客户端版AGENT工具（基础版，可开放源代码，含服务器版口令、权限控制中心）</a:t>
            </a:r>
            <a:endParaRPr lang="en-US" sz="1400" noProof="1"/>
          </a:p>
        </p:txBody>
      </p:sp>
      <p:sp>
        <p:nvSpPr>
          <p:cNvPr id="11" name="footer-note"/>
          <p:cNvSpPr txBox="1"/>
          <p:nvPr/>
        </p:nvSpPr>
        <p:spPr>
          <a:xfrm>
            <a:off x="701040" y="62484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7F7F7F"/>
                </a:solidFill>
                <a:latin typeface="MiSans" charset="-122"/>
                <a:ea typeface="MiSans" charset="-122"/>
              </a:rPr>
              <a:t>公司秉承「传统+前沿」发展模式：以传统技术服务业务为基础，以AI技术、RPA技术、区块链技术等赋能客户新的创新解决方案模式。</a:t>
            </a:r>
            <a:endParaRPr lang="en-US" sz="13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01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产品背景与定位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sz="30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前言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lead"/>
          <p:cNvSpPr txBox="1"/>
          <p:nvPr/>
        </p:nvSpPr>
        <p:spPr>
          <a:xfrm>
            <a:off x="701040" y="1168400"/>
            <a:ext cx="1079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企业真实工作并不只发生在网页对话框中。业务资料、</a:t>
            </a:r>
            <a:r>
              <a:rPr lang="zh-CN" altLang="en-US" sz="14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工具</a:t>
            </a:r>
            <a:r>
              <a:rPr lang="en-US" sz="14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、</a:t>
            </a:r>
            <a:r>
              <a:rPr lang="zh-CN" altLang="en-US" sz="14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状态与人工确认的连续流程</a:t>
            </a:r>
            <a:r>
              <a:rPr lang="en-US" sz="14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往往保存在本机或受控目录内，</a:t>
            </a:r>
            <a:r>
              <a:rPr lang="zh-CN" altLang="en-US" sz="14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而纯网页对话框无法打通本地资产、执行动作与任务上下文，难以支撑完整的工作闭环。</a:t>
            </a:r>
            <a:endParaRPr lang="en-US" sz="1400" noProof="1"/>
          </a:p>
        </p:txBody>
      </p:sp>
      <p:sp>
        <p:nvSpPr>
          <p:cNvPr id="9" name="card0"/>
          <p:cNvSpPr/>
          <p:nvPr>
            <p:custDataLst>
              <p:tags r:id="rId1"/>
            </p:custDataLst>
          </p:nvPr>
        </p:nvSpPr>
        <p:spPr>
          <a:xfrm>
            <a:off x="635000" y="20066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card-top0"/>
          <p:cNvSpPr/>
          <p:nvPr>
            <p:custDataLst>
              <p:tags r:id="rId2"/>
            </p:custDataLst>
          </p:nvPr>
        </p:nvSpPr>
        <p:spPr>
          <a:xfrm>
            <a:off x="635000" y="20066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1" name="num0"/>
          <p:cNvSpPr txBox="1"/>
          <p:nvPr>
            <p:custDataLst>
              <p:tags r:id="rId3"/>
            </p:custDataLst>
          </p:nvPr>
        </p:nvSpPr>
        <p:spPr>
          <a:xfrm>
            <a:off x="939800" y="22860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01</a:t>
            </a:r>
            <a:endParaRPr lang="en-US" sz="3400" noProof="1"/>
          </a:p>
        </p:txBody>
      </p:sp>
      <p:sp>
        <p:nvSpPr>
          <p:cNvPr id="12" name="t0"/>
          <p:cNvSpPr txBox="1"/>
          <p:nvPr>
            <p:custDataLst>
              <p:tags r:id="rId4"/>
            </p:custDataLst>
          </p:nvPr>
        </p:nvSpPr>
        <p:spPr>
          <a:xfrm>
            <a:off x="1551305" y="231267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线上对话工具不能直接接触工作现场</a:t>
            </a:r>
            <a:endParaRPr lang="en-US" sz="2000" noProof="1"/>
          </a:p>
        </p:txBody>
      </p:sp>
      <p:sp>
        <p:nvSpPr>
          <p:cNvPr id="13" name="d0"/>
          <p:cNvSpPr txBox="1"/>
          <p:nvPr>
            <p:custDataLst>
              <p:tags r:id="rId5"/>
            </p:custDataLst>
          </p:nvPr>
        </p:nvSpPr>
        <p:spPr>
          <a:xfrm>
            <a:off x="939800" y="29718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zh-CN" alt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企业真实工作包含本机文档、项目代码、历史资产与内部系统，纯网页对话无法安全读取和处理这些上下文。</a:t>
            </a:r>
            <a:endParaRPr lang="en-US" sz="1400" noProof="1"/>
          </a:p>
        </p:txBody>
      </p:sp>
      <p:sp>
        <p:nvSpPr>
          <p:cNvPr id="14" name="card1"/>
          <p:cNvSpPr/>
          <p:nvPr>
            <p:custDataLst>
              <p:tags r:id="rId6"/>
            </p:custDataLst>
          </p:nvPr>
        </p:nvSpPr>
        <p:spPr>
          <a:xfrm>
            <a:off x="6350000" y="20066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card-top1"/>
          <p:cNvSpPr/>
          <p:nvPr>
            <p:custDataLst>
              <p:tags r:id="rId7"/>
            </p:custDataLst>
          </p:nvPr>
        </p:nvSpPr>
        <p:spPr>
          <a:xfrm>
            <a:off x="6350000" y="20066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6" name="num1"/>
          <p:cNvSpPr txBox="1"/>
          <p:nvPr>
            <p:custDataLst>
              <p:tags r:id="rId8"/>
            </p:custDataLst>
          </p:nvPr>
        </p:nvSpPr>
        <p:spPr>
          <a:xfrm>
            <a:off x="6654800" y="22860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02</a:t>
            </a:r>
            <a:endParaRPr lang="en-US" sz="3400" noProof="1"/>
          </a:p>
        </p:txBody>
      </p:sp>
      <p:sp>
        <p:nvSpPr>
          <p:cNvPr id="17" name="t1"/>
          <p:cNvSpPr txBox="1"/>
          <p:nvPr>
            <p:custDataLst>
              <p:tags r:id="rId9"/>
            </p:custDataLst>
          </p:nvPr>
        </p:nvSpPr>
        <p:spPr>
          <a:xfrm>
            <a:off x="7381875" y="231267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本地文件使用门槛高</a:t>
            </a:r>
            <a:endParaRPr lang="en-US" sz="2000" noProof="1"/>
          </a:p>
        </p:txBody>
      </p:sp>
      <p:sp>
        <p:nvSpPr>
          <p:cNvPr id="18" name="d1"/>
          <p:cNvSpPr txBox="1"/>
          <p:nvPr>
            <p:custDataLst>
              <p:tags r:id="rId10"/>
            </p:custDataLst>
          </p:nvPr>
        </p:nvSpPr>
        <p:spPr>
          <a:xfrm>
            <a:off x="6654800" y="29718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用户需要先整理、上传、转换文件，再向模型描述任务，操作链路长。</a:t>
            </a:r>
            <a:endParaRPr lang="en-US" sz="1400" noProof="1"/>
          </a:p>
        </p:txBody>
      </p:sp>
      <p:sp>
        <p:nvSpPr>
          <p:cNvPr id="19" name="card2"/>
          <p:cNvSpPr/>
          <p:nvPr>
            <p:custDataLst>
              <p:tags r:id="rId11"/>
            </p:custDataLst>
          </p:nvPr>
        </p:nvSpPr>
        <p:spPr>
          <a:xfrm>
            <a:off x="635000" y="43561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card-top2"/>
          <p:cNvSpPr/>
          <p:nvPr>
            <p:custDataLst>
              <p:tags r:id="rId12"/>
            </p:custDataLst>
          </p:nvPr>
        </p:nvSpPr>
        <p:spPr>
          <a:xfrm>
            <a:off x="635000" y="43561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1" name="num2"/>
          <p:cNvSpPr txBox="1"/>
          <p:nvPr>
            <p:custDataLst>
              <p:tags r:id="rId13"/>
            </p:custDataLst>
          </p:nvPr>
        </p:nvSpPr>
        <p:spPr>
          <a:xfrm>
            <a:off x="939800" y="46355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03</a:t>
            </a:r>
            <a:endParaRPr lang="en-US" sz="3400" noProof="1"/>
          </a:p>
        </p:txBody>
      </p:sp>
      <p:sp>
        <p:nvSpPr>
          <p:cNvPr id="22" name="t2"/>
          <p:cNvSpPr txBox="1"/>
          <p:nvPr>
            <p:custDataLst>
              <p:tags r:id="rId14"/>
            </p:custDataLst>
          </p:nvPr>
        </p:nvSpPr>
        <p:spPr>
          <a:xfrm>
            <a:off x="1551305" y="465709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涉及敏感文件</a:t>
            </a:r>
            <a:endParaRPr lang="zh-CN" altLang="en-US" sz="2000" b="1" noProof="1">
              <a:solidFill>
                <a:srgbClr val="0070C0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3" name="d2"/>
          <p:cNvSpPr txBox="1"/>
          <p:nvPr>
            <p:custDataLst>
              <p:tags r:id="rId15"/>
            </p:custDataLst>
          </p:nvPr>
        </p:nvSpPr>
        <p:spPr>
          <a:xfrm>
            <a:off x="939800" y="53213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zh-CN" alt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传统方案常把文件、任务过程交由外部平台处理，不适合金融、审计、合规等高安全要求场景。</a:t>
            </a:r>
            <a:endParaRPr lang="zh-CN" altLang="en-US" sz="1400" noProof="1">
              <a:solidFill>
                <a:srgbClr val="26262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4" name="card3"/>
          <p:cNvSpPr/>
          <p:nvPr>
            <p:custDataLst>
              <p:tags r:id="rId16"/>
            </p:custDataLst>
          </p:nvPr>
        </p:nvSpPr>
        <p:spPr>
          <a:xfrm>
            <a:off x="6350000" y="43561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card-top3"/>
          <p:cNvSpPr/>
          <p:nvPr>
            <p:custDataLst>
              <p:tags r:id="rId17"/>
            </p:custDataLst>
          </p:nvPr>
        </p:nvSpPr>
        <p:spPr>
          <a:xfrm>
            <a:off x="6350000" y="43561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6" name="num3"/>
          <p:cNvSpPr txBox="1"/>
          <p:nvPr>
            <p:custDataLst>
              <p:tags r:id="rId18"/>
            </p:custDataLst>
          </p:nvPr>
        </p:nvSpPr>
        <p:spPr>
          <a:xfrm>
            <a:off x="6654800" y="46355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04</a:t>
            </a:r>
            <a:endParaRPr lang="en-US" sz="3400" noProof="1"/>
          </a:p>
        </p:txBody>
      </p:sp>
      <p:sp>
        <p:nvSpPr>
          <p:cNvPr id="27" name="t3"/>
          <p:cNvSpPr txBox="1"/>
          <p:nvPr>
            <p:custDataLst>
              <p:tags r:id="rId19"/>
            </p:custDataLst>
          </p:nvPr>
        </p:nvSpPr>
        <p:spPr>
          <a:xfrm>
            <a:off x="7381875" y="4651375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长任务缺乏可恢复性</a:t>
            </a:r>
            <a:endParaRPr lang="en-US" sz="2000" noProof="1"/>
          </a:p>
        </p:txBody>
      </p:sp>
      <p:sp>
        <p:nvSpPr>
          <p:cNvPr id="28" name="d3"/>
          <p:cNvSpPr txBox="1"/>
          <p:nvPr>
            <p:custDataLst>
              <p:tags r:id="rId20"/>
            </p:custDataLst>
          </p:nvPr>
        </p:nvSpPr>
        <p:spPr>
          <a:xfrm>
            <a:off x="6654800" y="53213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网络波动、工具失败或用户停止后，任务容易从头开始，过程不可追踪。</a:t>
            </a:r>
            <a:endParaRPr lang="en-US" sz="14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产品定位与价值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pos-box"/>
          <p:cNvSpPr/>
          <p:nvPr/>
        </p:nvSpPr>
        <p:spPr>
          <a:xfrm>
            <a:off x="701040" y="1244600"/>
            <a:ext cx="10795000" cy="137160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9" name="pos-tag"/>
          <p:cNvSpPr/>
          <p:nvPr/>
        </p:nvSpPr>
        <p:spPr>
          <a:xfrm>
            <a:off x="701040" y="1244600"/>
            <a:ext cx="101600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pos-text"/>
          <p:cNvSpPr txBox="1"/>
          <p:nvPr/>
        </p:nvSpPr>
        <p:spPr>
          <a:xfrm>
            <a:off x="1016000" y="1371600"/>
            <a:ext cx="1016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5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产品定位：</a:t>
            </a:r>
            <a:r>
              <a:rPr lang="zh-CN" altLang="en-US" sz="15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令旗是一款本地优先的桌面端</a:t>
            </a:r>
            <a:r>
              <a:rPr lang="en-US" altLang="zh-CN" sz="15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Agent</a:t>
            </a:r>
            <a:r>
              <a:rPr lang="zh-CN" altLang="en-US" sz="15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。它通过桌面客户端整合大模型、本地文件、工具与权限审批，打造安全可追踪的工作空间。作为连接本地资产与企业知识的通用入口，它不替代现有业务系统，而是专门补足企业中临时性、跨文件的非标准化工作需求。</a:t>
            </a:r>
            <a:endParaRPr lang="en-US" sz="1500" noProof="1"/>
          </a:p>
        </p:txBody>
      </p:sp>
      <p:sp>
        <p:nvSpPr>
          <p:cNvPr id="11" name="val-title"/>
          <p:cNvSpPr txBox="1"/>
          <p:nvPr/>
        </p:nvSpPr>
        <p:spPr>
          <a:xfrm>
            <a:off x="701040" y="2819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产品价值</a:t>
            </a:r>
            <a:endParaRPr lang="en-US" sz="2000" noProof="1"/>
          </a:p>
        </p:txBody>
      </p:sp>
      <p:graphicFrame>
        <p:nvGraphicFramePr>
          <p:cNvPr id="12" name="val-table"/>
          <p:cNvGraphicFramePr>
            <a:graphicFrameLocks noGrp="1"/>
          </p:cNvGraphicFramePr>
          <p:nvPr/>
        </p:nvGraphicFramePr>
        <p:xfrm>
          <a:off x="701040" y="3276600"/>
          <a:ext cx="10795000" cy="3200400"/>
        </p:xfrm>
        <a:graphic>
          <a:graphicData uri="http://schemas.openxmlformats.org/drawingml/2006/table">
            <a:tbl>
              <a:tblPr/>
              <a:tblGrid>
                <a:gridCol w="1943100"/>
                <a:gridCol w="8851900"/>
              </a:tblGrid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价值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说明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本地优先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文件处理和工具执行在本机完成，适合对数据边界有要求的场景。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使用简单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用户以自然语言描述任务，无需先掌握复杂工具命令。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能力可扩展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内置工具、MCP 服务和 Markdown Skill 可以持续增加专业能力。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1266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过程可控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执行</a:t>
                      </a:r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分级，写入操作可要求用户审批</a:t>
                      </a:r>
                      <a:r>
                        <a:rPr lang="zh-CN" alt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，也可全部放开</a:t>
                      </a:r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531266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任务可追踪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会话、工具调用、任务状态、审批状态和错误信息在界面中可见。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02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</a:t>
            </a:r>
            <a:r>
              <a:rPr lang="zh-CN" alt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功能与核心流程</a:t>
            </a:r>
            <a:endParaRPr lang="zh-CN" altLang="en-US" sz="4000" b="1" noProof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客户端功能全景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621792" y="129844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76809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1490472" y="1591183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模型与对话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786384" y="2132202"/>
            <a:ext cx="3145536" cy="10350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支持 OpenAI 兼容协议和 Anthropic 协议</a:t>
            </a:r>
            <a:r>
              <a:rPr lang="zh-CN"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55000"/>
              </a:lnSpc>
              <a:spcBef>
                <a:spcPts val="10"/>
              </a:spcBef>
              <a:buNone/>
            </a:pPr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SSE 流式输出，实时显示模型生成内容</a:t>
            </a:r>
            <a:r>
              <a:rPr lang="zh-CN" sz="12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en-US" sz="1200">
              <a:solidFill>
                <a:srgbClr val="262626"/>
              </a:solidFill>
              <a:latin typeface="MiSans" charset="-122"/>
              <a:ea typeface="MiSans" charset="-122"/>
              <a:sym typeface="+mn-ea"/>
            </a:endParaRPr>
          </a:p>
          <a:p>
            <a:pPr indent="0" algn="l">
              <a:lnSpc>
                <a:spcPct val="155000"/>
              </a:lnSpc>
              <a:spcBef>
                <a:spcPts val="10"/>
              </a:spcBef>
              <a:buNone/>
            </a:pPr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支持停止生成、失败重试和联通性检测</a:t>
            </a: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325112" y="129844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447141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5193792" y="1591183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会话工作台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489703" y="2132202"/>
            <a:ext cx="3145536" cy="82994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多</a:t>
            </a:r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会话</a:t>
            </a: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管理，</a:t>
            </a:r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保存消息上下文、项目目录、权限模式</a:t>
            </a: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等；</a:t>
            </a:r>
            <a:endParaRPr lang="zh-CN" altLang="en-US" sz="1200">
              <a:solidFill>
                <a:srgbClr val="262626"/>
              </a:solidFill>
              <a:latin typeface="MiSans" charset="-122"/>
              <a:ea typeface="MiSans" charset="-122"/>
              <a:sym typeface="+mn-ea"/>
            </a:endParaRPr>
          </a:p>
          <a:p>
            <a:pPr algn="l"/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支持将会话关联本地项目文件夹</a:t>
            </a: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；</a:t>
            </a:r>
            <a:endParaRPr lang="zh-CN" altLang="en-US" sz="1200">
              <a:solidFill>
                <a:srgbClr val="262626"/>
              </a:solidFill>
              <a:latin typeface="MiSans" charset="-122"/>
              <a:ea typeface="MiSans" charset="-122"/>
              <a:sym typeface="+mn-ea"/>
            </a:endParaRPr>
          </a:p>
          <a:p>
            <a:pPr algn="l"/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会话持久化，重启后恢复历史会话</a:t>
            </a: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。</a:t>
            </a:r>
            <a:endParaRPr lang="zh-CN" altLang="en-US" sz="1200" b="0">
              <a:solidFill>
                <a:srgbClr val="262626"/>
              </a:solidFill>
              <a:latin typeface="MiSans" charset="-122"/>
              <a:ea typeface="MiSans" charset="-122"/>
              <a:sym typeface="+mn-ea"/>
            </a:endParaRP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8028431" y="129844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10"/>
            </p:custDataLst>
          </p:nvPr>
        </p:nvSpPr>
        <p:spPr>
          <a:xfrm>
            <a:off x="817473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8897111" y="1591183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附件与文件分析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8193023" y="2132202"/>
            <a:ext cx="3145536" cy="6451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支持主流文件格式解析</a:t>
            </a:r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。</a:t>
            </a: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包括：</a:t>
            </a:r>
            <a:r>
              <a:rPr 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TXT/MD/CSV/JSON/PDF/DOCX/XLSX/PPTX；</a:t>
            </a:r>
            <a:endParaRPr lang="en-US" sz="1200" b="0">
              <a:solidFill>
                <a:srgbClr val="26262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621792" y="344728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4"/>
            </p:custDataLst>
          </p:nvPr>
        </p:nvSpPr>
        <p:spPr>
          <a:xfrm>
            <a:off x="768096" y="36301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1490472" y="3738753"/>
            <a:ext cx="2423160" cy="33718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内置</a:t>
            </a:r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771779" y="4352163"/>
            <a:ext cx="3145536" cy="6451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>
              <a:buClrTx/>
              <a:buSzTx/>
              <a:buFontTx/>
            </a:pPr>
            <a:r>
              <a:rPr 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内置读写工具</a:t>
            </a:r>
            <a:r>
              <a:rPr lang="zh-CN" alt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控制</a:t>
            </a:r>
            <a:r>
              <a:rPr 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；</a:t>
            </a:r>
            <a:endParaRPr lang="en-US" sz="1200" b="0">
              <a:solidFill>
                <a:srgbClr val="262626"/>
              </a:solidFill>
              <a:latin typeface="MiSans" charset="-122"/>
              <a:ea typeface="MiSans" charset="-122"/>
            </a:endParaRPr>
          </a:p>
          <a:p>
            <a:pPr algn="l">
              <a:buClrTx/>
              <a:buSzTx/>
              <a:buFontTx/>
            </a:pPr>
            <a:r>
              <a:rPr 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参数校验；超时与取消；</a:t>
            </a:r>
            <a:endParaRPr lang="en-US" sz="1200" b="0">
              <a:solidFill>
                <a:srgbClr val="262626"/>
              </a:solidFill>
              <a:latin typeface="MiSans" charset="-122"/>
              <a:ea typeface="MiSans" charset="-122"/>
            </a:endParaRPr>
          </a:p>
          <a:p>
            <a:pPr algn="l">
              <a:buClrTx/>
              <a:buSzTx/>
              <a:buFontTx/>
            </a:pPr>
            <a:r>
              <a:rPr 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执行结果截断；工具列表可视化。</a:t>
            </a:r>
            <a:endParaRPr lang="en-US" sz="1200" b="0">
              <a:solidFill>
                <a:srgbClr val="26262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17"/>
            </p:custDataLst>
          </p:nvPr>
        </p:nvSpPr>
        <p:spPr>
          <a:xfrm>
            <a:off x="4325112" y="344728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18"/>
            </p:custDataLst>
          </p:nvPr>
        </p:nvSpPr>
        <p:spPr>
          <a:xfrm>
            <a:off x="4471416" y="36301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5193792" y="3738753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权限与审批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4475098" y="4352163"/>
            <a:ext cx="3145536" cy="27559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默认请求批准；以及完全访问权限</a:t>
            </a:r>
            <a:endParaRPr lang="zh-CN" altLang="en-US" sz="1200" b="0">
              <a:solidFill>
                <a:srgbClr val="26262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8" name="Rounded Rectangle 27"/>
          <p:cNvSpPr/>
          <p:nvPr>
            <p:custDataLst>
              <p:tags r:id="rId21"/>
            </p:custDataLst>
          </p:nvPr>
        </p:nvSpPr>
        <p:spPr>
          <a:xfrm>
            <a:off x="8028431" y="344728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>
            <p:custDataLst>
              <p:tags r:id="rId22"/>
            </p:custDataLst>
          </p:nvPr>
        </p:nvSpPr>
        <p:spPr>
          <a:xfrm>
            <a:off x="8174736" y="36301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>
            <p:custDataLst>
              <p:tags r:id="rId23"/>
            </p:custDataLst>
          </p:nvPr>
        </p:nvSpPr>
        <p:spPr>
          <a:xfrm>
            <a:off x="8897111" y="3738753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扩展能力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24"/>
            </p:custDataLst>
          </p:nvPr>
        </p:nvSpPr>
        <p:spPr>
          <a:xfrm>
            <a:off x="8178418" y="4352163"/>
            <a:ext cx="3145536" cy="6451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MCP </a:t>
            </a:r>
            <a:r>
              <a:rPr lang="zh-CN" alt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外部工具服务；</a:t>
            </a:r>
            <a:endParaRPr lang="zh-CN" altLang="en-US" sz="1200" b="0">
              <a:solidFill>
                <a:srgbClr val="262626"/>
              </a:solidFill>
              <a:latin typeface="MiSans" charset="-122"/>
              <a:ea typeface="MiSans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Skill </a:t>
            </a:r>
            <a:r>
              <a:rPr lang="zh-CN" alt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扩展技能树。</a:t>
            </a:r>
            <a:endParaRPr lang="zh-CN" altLang="en-US" sz="1200" b="0">
              <a:solidFill>
                <a:srgbClr val="262626"/>
              </a:solidFill>
              <a:latin typeface="MiSans" charset="-122"/>
              <a:ea typeface="MiSans" charset="-122"/>
            </a:endParaRPr>
          </a:p>
          <a:p>
            <a:pPr algn="l">
              <a:buClrTx/>
              <a:buSzTx/>
              <a:buFontTx/>
            </a:pPr>
            <a:endParaRPr lang="zh-CN" altLang="en-US" sz="1200" b="0">
              <a:solidFill>
                <a:srgbClr val="26262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32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7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产品定位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10881360" cy="960120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本地优先的桌面Agent</a:t>
            </a: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包含</a:t>
            </a: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大模型、文件、工具、MCP</a:t>
            </a: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等</a:t>
            </a: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服务和权限审批的客户端。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658368" y="2834640"/>
            <a:ext cx="2487168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822960" y="3127248"/>
            <a:ext cx="2157984" cy="32918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本地工作台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804672" y="3584448"/>
            <a:ext cx="2194560" cy="11430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以 Windows 桌面客户端承载，面向日常办公、研发、审计和知识管理场景。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4"/>
            </p:custDataLst>
          </p:nvPr>
        </p:nvSpPr>
        <p:spPr>
          <a:xfrm>
            <a:off x="3410711" y="2834640"/>
            <a:ext cx="2487168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3575303" y="3127248"/>
            <a:ext cx="2157984" cy="32918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开放模型层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3557015" y="3584448"/>
            <a:ext cx="2194560" cy="768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支持 OpenAI 兼容与 Anthropic 两种协议，可按企业要求接入不同模型服务</a:t>
            </a:r>
            <a:r>
              <a:rPr 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，或者使用私有化部署开源模型</a:t>
            </a: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7"/>
            </p:custDataLst>
          </p:nvPr>
        </p:nvSpPr>
        <p:spPr>
          <a:xfrm>
            <a:off x="6163055" y="2834640"/>
            <a:ext cx="2487168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6327648" y="3127248"/>
            <a:ext cx="2157984" cy="32918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安全执行层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6309359" y="3584448"/>
            <a:ext cx="2194560" cy="11430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工具分读写危险三级，写入需审批，危险工具默认拒绝。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>
            <p:custDataLst>
              <p:tags r:id="rId10"/>
            </p:custDataLst>
          </p:nvPr>
        </p:nvSpPr>
        <p:spPr>
          <a:xfrm>
            <a:off x="8915400" y="2834640"/>
            <a:ext cx="2487168" cy="21488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9079992" y="3127248"/>
            <a:ext cx="2157984" cy="32918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可持续扩展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9061704" y="3584448"/>
            <a:ext cx="2194560" cy="42989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通过内置工具、MCP 服务和 Skill 持续扩展专业能力。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8368" y="5303520"/>
            <a:ext cx="10881360" cy="566928"/>
          </a:xfrm>
          <a:prstGeom prst="rect">
            <a:avLst/>
          </a:prstGeom>
          <a:solidFill>
            <a:srgbClr val="F2F7FC"/>
          </a:solidFill>
          <a:ln w="12700">
            <a:solidFill>
              <a:srgbClr val="E89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lang="zh-CN" altLang="en-US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当前基础版已实现 </a:t>
            </a:r>
            <a:r>
              <a:rPr lang="en-US" altLang="zh-CN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Agent Loop </a:t>
            </a:r>
            <a:r>
              <a:rPr lang="zh-CN" altLang="en-US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执行流程、工具审批、附件分析、</a:t>
            </a:r>
            <a:r>
              <a:rPr lang="en-US" altLang="zh-CN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altLang="en-US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和 </a:t>
            </a:r>
            <a:r>
              <a:rPr lang="en-US" altLang="zh-CN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altLang="en-US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能力</a:t>
            </a:r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7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Agent 任务执行主流程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2978" y="1759077"/>
            <a:ext cx="10881360" cy="3987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en-US" altLang="zh-CN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Agent Loop </a:t>
            </a:r>
            <a:r>
              <a:rPr lang="zh-CN" altLang="en-US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运行在 </a:t>
            </a:r>
            <a:r>
              <a:rPr lang="en-US" altLang="zh-CN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Electron </a:t>
            </a:r>
            <a:r>
              <a:rPr lang="zh-CN" altLang="en-US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主进程中，通过 </a:t>
            </a:r>
            <a:r>
              <a:rPr lang="en-US" altLang="zh-CN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IPC </a:t>
            </a:r>
            <a:r>
              <a:rPr lang="zh-CN" altLang="en-US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将任务状态和流式结果同步到前端</a:t>
            </a:r>
            <a:r>
              <a:rPr lang="en-US" altLang="zh-CN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UI</a:t>
            </a:r>
            <a:r>
              <a:rPr lang="zh-CN" altLang="en-US" sz="20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界面。</a:t>
            </a:r>
            <a:endParaRPr lang="zh-CN" altLang="en-US" sz="20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594360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704088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用户输入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740664" y="3648837"/>
            <a:ext cx="1365503" cy="59880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自然语言任务 + 附件 + 会话上下文 + 启用的Skill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ight Arrow 11"/>
          <p:cNvSpPr/>
          <p:nvPr>
            <p:custDataLst>
              <p:tags r:id="rId4"/>
            </p:custDataLst>
          </p:nvPr>
        </p:nvSpPr>
        <p:spPr>
          <a:xfrm>
            <a:off x="2261616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2462784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2572512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附件准备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2609088" y="3648837"/>
            <a:ext cx="1365503" cy="42989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附件接收至安全目录，系统预处理</a:t>
            </a:r>
            <a:endParaRPr lang="zh-CN" altLang="en-US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ight Arrow 15"/>
          <p:cNvSpPr/>
          <p:nvPr>
            <p:custDataLst>
              <p:tags r:id="rId8"/>
            </p:custDataLst>
          </p:nvPr>
        </p:nvSpPr>
        <p:spPr>
          <a:xfrm>
            <a:off x="4130040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9"/>
            </p:custDataLst>
          </p:nvPr>
        </p:nvSpPr>
        <p:spPr>
          <a:xfrm>
            <a:off x="4331208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4440936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模型决策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4477512" y="3648837"/>
            <a:ext cx="1365503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协议适配层构造请求，模型输出文本或工具调用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ight Arrow 19"/>
          <p:cNvSpPr/>
          <p:nvPr>
            <p:custDataLst>
              <p:tags r:id="rId12"/>
            </p:custDataLst>
          </p:nvPr>
        </p:nvSpPr>
        <p:spPr>
          <a:xfrm>
            <a:off x="5998464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3"/>
            </p:custDataLst>
          </p:nvPr>
        </p:nvSpPr>
        <p:spPr>
          <a:xfrm>
            <a:off x="6199632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4"/>
            </p:custDataLst>
          </p:nvPr>
        </p:nvSpPr>
        <p:spPr>
          <a:xfrm>
            <a:off x="6309360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权限审批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6345936" y="3648837"/>
            <a:ext cx="1365503" cy="59880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涉及写入的操作先展示审批信息，用户确认后才执行。</a:t>
            </a:r>
            <a:endParaRPr lang="zh-CN" altLang="en-US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ight Arrow 23"/>
          <p:cNvSpPr/>
          <p:nvPr>
            <p:custDataLst>
              <p:tags r:id="rId16"/>
            </p:custDataLst>
          </p:nvPr>
        </p:nvSpPr>
        <p:spPr>
          <a:xfrm>
            <a:off x="7866888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17"/>
            </p:custDataLst>
          </p:nvPr>
        </p:nvSpPr>
        <p:spPr>
          <a:xfrm>
            <a:off x="8068056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8"/>
            </p:custDataLst>
          </p:nvPr>
        </p:nvSpPr>
        <p:spPr>
          <a:xfrm>
            <a:off x="8177784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工具执行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9"/>
            </p:custDataLst>
          </p:nvPr>
        </p:nvSpPr>
        <p:spPr>
          <a:xfrm>
            <a:off x="8214360" y="3648837"/>
            <a:ext cx="1365503" cy="59880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调用工具</a:t>
            </a: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、执行、超时、取消和结果截断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ight Arrow 27"/>
          <p:cNvSpPr/>
          <p:nvPr>
            <p:custDataLst>
              <p:tags r:id="rId20"/>
            </p:custDataLst>
          </p:nvPr>
        </p:nvSpPr>
        <p:spPr>
          <a:xfrm>
            <a:off x="9735312" y="3712845"/>
            <a:ext cx="192024" cy="384048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>
            <p:custDataLst>
              <p:tags r:id="rId21"/>
            </p:custDataLst>
          </p:nvPr>
        </p:nvSpPr>
        <p:spPr>
          <a:xfrm>
            <a:off x="9936480" y="2935605"/>
            <a:ext cx="1658112" cy="19202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22"/>
            </p:custDataLst>
          </p:nvPr>
        </p:nvSpPr>
        <p:spPr>
          <a:xfrm>
            <a:off x="10046208" y="3191637"/>
            <a:ext cx="1438656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结果回写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23"/>
            </p:custDataLst>
          </p:nvPr>
        </p:nvSpPr>
        <p:spPr>
          <a:xfrm>
            <a:off x="10082784" y="3648837"/>
            <a:ext cx="1365503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工具结果进入下一轮模型上下文，直到生成最终回答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3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03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</a:t>
            </a:r>
            <a:r>
              <a:rPr lang="zh-CN" alt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技术方案</a:t>
            </a:r>
            <a:endParaRPr lang="zh-CN" altLang="en-US" sz="4000" b="1" noProof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技术架构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621792" y="1325880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868680" y="1472184"/>
            <a:ext cx="3063240" cy="33718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r>
              <a:rPr lang="en-US" altLang="zh-CN"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UI</a:t>
            </a:r>
            <a:r>
              <a:rPr lang="zh-CN" altLang="en-US"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4069080" y="1490472"/>
            <a:ext cx="7132320" cy="42989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渲染进程 / React 18</a:t>
            </a:r>
            <a:endParaRPr sz="11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聊天对话界面与消息流组件、侧边导航栏、系统设置面板、可用工具列表等</a:t>
            </a: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4"/>
            </p:custDataLst>
          </p:nvPr>
        </p:nvSpPr>
        <p:spPr>
          <a:xfrm>
            <a:off x="621792" y="2459736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868680" y="2606040"/>
            <a:ext cx="3063240" cy="33718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桥接层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4069080" y="2624328"/>
            <a:ext cx="7132320" cy="42989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Electron Preload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通过 contextBridge </a:t>
            </a:r>
            <a:r>
              <a:rPr 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构建通信通道</a:t>
            </a: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，避免渲染进程直接触碰 Node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.js</a:t>
            </a: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能力</a:t>
            </a:r>
            <a:r>
              <a:rPr 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，与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UI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隔离</a:t>
            </a:r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" y="3593591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868680" y="3739896"/>
            <a:ext cx="3063240" cy="33718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核心逻辑层</a:t>
            </a:r>
            <a:endParaRPr lang="en-US" altLang="zh-CN"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4069080" y="3758183"/>
            <a:ext cx="7132320" cy="59880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en-US" altLang="zh-CN" sz="11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agent</a:t>
            </a:r>
            <a:r>
              <a:rPr lang="zh-CN" altLang="en-US" sz="11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引擎</a:t>
            </a:r>
            <a:r>
              <a:rPr lang="en-US" altLang="zh-CN" sz="11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/ </a:t>
            </a:r>
            <a:r>
              <a:rPr sz="11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Electron 主进程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独立的 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Agent Loop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驱动智能体决策，统筹网络请求代理、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SSE 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流式解析、工具执行审批及 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服务生命周期管理。</a:t>
            </a:r>
            <a:endParaRPr lang="zh-CN" altLang="en-US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" y="4727448"/>
            <a:ext cx="10927080" cy="9601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73752"/>
            <a:ext cx="3063240" cy="33718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持久化存储层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69080" y="4892040"/>
            <a:ext cx="7132320" cy="59880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本地资源</a:t>
            </a:r>
            <a:r>
              <a:rPr lang="zh-CN" sz="11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存储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维护前端会话状态，持久化存储任务审批记录，管理 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Skills 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插件目录及 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子进程运行环境。</a:t>
            </a:r>
            <a:endParaRPr lang="zh-CN" altLang="en-US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后期可更扩展为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OpenViking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管理所有上下文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881360" cy="29146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技术栈：Electron </a:t>
            </a:r>
            <a:r>
              <a:rPr lang="en-US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 Node.js </a:t>
            </a:r>
            <a:r>
              <a:rPr lang="en-US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 React </a:t>
            </a:r>
            <a:r>
              <a:rPr lang="en-US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 TypeScript </a:t>
            </a:r>
            <a:r>
              <a:rPr lang="en-US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 Vite </a:t>
            </a:r>
            <a:r>
              <a:rPr lang="en-US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 MCP SDK </a:t>
            </a:r>
            <a:r>
              <a:rPr lang="en-US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altLang="en-US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文档</a:t>
            </a:r>
            <a:r>
              <a:rPr lang="en-US" altLang="zh-CN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文件处理工具</a:t>
            </a:r>
            <a:endParaRPr lang="zh-CN" altLang="en-US"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7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Agent Loop 设计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640080" y="1325880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804672" y="1522476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1508760" y="1435607"/>
            <a:ext cx="8686800" cy="32194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定义全生命周期状态流转</a:t>
            </a:r>
            <a:endParaRPr lang="zh-CN" altLang="en-US"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1508760" y="1764792"/>
            <a:ext cx="978408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11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涵盖运行中、待审批、已取消、执行失败、已完成及未知异常等状态，通过事件驱动机制确保流程可控。</a:t>
            </a:r>
            <a:endParaRPr lang="zh-CN" altLang="en-US" sz="11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640080" y="2359152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804672" y="2555748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1508760" y="2468880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多轮工具循环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1508760" y="2798064"/>
            <a:ext cx="978408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11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构建“思考-执行”闭环： 模型生成工具调用指令后，由客户端接管执行并将结果回填，驱动模型基于反馈对下一轮决策，实现复杂任务拆解与处理</a:t>
            </a:r>
            <a:r>
              <a:rPr sz="11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1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640080" y="3392424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10"/>
            </p:custDataLst>
          </p:nvPr>
        </p:nvSpPr>
        <p:spPr>
          <a:xfrm>
            <a:off x="804672" y="3589020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1508760" y="3502152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可中断与恢复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1508760" y="3831335"/>
            <a:ext cx="978408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11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支持灵活的任务管控： 利用中断机制实现生成的即时停止；同时将审批记录持久化存储，确保页面刷新或异常退出后，待办任务仍可追溯并继续处理。</a:t>
            </a:r>
            <a:endParaRPr lang="zh-CN" altLang="en-US" sz="11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640080" y="4425696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4"/>
            </p:custDataLst>
          </p:nvPr>
        </p:nvSpPr>
        <p:spPr>
          <a:xfrm>
            <a:off x="804672" y="4622292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1508760" y="4535424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错误分级反馈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1508760" y="4864608"/>
            <a:ext cx="978408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11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建立精细化异常处理机制： 针对协议连接、工具执行、附件解析及审批超时等不同场景提供差异化进行提示</a:t>
            </a:r>
            <a:r>
              <a:rPr sz="11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1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17"/>
            </p:custDataLst>
          </p:nvPr>
        </p:nvSpPr>
        <p:spPr>
          <a:xfrm>
            <a:off x="640080" y="5458968"/>
            <a:ext cx="10927080" cy="8961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18"/>
            </p:custDataLst>
          </p:nvPr>
        </p:nvSpPr>
        <p:spPr>
          <a:xfrm>
            <a:off x="804672" y="5655564"/>
            <a:ext cx="502920" cy="50292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1508760" y="5568696"/>
            <a:ext cx="868680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结果体积控制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1508760" y="5897879"/>
            <a:ext cx="9784080" cy="2603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11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实施输出内容的边界防护： 对工具返回结果进行控制，有效防止超长数据溢出占上下文窗口，保障模型记忆的稳定性与效率</a:t>
            </a:r>
            <a:r>
              <a:rPr sz="11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1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7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工具系统与权限模型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1261872"/>
            <a:ext cx="4297680" cy="457200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37760" y="1261872"/>
            <a:ext cx="2194560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权限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0" y="1261872"/>
            <a:ext cx="4434840" cy="457200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行为说明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1810512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file_read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37760" y="1810512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32320" y="1810512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读取文件内容，支持编码识别与大小限制。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2724912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file_write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37760" y="2724912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132320" y="2724912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写入或修改文件；ask 模式需用户审批，full 模式仍校验路径。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3639312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dangerous 工具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37760" y="3639312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dangerous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132320" y="3639312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执行命令等高危动作，当前版本默认拒绝。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（如 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Shell 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命令 </a:t>
            </a:r>
            <a:r>
              <a:rPr lang="en-US" altLang="zh-CN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rm -rf、curl </a:t>
            </a:r>
            <a:r>
              <a:rPr lang="zh-CN" altLang="en-US"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下载执行脚本）</a:t>
            </a:r>
            <a:endParaRPr lang="zh-CN" altLang="en-US"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4553712"/>
            <a:ext cx="4297680" cy="822960"/>
          </a:xfrm>
          <a:prstGeom prst="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MCP 工具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937760" y="4553712"/>
            <a:ext cx="2194560" cy="822960"/>
          </a:xfrm>
          <a:prstGeom prst="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按服务声明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0" y="4553712"/>
            <a:ext cx="4434840" cy="822960"/>
          </a:xfrm>
          <a:prstGeom prst="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服务启动后注册为工具，权限映射到 read/write/dangerous。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" y="5486400"/>
            <a:ext cx="10927080" cy="621792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安全原则：严格限定操作路径范围；高危操作默认禁止执行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25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附件解析能力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文本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084831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TXT / MD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27632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表格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29000" y="2084831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CSV / JSON / XLSX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627632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文档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2084831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PDF / DOCX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15400" y="1371600"/>
            <a:ext cx="2468880" cy="1371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627632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演示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15400" y="2084831"/>
            <a:ext cx="246888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PPTX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58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364992"/>
            <a:ext cx="246888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上传选择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3730752"/>
            <a:ext cx="2286000" cy="457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渲染进程选择附件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4290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364992"/>
            <a:ext cx="246888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复制解析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20440" y="3730752"/>
            <a:ext cx="2286000" cy="457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主进程复制到安全目录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722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364992"/>
            <a:ext cx="246888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状态同步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63640" y="3730752"/>
            <a:ext cx="2286000" cy="457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任务进入解析态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915400" y="3154680"/>
            <a:ext cx="2468880" cy="12344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3364992"/>
            <a:ext cx="2468880" cy="29260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注入上下文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006840" y="3730752"/>
            <a:ext cx="2286000" cy="4572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解析结果交给 Agent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85800" y="4800600"/>
            <a:ext cx="10835640" cy="1051560"/>
          </a:xfrm>
          <a:prstGeom prst="rect">
            <a:avLst/>
          </a:prstGeom>
          <a:solidFill>
            <a:srgbClr val="DEEBF7"/>
          </a:solidFill>
          <a:ln w="12700">
            <a:solidFill>
              <a:srgbClr val="E899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lang="zh-CN" altLang="en-US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单次最多上传 5 个附件，单个附件大小上限为 20</a:t>
            </a:r>
            <a:r>
              <a:rPr lang="en-US" altLang="zh-CN"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MB</a:t>
            </a:r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；Office 文件本地解析；解析失败不阻断对话，仅提示错误；临时文件由清理流程移除。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34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Skill 与 MCP 扩展体系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257800" cy="47548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470916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8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Skill（提示词能力包）</a:t>
            </a:r>
            <a:endParaRPr sz="18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目录约定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992" y="2331720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全局 &lt;userData&gt;/skills；项目 &lt;项目&gt;/.agent/skills。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启用方式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" y="3090672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Skills 页面扫描，按会话勾选启用。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575304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覆盖规则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8992" y="3849624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同名项目 Skill 覆盖全局 Skill。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6792" y="1234440"/>
            <a:ext cx="5257800" cy="4754880"/>
          </a:xfrm>
          <a:prstGeom prst="roundRect">
            <a:avLst/>
          </a:prstGeom>
          <a:solidFill>
            <a:srgbClr val="E7F6EF"/>
          </a:solidFill>
          <a:ln w="12700">
            <a:solidFill>
              <a:srgbClr val="008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481328"/>
            <a:ext cx="4709160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8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MCP（外部工具服务）</a:t>
            </a:r>
            <a:endParaRPr sz="18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11112" y="2057400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服务配置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21424" y="2331720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McpManager 维护服务名、命令、参数与状态。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11112" y="2816352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生命周期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21424" y="3090672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启动 / 停止 / 自动重启；工具按服务注册。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11112" y="3575304"/>
            <a:ext cx="466344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• 权限映射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21424" y="3849624"/>
            <a:ext cx="4480560" cy="43891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MCP 工具映射到现有权限模型。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94360" y="6144768"/>
            <a:ext cx="11000232" cy="438912"/>
          </a:xfrm>
          <a:prstGeom prst="rect">
            <a:avLst/>
          </a:prstGeom>
          <a:solidFill>
            <a:srgbClr val="22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Skill 只注入文本规范，MCP 只接入受控工具入口；二者都不会绕过权限审批。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26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04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安全与应用场景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安全治理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ec0-card"/>
          <p:cNvSpPr/>
          <p:nvPr>
            <p:custDataLst>
              <p:tags r:id="rId1"/>
            </p:custDataLst>
          </p:nvPr>
        </p:nvSpPr>
        <p:spPr>
          <a:xfrm>
            <a:off x="635000" y="12700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ec0-circle"/>
          <p:cNvSpPr/>
          <p:nvPr>
            <p:custDataLst>
              <p:tags r:id="rId2"/>
            </p:custDataLst>
          </p:nvPr>
        </p:nvSpPr>
        <p:spPr>
          <a:xfrm>
            <a:off x="9398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0" name="sec0-icon"/>
          <p:cNvSpPr/>
          <p:nvPr>
            <p:custDataLst>
              <p:tags r:id="rId3"/>
            </p:custDataLst>
          </p:nvPr>
        </p:nvSpPr>
        <p:spPr>
          <a:xfrm>
            <a:off x="10795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36" y="352"/>
                </a:moveTo>
                <a:cubicBezTo>
                  <a:pt x="433" y="352"/>
                  <a:pt x="512" y="273"/>
                  <a:pt x="512" y="176"/>
                </a:cubicBezTo>
                <a:cubicBezTo>
                  <a:pt x="512" y="79"/>
                  <a:pt x="433" y="0"/>
                  <a:pt x="336" y="0"/>
                </a:cubicBezTo>
                <a:cubicBezTo>
                  <a:pt x="239" y="0"/>
                  <a:pt x="160" y="79"/>
                  <a:pt x="160" y="176"/>
                </a:cubicBezTo>
                <a:cubicBezTo>
                  <a:pt x="160" y="195"/>
                  <a:pt x="163" y="213"/>
                  <a:pt x="168" y="230"/>
                </a:cubicBezTo>
                <a:lnTo>
                  <a:pt x="7" y="391"/>
                </a:lnTo>
                <a:cubicBezTo>
                  <a:pt x="3" y="396"/>
                  <a:pt x="0" y="402"/>
                  <a:pt x="0" y="408"/>
                </a:cubicBezTo>
                <a:lnTo>
                  <a:pt x="0" y="488"/>
                </a:lnTo>
                <a:cubicBezTo>
                  <a:pt x="0" y="501"/>
                  <a:pt x="11" y="512"/>
                  <a:pt x="24" y="512"/>
                </a:cubicBezTo>
                <a:lnTo>
                  <a:pt x="104" y="512"/>
                </a:lnTo>
                <a:cubicBezTo>
                  <a:pt x="117" y="512"/>
                  <a:pt x="128" y="501"/>
                  <a:pt x="128" y="488"/>
                </a:cubicBezTo>
                <a:lnTo>
                  <a:pt x="128" y="448"/>
                </a:lnTo>
                <a:lnTo>
                  <a:pt x="168" y="448"/>
                </a:lnTo>
                <a:cubicBezTo>
                  <a:pt x="181" y="448"/>
                  <a:pt x="192" y="437"/>
                  <a:pt x="192" y="424"/>
                </a:cubicBezTo>
                <a:lnTo>
                  <a:pt x="192" y="384"/>
                </a:lnTo>
                <a:lnTo>
                  <a:pt x="232" y="384"/>
                </a:lnTo>
                <a:cubicBezTo>
                  <a:pt x="238" y="384"/>
                  <a:pt x="245" y="382"/>
                  <a:pt x="249" y="377"/>
                </a:cubicBezTo>
                <a:lnTo>
                  <a:pt x="282" y="344"/>
                </a:lnTo>
                <a:cubicBezTo>
                  <a:pt x="299" y="349"/>
                  <a:pt x="317" y="352"/>
                  <a:pt x="336" y="352"/>
                </a:cubicBezTo>
                <a:close/>
                <a:moveTo>
                  <a:pt x="376" y="96"/>
                </a:moveTo>
                <a:cubicBezTo>
                  <a:pt x="398" y="96"/>
                  <a:pt x="416" y="114"/>
                  <a:pt x="416" y="136"/>
                </a:cubicBezTo>
                <a:cubicBezTo>
                  <a:pt x="416" y="158"/>
                  <a:pt x="398" y="176"/>
                  <a:pt x="376" y="176"/>
                </a:cubicBezTo>
                <a:cubicBezTo>
                  <a:pt x="354" y="176"/>
                  <a:pt x="336" y="158"/>
                  <a:pt x="336" y="136"/>
                </a:cubicBezTo>
                <a:cubicBezTo>
                  <a:pt x="336" y="114"/>
                  <a:pt x="354" y="96"/>
                  <a:pt x="376" y="96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1" name="sec0-title"/>
          <p:cNvSpPr txBox="1"/>
          <p:nvPr>
            <p:custDataLst>
              <p:tags r:id="rId4"/>
            </p:custDataLst>
          </p:nvPr>
        </p:nvSpPr>
        <p:spPr>
          <a:xfrm>
            <a:off x="1676400" y="15748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密钥与请求安全</a:t>
            </a:r>
            <a:endParaRPr lang="en-US" sz="1800" noProof="1"/>
          </a:p>
        </p:txBody>
      </p:sp>
      <p:sp>
        <p:nvSpPr>
          <p:cNvPr id="12" name="sec0-desc"/>
          <p:cNvSpPr txBox="1"/>
          <p:nvPr>
            <p:custDataLst>
              <p:tags r:id="rId5"/>
            </p:custDataLst>
          </p:nvPr>
        </p:nvSpPr>
        <p:spPr>
          <a:xfrm>
            <a:off x="939800" y="23114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altLang="zh-CN" sz="1200" noProof="1"/>
              <a:t>·</a:t>
            </a:r>
            <a:r>
              <a:rPr lang="zh-CN" altLang="en-US" sz="1200" noProof="1"/>
              <a:t>凭证不落地：现阶段模型请求由 </a:t>
            </a:r>
            <a:r>
              <a:rPr lang="en-US" altLang="zh-CN" sz="1200" noProof="1"/>
              <a:t>Electron </a:t>
            </a:r>
            <a:r>
              <a:rPr lang="zh-CN" altLang="en-US" sz="1200" noProof="1"/>
              <a:t>主进程统一发起；当前 </a:t>
            </a:r>
            <a:r>
              <a:rPr lang="en-US" altLang="zh-CN" sz="1200" noProof="1"/>
              <a:t>API </a:t>
            </a:r>
            <a:r>
              <a:rPr lang="zh-CN" altLang="en-US" sz="1200" noProof="1"/>
              <a:t>配置保存在本机 </a:t>
            </a:r>
            <a:r>
              <a:rPr lang="en-US" altLang="zh-CN" sz="1200" noProof="1"/>
              <a:t>localStorage，</a:t>
            </a:r>
            <a:r>
              <a:rPr lang="zh-CN" altLang="en-US" sz="1200" noProof="1"/>
              <a:t>后续可迁移至主进程安全存储。</a:t>
            </a:r>
            <a:endParaRPr lang="zh-CN" altLang="en-US" sz="1200" noProof="1"/>
          </a:p>
          <a:p>
            <a:pPr algn="l">
              <a:lnSpc>
                <a:spcPct val="150000"/>
              </a:lnSpc>
            </a:pPr>
            <a:r>
              <a:rPr lang="en-US" altLang="zh-CN" sz="1200" noProof="1"/>
              <a:t>·</a:t>
            </a:r>
            <a:r>
              <a:rPr lang="zh-CN" altLang="en-US" sz="1200" noProof="1"/>
              <a:t>请求统一调度： 所有对外（如 </a:t>
            </a:r>
            <a:r>
              <a:rPr lang="en-US" altLang="zh-CN" sz="1200" noProof="1"/>
              <a:t>OpenAI）</a:t>
            </a:r>
            <a:r>
              <a:rPr lang="zh-CN" altLang="en-US" sz="1200" noProof="1"/>
              <a:t>的请求均经过内部适配层转换，确保数据流向清晰可控。</a:t>
            </a:r>
            <a:endParaRPr lang="zh-CN" altLang="en-US" sz="1200" noProof="1"/>
          </a:p>
        </p:txBody>
      </p:sp>
      <p:sp>
        <p:nvSpPr>
          <p:cNvPr id="13" name="sec1-card"/>
          <p:cNvSpPr/>
          <p:nvPr>
            <p:custDataLst>
              <p:tags r:id="rId6"/>
            </p:custDataLst>
          </p:nvPr>
        </p:nvSpPr>
        <p:spPr>
          <a:xfrm>
            <a:off x="6248400" y="12700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ec1-circle"/>
          <p:cNvSpPr/>
          <p:nvPr>
            <p:custDataLst>
              <p:tags r:id="rId7"/>
            </p:custDataLst>
          </p:nvPr>
        </p:nvSpPr>
        <p:spPr>
          <a:xfrm>
            <a:off x="65532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5" name="sec1-icon"/>
          <p:cNvSpPr/>
          <p:nvPr>
            <p:custDataLst>
              <p:tags r:id="rId8"/>
            </p:custDataLst>
          </p:nvPr>
        </p:nvSpPr>
        <p:spPr>
          <a:xfrm>
            <a:off x="66929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8" y="24"/>
                </a:moveTo>
                <a:cubicBezTo>
                  <a:pt x="48" y="11"/>
                  <a:pt x="37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lnTo>
                  <a:pt x="0" y="392"/>
                </a:lnTo>
                <a:cubicBezTo>
                  <a:pt x="0" y="423"/>
                  <a:pt x="25" y="448"/>
                  <a:pt x="56" y="448"/>
                </a:cubicBezTo>
                <a:lnTo>
                  <a:pt x="240" y="448"/>
                </a:lnTo>
                <a:lnTo>
                  <a:pt x="240" y="400"/>
                </a:lnTo>
                <a:lnTo>
                  <a:pt x="56" y="400"/>
                </a:lnTo>
                <a:cubicBezTo>
                  <a:pt x="52" y="400"/>
                  <a:pt x="48" y="396"/>
                  <a:pt x="48" y="392"/>
                </a:cubicBezTo>
                <a:lnTo>
                  <a:pt x="48" y="160"/>
                </a:lnTo>
                <a:lnTo>
                  <a:pt x="240" y="160"/>
                </a:lnTo>
                <a:lnTo>
                  <a:pt x="240" y="112"/>
                </a:lnTo>
                <a:lnTo>
                  <a:pt x="48" y="112"/>
                </a:lnTo>
                <a:lnTo>
                  <a:pt x="48" y="24"/>
                </a:lnTo>
                <a:close/>
              </a:path>
              <a:path w="576" h="512">
                <a:moveTo>
                  <a:pt x="336" y="224"/>
                </a:moveTo>
                <a:lnTo>
                  <a:pt x="528" y="224"/>
                </a:lnTo>
                <a:cubicBezTo>
                  <a:pt x="555" y="224"/>
                  <a:pt x="576" y="203"/>
                  <a:pt x="576" y="176"/>
                </a:cubicBezTo>
                <a:lnTo>
                  <a:pt x="576" y="80"/>
                </a:lnTo>
                <a:cubicBezTo>
                  <a:pt x="576" y="54"/>
                  <a:pt x="555" y="32"/>
                  <a:pt x="528" y="32"/>
                </a:cubicBezTo>
                <a:lnTo>
                  <a:pt x="445" y="32"/>
                </a:lnTo>
                <a:cubicBezTo>
                  <a:pt x="437" y="32"/>
                  <a:pt x="429" y="29"/>
                  <a:pt x="423" y="23"/>
                </a:cubicBezTo>
                <a:lnTo>
                  <a:pt x="414" y="14"/>
                </a:lnTo>
                <a:cubicBezTo>
                  <a:pt x="405" y="5"/>
                  <a:pt x="393" y="0"/>
                  <a:pt x="380" y="0"/>
                </a:cubicBezTo>
                <a:lnTo>
                  <a:pt x="336" y="0"/>
                </a:lnTo>
                <a:cubicBezTo>
                  <a:pt x="310" y="0"/>
                  <a:pt x="288" y="22"/>
                  <a:pt x="288" y="48"/>
                </a:cubicBezTo>
                <a:lnTo>
                  <a:pt x="288" y="176"/>
                </a:lnTo>
                <a:cubicBezTo>
                  <a:pt x="288" y="203"/>
                  <a:pt x="310" y="224"/>
                  <a:pt x="336" y="224"/>
                </a:cubicBezTo>
                <a:close/>
              </a:path>
              <a:path w="576" h="512">
                <a:moveTo>
                  <a:pt x="336" y="512"/>
                </a:moveTo>
                <a:lnTo>
                  <a:pt x="528" y="512"/>
                </a:lnTo>
                <a:cubicBezTo>
                  <a:pt x="555" y="512"/>
                  <a:pt x="576" y="491"/>
                  <a:pt x="576" y="464"/>
                </a:cubicBezTo>
                <a:lnTo>
                  <a:pt x="576" y="368"/>
                </a:lnTo>
                <a:cubicBezTo>
                  <a:pt x="576" y="342"/>
                  <a:pt x="555" y="320"/>
                  <a:pt x="528" y="320"/>
                </a:cubicBezTo>
                <a:lnTo>
                  <a:pt x="445" y="320"/>
                </a:lnTo>
                <a:cubicBezTo>
                  <a:pt x="437" y="320"/>
                  <a:pt x="429" y="317"/>
                  <a:pt x="423" y="311"/>
                </a:cubicBezTo>
                <a:lnTo>
                  <a:pt x="414" y="302"/>
                </a:lnTo>
                <a:cubicBezTo>
                  <a:pt x="405" y="293"/>
                  <a:pt x="393" y="288"/>
                  <a:pt x="380" y="288"/>
                </a:cubicBezTo>
                <a:lnTo>
                  <a:pt x="336" y="288"/>
                </a:lnTo>
                <a:cubicBezTo>
                  <a:pt x="310" y="288"/>
                  <a:pt x="288" y="310"/>
                  <a:pt x="288" y="336"/>
                </a:cubicBezTo>
                <a:lnTo>
                  <a:pt x="288" y="464"/>
                </a:lnTo>
                <a:cubicBezTo>
                  <a:pt x="288" y="491"/>
                  <a:pt x="310" y="512"/>
                  <a:pt x="336" y="51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6" name="sec1-title"/>
          <p:cNvSpPr txBox="1"/>
          <p:nvPr>
            <p:custDataLst>
              <p:tags r:id="rId9"/>
            </p:custDataLst>
          </p:nvPr>
        </p:nvSpPr>
        <p:spPr>
          <a:xfrm>
            <a:off x="7289800" y="15748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文件与路径安全</a:t>
            </a:r>
            <a:endParaRPr lang="en-US" sz="1800" noProof="1"/>
          </a:p>
        </p:txBody>
      </p:sp>
      <p:sp>
        <p:nvSpPr>
          <p:cNvPr id="17" name="sec1-desc"/>
          <p:cNvSpPr txBox="1"/>
          <p:nvPr>
            <p:custDataLst>
              <p:tags r:id="rId10"/>
            </p:custDataLst>
          </p:nvPr>
        </p:nvSpPr>
        <p:spPr>
          <a:xfrm>
            <a:off x="6553200" y="23114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altLang="zh-CN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·</a:t>
            </a:r>
            <a:r>
              <a:rPr lang="zh-CN" alt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活动范围锁定：</a:t>
            </a: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文件工具默认限制在关联项目目录内；</a:t>
            </a:r>
            <a:r>
              <a:rPr lang="zh-CN" alt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严禁越界访问系统其他文件。</a:t>
            </a:r>
            <a:endParaRPr lang="zh-CN" altLang="en-US" sz="1200" noProof="1">
              <a:solidFill>
                <a:srgbClr val="262626"/>
              </a:solidFill>
              <a:latin typeface="MiSans" charset="-122"/>
              <a:ea typeface="MiSans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·</a:t>
            </a:r>
            <a:r>
              <a:rPr lang="zh-CN" alt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读写校验：</a:t>
            </a:r>
            <a:r>
              <a:rPr lang="zh-CN" alt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读取内容限制长度防止内存溢出，写入文件时强制校验目标位置</a:t>
            </a: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，</a:t>
            </a:r>
            <a:r>
              <a:rPr lang="zh-CN" alt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防止误改配置</a:t>
            </a: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。</a:t>
            </a:r>
            <a:endParaRPr lang="en-US" sz="1200" noProof="1"/>
          </a:p>
        </p:txBody>
      </p:sp>
      <p:sp>
        <p:nvSpPr>
          <p:cNvPr id="18" name="sec2-card"/>
          <p:cNvSpPr/>
          <p:nvPr>
            <p:custDataLst>
              <p:tags r:id="rId11"/>
            </p:custDataLst>
          </p:nvPr>
        </p:nvSpPr>
        <p:spPr>
          <a:xfrm>
            <a:off x="635000" y="39116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ec2-circle"/>
          <p:cNvSpPr/>
          <p:nvPr>
            <p:custDataLst>
              <p:tags r:id="rId12"/>
            </p:custDataLst>
          </p:nvPr>
        </p:nvSpPr>
        <p:spPr>
          <a:xfrm>
            <a:off x="939800" y="42164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0" name="sec2-icon"/>
          <p:cNvSpPr/>
          <p:nvPr>
            <p:custDataLst>
              <p:tags r:id="rId13"/>
            </p:custDataLst>
          </p:nvPr>
        </p:nvSpPr>
        <p:spPr>
          <a:xfrm>
            <a:off x="1079500" y="4356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71" y="-7"/>
                </a:moveTo>
                <a:cubicBezTo>
                  <a:pt x="76" y="-12"/>
                  <a:pt x="85" y="-13"/>
                  <a:pt x="91" y="-9"/>
                </a:cubicBezTo>
                <a:lnTo>
                  <a:pt x="210" y="71"/>
                </a:lnTo>
                <a:cubicBezTo>
                  <a:pt x="219" y="76"/>
                  <a:pt x="224" y="86"/>
                  <a:pt x="224" y="97"/>
                </a:cubicBezTo>
                <a:lnTo>
                  <a:pt x="224" y="147"/>
                </a:lnTo>
                <a:lnTo>
                  <a:pt x="315" y="238"/>
                </a:lnTo>
                <a:cubicBezTo>
                  <a:pt x="348" y="223"/>
                  <a:pt x="389" y="229"/>
                  <a:pt x="416" y="256"/>
                </a:cubicBezTo>
                <a:lnTo>
                  <a:pt x="542" y="382"/>
                </a:lnTo>
                <a:cubicBezTo>
                  <a:pt x="561" y="401"/>
                  <a:pt x="561" y="431"/>
                  <a:pt x="542" y="450"/>
                </a:cubicBezTo>
                <a:lnTo>
                  <a:pt x="482" y="510"/>
                </a:lnTo>
                <a:cubicBezTo>
                  <a:pt x="463" y="529"/>
                  <a:pt x="433" y="529"/>
                  <a:pt x="414" y="510"/>
                </a:cubicBezTo>
                <a:lnTo>
                  <a:pt x="288" y="384"/>
                </a:lnTo>
                <a:cubicBezTo>
                  <a:pt x="261" y="357"/>
                  <a:pt x="255" y="316"/>
                  <a:pt x="270" y="283"/>
                </a:cubicBezTo>
                <a:lnTo>
                  <a:pt x="179" y="192"/>
                </a:lnTo>
                <a:lnTo>
                  <a:pt x="129" y="192"/>
                </a:lnTo>
                <a:cubicBezTo>
                  <a:pt x="119" y="192"/>
                  <a:pt x="109" y="187"/>
                  <a:pt x="103" y="178"/>
                </a:cubicBezTo>
                <a:lnTo>
                  <a:pt x="23" y="59"/>
                </a:lnTo>
                <a:cubicBezTo>
                  <a:pt x="19" y="53"/>
                  <a:pt x="20" y="44"/>
                  <a:pt x="25" y="39"/>
                </a:cubicBezTo>
                <a:lnTo>
                  <a:pt x="71" y="-7"/>
                </a:lnTo>
                <a:close/>
              </a:path>
              <a:path w="576" h="512">
                <a:moveTo>
                  <a:pt x="216" y="297"/>
                </a:moveTo>
                <a:cubicBezTo>
                  <a:pt x="210" y="334"/>
                  <a:pt x="218" y="373"/>
                  <a:pt x="242" y="404"/>
                </a:cubicBezTo>
                <a:lnTo>
                  <a:pt x="147" y="499"/>
                </a:lnTo>
                <a:cubicBezTo>
                  <a:pt x="119" y="527"/>
                  <a:pt x="73" y="527"/>
                  <a:pt x="45" y="499"/>
                </a:cubicBezTo>
                <a:cubicBezTo>
                  <a:pt x="17" y="471"/>
                  <a:pt x="17" y="425"/>
                  <a:pt x="45" y="397"/>
                </a:cubicBezTo>
                <a:lnTo>
                  <a:pt x="181" y="262"/>
                </a:lnTo>
                <a:lnTo>
                  <a:pt x="216" y="297"/>
                </a:lnTo>
                <a:close/>
              </a:path>
              <a:path w="576" h="512">
                <a:moveTo>
                  <a:pt x="384" y="0"/>
                </a:moveTo>
                <a:cubicBezTo>
                  <a:pt x="404" y="0"/>
                  <a:pt x="424" y="4"/>
                  <a:pt x="441" y="11"/>
                </a:cubicBezTo>
                <a:cubicBezTo>
                  <a:pt x="451" y="14"/>
                  <a:pt x="453" y="27"/>
                  <a:pt x="446" y="35"/>
                </a:cubicBezTo>
                <a:lnTo>
                  <a:pt x="389" y="91"/>
                </a:lnTo>
                <a:cubicBezTo>
                  <a:pt x="386" y="94"/>
                  <a:pt x="384" y="98"/>
                  <a:pt x="384" y="103"/>
                </a:cubicBezTo>
                <a:lnTo>
                  <a:pt x="384" y="144"/>
                </a:lnTo>
                <a:cubicBezTo>
                  <a:pt x="384" y="153"/>
                  <a:pt x="391" y="160"/>
                  <a:pt x="400" y="160"/>
                </a:cubicBezTo>
                <a:lnTo>
                  <a:pt x="442" y="160"/>
                </a:lnTo>
                <a:cubicBezTo>
                  <a:pt x="446" y="160"/>
                  <a:pt x="450" y="158"/>
                  <a:pt x="453" y="155"/>
                </a:cubicBezTo>
                <a:lnTo>
                  <a:pt x="510" y="99"/>
                </a:lnTo>
                <a:cubicBezTo>
                  <a:pt x="517" y="91"/>
                  <a:pt x="530" y="93"/>
                  <a:pt x="534" y="103"/>
                </a:cubicBezTo>
                <a:cubicBezTo>
                  <a:pt x="540" y="121"/>
                  <a:pt x="544" y="140"/>
                  <a:pt x="544" y="160"/>
                </a:cubicBezTo>
                <a:cubicBezTo>
                  <a:pt x="544" y="203"/>
                  <a:pt x="527" y="242"/>
                  <a:pt x="499" y="271"/>
                </a:cubicBezTo>
                <a:lnTo>
                  <a:pt x="450" y="222"/>
                </a:lnTo>
                <a:cubicBezTo>
                  <a:pt x="417" y="189"/>
                  <a:pt x="372" y="176"/>
                  <a:pt x="329" y="184"/>
                </a:cubicBezTo>
                <a:lnTo>
                  <a:pt x="272" y="127"/>
                </a:lnTo>
                <a:lnTo>
                  <a:pt x="272" y="97"/>
                </a:lnTo>
                <a:lnTo>
                  <a:pt x="272" y="92"/>
                </a:lnTo>
                <a:cubicBezTo>
                  <a:pt x="271" y="80"/>
                  <a:pt x="268" y="68"/>
                  <a:pt x="261" y="57"/>
                </a:cubicBezTo>
                <a:cubicBezTo>
                  <a:pt x="291" y="22"/>
                  <a:pt x="335" y="0"/>
                  <a:pt x="384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21" name="sec2-title"/>
          <p:cNvSpPr txBox="1"/>
          <p:nvPr>
            <p:custDataLst>
              <p:tags r:id="rId14"/>
            </p:custDataLst>
          </p:nvPr>
        </p:nvSpPr>
        <p:spPr>
          <a:xfrm>
            <a:off x="1676400" y="42164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工具安全</a:t>
            </a:r>
            <a:endParaRPr lang="en-US" sz="1800" noProof="1"/>
          </a:p>
        </p:txBody>
      </p:sp>
      <p:sp>
        <p:nvSpPr>
          <p:cNvPr id="22" name="sec2-desc"/>
          <p:cNvSpPr txBox="1"/>
          <p:nvPr>
            <p:custDataLst>
              <p:tags r:id="rId15"/>
            </p:custDataLst>
          </p:nvPr>
        </p:nvSpPr>
        <p:spPr>
          <a:xfrm>
            <a:off x="939800" y="49530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altLang="zh-CN" sz="1200">
                <a:sym typeface="+mn-ea"/>
              </a:rPr>
              <a:t>·</a:t>
            </a:r>
            <a:r>
              <a:rPr lang="zh-CN" altLang="en-US" sz="1200" noProof="1"/>
              <a:t>读写权限分离：只读操作自动执行以提升效率；涉及修改操作触发人工确认</a:t>
            </a:r>
            <a:r>
              <a:rPr lang="zh-CN" altLang="en-US" sz="1200">
                <a:sym typeface="+mn-ea"/>
              </a:rPr>
              <a:t>。</a:t>
            </a:r>
            <a:endParaRPr lang="zh-CN" altLang="en-US" sz="1200" noProof="1"/>
          </a:p>
          <a:p>
            <a:pPr algn="l">
              <a:lnSpc>
                <a:spcPct val="150000"/>
              </a:lnSpc>
            </a:pPr>
            <a:r>
              <a:rPr lang="en-US" altLang="zh-CN" sz="1200">
                <a:sym typeface="+mn-ea"/>
              </a:rPr>
              <a:t>·</a:t>
            </a:r>
            <a:r>
              <a:rPr lang="zh-CN" altLang="en-US" sz="1200" noProof="1"/>
              <a:t>高危指令屏蔽：具有破坏性的危险工具默认拒绝执行</a:t>
            </a:r>
            <a:r>
              <a:rPr lang="zh-CN" altLang="en-US" sz="1200">
                <a:sym typeface="+mn-ea"/>
              </a:rPr>
              <a:t>。</a:t>
            </a:r>
            <a:endParaRPr lang="zh-CN" altLang="en-US" sz="1200" noProof="1"/>
          </a:p>
          <a:p>
            <a:pPr algn="l">
              <a:lnSpc>
                <a:spcPct val="150000"/>
              </a:lnSpc>
            </a:pPr>
            <a:r>
              <a:rPr lang="en-US" altLang="zh-CN" sz="1200">
                <a:sym typeface="+mn-ea"/>
              </a:rPr>
              <a:t>·</a:t>
            </a:r>
            <a:r>
              <a:rPr lang="zh-CN" altLang="en-US" sz="1200" noProof="1"/>
              <a:t>兜底保障：提供超时取消和结果截断机制</a:t>
            </a:r>
            <a:r>
              <a:rPr lang="zh-CN" altLang="en-US" sz="1200">
                <a:sym typeface="+mn-ea"/>
              </a:rPr>
              <a:t>。</a:t>
            </a:r>
            <a:endParaRPr lang="zh-CN" altLang="en-US" sz="1200" noProof="1"/>
          </a:p>
        </p:txBody>
      </p:sp>
      <p:sp>
        <p:nvSpPr>
          <p:cNvPr id="23" name="sec3-card"/>
          <p:cNvSpPr/>
          <p:nvPr>
            <p:custDataLst>
              <p:tags r:id="rId16"/>
            </p:custDataLst>
          </p:nvPr>
        </p:nvSpPr>
        <p:spPr>
          <a:xfrm>
            <a:off x="6248400" y="39116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ec3-circle"/>
          <p:cNvSpPr/>
          <p:nvPr>
            <p:custDataLst>
              <p:tags r:id="rId17"/>
            </p:custDataLst>
          </p:nvPr>
        </p:nvSpPr>
        <p:spPr>
          <a:xfrm>
            <a:off x="6553200" y="42164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5" name="sec3-icon"/>
          <p:cNvSpPr/>
          <p:nvPr>
            <p:custDataLst>
              <p:tags r:id="rId18"/>
            </p:custDataLst>
          </p:nvPr>
        </p:nvSpPr>
        <p:spPr>
          <a:xfrm>
            <a:off x="6692900" y="4356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5" y="13"/>
                </a:moveTo>
                <a:cubicBezTo>
                  <a:pt x="281" y="-43"/>
                  <a:pt x="372" y="-43"/>
                  <a:pt x="428" y="13"/>
                </a:cubicBezTo>
                <a:cubicBezTo>
                  <a:pt x="484" y="69"/>
                  <a:pt x="484" y="160"/>
                  <a:pt x="428" y="216"/>
                </a:cubicBezTo>
                <a:lnTo>
                  <a:pt x="264" y="380"/>
                </a:lnTo>
                <a:cubicBezTo>
                  <a:pt x="230" y="415"/>
                  <a:pt x="174" y="415"/>
                  <a:pt x="140" y="380"/>
                </a:cubicBezTo>
                <a:cubicBezTo>
                  <a:pt x="105" y="346"/>
                  <a:pt x="105" y="290"/>
                  <a:pt x="140" y="256"/>
                </a:cubicBezTo>
                <a:lnTo>
                  <a:pt x="293" y="103"/>
                </a:lnTo>
                <a:cubicBezTo>
                  <a:pt x="305" y="91"/>
                  <a:pt x="325" y="91"/>
                  <a:pt x="338" y="103"/>
                </a:cubicBezTo>
                <a:cubicBezTo>
                  <a:pt x="350" y="116"/>
                  <a:pt x="350" y="136"/>
                  <a:pt x="338" y="149"/>
                </a:cubicBezTo>
                <a:lnTo>
                  <a:pt x="185" y="301"/>
                </a:lnTo>
                <a:cubicBezTo>
                  <a:pt x="176" y="311"/>
                  <a:pt x="176" y="326"/>
                  <a:pt x="185" y="335"/>
                </a:cubicBezTo>
                <a:cubicBezTo>
                  <a:pt x="194" y="344"/>
                  <a:pt x="210" y="345"/>
                  <a:pt x="219" y="335"/>
                </a:cubicBezTo>
                <a:lnTo>
                  <a:pt x="383" y="171"/>
                </a:lnTo>
                <a:cubicBezTo>
                  <a:pt x="414" y="140"/>
                  <a:pt x="414" y="89"/>
                  <a:pt x="383" y="58"/>
                </a:cubicBezTo>
                <a:cubicBezTo>
                  <a:pt x="352" y="27"/>
                  <a:pt x="301" y="27"/>
                  <a:pt x="270" y="58"/>
                </a:cubicBezTo>
                <a:lnTo>
                  <a:pt x="106" y="222"/>
                </a:lnTo>
                <a:cubicBezTo>
                  <a:pt x="53" y="275"/>
                  <a:pt x="53" y="361"/>
                  <a:pt x="106" y="414"/>
                </a:cubicBezTo>
                <a:cubicBezTo>
                  <a:pt x="159" y="468"/>
                  <a:pt x="245" y="468"/>
                  <a:pt x="298" y="414"/>
                </a:cubicBezTo>
                <a:lnTo>
                  <a:pt x="428" y="284"/>
                </a:lnTo>
                <a:cubicBezTo>
                  <a:pt x="441" y="272"/>
                  <a:pt x="461" y="272"/>
                  <a:pt x="474" y="284"/>
                </a:cubicBezTo>
                <a:cubicBezTo>
                  <a:pt x="486" y="297"/>
                  <a:pt x="486" y="317"/>
                  <a:pt x="474" y="330"/>
                </a:cubicBezTo>
                <a:lnTo>
                  <a:pt x="343" y="460"/>
                </a:lnTo>
                <a:cubicBezTo>
                  <a:pt x="265" y="538"/>
                  <a:pt x="139" y="538"/>
                  <a:pt x="61" y="460"/>
                </a:cubicBezTo>
                <a:cubicBezTo>
                  <a:pt x="-18" y="382"/>
                  <a:pt x="-18" y="255"/>
                  <a:pt x="61" y="177"/>
                </a:cubicBezTo>
                <a:lnTo>
                  <a:pt x="225" y="1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26" name="sec3-title"/>
          <p:cNvSpPr txBox="1"/>
          <p:nvPr>
            <p:custDataLst>
              <p:tags r:id="rId19"/>
            </p:custDataLst>
          </p:nvPr>
        </p:nvSpPr>
        <p:spPr>
          <a:xfrm>
            <a:off x="7289800" y="42164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附件安全</a:t>
            </a:r>
            <a:endParaRPr lang="en-US" sz="1800" noProof="1"/>
          </a:p>
        </p:txBody>
      </p:sp>
      <p:sp>
        <p:nvSpPr>
          <p:cNvPr id="27" name="sec3-desc"/>
          <p:cNvSpPr txBox="1"/>
          <p:nvPr>
            <p:custDataLst>
              <p:tags r:id="rId20"/>
            </p:custDataLst>
          </p:nvPr>
        </p:nvSpPr>
        <p:spPr>
          <a:xfrm>
            <a:off x="6553200" y="49530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·限</a:t>
            </a:r>
            <a:r>
              <a:rPr lang="zh-CN" alt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隔离解析与清理： 附件必须先复制到受控的临时目录才能被处理，任务结束后自动删除。</a:t>
            </a:r>
            <a:endParaRPr lang="zh-CN" altLang="en-US" sz="1200" noProof="1">
              <a:solidFill>
                <a:srgbClr val="262626"/>
              </a:solidFill>
              <a:latin typeface="MiSans" charset="-122"/>
              <a:ea typeface="MiSans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·</a:t>
            </a:r>
            <a:r>
              <a:rPr lang="zh-CN" alt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只读不写原则： 附件仅作为参考信息输入，</a:t>
            </a:r>
            <a:r>
              <a:rPr lang="zh-CN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不会</a:t>
            </a:r>
            <a:r>
              <a:rPr lang="zh-CN" alt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修改文件的权限，防止通过附件注入恶意指令。</a:t>
            </a:r>
            <a:endParaRPr lang="zh-CN" altLang="en-US" sz="1200" noProof="1">
              <a:solidFill>
                <a:srgbClr val="262626"/>
              </a:solidFill>
              <a:latin typeface="MiSans" charset="-122"/>
              <a:ea typeface="MiSans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典型使用场景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c0-card"/>
          <p:cNvSpPr/>
          <p:nvPr>
            <p:custDataLst>
              <p:tags r:id="rId1"/>
            </p:custDataLst>
          </p:nvPr>
        </p:nvSpPr>
        <p:spPr>
          <a:xfrm>
            <a:off x="635000" y="12700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c0-circle"/>
          <p:cNvSpPr/>
          <p:nvPr>
            <p:custDataLst>
              <p:tags r:id="rId2"/>
            </p:custDataLst>
          </p:nvPr>
        </p:nvSpPr>
        <p:spPr>
          <a:xfrm>
            <a:off x="9398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0" name="sc0-icon"/>
          <p:cNvSpPr/>
          <p:nvPr>
            <p:custDataLst>
              <p:tags r:id="rId3"/>
            </p:custDataLst>
          </p:nvPr>
        </p:nvSpPr>
        <p:spPr>
          <a:xfrm>
            <a:off x="10795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141"/>
                </a:moveTo>
                <a:lnTo>
                  <a:pt x="256" y="451"/>
                </a:lnTo>
                <a:lnTo>
                  <a:pt x="257" y="450"/>
                </a:lnTo>
                <a:cubicBezTo>
                  <a:pt x="311" y="428"/>
                  <a:pt x="370" y="416"/>
                  <a:pt x="429" y="416"/>
                </a:cubicBezTo>
                <a:lnTo>
                  <a:pt x="448" y="416"/>
                </a:lnTo>
                <a:lnTo>
                  <a:pt x="448" y="96"/>
                </a:lnTo>
                <a:lnTo>
                  <a:pt x="429" y="96"/>
                </a:lnTo>
                <a:cubicBezTo>
                  <a:pt x="387" y="96"/>
                  <a:pt x="345" y="104"/>
                  <a:pt x="306" y="121"/>
                </a:cubicBezTo>
                <a:cubicBezTo>
                  <a:pt x="289" y="128"/>
                  <a:pt x="272" y="135"/>
                  <a:pt x="256" y="141"/>
                </a:cubicBezTo>
                <a:close/>
                <a:moveTo>
                  <a:pt x="231" y="62"/>
                </a:moveTo>
                <a:lnTo>
                  <a:pt x="256" y="72"/>
                </a:lnTo>
                <a:lnTo>
                  <a:pt x="281" y="62"/>
                </a:lnTo>
                <a:cubicBezTo>
                  <a:pt x="328" y="42"/>
                  <a:pt x="378" y="32"/>
                  <a:pt x="429" y="32"/>
                </a:cubicBezTo>
                <a:lnTo>
                  <a:pt x="464" y="32"/>
                </a:lnTo>
                <a:cubicBezTo>
                  <a:pt x="491" y="32"/>
                  <a:pt x="512" y="54"/>
                  <a:pt x="512" y="80"/>
                </a:cubicBezTo>
                <a:lnTo>
                  <a:pt x="512" y="432"/>
                </a:lnTo>
                <a:cubicBezTo>
                  <a:pt x="512" y="459"/>
                  <a:pt x="491" y="480"/>
                  <a:pt x="464" y="480"/>
                </a:cubicBezTo>
                <a:lnTo>
                  <a:pt x="429" y="480"/>
                </a:lnTo>
                <a:cubicBezTo>
                  <a:pt x="378" y="480"/>
                  <a:pt x="328" y="490"/>
                  <a:pt x="281" y="510"/>
                </a:cubicBezTo>
                <a:lnTo>
                  <a:pt x="268" y="515"/>
                </a:lnTo>
                <a:cubicBezTo>
                  <a:pt x="260" y="518"/>
                  <a:pt x="252" y="518"/>
                  <a:pt x="244" y="515"/>
                </a:cubicBezTo>
                <a:lnTo>
                  <a:pt x="231" y="509"/>
                </a:lnTo>
                <a:cubicBezTo>
                  <a:pt x="184" y="490"/>
                  <a:pt x="134" y="480"/>
                  <a:pt x="83" y="480"/>
                </a:cubicBezTo>
                <a:lnTo>
                  <a:pt x="48" y="480"/>
                </a:lnTo>
                <a:cubicBezTo>
                  <a:pt x="22" y="480"/>
                  <a:pt x="0" y="459"/>
                  <a:pt x="0" y="432"/>
                </a:cubicBezTo>
                <a:lnTo>
                  <a:pt x="0" y="80"/>
                </a:lnTo>
                <a:cubicBezTo>
                  <a:pt x="0" y="54"/>
                  <a:pt x="22" y="32"/>
                  <a:pt x="48" y="32"/>
                </a:cubicBezTo>
                <a:lnTo>
                  <a:pt x="83" y="32"/>
                </a:lnTo>
                <a:cubicBezTo>
                  <a:pt x="134" y="32"/>
                  <a:pt x="184" y="42"/>
                  <a:pt x="231" y="6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1" name="sc0-title"/>
          <p:cNvSpPr txBox="1"/>
          <p:nvPr>
            <p:custDataLst>
              <p:tags r:id="rId4"/>
            </p:custDataLst>
          </p:nvPr>
        </p:nvSpPr>
        <p:spPr>
          <a:xfrm>
            <a:off x="1676400" y="1574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知识资产问答</a:t>
            </a:r>
            <a:endParaRPr lang="en-US" sz="1800" noProof="1"/>
          </a:p>
        </p:txBody>
      </p:sp>
      <p:sp>
        <p:nvSpPr>
          <p:cNvPr id="12" name="sc0-desc"/>
          <p:cNvSpPr txBox="1"/>
          <p:nvPr>
            <p:custDataLst>
              <p:tags r:id="rId5"/>
            </p:custDataLst>
          </p:nvPr>
        </p:nvSpPr>
        <p:spPr>
          <a:xfrm>
            <a:off x="939800" y="23114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读取本地制度、审计资料、项目说明或历史技术资产，快速完成摘要、问答、差异提取和重点标注。</a:t>
            </a:r>
            <a:endParaRPr lang="en-US" sz="1200" noProof="1"/>
          </a:p>
        </p:txBody>
      </p:sp>
      <p:sp>
        <p:nvSpPr>
          <p:cNvPr id="13" name="sc1-card"/>
          <p:cNvSpPr/>
          <p:nvPr>
            <p:custDataLst>
              <p:tags r:id="rId6"/>
            </p:custDataLst>
          </p:nvPr>
        </p:nvSpPr>
        <p:spPr>
          <a:xfrm>
            <a:off x="4330700" y="12700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c1-circle"/>
          <p:cNvSpPr/>
          <p:nvPr>
            <p:custDataLst>
              <p:tags r:id="rId7"/>
            </p:custDataLst>
          </p:nvPr>
        </p:nvSpPr>
        <p:spPr>
          <a:xfrm>
            <a:off x="46355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5" name="sc1-icon"/>
          <p:cNvSpPr/>
          <p:nvPr>
            <p:custDataLst>
              <p:tags r:id="rId8"/>
            </p:custDataLst>
          </p:nvPr>
        </p:nvSpPr>
        <p:spPr>
          <a:xfrm>
            <a:off x="47752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96" y="0"/>
                </a:moveTo>
                <a:cubicBezTo>
                  <a:pt x="61" y="0"/>
                  <a:pt x="32" y="29"/>
                  <a:pt x="32" y="64"/>
                </a:cubicBezTo>
                <a:lnTo>
                  <a:pt x="32" y="448"/>
                </a:lnTo>
                <a:cubicBezTo>
                  <a:pt x="32" y="483"/>
                  <a:pt x="61" y="512"/>
                  <a:pt x="96" y="512"/>
                </a:cubicBezTo>
                <a:lnTo>
                  <a:pt x="276" y="512"/>
                </a:lnTo>
                <a:cubicBezTo>
                  <a:pt x="253" y="481"/>
                  <a:pt x="240" y="442"/>
                  <a:pt x="240" y="400"/>
                </a:cubicBezTo>
                <a:cubicBezTo>
                  <a:pt x="240" y="299"/>
                  <a:pt x="317" y="217"/>
                  <a:pt x="416" y="209"/>
                </a:cubicBezTo>
                <a:lnTo>
                  <a:pt x="416" y="171"/>
                </a:lnTo>
                <a:cubicBezTo>
                  <a:pt x="416" y="154"/>
                  <a:pt x="409" y="137"/>
                  <a:pt x="397" y="125"/>
                </a:cubicBezTo>
                <a:lnTo>
                  <a:pt x="291" y="19"/>
                </a:lnTo>
                <a:cubicBezTo>
                  <a:pt x="279" y="7"/>
                  <a:pt x="263" y="0"/>
                  <a:pt x="246" y="0"/>
                </a:cubicBezTo>
                <a:lnTo>
                  <a:pt x="96" y="0"/>
                </a:lnTo>
                <a:close/>
                <a:moveTo>
                  <a:pt x="358" y="176"/>
                </a:moveTo>
                <a:lnTo>
                  <a:pt x="264" y="176"/>
                </a:lnTo>
                <a:cubicBezTo>
                  <a:pt x="251" y="176"/>
                  <a:pt x="240" y="165"/>
                  <a:pt x="240" y="152"/>
                </a:cubicBezTo>
                <a:lnTo>
                  <a:pt x="240" y="59"/>
                </a:lnTo>
                <a:lnTo>
                  <a:pt x="358" y="176"/>
                </a:lnTo>
                <a:close/>
              </a:path>
              <a:path w="576" h="512">
                <a:moveTo>
                  <a:pt x="576" y="400"/>
                </a:moveTo>
                <a:cubicBezTo>
                  <a:pt x="576" y="320"/>
                  <a:pt x="512" y="256"/>
                  <a:pt x="432" y="256"/>
                </a:cubicBezTo>
                <a:cubicBezTo>
                  <a:pt x="352" y="256"/>
                  <a:pt x="288" y="320"/>
                  <a:pt x="288" y="400"/>
                </a:cubicBezTo>
                <a:cubicBezTo>
                  <a:pt x="288" y="480"/>
                  <a:pt x="352" y="544"/>
                  <a:pt x="432" y="544"/>
                </a:cubicBezTo>
                <a:cubicBezTo>
                  <a:pt x="512" y="544"/>
                  <a:pt x="576" y="480"/>
                  <a:pt x="576" y="400"/>
                </a:cubicBezTo>
                <a:close/>
                <a:moveTo>
                  <a:pt x="489" y="339"/>
                </a:moveTo>
                <a:cubicBezTo>
                  <a:pt x="497" y="344"/>
                  <a:pt x="498" y="354"/>
                  <a:pt x="493" y="361"/>
                </a:cubicBezTo>
                <a:lnTo>
                  <a:pt x="429" y="449"/>
                </a:lnTo>
                <a:cubicBezTo>
                  <a:pt x="426" y="453"/>
                  <a:pt x="422" y="456"/>
                  <a:pt x="417" y="456"/>
                </a:cubicBezTo>
                <a:cubicBezTo>
                  <a:pt x="413" y="456"/>
                  <a:pt x="408" y="455"/>
                  <a:pt x="405" y="451"/>
                </a:cubicBezTo>
                <a:lnTo>
                  <a:pt x="365" y="411"/>
                </a:lnTo>
                <a:cubicBezTo>
                  <a:pt x="358" y="405"/>
                  <a:pt x="358" y="395"/>
                  <a:pt x="365" y="389"/>
                </a:cubicBezTo>
                <a:cubicBezTo>
                  <a:pt x="371" y="382"/>
                  <a:pt x="381" y="383"/>
                  <a:pt x="387" y="389"/>
                </a:cubicBezTo>
                <a:lnTo>
                  <a:pt x="414" y="416"/>
                </a:lnTo>
                <a:lnTo>
                  <a:pt x="467" y="343"/>
                </a:lnTo>
                <a:cubicBezTo>
                  <a:pt x="472" y="336"/>
                  <a:pt x="482" y="334"/>
                  <a:pt x="489" y="339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6" name="sc1-title"/>
          <p:cNvSpPr txBox="1"/>
          <p:nvPr>
            <p:custDataLst>
              <p:tags r:id="rId9"/>
            </p:custDataLst>
          </p:nvPr>
        </p:nvSpPr>
        <p:spPr>
          <a:xfrm>
            <a:off x="5372100" y="1574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文件整理与审查</a:t>
            </a:r>
            <a:endParaRPr lang="en-US" sz="1800" noProof="1"/>
          </a:p>
        </p:txBody>
      </p:sp>
      <p:sp>
        <p:nvSpPr>
          <p:cNvPr id="17" name="sc1-desc"/>
          <p:cNvSpPr txBox="1"/>
          <p:nvPr>
            <p:custDataLst>
              <p:tags r:id="rId10"/>
            </p:custDataLst>
          </p:nvPr>
        </p:nvSpPr>
        <p:spPr>
          <a:xfrm>
            <a:off x="4635500" y="23114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将 PDF、DOCX、XLSX、PPTX </a:t>
            </a:r>
            <a:r>
              <a:rPr lang="zh-CN" alt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等</a:t>
            </a: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交给 Agent，完成表格整理、文档对比、风险点提取和会议材料初稿。</a:t>
            </a:r>
            <a:endParaRPr lang="en-US" sz="1200" noProof="1"/>
          </a:p>
        </p:txBody>
      </p:sp>
      <p:sp>
        <p:nvSpPr>
          <p:cNvPr id="18" name="sc2-card"/>
          <p:cNvSpPr/>
          <p:nvPr>
            <p:custDataLst>
              <p:tags r:id="rId11"/>
            </p:custDataLst>
          </p:nvPr>
        </p:nvSpPr>
        <p:spPr>
          <a:xfrm>
            <a:off x="8026400" y="12700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c2-circle"/>
          <p:cNvSpPr/>
          <p:nvPr>
            <p:custDataLst>
              <p:tags r:id="rId12"/>
            </p:custDataLst>
          </p:nvPr>
        </p:nvSpPr>
        <p:spPr>
          <a:xfrm>
            <a:off x="83312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0" name="sc2-icon"/>
          <p:cNvSpPr/>
          <p:nvPr>
            <p:custDataLst>
              <p:tags r:id="rId13"/>
            </p:custDataLst>
          </p:nvPr>
        </p:nvSpPr>
        <p:spPr>
          <a:xfrm>
            <a:off x="84709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61" y="1"/>
                </a:moveTo>
                <a:cubicBezTo>
                  <a:pt x="344" y="-4"/>
                  <a:pt x="326" y="6"/>
                  <a:pt x="321" y="23"/>
                </a:cubicBezTo>
                <a:lnTo>
                  <a:pt x="193" y="471"/>
                </a:lnTo>
                <a:cubicBezTo>
                  <a:pt x="188" y="488"/>
                  <a:pt x="198" y="506"/>
                  <a:pt x="215" y="511"/>
                </a:cubicBezTo>
                <a:cubicBezTo>
                  <a:pt x="232" y="516"/>
                  <a:pt x="250" y="506"/>
                  <a:pt x="255" y="489"/>
                </a:cubicBezTo>
                <a:lnTo>
                  <a:pt x="383" y="41"/>
                </a:lnTo>
                <a:cubicBezTo>
                  <a:pt x="388" y="24"/>
                  <a:pt x="378" y="6"/>
                  <a:pt x="361" y="1"/>
                </a:cubicBezTo>
                <a:close/>
              </a:path>
              <a:path w="576" h="512">
                <a:moveTo>
                  <a:pt x="425" y="137"/>
                </a:moveTo>
                <a:cubicBezTo>
                  <a:pt x="413" y="150"/>
                  <a:pt x="413" y="170"/>
                  <a:pt x="425" y="183"/>
                </a:cubicBezTo>
                <a:lnTo>
                  <a:pt x="499" y="256"/>
                </a:lnTo>
                <a:lnTo>
                  <a:pt x="425" y="329"/>
                </a:lnTo>
                <a:cubicBezTo>
                  <a:pt x="413" y="342"/>
                  <a:pt x="413" y="362"/>
                  <a:pt x="425" y="375"/>
                </a:cubicBezTo>
                <a:cubicBezTo>
                  <a:pt x="438" y="387"/>
                  <a:pt x="458" y="387"/>
                  <a:pt x="471" y="375"/>
                </a:cubicBezTo>
                <a:lnTo>
                  <a:pt x="567" y="279"/>
                </a:lnTo>
                <a:cubicBezTo>
                  <a:pt x="579" y="266"/>
                  <a:pt x="579" y="246"/>
                  <a:pt x="567" y="233"/>
                </a:cubicBezTo>
                <a:lnTo>
                  <a:pt x="471" y="137"/>
                </a:lnTo>
                <a:cubicBezTo>
                  <a:pt x="458" y="125"/>
                  <a:pt x="438" y="125"/>
                  <a:pt x="425" y="137"/>
                </a:cubicBezTo>
                <a:close/>
              </a:path>
              <a:path w="576" h="512">
                <a:moveTo>
                  <a:pt x="151" y="137"/>
                </a:moveTo>
                <a:cubicBezTo>
                  <a:pt x="138" y="125"/>
                  <a:pt x="118" y="125"/>
                  <a:pt x="105" y="137"/>
                </a:cubicBezTo>
                <a:lnTo>
                  <a:pt x="9" y="233"/>
                </a:lnTo>
                <a:cubicBezTo>
                  <a:pt x="-3" y="246"/>
                  <a:pt x="-3" y="266"/>
                  <a:pt x="9" y="279"/>
                </a:cubicBezTo>
                <a:lnTo>
                  <a:pt x="105" y="375"/>
                </a:lnTo>
                <a:cubicBezTo>
                  <a:pt x="118" y="387"/>
                  <a:pt x="138" y="387"/>
                  <a:pt x="151" y="375"/>
                </a:cubicBezTo>
                <a:cubicBezTo>
                  <a:pt x="163" y="362"/>
                  <a:pt x="163" y="342"/>
                  <a:pt x="151" y="329"/>
                </a:cubicBezTo>
                <a:lnTo>
                  <a:pt x="77" y="256"/>
                </a:lnTo>
                <a:lnTo>
                  <a:pt x="151" y="183"/>
                </a:lnTo>
                <a:cubicBezTo>
                  <a:pt x="163" y="170"/>
                  <a:pt x="163" y="150"/>
                  <a:pt x="151" y="13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21" name="sc2-title"/>
          <p:cNvSpPr txBox="1"/>
          <p:nvPr>
            <p:custDataLst>
              <p:tags r:id="rId14"/>
            </p:custDataLst>
          </p:nvPr>
        </p:nvSpPr>
        <p:spPr>
          <a:xfrm>
            <a:off x="9067800" y="1574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研发辅助</a:t>
            </a:r>
            <a:endParaRPr lang="en-US" sz="1800" noProof="1"/>
          </a:p>
        </p:txBody>
      </p:sp>
      <p:sp>
        <p:nvSpPr>
          <p:cNvPr id="22" name="sc2-desc"/>
          <p:cNvSpPr txBox="1"/>
          <p:nvPr>
            <p:custDataLst>
              <p:tags r:id="rId15"/>
            </p:custDataLst>
          </p:nvPr>
        </p:nvSpPr>
        <p:spPr>
          <a:xfrm>
            <a:off x="8331200" y="23114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关联项目目录后，在路径安全边界内读取源码、测试文件和项目文档，辅助代码审查、文档整理和问题定位。</a:t>
            </a:r>
            <a:endParaRPr lang="en-US" sz="1200" noProof="1"/>
          </a:p>
        </p:txBody>
      </p:sp>
      <p:sp>
        <p:nvSpPr>
          <p:cNvPr id="23" name="sc3-card"/>
          <p:cNvSpPr/>
          <p:nvPr>
            <p:custDataLst>
              <p:tags r:id="rId16"/>
            </p:custDataLst>
          </p:nvPr>
        </p:nvSpPr>
        <p:spPr>
          <a:xfrm>
            <a:off x="2489200" y="37592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c3-circle"/>
          <p:cNvSpPr/>
          <p:nvPr>
            <p:custDataLst>
              <p:tags r:id="rId17"/>
            </p:custDataLst>
          </p:nvPr>
        </p:nvSpPr>
        <p:spPr>
          <a:xfrm>
            <a:off x="2794000" y="40640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5" name="sc3-icon"/>
          <p:cNvSpPr/>
          <p:nvPr>
            <p:custDataLst>
              <p:tags r:id="rId18"/>
            </p:custDataLst>
          </p:nvPr>
        </p:nvSpPr>
        <p:spPr>
          <a:xfrm>
            <a:off x="2933700" y="4203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4" y="56"/>
                </a:moveTo>
                <a:lnTo>
                  <a:pt x="144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256"/>
                </a:lnTo>
                <a:lnTo>
                  <a:pt x="512" y="256"/>
                </a:ln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68" y="96"/>
                </a:lnTo>
                <a:lnTo>
                  <a:pt x="368" y="56"/>
                </a:lnTo>
                <a:cubicBezTo>
                  <a:pt x="368" y="25"/>
                  <a:pt x="343" y="0"/>
                  <a:pt x="312" y="0"/>
                </a:cubicBezTo>
                <a:lnTo>
                  <a:pt x="200" y="0"/>
                </a:lnTo>
                <a:cubicBezTo>
                  <a:pt x="169" y="0"/>
                  <a:pt x="144" y="25"/>
                  <a:pt x="144" y="56"/>
                </a:cubicBezTo>
                <a:close/>
                <a:moveTo>
                  <a:pt x="200" y="48"/>
                </a:moveTo>
                <a:lnTo>
                  <a:pt x="312" y="48"/>
                </a:lnTo>
                <a:cubicBezTo>
                  <a:pt x="316" y="48"/>
                  <a:pt x="320" y="52"/>
                  <a:pt x="320" y="56"/>
                </a:cubicBezTo>
                <a:lnTo>
                  <a:pt x="320" y="96"/>
                </a:lnTo>
                <a:lnTo>
                  <a:pt x="192" y="96"/>
                </a:lnTo>
                <a:lnTo>
                  <a:pt x="192" y="56"/>
                </a:lnTo>
                <a:cubicBezTo>
                  <a:pt x="192" y="52"/>
                  <a:pt x="196" y="48"/>
                  <a:pt x="200" y="48"/>
                </a:cubicBezTo>
                <a:close/>
              </a:path>
              <a:path w="512" h="512">
                <a:moveTo>
                  <a:pt x="512" y="304"/>
                </a:moveTo>
                <a:lnTo>
                  <a:pt x="320" y="304"/>
                </a:lnTo>
                <a:lnTo>
                  <a:pt x="320" y="320"/>
                </a:lnTo>
                <a:cubicBezTo>
                  <a:pt x="320" y="338"/>
                  <a:pt x="306" y="352"/>
                  <a:pt x="288" y="352"/>
                </a:cubicBezTo>
                <a:lnTo>
                  <a:pt x="224" y="352"/>
                </a:lnTo>
                <a:cubicBezTo>
                  <a:pt x="206" y="352"/>
                  <a:pt x="192" y="338"/>
                  <a:pt x="192" y="320"/>
                </a:cubicBezTo>
                <a:lnTo>
                  <a:pt x="192" y="304"/>
                </a:lnTo>
                <a:lnTo>
                  <a:pt x="0" y="304"/>
                </a:ln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30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26" name="sc3-title"/>
          <p:cNvSpPr txBox="1"/>
          <p:nvPr>
            <p:custDataLst>
              <p:tags r:id="rId19"/>
            </p:custDataLst>
          </p:nvPr>
        </p:nvSpPr>
        <p:spPr>
          <a:xfrm>
            <a:off x="3530600" y="40640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办公智能助手</a:t>
            </a:r>
            <a:endParaRPr lang="en-US" sz="1800" noProof="1"/>
          </a:p>
        </p:txBody>
      </p:sp>
      <p:sp>
        <p:nvSpPr>
          <p:cNvPr id="27" name="sc3-desc"/>
          <p:cNvSpPr txBox="1"/>
          <p:nvPr>
            <p:custDataLst>
              <p:tags r:id="rId20"/>
            </p:custDataLst>
          </p:nvPr>
        </p:nvSpPr>
        <p:spPr>
          <a:xfrm>
            <a:off x="2794000" y="48006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通过自然语言完成总结、改写、清单生成、会议纪要和报告初稿，写入文件时保留审批和人工确认环节。</a:t>
            </a:r>
            <a:endParaRPr lang="en-US" sz="1200" noProof="1"/>
          </a:p>
        </p:txBody>
      </p:sp>
      <p:sp>
        <p:nvSpPr>
          <p:cNvPr id="28" name="sc4-card"/>
          <p:cNvSpPr/>
          <p:nvPr>
            <p:custDataLst>
              <p:tags r:id="rId21"/>
            </p:custDataLst>
          </p:nvPr>
        </p:nvSpPr>
        <p:spPr>
          <a:xfrm>
            <a:off x="6172200" y="37592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c4-circle"/>
          <p:cNvSpPr/>
          <p:nvPr>
            <p:custDataLst>
              <p:tags r:id="rId22"/>
            </p:custDataLst>
          </p:nvPr>
        </p:nvSpPr>
        <p:spPr>
          <a:xfrm>
            <a:off x="6477000" y="40640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30" name="sc4-icon"/>
          <p:cNvSpPr/>
          <p:nvPr>
            <p:custDataLst>
              <p:tags r:id="rId23"/>
            </p:custDataLst>
          </p:nvPr>
        </p:nvSpPr>
        <p:spPr>
          <a:xfrm>
            <a:off x="6616700" y="4203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-32"/>
                </a:moveTo>
                <a:cubicBezTo>
                  <a:pt x="146" y="-32"/>
                  <a:pt x="160" y="-18"/>
                  <a:pt x="160" y="0"/>
                </a:cubicBezTo>
                <a:lnTo>
                  <a:pt x="160" y="96"/>
                </a:lnTo>
                <a:lnTo>
                  <a:pt x="288" y="96"/>
                </a:lnTo>
                <a:lnTo>
                  <a:pt x="288" y="0"/>
                </a:lnTo>
                <a:cubicBezTo>
                  <a:pt x="288" y="-18"/>
                  <a:pt x="302" y="-32"/>
                  <a:pt x="320" y="-32"/>
                </a:cubicBezTo>
                <a:cubicBezTo>
                  <a:pt x="338" y="-32"/>
                  <a:pt x="352" y="-18"/>
                  <a:pt x="352" y="0"/>
                </a:cubicBezTo>
                <a:lnTo>
                  <a:pt x="352" y="96"/>
                </a:lnTo>
                <a:lnTo>
                  <a:pt x="416" y="96"/>
                </a:lnTo>
                <a:cubicBezTo>
                  <a:pt x="434" y="96"/>
                  <a:pt x="448" y="110"/>
                  <a:pt x="448" y="128"/>
                </a:cubicBezTo>
                <a:cubicBezTo>
                  <a:pt x="448" y="146"/>
                  <a:pt x="434" y="160"/>
                  <a:pt x="416" y="160"/>
                </a:cubicBezTo>
                <a:lnTo>
                  <a:pt x="416" y="224"/>
                </a:lnTo>
                <a:cubicBezTo>
                  <a:pt x="416" y="319"/>
                  <a:pt x="347" y="398"/>
                  <a:pt x="256" y="413"/>
                </a:cubicBezTo>
                <a:lnTo>
                  <a:pt x="256" y="480"/>
                </a:lnTo>
                <a:cubicBezTo>
                  <a:pt x="256" y="498"/>
                  <a:pt x="242" y="512"/>
                  <a:pt x="224" y="512"/>
                </a:cubicBezTo>
                <a:cubicBezTo>
                  <a:pt x="206" y="512"/>
                  <a:pt x="192" y="498"/>
                  <a:pt x="192" y="480"/>
                </a:cubicBezTo>
                <a:lnTo>
                  <a:pt x="192" y="413"/>
                </a:lnTo>
                <a:cubicBezTo>
                  <a:pt x="101" y="398"/>
                  <a:pt x="32" y="319"/>
                  <a:pt x="32" y="224"/>
                </a:cubicBezTo>
                <a:lnTo>
                  <a:pt x="32" y="160"/>
                </a:lnTo>
                <a:cubicBezTo>
                  <a:pt x="14" y="160"/>
                  <a:pt x="0" y="146"/>
                  <a:pt x="0" y="128"/>
                </a:cubicBezTo>
                <a:cubicBezTo>
                  <a:pt x="0" y="110"/>
                  <a:pt x="14" y="96"/>
                  <a:pt x="32" y="96"/>
                </a:cubicBezTo>
                <a:lnTo>
                  <a:pt x="96" y="96"/>
                </a:lnTo>
                <a:lnTo>
                  <a:pt x="96" y="0"/>
                </a:lnTo>
                <a:cubicBezTo>
                  <a:pt x="96" y="-18"/>
                  <a:pt x="110" y="-32"/>
                  <a:pt x="128" y="-3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31" name="sc4-title"/>
          <p:cNvSpPr txBox="1"/>
          <p:nvPr>
            <p:custDataLst>
              <p:tags r:id="rId24"/>
            </p:custDataLst>
          </p:nvPr>
        </p:nvSpPr>
        <p:spPr>
          <a:xfrm>
            <a:off x="7213600" y="40640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MCP 专业工具接入</a:t>
            </a:r>
            <a:endParaRPr lang="en-US" sz="1800" noProof="1"/>
          </a:p>
        </p:txBody>
      </p:sp>
      <p:sp>
        <p:nvSpPr>
          <p:cNvPr id="32" name="sc4-desc"/>
          <p:cNvSpPr txBox="1"/>
          <p:nvPr>
            <p:custDataLst>
              <p:tags r:id="rId25"/>
            </p:custDataLst>
          </p:nvPr>
        </p:nvSpPr>
        <p:spPr>
          <a:xfrm>
            <a:off x="6477000" y="48006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将企业内部或本地部署的 MCP Server 接入客户端，为 Agent 增加专业工具，同时复用既有权限和审批机制。</a:t>
            </a:r>
            <a:endParaRPr lang="en-US" sz="1200" noProof="1"/>
          </a:p>
        </p:txBody>
      </p:sp>
      <p:sp>
        <p:nvSpPr>
          <p:cNvPr id="33" name="sc-bar"/>
          <p:cNvSpPr/>
          <p:nvPr/>
        </p:nvSpPr>
        <p:spPr>
          <a:xfrm>
            <a:off x="635000" y="6248400"/>
            <a:ext cx="10922000" cy="1016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后续规划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rm-note"/>
          <p:cNvSpPr txBox="1"/>
          <p:nvPr/>
        </p:nvSpPr>
        <p:spPr>
          <a:xfrm>
            <a:off x="637540" y="1294765"/>
            <a:ext cx="10795000" cy="10293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1300" noProof="1"/>
              <a:t>可扩充</a:t>
            </a:r>
            <a:r>
              <a:rPr lang="en-US" altLang="zh-CN" sz="1300" noProof="1"/>
              <a:t>OpenViking Server </a:t>
            </a:r>
            <a:r>
              <a:rPr lang="zh-CN" altLang="en-US" sz="1300" noProof="1"/>
              <a:t>客户端，统一的共享知识空间</a:t>
            </a:r>
            <a:endParaRPr lang="zh-CN" altLang="en-US" sz="1300" noProof="1"/>
          </a:p>
          <a:p>
            <a:pPr algn="l">
              <a:lnSpc>
                <a:spcPct val="120000"/>
              </a:lnSpc>
            </a:pPr>
            <a:r>
              <a:rPr lang="zh-CN" altLang="en-US" sz="1300">
                <a:sym typeface="+mn-ea"/>
              </a:rPr>
              <a:t>什么是</a:t>
            </a:r>
            <a:r>
              <a:rPr lang="en-US" altLang="zh-CN" sz="1300">
                <a:sym typeface="+mn-ea"/>
              </a:rPr>
              <a:t>OpenViking</a:t>
            </a:r>
            <a:r>
              <a:rPr lang="zh-CN" altLang="en-US" sz="1300">
                <a:sym typeface="+mn-ea"/>
              </a:rPr>
              <a:t>：是一个开源的 </a:t>
            </a:r>
            <a:r>
              <a:rPr lang="en-US" altLang="zh-CN" sz="1300">
                <a:sym typeface="+mn-ea"/>
              </a:rPr>
              <a:t>AI </a:t>
            </a:r>
            <a:r>
              <a:rPr lang="zh-CN" altLang="en-US" sz="1300">
                <a:sym typeface="+mn-ea"/>
              </a:rPr>
              <a:t>智能体上下文数据库，作为独立服务运行，可作为知识资源之上的上下文管理与语义检索层。，还将用户记忆和</a:t>
            </a:r>
            <a:r>
              <a:rPr lang="en-US" altLang="zh-CN" sz="1300">
                <a:sym typeface="+mn-ea"/>
              </a:rPr>
              <a:t>Agent</a:t>
            </a:r>
            <a:r>
              <a:rPr lang="zh-CN" altLang="en-US" sz="1300">
                <a:sym typeface="+mn-ea"/>
              </a:rPr>
              <a:t>技能</a:t>
            </a:r>
            <a:r>
              <a:rPr lang="en-US" altLang="zh-CN" sz="1300">
                <a:sym typeface="+mn-ea"/>
              </a:rPr>
              <a:t>Skills</a:t>
            </a:r>
            <a:r>
              <a:rPr lang="zh-CN" altLang="en-US" sz="1300">
                <a:sym typeface="+mn-ea"/>
              </a:rPr>
              <a:t>统一纳入管理。</a:t>
            </a:r>
            <a:endParaRPr lang="zh-CN" altLang="en-US" sz="1300">
              <a:sym typeface="+mn-ea"/>
            </a:endParaRPr>
          </a:p>
        </p:txBody>
      </p:sp>
      <p:sp>
        <p:nvSpPr>
          <p:cNvPr id="9" name="rm0-card"/>
          <p:cNvSpPr/>
          <p:nvPr/>
        </p:nvSpPr>
        <p:spPr>
          <a:xfrm>
            <a:off x="574040" y="252095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rm0-top"/>
          <p:cNvSpPr/>
          <p:nvPr/>
        </p:nvSpPr>
        <p:spPr>
          <a:xfrm>
            <a:off x="574040" y="252095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1" name="rm0-t"/>
          <p:cNvSpPr txBox="1"/>
          <p:nvPr/>
        </p:nvSpPr>
        <p:spPr>
          <a:xfrm>
            <a:off x="802640" y="269875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长上下文</a:t>
            </a:r>
            <a:endParaRPr lang="en-US" sz="1600" noProof="1"/>
          </a:p>
        </p:txBody>
      </p:sp>
      <p:sp>
        <p:nvSpPr>
          <p:cNvPr id="12" name="rm0-d"/>
          <p:cNvSpPr txBox="1"/>
          <p:nvPr/>
        </p:nvSpPr>
        <p:spPr>
          <a:xfrm>
            <a:off x="802640" y="307975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压缩、摘要和关键消息保留</a:t>
            </a:r>
            <a:endParaRPr lang="en-US" sz="1200" noProof="1"/>
          </a:p>
        </p:txBody>
      </p:sp>
      <p:sp>
        <p:nvSpPr>
          <p:cNvPr id="13" name="rm1-card"/>
          <p:cNvSpPr/>
          <p:nvPr/>
        </p:nvSpPr>
        <p:spPr>
          <a:xfrm>
            <a:off x="4269740" y="252095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rm1-top"/>
          <p:cNvSpPr/>
          <p:nvPr/>
        </p:nvSpPr>
        <p:spPr>
          <a:xfrm>
            <a:off x="4269740" y="252095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5" name="rm1-t"/>
          <p:cNvSpPr txBox="1"/>
          <p:nvPr/>
        </p:nvSpPr>
        <p:spPr>
          <a:xfrm>
            <a:off x="4498340" y="269875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长期记忆</a:t>
            </a:r>
            <a:endParaRPr lang="en-US" sz="1600" noProof="1"/>
          </a:p>
        </p:txBody>
      </p:sp>
      <p:sp>
        <p:nvSpPr>
          <p:cNvPr id="16" name="rm1-d"/>
          <p:cNvSpPr txBox="1"/>
          <p:nvPr/>
        </p:nvSpPr>
        <p:spPr>
          <a:xfrm>
            <a:off x="4498340" y="307975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全局或项目级长期记忆</a:t>
            </a:r>
            <a:endParaRPr lang="en-US" sz="1200" noProof="1"/>
          </a:p>
        </p:txBody>
      </p:sp>
      <p:sp>
        <p:nvSpPr>
          <p:cNvPr id="17" name="rm2-card"/>
          <p:cNvSpPr/>
          <p:nvPr/>
        </p:nvSpPr>
        <p:spPr>
          <a:xfrm>
            <a:off x="7965440" y="252095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rm2-top"/>
          <p:cNvSpPr/>
          <p:nvPr/>
        </p:nvSpPr>
        <p:spPr>
          <a:xfrm>
            <a:off x="7965440" y="252095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9" name="rm2-t"/>
          <p:cNvSpPr txBox="1"/>
          <p:nvPr/>
        </p:nvSpPr>
        <p:spPr>
          <a:xfrm>
            <a:off x="8194040" y="269875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审计日志</a:t>
            </a:r>
            <a:endParaRPr lang="en-US" sz="1600" noProof="1"/>
          </a:p>
        </p:txBody>
      </p:sp>
      <p:sp>
        <p:nvSpPr>
          <p:cNvPr id="20" name="rm2-d"/>
          <p:cNvSpPr txBox="1"/>
          <p:nvPr/>
        </p:nvSpPr>
        <p:spPr>
          <a:xfrm>
            <a:off x="8194040" y="307975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审批历史和完整审计日志</a:t>
            </a:r>
            <a:endParaRPr lang="en-US" sz="1200" noProof="1"/>
          </a:p>
        </p:txBody>
      </p:sp>
      <p:sp>
        <p:nvSpPr>
          <p:cNvPr id="21" name="rm3-card"/>
          <p:cNvSpPr/>
          <p:nvPr/>
        </p:nvSpPr>
        <p:spPr>
          <a:xfrm>
            <a:off x="574040" y="410845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rm3-top"/>
          <p:cNvSpPr/>
          <p:nvPr/>
        </p:nvSpPr>
        <p:spPr>
          <a:xfrm>
            <a:off x="574040" y="410845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3" name="rm3-t"/>
          <p:cNvSpPr txBox="1"/>
          <p:nvPr/>
        </p:nvSpPr>
        <p:spPr>
          <a:xfrm>
            <a:off x="802640" y="428625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更多工具</a:t>
            </a:r>
            <a:endParaRPr lang="en-US" sz="1600" noProof="1"/>
          </a:p>
        </p:txBody>
      </p:sp>
      <p:sp>
        <p:nvSpPr>
          <p:cNvPr id="24" name="rm3-d"/>
          <p:cNvSpPr txBox="1"/>
          <p:nvPr/>
        </p:nvSpPr>
        <p:spPr>
          <a:xfrm>
            <a:off x="802640" y="466725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Shell 执行沙箱、数据库查询、Web 搜索和代码解释器</a:t>
            </a:r>
            <a:endParaRPr lang="en-US" sz="1200" noProof="1"/>
          </a:p>
          <a:p>
            <a:pPr algn="l">
              <a:lnSpc>
                <a:spcPct val="145000"/>
              </a:lnSpc>
            </a:pPr>
            <a:endParaRPr lang="en-US" sz="1200" noProof="1"/>
          </a:p>
        </p:txBody>
      </p:sp>
      <p:sp>
        <p:nvSpPr>
          <p:cNvPr id="25" name="rm4-card"/>
          <p:cNvSpPr/>
          <p:nvPr/>
        </p:nvSpPr>
        <p:spPr>
          <a:xfrm>
            <a:off x="4269740" y="410845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rm4-top"/>
          <p:cNvSpPr/>
          <p:nvPr/>
        </p:nvSpPr>
        <p:spPr>
          <a:xfrm>
            <a:off x="4269740" y="410845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7" name="rm4-t"/>
          <p:cNvSpPr txBox="1"/>
          <p:nvPr/>
        </p:nvSpPr>
        <p:spPr>
          <a:xfrm>
            <a:off x="4498340" y="428625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跨窗口</a:t>
            </a:r>
            <a:endParaRPr lang="en-US" sz="1600" noProof="1"/>
          </a:p>
        </p:txBody>
      </p:sp>
      <p:sp>
        <p:nvSpPr>
          <p:cNvPr id="28" name="rm4-d"/>
          <p:cNvSpPr txBox="1"/>
          <p:nvPr/>
        </p:nvSpPr>
        <p:spPr>
          <a:xfrm>
            <a:off x="4498340" y="466725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跨窗口会话与审批同步</a:t>
            </a:r>
            <a:endParaRPr lang="en-US" sz="1200" noProof="1"/>
          </a:p>
        </p:txBody>
      </p:sp>
      <p:sp>
        <p:nvSpPr>
          <p:cNvPr id="29" name="rm5-card"/>
          <p:cNvSpPr/>
          <p:nvPr/>
        </p:nvSpPr>
        <p:spPr>
          <a:xfrm>
            <a:off x="7965440" y="410845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rm5-top"/>
          <p:cNvSpPr/>
          <p:nvPr/>
        </p:nvSpPr>
        <p:spPr>
          <a:xfrm>
            <a:off x="7965440" y="410845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31" name="rm5-t"/>
          <p:cNvSpPr txBox="1"/>
          <p:nvPr/>
        </p:nvSpPr>
        <p:spPr>
          <a:xfrm>
            <a:off x="8194040" y="428625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多模态</a:t>
            </a:r>
            <a:endParaRPr lang="en-US" sz="1600" noProof="1"/>
          </a:p>
        </p:txBody>
      </p:sp>
      <p:sp>
        <p:nvSpPr>
          <p:cNvPr id="32" name="rm5-d"/>
          <p:cNvSpPr txBox="1"/>
          <p:nvPr/>
        </p:nvSpPr>
        <p:spPr>
          <a:xfrm>
            <a:off x="8194040" y="466725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图片 OCR、视频和音频文件支持</a:t>
            </a:r>
            <a:endParaRPr lang="en-US" sz="1200" noProof="1"/>
          </a:p>
        </p:txBody>
      </p:sp>
      <p:sp>
        <p:nvSpPr>
          <p:cNvPr id="36" name="rm6-d"/>
          <p:cNvSpPr txBox="1"/>
          <p:nvPr/>
        </p:nvSpPr>
        <p:spPr>
          <a:xfrm>
            <a:off x="863600" y="499745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endParaRPr lang="en-US" sz="1200" noProof="1"/>
          </a:p>
        </p:txBody>
      </p:sp>
      <p:sp>
        <p:nvSpPr>
          <p:cNvPr id="33" name="slogan"/>
          <p:cNvSpPr txBox="1"/>
          <p:nvPr/>
        </p:nvSpPr>
        <p:spPr>
          <a:xfrm>
            <a:off x="830580" y="5867400"/>
            <a:ext cx="10080625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indent="0" algn="l" fontAlgn="auto" latinLnBrk="1">
              <a:lnSpc>
                <a:spcPct val="120000"/>
              </a:lnSpc>
            </a:pPr>
            <a:endParaRPr lang="zh-CN" altLang="en-US" sz="1700" noProof="1"/>
          </a:p>
        </p:txBody>
      </p:sp>
      <p:sp>
        <p:nvSpPr>
          <p:cNvPr id="34" name="文本框 33"/>
          <p:cNvSpPr txBox="1"/>
          <p:nvPr/>
        </p:nvSpPr>
        <p:spPr>
          <a:xfrm>
            <a:off x="701040" y="5985510"/>
            <a:ext cx="11078845" cy="36830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 latinLnBrk="1">
              <a:lnSpc>
                <a:spcPct val="120000"/>
              </a:lnSpc>
            </a:pPr>
            <a:r>
              <a:rPr lang="zh-CN" altLang="en-US" sz="1500">
                <a:sym typeface="+mn-ea"/>
              </a:rPr>
              <a:t>当前版本尚未真正接入 </a:t>
            </a:r>
            <a:r>
              <a:rPr lang="en-US" altLang="zh-CN" sz="1500">
                <a:sym typeface="+mn-ea"/>
              </a:rPr>
              <a:t>OpenViking，</a:t>
            </a:r>
            <a:r>
              <a:rPr lang="zh-CN" altLang="en-US" sz="1500">
                <a:sym typeface="+mn-ea"/>
              </a:rPr>
              <a:t>后续推荐采用独立 </a:t>
            </a:r>
            <a:r>
              <a:rPr lang="en-US" altLang="zh-CN" sz="1500">
                <a:sym typeface="+mn-ea"/>
              </a:rPr>
              <a:t>OpenViking Server，</a:t>
            </a:r>
            <a:r>
              <a:rPr lang="zh-CN" altLang="en-US" sz="1500">
                <a:sym typeface="+mn-ea"/>
              </a:rPr>
              <a:t>由 </a:t>
            </a:r>
            <a:r>
              <a:rPr lang="en-US" altLang="zh-CN" sz="1500">
                <a:sym typeface="+mn-ea"/>
              </a:rPr>
              <a:t>Electron </a:t>
            </a:r>
            <a:r>
              <a:rPr lang="zh-CN" altLang="en-US" sz="1500">
                <a:sym typeface="+mn-ea"/>
              </a:rPr>
              <a:t>主进程通过 </a:t>
            </a:r>
            <a:r>
              <a:rPr lang="en-US" altLang="zh-CN" sz="1500">
                <a:sym typeface="+mn-ea"/>
              </a:rPr>
              <a:t>HTTP </a:t>
            </a:r>
            <a:r>
              <a:rPr lang="zh-CN" altLang="en-US" sz="1500">
                <a:sym typeface="+mn-ea"/>
              </a:rPr>
              <a:t>或 </a:t>
            </a:r>
            <a:r>
              <a:rPr lang="en-US" altLang="zh-CN" sz="1500">
                <a:sym typeface="+mn-ea"/>
              </a:rPr>
              <a:t>SDK </a:t>
            </a:r>
            <a:r>
              <a:rPr lang="zh-CN" altLang="en-US" sz="1500">
                <a:sym typeface="+mn-ea"/>
              </a:rPr>
              <a:t>访问。</a:t>
            </a:r>
            <a:endParaRPr lang="zh-CN" altLang="en-US" sz="1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4191000" y="762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800" noProof="1"/>
          </a:p>
        </p:txBody>
      </p:sp>
      <p:sp>
        <p:nvSpPr>
          <p:cNvPr id="3" name="thanks"/>
          <p:cNvSpPr txBox="1"/>
          <p:nvPr/>
        </p:nvSpPr>
        <p:spPr>
          <a:xfrm>
            <a:off x="2921000" y="2413000"/>
            <a:ext cx="6350000" cy="139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谢谢</a:t>
            </a:r>
            <a:endParaRPr lang="en-US" sz="7200" noProof="1"/>
          </a:p>
        </p:txBody>
      </p:sp>
      <p:sp>
        <p:nvSpPr>
          <p:cNvPr id="4" name="slogan"/>
          <p:cNvSpPr txBox="1"/>
          <p:nvPr/>
        </p:nvSpPr>
        <p:spPr>
          <a:xfrm>
            <a:off x="1651000" y="4191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用桌面 Agent 连接本地文件、工具与大模型，让每个人都能安全、高效地完成业务工作</a:t>
            </a:r>
            <a:endParaRPr lang="en-US" sz="1700" noProof="1"/>
          </a:p>
        </p:txBody>
      </p:sp>
      <p:sp>
        <p:nvSpPr>
          <p:cNvPr id="5" name="company"/>
          <p:cNvSpPr txBox="1"/>
          <p:nvPr/>
        </p:nvSpPr>
        <p:spPr>
          <a:xfrm>
            <a:off x="4191000" y="5334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7F7F7F"/>
                </a:solidFill>
                <a:latin typeface="MiSans" charset="-122"/>
                <a:ea typeface="MiSans" charset="-122"/>
              </a:rPr>
              <a:t>北京四方上行软件技术有限公司</a:t>
            </a:r>
            <a:endParaRPr lang="en-US" sz="1400" noProof="1"/>
          </a:p>
        </p:txBody>
      </p:sp>
      <p:sp>
        <p:nvSpPr>
          <p:cNvPr id="6" name="bar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2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3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4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5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6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7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8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9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0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1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2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3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4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5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6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7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8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9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20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21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2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3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4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5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6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7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8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9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0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1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2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3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4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5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6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7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8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9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40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41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42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43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44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45.xml><?xml version="1.0" encoding="utf-8"?>
<p:tagLst xmlns:p="http://schemas.openxmlformats.org/presentationml/2006/main">
  <p:tag name="KSO_WM_DIAGRAM_VIRTUALLY_FRAME" val="{&quot;height&quot;:169.2,&quot;left&quot;:51.839999999999996,&quot;top&quot;:223.2,&quot;width&quot;:846}"/>
</p:tagLst>
</file>

<file path=ppt/tags/tag46.xml><?xml version="1.0" encoding="utf-8"?>
<p:tagLst xmlns:p="http://schemas.openxmlformats.org/presentationml/2006/main">
  <p:tag name="KSO_WM_DIAGRAM_VIRTUALLY_FRAME" val="{&quot;height&quot;:169.2,&quot;left&quot;:51.839999999999996,&quot;top&quot;:223.2,&quot;width&quot;:846}"/>
</p:tagLst>
</file>

<file path=ppt/tags/tag47.xml><?xml version="1.0" encoding="utf-8"?>
<p:tagLst xmlns:p="http://schemas.openxmlformats.org/presentationml/2006/main">
  <p:tag name="KSO_WM_DIAGRAM_VIRTUALLY_FRAME" val="{&quot;height&quot;:169.2,&quot;left&quot;:51.839999999999996,&quot;top&quot;:223.2,&quot;width&quot;:846}"/>
</p:tagLst>
</file>

<file path=ppt/tags/tag48.xml><?xml version="1.0" encoding="utf-8"?>
<p:tagLst xmlns:p="http://schemas.openxmlformats.org/presentationml/2006/main">
  <p:tag name="KSO_WM_DIAGRAM_VIRTUALLY_FRAME" val="{&quot;height&quot;:169.2,&quot;left&quot;:51.839999999999996,&quot;top&quot;:223.2,&quot;width&quot;:846}"/>
</p:tagLst>
</file>

<file path=ppt/tags/tag49.xml><?xml version="1.0" encoding="utf-8"?>
<p:tagLst xmlns:p="http://schemas.openxmlformats.org/presentationml/2006/main">
  <p:tag name="KSO_WM_DIAGRAM_VIRTUALLY_FRAME" val="{&quot;height&quot;:169.2,&quot;left&quot;:51.839999999999996,&quot;top&quot;:223.2,&quot;width&quot;:846}"/>
</p:tagLst>
</file>

<file path=ppt/tags/tag50.xml><?xml version="1.0" encoding="utf-8"?>
<p:tagLst xmlns:p="http://schemas.openxmlformats.org/presentationml/2006/main">
  <p:tag name="KSO_WM_DIAGRAM_VIRTUALLY_FRAME" val="{&quot;height&quot;:169.2,&quot;left&quot;:51.839999999999996,&quot;top&quot;:223.2,&quot;width&quot;:846}"/>
</p:tagLst>
</file>

<file path=ppt/tags/tag51.xml><?xml version="1.0" encoding="utf-8"?>
<p:tagLst xmlns:p="http://schemas.openxmlformats.org/presentationml/2006/main">
  <p:tag name="KSO_WM_DIAGRAM_VIRTUALLY_FRAME" val="{&quot;height&quot;:169.2,&quot;left&quot;:51.839999999999996,&quot;top&quot;:223.2,&quot;width&quot;:846}"/>
</p:tagLst>
</file>

<file path=ppt/tags/tag52.xml><?xml version="1.0" encoding="utf-8"?>
<p:tagLst xmlns:p="http://schemas.openxmlformats.org/presentationml/2006/main">
  <p:tag name="KSO_WM_DIAGRAM_VIRTUALLY_FRAME" val="{&quot;height&quot;:169.2,&quot;left&quot;:51.839999999999996,&quot;top&quot;:223.2,&quot;width&quot;:846}"/>
</p:tagLst>
</file>

<file path=ppt/tags/tag53.xml><?xml version="1.0" encoding="utf-8"?>
<p:tagLst xmlns:p="http://schemas.openxmlformats.org/presentationml/2006/main">
  <p:tag name="KSO_WM_DIAGRAM_VIRTUALLY_FRAME" val="{&quot;height&quot;:169.2,&quot;left&quot;:51.839999999999996,&quot;top&quot;:223.2,&quot;width&quot;:846}"/>
</p:tagLst>
</file>

<file path=ppt/tags/tag54.xml><?xml version="1.0" encoding="utf-8"?>
<p:tagLst xmlns:p="http://schemas.openxmlformats.org/presentationml/2006/main">
  <p:tag name="KSO_WM_DIAGRAM_VIRTUALLY_FRAME" val="{&quot;height&quot;:169.2,&quot;left&quot;:51.839999999999996,&quot;top&quot;:223.2,&quot;width&quot;:846}"/>
</p:tagLst>
</file>

<file path=ppt/tags/tag55.xml><?xml version="1.0" encoding="utf-8"?>
<p:tagLst xmlns:p="http://schemas.openxmlformats.org/presentationml/2006/main">
  <p:tag name="KSO_WM_DIAGRAM_VIRTUALLY_FRAME" val="{&quot;height&quot;:169.2,&quot;left&quot;:51.839999999999996,&quot;top&quot;:223.2,&quot;width&quot;:846}"/>
</p:tagLst>
</file>

<file path=ppt/tags/tag56.xml><?xml version="1.0" encoding="utf-8"?>
<p:tagLst xmlns:p="http://schemas.openxmlformats.org/presentationml/2006/main">
  <p:tag name="KSO_WM_DIAGRAM_VIRTUALLY_FRAME" val="{&quot;height&quot;:169.2,&quot;left&quot;:51.839999999999996,&quot;top&quot;:223.2,&quot;width&quot;:846}"/>
</p:tagLst>
</file>

<file path=ppt/tags/tag57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58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59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60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61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62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63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64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65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66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67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68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69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70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71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72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73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74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75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76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77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78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79.xml><?xml version="1.0" encoding="utf-8"?>
<p:tagLst xmlns:p="http://schemas.openxmlformats.org/presentationml/2006/main">
  <p:tag name="KSO_WM_DIAGRAM_VIRTUALLY_FRAME" val="{&quot;height&quot;:151.2,&quot;left&quot;:46.8,&quot;top&quot;:231.15,&quot;width&quot;:866.1600000000001}"/>
</p:tagLst>
</file>

<file path=ppt/tags/tag80.xml><?xml version="1.0" encoding="utf-8"?>
<p:tagLst xmlns:p="http://schemas.openxmlformats.org/presentationml/2006/main">
  <p:tag name="KSO_WM_DIAGRAM_VIRTUALLY_FRAME" val="{&quot;height&quot;:236.15992125984252,&quot;left&quot;:48.959999999999994,&quot;top&quot;:104.4,&quot;width&quot;:860.4}"/>
</p:tagLst>
</file>

<file path=ppt/tags/tag81.xml><?xml version="1.0" encoding="utf-8"?>
<p:tagLst xmlns:p="http://schemas.openxmlformats.org/presentationml/2006/main">
  <p:tag name="KSO_WM_DIAGRAM_VIRTUALLY_FRAME" val="{&quot;height&quot;:236.15992125984252,&quot;left&quot;:48.959999999999994,&quot;top&quot;:104.4,&quot;width&quot;:860.4}"/>
</p:tagLst>
</file>

<file path=ppt/tags/tag82.xml><?xml version="1.0" encoding="utf-8"?>
<p:tagLst xmlns:p="http://schemas.openxmlformats.org/presentationml/2006/main">
  <p:tag name="KSO_WM_DIAGRAM_VIRTUALLY_FRAME" val="{&quot;height&quot;:236.15992125984252,&quot;left&quot;:48.959999999999994,&quot;top&quot;:104.4,&quot;width&quot;:860.4}"/>
</p:tagLst>
</file>

<file path=ppt/tags/tag83.xml><?xml version="1.0" encoding="utf-8"?>
<p:tagLst xmlns:p="http://schemas.openxmlformats.org/presentationml/2006/main">
  <p:tag name="KSO_WM_DIAGRAM_VIRTUALLY_FRAME" val="{&quot;height&quot;:236.15992125984252,&quot;left&quot;:48.959999999999994,&quot;top&quot;:104.4,&quot;width&quot;:860.4}"/>
</p:tagLst>
</file>

<file path=ppt/tags/tag84.xml><?xml version="1.0" encoding="utf-8"?>
<p:tagLst xmlns:p="http://schemas.openxmlformats.org/presentationml/2006/main">
  <p:tag name="KSO_WM_DIAGRAM_VIRTUALLY_FRAME" val="{&quot;height&quot;:236.15992125984252,&quot;left&quot;:48.959999999999994,&quot;top&quot;:104.4,&quot;width&quot;:860.4}"/>
</p:tagLst>
</file>

<file path=ppt/tags/tag85.xml><?xml version="1.0" encoding="utf-8"?>
<p:tagLst xmlns:p="http://schemas.openxmlformats.org/presentationml/2006/main">
  <p:tag name="KSO_WM_DIAGRAM_VIRTUALLY_FRAME" val="{&quot;height&quot;:236.15992125984252,&quot;left&quot;:48.959999999999994,&quot;top&quot;:104.4,&quot;width&quot;:860.4}"/>
</p:tagLst>
</file>

<file path=ppt/tags/tag86.xml><?xml version="1.0" encoding="utf-8"?>
<p:tagLst xmlns:p="http://schemas.openxmlformats.org/presentationml/2006/main">
  <p:tag name="KSO_WM_DIAGRAM_VIRTUALLY_FRAME" val="{&quot;height&quot;:236.15992125984252,&quot;left&quot;:48.959999999999994,&quot;top&quot;:104.4,&quot;width&quot;:860.4}"/>
</p:tagLst>
</file>

<file path=ppt/tags/tag87.xml><?xml version="1.0" encoding="utf-8"?>
<p:tagLst xmlns:p="http://schemas.openxmlformats.org/presentationml/2006/main">
  <p:tag name="KSO_WM_DIAGRAM_VIRTUALLY_FRAME" val="{&quot;height&quot;:236.15992125984252,&quot;left&quot;:48.959999999999994,&quot;top&quot;:104.4,&quot;width&quot;:860.4}"/>
</p:tagLst>
</file>

<file path=ppt/tags/tag88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89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90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91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92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93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94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95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96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97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98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99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100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101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102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103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104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105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106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107.xml><?xml version="1.0" encoding="utf-8"?>
<p:tagLst xmlns:p="http://schemas.openxmlformats.org/presentationml/2006/main">
  <p:tag name="KSO_WM_DIAGRAM_VIRTUALLY_FRAME" val="{&quot;height&quot;:396,&quot;left&quot;:50.4,&quot;top&quot;:104.4,&quot;width&quot;:860.4}"/>
</p:tagLst>
</file>

<file path=ppt/tags/tag108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09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10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11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12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13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14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15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16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17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18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19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20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21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22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23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24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25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26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27.xml><?xml version="1.0" encoding="utf-8"?>
<p:tagLst xmlns:p="http://schemas.openxmlformats.org/presentationml/2006/main">
  <p:tag name="KSO_WM_DIAGRAM_VIRTUALLY_FRAME" val="{&quot;height&quot;:398,&quot;left&quot;:50,&quot;top&quot;:100,&quot;width&quot;:860}"/>
</p:tagLst>
</file>

<file path=ppt/tags/tag128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29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30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31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32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33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34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35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36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37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38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39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40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41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42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43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44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45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46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47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48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49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50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51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ags/tag152.xml><?xml version="1.0" encoding="utf-8"?>
<p:tagLst xmlns:p="http://schemas.openxmlformats.org/presentationml/2006/main">
  <p:tag name="KSO_WM_DIAGRAM_VIRTUALLY_FRAME" val="{&quot;height&quot;:376,&quot;left&quot;:50,&quot;top&quot;:100,&quot;width&quot;:860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4600</Words>
  <Application>WPS 演示</Application>
  <PresentationFormat/>
  <Paragraphs>478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MiSans</vt:lpstr>
      <vt:lpstr>Arial Unicode MS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LINGQI（令旗）桌面客户端 Agent 产品介绍</dc:title>
  <dc:creator/>
  <cp:lastModifiedBy>阿卡</cp:lastModifiedBy>
  <cp:revision>110</cp:revision>
  <dcterms:created xsi:type="dcterms:W3CDTF">2026-09-09T07:40:00Z</dcterms:created>
  <dcterms:modified xsi:type="dcterms:W3CDTF">2026-09-17T02:47:37Z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ICV">
    <vt:lpwstr>77678B5965FD46958A8648CE20F9AD3C_12</vt:lpwstr>
  </property>
  <property fmtid="{D5CDD505-2E9C-101B-9397-08002B2CF9AE}" pid="4" name="KSOProductBuildVer">
    <vt:lpwstr>2052-12.1.0.28599</vt:lpwstr>
  </property>
</Properties>
</file>
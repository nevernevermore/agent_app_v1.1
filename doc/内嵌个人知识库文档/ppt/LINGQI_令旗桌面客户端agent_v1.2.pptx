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83" r:id="rId23"/>
    <p:sldId id="276" r:id="rId24"/>
    <p:sldId id="277" r:id="rId25"/>
    <p:sldId id="278" r:id="rId26"/>
    <p:sldId id="279" r:id="rId27"/>
    <p:sldId id="280" r:id="rId28"/>
    <p:sldId id="281" r:id="rId29"/>
    <p:sldId id="282" r:id="rId30"/>
  </p:sldIdLst>
  <p:sldSz cx="12192000" cy="6858000"/>
  <p:notesSz cx="12192000" cy="6858000"/>
  <p:embeddedFontLst>
    <p:embeddedFont>
      <p:font typeface="微软雅黑" panose="020B0503020204020204" charset="-122"/>
      <p:regular r:id="rId34"/>
      <p:bold r:id="rId3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5" Type="http://schemas.openxmlformats.org/officeDocument/2006/relationships/font" Target="fonts/font2.fntdata"/><Relationship Id="rId34" Type="http://schemas.openxmlformats.org/officeDocument/2006/relationships/font" Target="fonts/font1.fntdata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yline"/>
          <p:cNvPicPr/>
          <p:nvPr/>
        </p:nvPicPr>
        <p:blipFill>
          <a:blip r:embed="rId1"/>
          <a:stretch>
            <a:fillRect/>
          </a:stretch>
        </p:blipFill>
        <p:spPr>
          <a:xfrm>
            <a:off x="949960" y="2180590"/>
            <a:ext cx="10337800" cy="2679700"/>
          </a:xfrm>
          <a:prstGeom prst="rect">
            <a:avLst/>
          </a:prstGeom>
          <a:ln>
            <a:noFill/>
          </a:ln>
        </p:spPr>
      </p:pic>
      <p:sp>
        <p:nvSpPr>
          <p:cNvPr id="3" name="navy-bar"/>
          <p:cNvSpPr/>
          <p:nvPr/>
        </p:nvSpPr>
        <p:spPr>
          <a:xfrm>
            <a:off x="0" y="4292600"/>
            <a:ext cx="12192000" cy="2565400"/>
          </a:xfrm>
          <a:prstGeom prst="rect">
            <a:avLst/>
          </a:prstGeom>
          <a:solidFill>
            <a:srgbClr val="223962"/>
          </a:solidFill>
          <a:ln>
            <a:noFill/>
          </a:ln>
        </p:spPr>
      </p:sp>
      <p:sp>
        <p:nvSpPr>
          <p:cNvPr id="4" name="title-box"/>
          <p:cNvSpPr/>
          <p:nvPr/>
        </p:nvSpPr>
        <p:spPr>
          <a:xfrm>
            <a:off x="904240" y="1671320"/>
            <a:ext cx="10172700" cy="78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</p:sp>
      <p:sp>
        <p:nvSpPr>
          <p:cNvPr id="5" name="title"/>
          <p:cNvSpPr txBox="1"/>
          <p:nvPr/>
        </p:nvSpPr>
        <p:spPr>
          <a:xfrm>
            <a:off x="904240" y="1671320"/>
            <a:ext cx="101727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800" noProof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rPr>
              <a:t>LINGQI 令旗桌面客户端 Agent</a:t>
            </a:r>
            <a:endParaRPr lang="en-US" sz="3800" noProof="1"/>
          </a:p>
        </p:txBody>
      </p:sp>
      <p:sp>
        <p:nvSpPr>
          <p:cNvPr id="6" name="subtitle"/>
          <p:cNvSpPr txBox="1"/>
          <p:nvPr/>
        </p:nvSpPr>
        <p:spPr>
          <a:xfrm>
            <a:off x="904240" y="2600960"/>
            <a:ext cx="10172700" cy="490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noProof="1">
                <a:solidFill>
                  <a:srgbClr val="000000"/>
                </a:solidFill>
                <a:latin typeface="MiSans" charset="-122"/>
                <a:ea typeface="MiSans" charset="-122"/>
              </a:rPr>
              <a:t>--本地桌面 Agent 工作台</a:t>
            </a:r>
            <a:endParaRPr lang="en-US" sz="2000" noProof="1"/>
          </a:p>
        </p:txBody>
      </p:sp>
      <p:sp>
        <p:nvSpPr>
          <p:cNvPr id="7" name="subtitle-2"/>
          <p:cNvSpPr txBox="1"/>
          <p:nvPr/>
        </p:nvSpPr>
        <p:spPr>
          <a:xfrm>
            <a:off x="904240" y="835660"/>
            <a:ext cx="10172700" cy="7086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让大模型在本地受控地完成工作 · 连接文件、工具与企业知识</a:t>
            </a:r>
            <a:endParaRPr lang="en-US" sz="2200" noProof="1"/>
          </a:p>
        </p:txBody>
      </p:sp>
      <p:sp>
        <p:nvSpPr>
          <p:cNvPr id="8" name="company"/>
          <p:cNvSpPr txBox="1"/>
          <p:nvPr/>
        </p:nvSpPr>
        <p:spPr>
          <a:xfrm>
            <a:off x="2649220" y="3509010"/>
            <a:ext cx="6432550" cy="492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3200" noProof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rPr>
              <a:t>北京四方上行软件技术有限公司</a:t>
            </a:r>
            <a:endParaRPr lang="en-US" sz="3200" noProof="1"/>
          </a:p>
        </p:txBody>
      </p:sp>
      <p:sp>
        <p:nvSpPr>
          <p:cNvPr id="9" name="slogan"/>
          <p:cNvSpPr txBox="1"/>
          <p:nvPr/>
        </p:nvSpPr>
        <p:spPr>
          <a:xfrm>
            <a:off x="121920" y="5689600"/>
            <a:ext cx="1194816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kern="0" spc="200" noProof="1">
                <a:solidFill>
                  <a:srgbClr val="BFBFBF"/>
                </a:solidFill>
                <a:latin typeface="Arial" panose="020B0604020202020204"/>
                <a:ea typeface="微软雅黑" panose="020B0503020204020204" charset="-122"/>
              </a:rPr>
              <a:t>用桌面 Agent 连接本地文件、工具与大模型，让每个人都能安全、高效地完成业务工作</a:t>
            </a:r>
            <a:endParaRPr lang="en-US" sz="15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27050" cy="4445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5520"/>
            <a:ext cx="8839200" cy="4318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29040" y="985520"/>
            <a:ext cx="3362960" cy="4318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701040" y="254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rPr>
              <a:t>公司简介</a:t>
            </a:r>
            <a:endParaRPr lang="en-US" sz="3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8" name="intro"/>
          <p:cNvSpPr txBox="1"/>
          <p:nvPr/>
        </p:nvSpPr>
        <p:spPr>
          <a:xfrm>
            <a:off x="701040" y="1270000"/>
            <a:ext cx="10795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北京四方上行软件技术有限公司成立于2021年1月，注册资本1000万元，是国家级高新技术企业。公司团队骨干由多年耕耘金融科技领域的业务专家和技术专家组成，目前有员工30人左右。</a:t>
            </a:r>
            <a:endParaRPr lang="en-US" sz="1600" noProof="1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在AI领域，四方上行致力于用AI技术为金融机构提供业务解决方案和技术解决方案，促进客户的数字化转型。目前已取得或正在申请的知识产权包括：</a:t>
            </a:r>
            <a:endParaRPr lang="en-US" sz="1600" noProof="1"/>
          </a:p>
        </p:txBody>
      </p:sp>
      <p:sp>
        <p:nvSpPr>
          <p:cNvPr id="9" name="ip-box"/>
          <p:cNvSpPr/>
          <p:nvPr/>
        </p:nvSpPr>
        <p:spPr>
          <a:xfrm>
            <a:off x="641350" y="3021330"/>
            <a:ext cx="10795000" cy="3327400"/>
          </a:xfrm>
          <a:prstGeom prst="roundRect">
            <a:avLst>
              <a:gd name="adj" fmla="val 4000"/>
            </a:avLst>
          </a:prstGeom>
          <a:solidFill>
            <a:srgbClr val="F4F9FE"/>
          </a:solidFill>
          <a:ln w="12700">
            <a:solidFill>
              <a:srgbClr val="BDD7EE"/>
            </a:solidFill>
          </a:ln>
        </p:spPr>
      </p:sp>
      <p:sp>
        <p:nvSpPr>
          <p:cNvPr id="10" name="ip-list"/>
          <p:cNvSpPr txBox="1"/>
          <p:nvPr/>
        </p:nvSpPr>
        <p:spPr>
          <a:xfrm>
            <a:off x="956310" y="3199130"/>
            <a:ext cx="10160000" cy="304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  <a:spcBef>
                <a:spcPts val="10"/>
              </a:spcBef>
              <a:buChar char="•"/>
            </a:pPr>
            <a:r>
              <a:rPr lang="en-US" sz="14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标准知识库系统（可建设审计、合规、会计、风险、监管规定、公司制度等）</a:t>
            </a:r>
            <a:endParaRPr lang="en-US" sz="1400" noProof="1"/>
          </a:p>
          <a:p>
            <a:pPr algn="l">
              <a:lnSpc>
                <a:spcPct val="150000"/>
              </a:lnSpc>
              <a:spcBef>
                <a:spcPts val="10"/>
              </a:spcBef>
              <a:buChar char="•"/>
            </a:pPr>
            <a:r>
              <a:rPr lang="en-US" sz="14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银行历史技术资产库管理（历史源代码、文档、脚本、数据字典随查随用）</a:t>
            </a:r>
            <a:endParaRPr lang="en-US" sz="1400" noProof="1"/>
          </a:p>
          <a:p>
            <a:pPr algn="l">
              <a:lnSpc>
                <a:spcPct val="150000"/>
              </a:lnSpc>
              <a:spcBef>
                <a:spcPts val="10"/>
              </a:spcBef>
              <a:buChar char="•"/>
            </a:pPr>
            <a:r>
              <a:rPr lang="en-US" sz="14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测试案例生成（RAG+知识库）／网银（复杂办公系统）智能功能导航</a:t>
            </a:r>
            <a:endParaRPr lang="en-US" sz="1400" noProof="1"/>
          </a:p>
          <a:p>
            <a:pPr algn="l">
              <a:lnSpc>
                <a:spcPct val="150000"/>
              </a:lnSpc>
              <a:spcBef>
                <a:spcPts val="10"/>
              </a:spcBef>
              <a:buChar char="•"/>
            </a:pPr>
            <a:r>
              <a:rPr lang="en-US" sz="14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AI驱动超级（财务）出纳（多银行账户现金管理，AI+RPA）</a:t>
            </a:r>
            <a:endParaRPr lang="en-US" sz="1400" noProof="1"/>
          </a:p>
          <a:p>
            <a:pPr algn="l">
              <a:lnSpc>
                <a:spcPct val="150000"/>
              </a:lnSpc>
              <a:spcBef>
                <a:spcPts val="10"/>
              </a:spcBef>
              <a:buChar char="•"/>
            </a:pPr>
            <a:r>
              <a:rPr lang="en-US" sz="14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自然语言驱动多行资金管理（企业端超级网银，AI+RPA）</a:t>
            </a:r>
            <a:endParaRPr lang="en-US" sz="1400" noProof="1"/>
          </a:p>
          <a:p>
            <a:pPr algn="l">
              <a:lnSpc>
                <a:spcPct val="150000"/>
              </a:lnSpc>
              <a:spcBef>
                <a:spcPts val="10"/>
              </a:spcBef>
              <a:buChar char="•"/>
            </a:pPr>
            <a:r>
              <a:rPr lang="en-US" sz="14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领导（管理）驾驶舱（简约办公AGENT，NLP+知识库+传统数据库+RPA+接口）</a:t>
            </a:r>
            <a:endParaRPr lang="en-US" sz="1400" noProof="1"/>
          </a:p>
          <a:p>
            <a:pPr algn="l">
              <a:lnSpc>
                <a:spcPct val="150000"/>
              </a:lnSpc>
              <a:spcBef>
                <a:spcPts val="10"/>
              </a:spcBef>
              <a:buChar char="•"/>
            </a:pPr>
            <a:r>
              <a:rPr lang="en-US" sz="14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NLP2SQL自然语言查询工具</a:t>
            </a:r>
            <a:endParaRPr lang="en-US" sz="1400" noProof="1"/>
          </a:p>
          <a:p>
            <a:pPr algn="l">
              <a:lnSpc>
                <a:spcPct val="150000"/>
              </a:lnSpc>
              <a:spcBef>
                <a:spcPts val="10"/>
              </a:spcBef>
              <a:buChar char="•"/>
            </a:pPr>
            <a:r>
              <a:rPr lang="en-US" sz="14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LINGQI（令旗）桌面客户端版AGENT工具（基础版，可开放源代码，含服务器版口令、权限控制中心）</a:t>
            </a:r>
            <a:endParaRPr lang="en-US" sz="1400" noProof="1"/>
          </a:p>
        </p:txBody>
      </p:sp>
      <p:sp>
        <p:nvSpPr>
          <p:cNvPr id="11" name="footer-note"/>
          <p:cNvSpPr txBox="1"/>
          <p:nvPr/>
        </p:nvSpPr>
        <p:spPr>
          <a:xfrm>
            <a:off x="701040" y="6248400"/>
            <a:ext cx="1079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7F7F7F"/>
                </a:solidFill>
                <a:latin typeface="MiSans" charset="-122"/>
                <a:ea typeface="MiSans" charset="-122"/>
              </a:rPr>
              <a:t>公司秉承「传统+前沿」发展模式：以传统技术服务业务为基础，以AI技术、RPA技术、区块链技术等赋能客户新的创新解决方案模式。</a:t>
            </a:r>
            <a:endParaRPr lang="en-US" sz="13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>
              <a:alphaModFix amt="30000"/>
            </a:blip>
            <a:stretch>
              <a:fillRect/>
            </a:stretch>
          </a:blipFill>
          <a:ln>
            <a:noFill/>
          </a:ln>
        </p:spPr>
      </p:sp>
      <p:sp>
        <p:nvSpPr>
          <p:cNvPr id="3" name="band"/>
          <p:cNvSpPr/>
          <p:nvPr/>
        </p:nvSpPr>
        <p:spPr>
          <a:xfrm>
            <a:off x="0" y="2865120"/>
            <a:ext cx="12192000" cy="1136650"/>
          </a:xfrm>
          <a:prstGeom prst="rect">
            <a:avLst/>
          </a:prstGeom>
          <a:solidFill>
            <a:srgbClr val="5B9BD5"/>
          </a:solidFill>
          <a:ln>
            <a:noFill/>
          </a:ln>
        </p:spPr>
      </p:sp>
      <p:sp>
        <p:nvSpPr>
          <p:cNvPr id="4" name="num-box"/>
          <p:cNvSpPr/>
          <p:nvPr/>
        </p:nvSpPr>
        <p:spPr>
          <a:xfrm>
            <a:off x="1351280" y="2306320"/>
            <a:ext cx="1651000" cy="2306320"/>
          </a:xfrm>
          <a:prstGeom prst="roundRect">
            <a:avLst/>
          </a:prstGeom>
          <a:noFill/>
          <a:ln w="38100">
            <a:solidFill>
              <a:srgbClr val="5B9BD5"/>
            </a:solidFill>
          </a:ln>
          <a:effectLst>
            <a:outerShdw blurRad="6350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num"/>
          <p:cNvSpPr txBox="1"/>
          <p:nvPr/>
        </p:nvSpPr>
        <p:spPr>
          <a:xfrm>
            <a:off x="1473200" y="2848610"/>
            <a:ext cx="1409700" cy="1231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7600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01</a:t>
            </a:r>
            <a:endParaRPr lang="en-US" sz="7600" noProof="1"/>
          </a:p>
        </p:txBody>
      </p:sp>
      <p:sp>
        <p:nvSpPr>
          <p:cNvPr id="6" name="ch-title"/>
          <p:cNvSpPr txBox="1"/>
          <p:nvPr/>
        </p:nvSpPr>
        <p:spPr>
          <a:xfrm>
            <a:off x="3723640" y="3048000"/>
            <a:ext cx="78740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        产品背景与定位</a:t>
            </a:r>
            <a:endParaRPr lang="en-US" sz="4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27050" cy="4445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5520"/>
            <a:ext cx="8839200" cy="4318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29040" y="985520"/>
            <a:ext cx="3362960" cy="4318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701040" y="254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前言</a:t>
            </a:r>
            <a:endParaRPr lang="en-US" sz="3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8" name="lead"/>
          <p:cNvSpPr txBox="1"/>
          <p:nvPr/>
        </p:nvSpPr>
        <p:spPr>
          <a:xfrm>
            <a:off x="701040" y="1168400"/>
            <a:ext cx="10795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企业真实工作并不只发生在网页对话框中。业务资料、工具、状态与人工确认的连续流程往往保存在本机或受控目录内，而纯网页对话框无法打通本地资产、执行动作与任务上下文，难以支撑完整的工作闭环。</a:t>
            </a:r>
            <a:endParaRPr lang="en-US" sz="1400" noProof="1"/>
          </a:p>
        </p:txBody>
      </p:sp>
      <p:sp>
        <p:nvSpPr>
          <p:cNvPr id="9" name="card0"/>
          <p:cNvSpPr/>
          <p:nvPr/>
        </p:nvSpPr>
        <p:spPr>
          <a:xfrm>
            <a:off x="635000" y="2006600"/>
            <a:ext cx="5186680" cy="209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card-top0"/>
          <p:cNvSpPr/>
          <p:nvPr/>
        </p:nvSpPr>
        <p:spPr>
          <a:xfrm>
            <a:off x="635000" y="2006600"/>
            <a:ext cx="5186680" cy="7747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11" name="num0"/>
          <p:cNvSpPr txBox="1"/>
          <p:nvPr/>
        </p:nvSpPr>
        <p:spPr>
          <a:xfrm>
            <a:off x="939800" y="2286000"/>
            <a:ext cx="88646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400" b="1" noProof="1">
                <a:solidFill>
                  <a:srgbClr val="D0E4F5"/>
                </a:solidFill>
                <a:latin typeface="Arial" panose="020B0604020202020204"/>
                <a:ea typeface="微软雅黑" panose="020B0503020204020204" charset="-122"/>
              </a:rPr>
              <a:t>01</a:t>
            </a:r>
            <a:endParaRPr lang="en-US" sz="3400" noProof="1"/>
          </a:p>
        </p:txBody>
      </p:sp>
      <p:sp>
        <p:nvSpPr>
          <p:cNvPr id="12" name="t0"/>
          <p:cNvSpPr txBox="1"/>
          <p:nvPr/>
        </p:nvSpPr>
        <p:spPr>
          <a:xfrm>
            <a:off x="1551940" y="2312670"/>
            <a:ext cx="366903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线上对话工具不能直接接触工作现场</a:t>
            </a:r>
            <a:endParaRPr lang="en-US" sz="2000" noProof="1"/>
          </a:p>
        </p:txBody>
      </p:sp>
      <p:sp>
        <p:nvSpPr>
          <p:cNvPr id="13" name="d0"/>
          <p:cNvSpPr txBox="1"/>
          <p:nvPr/>
        </p:nvSpPr>
        <p:spPr>
          <a:xfrm>
            <a:off x="939800" y="2971800"/>
            <a:ext cx="4579620" cy="9829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企业真实工作包含本机文档、项目代码、历史资产与内部系统，纯网页对话无法安全读取和处理这些上下文。</a:t>
            </a:r>
            <a:endParaRPr lang="en-US" sz="1400" noProof="1"/>
          </a:p>
        </p:txBody>
      </p:sp>
      <p:sp>
        <p:nvSpPr>
          <p:cNvPr id="14" name="card1"/>
          <p:cNvSpPr/>
          <p:nvPr/>
        </p:nvSpPr>
        <p:spPr>
          <a:xfrm>
            <a:off x="6350000" y="2006600"/>
            <a:ext cx="5186680" cy="209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card-top1"/>
          <p:cNvSpPr/>
          <p:nvPr/>
        </p:nvSpPr>
        <p:spPr>
          <a:xfrm>
            <a:off x="6350000" y="2006600"/>
            <a:ext cx="5186680" cy="7747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16" name="num1"/>
          <p:cNvSpPr txBox="1"/>
          <p:nvPr/>
        </p:nvSpPr>
        <p:spPr>
          <a:xfrm>
            <a:off x="6654800" y="2286000"/>
            <a:ext cx="88646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400" b="1" noProof="1">
                <a:solidFill>
                  <a:srgbClr val="D0E4F5"/>
                </a:solidFill>
                <a:latin typeface="Arial" panose="020B0604020202020204"/>
                <a:ea typeface="微软雅黑" panose="020B0503020204020204" charset="-122"/>
              </a:rPr>
              <a:t>02</a:t>
            </a:r>
            <a:endParaRPr lang="en-US" sz="3400" noProof="1"/>
          </a:p>
        </p:txBody>
      </p:sp>
      <p:sp>
        <p:nvSpPr>
          <p:cNvPr id="17" name="t1"/>
          <p:cNvSpPr txBox="1"/>
          <p:nvPr/>
        </p:nvSpPr>
        <p:spPr>
          <a:xfrm>
            <a:off x="7382510" y="2312670"/>
            <a:ext cx="366903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本地文件使用门槛高</a:t>
            </a:r>
            <a:endParaRPr lang="en-US" sz="2000" noProof="1"/>
          </a:p>
        </p:txBody>
      </p:sp>
      <p:sp>
        <p:nvSpPr>
          <p:cNvPr id="18" name="d1"/>
          <p:cNvSpPr txBox="1"/>
          <p:nvPr/>
        </p:nvSpPr>
        <p:spPr>
          <a:xfrm>
            <a:off x="6654800" y="2971800"/>
            <a:ext cx="4579620" cy="9829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用户需要先整理、上传、转换文件，再向模型描述任务，操作链路长。</a:t>
            </a:r>
            <a:endParaRPr lang="en-US" sz="1400" noProof="1"/>
          </a:p>
        </p:txBody>
      </p:sp>
      <p:sp>
        <p:nvSpPr>
          <p:cNvPr id="19" name="card2"/>
          <p:cNvSpPr/>
          <p:nvPr/>
        </p:nvSpPr>
        <p:spPr>
          <a:xfrm>
            <a:off x="635000" y="4356100"/>
            <a:ext cx="5186680" cy="209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card-top2"/>
          <p:cNvSpPr/>
          <p:nvPr/>
        </p:nvSpPr>
        <p:spPr>
          <a:xfrm>
            <a:off x="635000" y="4356100"/>
            <a:ext cx="5186680" cy="7747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21" name="num2"/>
          <p:cNvSpPr txBox="1"/>
          <p:nvPr/>
        </p:nvSpPr>
        <p:spPr>
          <a:xfrm>
            <a:off x="939800" y="4635500"/>
            <a:ext cx="88646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400" b="1" noProof="1">
                <a:solidFill>
                  <a:srgbClr val="D0E4F5"/>
                </a:solidFill>
                <a:latin typeface="Arial" panose="020B0604020202020204"/>
                <a:ea typeface="微软雅黑" panose="020B0503020204020204" charset="-122"/>
              </a:rPr>
              <a:t>03</a:t>
            </a:r>
            <a:endParaRPr lang="en-US" sz="3400" noProof="1"/>
          </a:p>
        </p:txBody>
      </p:sp>
      <p:sp>
        <p:nvSpPr>
          <p:cNvPr id="22" name="t2"/>
          <p:cNvSpPr txBox="1"/>
          <p:nvPr/>
        </p:nvSpPr>
        <p:spPr>
          <a:xfrm>
            <a:off x="1551940" y="4657090"/>
            <a:ext cx="366903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涉及敏感文件</a:t>
            </a:r>
            <a:endParaRPr lang="en-US" sz="2000" noProof="1"/>
          </a:p>
        </p:txBody>
      </p:sp>
      <p:sp>
        <p:nvSpPr>
          <p:cNvPr id="23" name="d2"/>
          <p:cNvSpPr txBox="1"/>
          <p:nvPr/>
        </p:nvSpPr>
        <p:spPr>
          <a:xfrm>
            <a:off x="939800" y="5321300"/>
            <a:ext cx="4579620" cy="9829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传统方案常把文件、任务过程交由外部平台处理，不适合金融、审计、合规等高安全要求场景。</a:t>
            </a:r>
            <a:endParaRPr lang="en-US" sz="1400" noProof="1"/>
          </a:p>
        </p:txBody>
      </p:sp>
      <p:sp>
        <p:nvSpPr>
          <p:cNvPr id="24" name="card3"/>
          <p:cNvSpPr/>
          <p:nvPr/>
        </p:nvSpPr>
        <p:spPr>
          <a:xfrm>
            <a:off x="6350000" y="4356100"/>
            <a:ext cx="5186680" cy="209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card-top3"/>
          <p:cNvSpPr/>
          <p:nvPr/>
        </p:nvSpPr>
        <p:spPr>
          <a:xfrm>
            <a:off x="6350000" y="4356100"/>
            <a:ext cx="5186680" cy="7747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26" name="num3"/>
          <p:cNvSpPr txBox="1"/>
          <p:nvPr/>
        </p:nvSpPr>
        <p:spPr>
          <a:xfrm>
            <a:off x="6654800" y="4635500"/>
            <a:ext cx="88646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400" b="1" noProof="1">
                <a:solidFill>
                  <a:srgbClr val="D0E4F5"/>
                </a:solidFill>
                <a:latin typeface="Arial" panose="020B0604020202020204"/>
                <a:ea typeface="微软雅黑" panose="020B0503020204020204" charset="-122"/>
              </a:rPr>
              <a:t>04</a:t>
            </a:r>
            <a:endParaRPr lang="en-US" sz="3400" noProof="1"/>
          </a:p>
        </p:txBody>
      </p:sp>
      <p:sp>
        <p:nvSpPr>
          <p:cNvPr id="27" name="t3"/>
          <p:cNvSpPr txBox="1"/>
          <p:nvPr/>
        </p:nvSpPr>
        <p:spPr>
          <a:xfrm>
            <a:off x="7382510" y="4652010"/>
            <a:ext cx="366903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长任务缺乏可恢复性</a:t>
            </a:r>
            <a:endParaRPr lang="en-US" sz="2000" noProof="1"/>
          </a:p>
        </p:txBody>
      </p:sp>
      <p:sp>
        <p:nvSpPr>
          <p:cNvPr id="28" name="d3"/>
          <p:cNvSpPr txBox="1"/>
          <p:nvPr/>
        </p:nvSpPr>
        <p:spPr>
          <a:xfrm>
            <a:off x="6654800" y="5321300"/>
            <a:ext cx="4579620" cy="9829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网络波动、工具失败或用户停止后，任务容易从头开始，过程不可追踪。</a:t>
            </a:r>
            <a:endParaRPr lang="en-US" sz="14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27050" cy="4445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5520"/>
            <a:ext cx="8839200" cy="4318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29040" y="985520"/>
            <a:ext cx="3362960" cy="4318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701040" y="254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rPr>
              <a:t>产品定位与价值</a:t>
            </a:r>
            <a:endParaRPr lang="en-US" sz="3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8" name="pos-box"/>
          <p:cNvSpPr/>
          <p:nvPr/>
        </p:nvSpPr>
        <p:spPr>
          <a:xfrm>
            <a:off x="701040" y="1244600"/>
            <a:ext cx="10795000" cy="1371600"/>
          </a:xfrm>
          <a:prstGeom prst="roundRect">
            <a:avLst>
              <a:gd name="adj" fmla="val 5000"/>
            </a:avLst>
          </a:prstGeom>
          <a:solidFill>
            <a:srgbClr val="F4F9FE"/>
          </a:solidFill>
          <a:ln w="12700">
            <a:solidFill>
              <a:srgbClr val="BDD7EE"/>
            </a:solidFill>
          </a:ln>
        </p:spPr>
      </p:sp>
      <p:sp>
        <p:nvSpPr>
          <p:cNvPr id="9" name="pos-tag"/>
          <p:cNvSpPr/>
          <p:nvPr/>
        </p:nvSpPr>
        <p:spPr>
          <a:xfrm>
            <a:off x="701040" y="1244600"/>
            <a:ext cx="101600" cy="137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10" name="pos-text"/>
          <p:cNvSpPr txBox="1"/>
          <p:nvPr/>
        </p:nvSpPr>
        <p:spPr>
          <a:xfrm>
            <a:off x="1016000" y="1371600"/>
            <a:ext cx="10160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5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产品定位：</a:t>
            </a:r>
            <a:r>
              <a:rPr lang="en-US" sz="15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令旗是一款本地优先的桌面端Agent。它通过桌面客户端整合大模型、本地文件、工具与权限审批，打造安全可追踪的工作空间。作为连接本地资产与企业知识的通用入口，它不替代现有业务系统，而是专门补足企业中临时性、跨文件的非标准化工作需求。</a:t>
            </a:r>
            <a:endParaRPr lang="en-US" sz="1500" noProof="1"/>
          </a:p>
        </p:txBody>
      </p:sp>
      <p:sp>
        <p:nvSpPr>
          <p:cNvPr id="11" name="val-title"/>
          <p:cNvSpPr txBox="1"/>
          <p:nvPr/>
        </p:nvSpPr>
        <p:spPr>
          <a:xfrm>
            <a:off x="701040" y="28194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产品价值</a:t>
            </a:r>
            <a:endParaRPr lang="en-US" sz="2000" noProof="1"/>
          </a:p>
        </p:txBody>
      </p:sp>
      <p:graphicFrame>
        <p:nvGraphicFramePr>
          <p:cNvPr id="12" name="val-table"/>
          <p:cNvGraphicFramePr>
            <a:graphicFrameLocks noGrp="1"/>
          </p:cNvGraphicFramePr>
          <p:nvPr/>
        </p:nvGraphicFramePr>
        <p:xfrm>
          <a:off x="701040" y="3276600"/>
          <a:ext cx="10795000" cy="3200400"/>
        </p:xfrm>
        <a:graphic>
          <a:graphicData uri="http://schemas.openxmlformats.org/drawingml/2006/table">
            <a:tbl>
              <a:tblPr/>
              <a:tblGrid>
                <a:gridCol w="1943100"/>
                <a:gridCol w="8851900"/>
              </a:tblGrid>
              <a:tr h="534467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500" b="1" noProof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</a:rPr>
                        <a:t>价值</a:t>
                      </a:r>
                      <a:endParaRPr lang="en-US" sz="1500" b="1" noProof="1">
                        <a:solidFill>
                          <a:srgbClr val="FFFFFF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0070C0"/>
                      </a:solidFill>
                    </a:lnL>
                    <a:lnR w="12700">
                      <a:solidFill>
                        <a:srgbClr val="0070C0"/>
                      </a:solidFill>
                    </a:lnR>
                    <a:lnT w="12700">
                      <a:solidFill>
                        <a:srgbClr val="0070C0"/>
                      </a:solidFill>
                    </a:lnT>
                    <a:lnB w="12700">
                      <a:solidFill>
                        <a:srgbClr val="0070C0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500" b="1" noProof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</a:rPr>
                        <a:t>说明</a:t>
                      </a:r>
                      <a:endParaRPr lang="en-US" sz="1500" b="1" noProof="1">
                        <a:solidFill>
                          <a:srgbClr val="FFFFFF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0070C0"/>
                      </a:solidFill>
                    </a:lnL>
                    <a:lnR w="12700">
                      <a:solidFill>
                        <a:srgbClr val="0070C0"/>
                      </a:solidFill>
                    </a:lnR>
                    <a:lnT w="12700">
                      <a:solidFill>
                        <a:srgbClr val="0070C0"/>
                      </a:solidFill>
                    </a:lnT>
                    <a:lnB w="12700">
                      <a:solidFill>
                        <a:srgbClr val="0070C0"/>
                      </a:solidFill>
                    </a:lnB>
                    <a:solidFill>
                      <a:srgbClr val="0070C0"/>
                    </a:solidFill>
                  </a:tcPr>
                </a:tc>
              </a:tr>
              <a:tr h="534467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本地优先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文件处理和工具执行在本机完成，适合对数据边界有要求的场景。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4467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使用简单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用户以自然语言描述任务，无需先掌握复杂工具命令。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</a:tr>
              <a:tr h="534467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能力可扩展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内置工具、MCP 服务和 Markdown Skill 可以持续增加专业能力。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1266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过程可控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执行分级，写入操作可要求用户审批，也可全部放开。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</a:tr>
              <a:tr h="531266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任务可追踪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会话、工具调用、任务状态、审批状态和错误信息在界面中可见。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>
              <a:alphaModFix amt="30000"/>
            </a:blip>
            <a:stretch>
              <a:fillRect/>
            </a:stretch>
          </a:blipFill>
          <a:ln>
            <a:noFill/>
          </a:ln>
        </p:spPr>
      </p:sp>
      <p:sp>
        <p:nvSpPr>
          <p:cNvPr id="3" name="band"/>
          <p:cNvSpPr/>
          <p:nvPr/>
        </p:nvSpPr>
        <p:spPr>
          <a:xfrm>
            <a:off x="0" y="2865120"/>
            <a:ext cx="12192000" cy="1136650"/>
          </a:xfrm>
          <a:prstGeom prst="rect">
            <a:avLst/>
          </a:prstGeom>
          <a:solidFill>
            <a:srgbClr val="5B9BD5"/>
          </a:solidFill>
          <a:ln>
            <a:noFill/>
          </a:ln>
        </p:spPr>
      </p:sp>
      <p:sp>
        <p:nvSpPr>
          <p:cNvPr id="4" name="num-box"/>
          <p:cNvSpPr/>
          <p:nvPr/>
        </p:nvSpPr>
        <p:spPr>
          <a:xfrm>
            <a:off x="1351280" y="2306320"/>
            <a:ext cx="1651000" cy="2306320"/>
          </a:xfrm>
          <a:prstGeom prst="roundRect">
            <a:avLst/>
          </a:prstGeom>
          <a:noFill/>
          <a:ln w="38100">
            <a:solidFill>
              <a:srgbClr val="5B9BD5"/>
            </a:solidFill>
          </a:ln>
          <a:effectLst>
            <a:outerShdw blurRad="6350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num"/>
          <p:cNvSpPr txBox="1"/>
          <p:nvPr/>
        </p:nvSpPr>
        <p:spPr>
          <a:xfrm>
            <a:off x="1473200" y="2848610"/>
            <a:ext cx="1409700" cy="1231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7600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02</a:t>
            </a:r>
            <a:endParaRPr lang="en-US" sz="7600" noProof="1"/>
          </a:p>
        </p:txBody>
      </p:sp>
      <p:sp>
        <p:nvSpPr>
          <p:cNvPr id="6" name="ch-title"/>
          <p:cNvSpPr txBox="1"/>
          <p:nvPr/>
        </p:nvSpPr>
        <p:spPr>
          <a:xfrm>
            <a:off x="3723640" y="3048000"/>
            <a:ext cx="78740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        功能与核心流程</a:t>
            </a:r>
            <a:endParaRPr lang="en-US" sz="4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0"/>
            <a:ext cx="530860" cy="44831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988060"/>
            <a:ext cx="8841740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8832850" y="988060"/>
            <a:ext cx="3365500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14070" y="265430"/>
            <a:ext cx="8669020" cy="4394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客户端功能全景</a:t>
            </a:r>
            <a:endParaRPr lang="en-US" sz="2400" noProof="1"/>
          </a:p>
        </p:txBody>
      </p:sp>
      <p:sp>
        <p:nvSpPr>
          <p:cNvPr id="6" name="Rounded Rectangle 7"/>
          <p:cNvSpPr/>
          <p:nvPr/>
        </p:nvSpPr>
        <p:spPr>
          <a:xfrm>
            <a:off x="622300" y="1297940"/>
            <a:ext cx="3474720" cy="187452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</p:spPr>
      </p:sp>
      <p:sp>
        <p:nvSpPr>
          <p:cNvPr id="7" name="Rounded Rectangle 8-shape"/>
          <p:cNvSpPr/>
          <p:nvPr/>
        </p:nvSpPr>
        <p:spPr>
          <a:xfrm>
            <a:off x="768350" y="1480820"/>
            <a:ext cx="566420" cy="56642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8" name="Rounded Rectangle 8-text"/>
          <p:cNvSpPr txBox="1"/>
          <p:nvPr/>
        </p:nvSpPr>
        <p:spPr>
          <a:xfrm>
            <a:off x="768350" y="1480820"/>
            <a:ext cx="566420" cy="5664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1600" noProof="1"/>
          </a:p>
        </p:txBody>
      </p:sp>
      <p:sp>
        <p:nvSpPr>
          <p:cNvPr id="9" name="TextBox 9"/>
          <p:cNvSpPr txBox="1"/>
          <p:nvPr/>
        </p:nvSpPr>
        <p:spPr>
          <a:xfrm>
            <a:off x="1600200" y="1637030"/>
            <a:ext cx="2203450" cy="2565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模型与对话</a:t>
            </a:r>
            <a:endParaRPr lang="en-US" sz="1600" noProof="1"/>
          </a:p>
        </p:txBody>
      </p:sp>
      <p:sp>
        <p:nvSpPr>
          <p:cNvPr id="10" name="TextBox 10"/>
          <p:cNvSpPr txBox="1"/>
          <p:nvPr/>
        </p:nvSpPr>
        <p:spPr>
          <a:xfrm>
            <a:off x="896620" y="2178050"/>
            <a:ext cx="2926080" cy="9436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支持 OpenAI 兼容协议和 Anthropic 协议</a:t>
            </a:r>
            <a:r>
              <a:rPr lang="en-US" sz="12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lang="en-US" sz="1200" noProof="1"/>
          </a:p>
          <a:p>
            <a:pPr algn="l">
              <a:lnSpc>
                <a:spcPct val="155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SSE 流式输出，实时显示模型生成内容</a:t>
            </a:r>
            <a:r>
              <a:rPr lang="en-US" sz="12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lang="en-US" sz="1200" noProof="1"/>
          </a:p>
          <a:p>
            <a:pPr algn="l">
              <a:lnSpc>
                <a:spcPct val="155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支持停止生成、失败重试和联通性检测。</a:t>
            </a:r>
            <a:endParaRPr lang="en-US" sz="1200" noProof="1"/>
          </a:p>
          <a:p>
            <a:pPr algn="l">
              <a:lnSpc>
                <a:spcPts val="1800"/>
              </a:lnSpc>
            </a:pPr>
            <a:r>
              <a:rPr lang="en-US" sz="1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 </a:t>
            </a:r>
            <a:endParaRPr lang="en-US" sz="1200" noProof="1"/>
          </a:p>
        </p:txBody>
      </p:sp>
      <p:sp>
        <p:nvSpPr>
          <p:cNvPr id="11" name="Rounded Rectangle 11"/>
          <p:cNvSpPr/>
          <p:nvPr/>
        </p:nvSpPr>
        <p:spPr>
          <a:xfrm>
            <a:off x="4325620" y="1297940"/>
            <a:ext cx="3474720" cy="187452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</p:spPr>
      </p:sp>
      <p:sp>
        <p:nvSpPr>
          <p:cNvPr id="12" name="Rounded Rectangle 12-shape"/>
          <p:cNvSpPr/>
          <p:nvPr/>
        </p:nvSpPr>
        <p:spPr>
          <a:xfrm>
            <a:off x="4471670" y="1480820"/>
            <a:ext cx="566420" cy="56642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13" name="Rounded Rectangle 12-text"/>
          <p:cNvSpPr txBox="1"/>
          <p:nvPr/>
        </p:nvSpPr>
        <p:spPr>
          <a:xfrm>
            <a:off x="4471670" y="1480820"/>
            <a:ext cx="566420" cy="5664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1600" noProof="1"/>
          </a:p>
        </p:txBody>
      </p:sp>
      <p:sp>
        <p:nvSpPr>
          <p:cNvPr id="14" name="TextBox 13"/>
          <p:cNvSpPr txBox="1"/>
          <p:nvPr/>
        </p:nvSpPr>
        <p:spPr>
          <a:xfrm>
            <a:off x="5303520" y="1637030"/>
            <a:ext cx="2203450" cy="2565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会话工作台</a:t>
            </a:r>
            <a:endParaRPr lang="en-US" sz="1600" noProof="1"/>
          </a:p>
        </p:txBody>
      </p:sp>
      <p:sp>
        <p:nvSpPr>
          <p:cNvPr id="15" name="TextBox 14"/>
          <p:cNvSpPr txBox="1"/>
          <p:nvPr/>
        </p:nvSpPr>
        <p:spPr>
          <a:xfrm>
            <a:off x="4599940" y="2178050"/>
            <a:ext cx="2926080" cy="7378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多会话管理，保存消息上下文、项目目录、权限模式等；</a:t>
            </a:r>
            <a:endParaRPr lang="en-US" sz="1200" noProof="1"/>
          </a:p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支持将会话关联本地项目文件夹；</a:t>
            </a:r>
            <a:endParaRPr lang="en-US" sz="1200" noProof="1"/>
          </a:p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会话持久化，重启后恢复历史会话。</a:t>
            </a:r>
            <a:endParaRPr lang="en-US" sz="1200" noProof="1"/>
          </a:p>
        </p:txBody>
      </p:sp>
      <p:sp>
        <p:nvSpPr>
          <p:cNvPr id="16" name="Rounded Rectangle 15"/>
          <p:cNvSpPr/>
          <p:nvPr/>
        </p:nvSpPr>
        <p:spPr>
          <a:xfrm>
            <a:off x="8028940" y="1297940"/>
            <a:ext cx="3474720" cy="187452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</p:spPr>
      </p:sp>
      <p:sp>
        <p:nvSpPr>
          <p:cNvPr id="17" name="Rounded Rectangle 16-shape"/>
          <p:cNvSpPr/>
          <p:nvPr/>
        </p:nvSpPr>
        <p:spPr>
          <a:xfrm>
            <a:off x="8174990" y="1480820"/>
            <a:ext cx="566420" cy="56642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18" name="Rounded Rectangle 16-text"/>
          <p:cNvSpPr txBox="1"/>
          <p:nvPr/>
        </p:nvSpPr>
        <p:spPr>
          <a:xfrm>
            <a:off x="8174990" y="1480820"/>
            <a:ext cx="566420" cy="5664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1600" noProof="1"/>
          </a:p>
        </p:txBody>
      </p:sp>
      <p:sp>
        <p:nvSpPr>
          <p:cNvPr id="19" name="TextBox 17"/>
          <p:cNvSpPr txBox="1"/>
          <p:nvPr/>
        </p:nvSpPr>
        <p:spPr>
          <a:xfrm>
            <a:off x="9006840" y="1637030"/>
            <a:ext cx="2203450" cy="2565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附件与文件分析</a:t>
            </a:r>
            <a:endParaRPr lang="en-US" sz="1600" noProof="1"/>
          </a:p>
        </p:txBody>
      </p:sp>
      <p:sp>
        <p:nvSpPr>
          <p:cNvPr id="20" name="TextBox 18"/>
          <p:cNvSpPr txBox="1"/>
          <p:nvPr/>
        </p:nvSpPr>
        <p:spPr>
          <a:xfrm>
            <a:off x="8303260" y="2178050"/>
            <a:ext cx="2926080" cy="553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支持主流文件格式解析。包括：TXT/MD/CSV/JSON/PDF/DOCX/XLSX/PPTX；</a:t>
            </a:r>
            <a:endParaRPr lang="en-US" sz="1200" noProof="1"/>
          </a:p>
        </p:txBody>
      </p:sp>
      <p:sp>
        <p:nvSpPr>
          <p:cNvPr id="21" name="Rounded Rectangle 19"/>
          <p:cNvSpPr/>
          <p:nvPr/>
        </p:nvSpPr>
        <p:spPr>
          <a:xfrm>
            <a:off x="622300" y="3446780"/>
            <a:ext cx="3474720" cy="187452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</p:spPr>
      </p:sp>
      <p:sp>
        <p:nvSpPr>
          <p:cNvPr id="22" name="Rounded Rectangle 20-shape"/>
          <p:cNvSpPr/>
          <p:nvPr/>
        </p:nvSpPr>
        <p:spPr>
          <a:xfrm>
            <a:off x="768350" y="3629660"/>
            <a:ext cx="566420" cy="56642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23" name="Rounded Rectangle 20-text"/>
          <p:cNvSpPr txBox="1"/>
          <p:nvPr/>
        </p:nvSpPr>
        <p:spPr>
          <a:xfrm>
            <a:off x="768350" y="3629660"/>
            <a:ext cx="566420" cy="5664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sz="1600" noProof="1"/>
          </a:p>
        </p:txBody>
      </p:sp>
      <p:sp>
        <p:nvSpPr>
          <p:cNvPr id="24" name="TextBox 21"/>
          <p:cNvSpPr txBox="1"/>
          <p:nvPr/>
        </p:nvSpPr>
        <p:spPr>
          <a:xfrm>
            <a:off x="1600200" y="3784600"/>
            <a:ext cx="2203450" cy="2463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内置工具</a:t>
            </a:r>
            <a:endParaRPr lang="en-US" sz="1600" noProof="1"/>
          </a:p>
        </p:txBody>
      </p:sp>
      <p:sp>
        <p:nvSpPr>
          <p:cNvPr id="25" name="TextBox 22"/>
          <p:cNvSpPr txBox="1"/>
          <p:nvPr/>
        </p:nvSpPr>
        <p:spPr>
          <a:xfrm>
            <a:off x="881380" y="4398010"/>
            <a:ext cx="2926080" cy="553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内置读写工具控制；</a:t>
            </a:r>
            <a:endParaRPr lang="en-US" sz="1200" noProof="1"/>
          </a:p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参数校验；超时与取消；</a:t>
            </a:r>
            <a:endParaRPr lang="en-US" sz="1200" noProof="1"/>
          </a:p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执行结果截断；工具列表可视化。</a:t>
            </a:r>
            <a:endParaRPr lang="en-US" sz="1200" noProof="1"/>
          </a:p>
        </p:txBody>
      </p:sp>
      <p:sp>
        <p:nvSpPr>
          <p:cNvPr id="26" name="Rounded Rectangle 23"/>
          <p:cNvSpPr/>
          <p:nvPr/>
        </p:nvSpPr>
        <p:spPr>
          <a:xfrm>
            <a:off x="4325620" y="3446780"/>
            <a:ext cx="3474720" cy="187452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</p:spPr>
      </p:sp>
      <p:sp>
        <p:nvSpPr>
          <p:cNvPr id="27" name="Rounded Rectangle 24-shape"/>
          <p:cNvSpPr/>
          <p:nvPr/>
        </p:nvSpPr>
        <p:spPr>
          <a:xfrm>
            <a:off x="4471670" y="3629660"/>
            <a:ext cx="566420" cy="56642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28" name="Rounded Rectangle 24-text"/>
          <p:cNvSpPr txBox="1"/>
          <p:nvPr/>
        </p:nvSpPr>
        <p:spPr>
          <a:xfrm>
            <a:off x="4471670" y="3629660"/>
            <a:ext cx="566420" cy="5664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sz="1600" noProof="1"/>
          </a:p>
        </p:txBody>
      </p:sp>
      <p:sp>
        <p:nvSpPr>
          <p:cNvPr id="29" name="TextBox 25"/>
          <p:cNvSpPr txBox="1"/>
          <p:nvPr/>
        </p:nvSpPr>
        <p:spPr>
          <a:xfrm>
            <a:off x="5303520" y="3784600"/>
            <a:ext cx="2203450" cy="2565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权限与审批</a:t>
            </a:r>
            <a:endParaRPr lang="en-US" sz="1600" noProof="1"/>
          </a:p>
        </p:txBody>
      </p:sp>
      <p:sp>
        <p:nvSpPr>
          <p:cNvPr id="30" name="TextBox 26"/>
          <p:cNvSpPr txBox="1"/>
          <p:nvPr/>
        </p:nvSpPr>
        <p:spPr>
          <a:xfrm>
            <a:off x="4584700" y="4398010"/>
            <a:ext cx="2926080" cy="184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默认请求批准；以及完全访问权限</a:t>
            </a:r>
            <a:endParaRPr lang="en-US" sz="1200" noProof="1"/>
          </a:p>
        </p:txBody>
      </p:sp>
      <p:sp>
        <p:nvSpPr>
          <p:cNvPr id="31" name="Rounded Rectangle 27"/>
          <p:cNvSpPr/>
          <p:nvPr/>
        </p:nvSpPr>
        <p:spPr>
          <a:xfrm>
            <a:off x="8028940" y="3446780"/>
            <a:ext cx="3474720" cy="187452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</p:spPr>
      </p:sp>
      <p:sp>
        <p:nvSpPr>
          <p:cNvPr id="32" name="Rounded Rectangle 28-shape"/>
          <p:cNvSpPr/>
          <p:nvPr/>
        </p:nvSpPr>
        <p:spPr>
          <a:xfrm>
            <a:off x="8174990" y="3629660"/>
            <a:ext cx="566420" cy="56642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3" name="Rounded Rectangle 28-text"/>
          <p:cNvSpPr txBox="1"/>
          <p:nvPr/>
        </p:nvSpPr>
        <p:spPr>
          <a:xfrm>
            <a:off x="8174990" y="3629660"/>
            <a:ext cx="566420" cy="5664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lang="en-US" sz="1600" noProof="1"/>
          </a:p>
        </p:txBody>
      </p:sp>
      <p:sp>
        <p:nvSpPr>
          <p:cNvPr id="34" name="TextBox 29"/>
          <p:cNvSpPr txBox="1"/>
          <p:nvPr/>
        </p:nvSpPr>
        <p:spPr>
          <a:xfrm>
            <a:off x="9006840" y="3784600"/>
            <a:ext cx="2203450" cy="2565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扩展能力</a:t>
            </a:r>
            <a:endParaRPr lang="en-US" sz="1600" noProof="1"/>
          </a:p>
        </p:txBody>
      </p:sp>
      <p:sp>
        <p:nvSpPr>
          <p:cNvPr id="35" name="TextBox 30"/>
          <p:cNvSpPr txBox="1"/>
          <p:nvPr/>
        </p:nvSpPr>
        <p:spPr>
          <a:xfrm>
            <a:off x="8288020" y="4398010"/>
            <a:ext cx="2926080" cy="553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MCP 外部工具服务；</a:t>
            </a:r>
            <a:endParaRPr lang="en-US" sz="1200" noProof="1"/>
          </a:p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Skill 扩展技能树。</a:t>
            </a:r>
            <a:endParaRPr lang="en-US" sz="1200" noProof="1"/>
          </a:p>
          <a:p>
            <a:pPr algn="l">
              <a:lnSpc>
                <a:spcPts val="1800"/>
              </a:lnSpc>
            </a:pPr>
            <a:r>
              <a:rPr lang="en-US" sz="1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 </a:t>
            </a:r>
            <a:endParaRPr lang="en-US" sz="1200" noProof="1"/>
          </a:p>
        </p:txBody>
      </p:sp>
      <p:sp>
        <p:nvSpPr>
          <p:cNvPr id="36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37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0"/>
            <a:ext cx="530860" cy="44831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988060"/>
            <a:ext cx="8841740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8832850" y="988060"/>
            <a:ext cx="3365500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14070" y="265430"/>
            <a:ext cx="8669020" cy="4394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产品定位</a:t>
            </a:r>
            <a:endParaRPr lang="en-US" sz="2400" noProof="1"/>
          </a:p>
        </p:txBody>
      </p:sp>
      <p:sp>
        <p:nvSpPr>
          <p:cNvPr id="6" name="Rectangle 7"/>
          <p:cNvSpPr txBox="1"/>
          <p:nvPr/>
        </p:nvSpPr>
        <p:spPr>
          <a:xfrm>
            <a:off x="657860" y="1297940"/>
            <a:ext cx="10881360" cy="960120"/>
          </a:xfrm>
          <a:prstGeom prst="rect">
            <a:avLst/>
          </a:prstGeom>
          <a:solidFill>
            <a:srgbClr val="22396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本地优先的桌面Agent工具：包含大模型、文件、工具、MCP等服务和权限审批的客户端。</a:t>
            </a:r>
            <a:endParaRPr lang="en-US" sz="1800" noProof="1"/>
          </a:p>
        </p:txBody>
      </p:sp>
      <p:sp>
        <p:nvSpPr>
          <p:cNvPr id="7" name="Rounded Rectangle 8"/>
          <p:cNvSpPr/>
          <p:nvPr/>
        </p:nvSpPr>
        <p:spPr>
          <a:xfrm>
            <a:off x="657860" y="2834640"/>
            <a:ext cx="2486660" cy="214884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</p:spPr>
      </p:sp>
      <p:sp>
        <p:nvSpPr>
          <p:cNvPr id="8" name="TextBox 9"/>
          <p:cNvSpPr txBox="1"/>
          <p:nvPr/>
        </p:nvSpPr>
        <p:spPr>
          <a:xfrm>
            <a:off x="932180" y="3172460"/>
            <a:ext cx="1938020" cy="2374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6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本地工作台</a:t>
            </a:r>
            <a:endParaRPr lang="en-US" sz="1600" noProof="1"/>
          </a:p>
        </p:txBody>
      </p:sp>
      <p:sp>
        <p:nvSpPr>
          <p:cNvPr id="9" name="TextBox 10"/>
          <p:cNvSpPr txBox="1"/>
          <p:nvPr/>
        </p:nvSpPr>
        <p:spPr>
          <a:xfrm>
            <a:off x="914400" y="3629660"/>
            <a:ext cx="197485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以 Windows 桌面客户端承载，面向日常办公、研发、审计和知识管理场景。</a:t>
            </a:r>
            <a:endParaRPr lang="en-US" sz="1100" noProof="1"/>
          </a:p>
        </p:txBody>
      </p:sp>
      <p:sp>
        <p:nvSpPr>
          <p:cNvPr id="10" name="Rounded Rectangle 11"/>
          <p:cNvSpPr/>
          <p:nvPr/>
        </p:nvSpPr>
        <p:spPr>
          <a:xfrm>
            <a:off x="3411220" y="2834640"/>
            <a:ext cx="2486660" cy="214884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</p:spPr>
      </p:sp>
      <p:sp>
        <p:nvSpPr>
          <p:cNvPr id="11" name="TextBox 12"/>
          <p:cNvSpPr txBox="1"/>
          <p:nvPr/>
        </p:nvSpPr>
        <p:spPr>
          <a:xfrm>
            <a:off x="3685540" y="3172460"/>
            <a:ext cx="1938020" cy="2374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6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开放模型层</a:t>
            </a:r>
            <a:endParaRPr lang="en-US" sz="1600" noProof="1"/>
          </a:p>
        </p:txBody>
      </p:sp>
      <p:sp>
        <p:nvSpPr>
          <p:cNvPr id="12" name="TextBox 13"/>
          <p:cNvSpPr txBox="1"/>
          <p:nvPr/>
        </p:nvSpPr>
        <p:spPr>
          <a:xfrm>
            <a:off x="3666490" y="3629660"/>
            <a:ext cx="1974850" cy="6769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支持 OpenAI 兼容与 Anthropic 两种协议，可按企业要求接入不同模型服务，或者使用私有化部署开源模型。</a:t>
            </a:r>
            <a:endParaRPr lang="en-US" sz="1100" noProof="1"/>
          </a:p>
        </p:txBody>
      </p:sp>
      <p:sp>
        <p:nvSpPr>
          <p:cNvPr id="13" name="Rounded Rectangle 14"/>
          <p:cNvSpPr/>
          <p:nvPr/>
        </p:nvSpPr>
        <p:spPr>
          <a:xfrm>
            <a:off x="6163310" y="2834640"/>
            <a:ext cx="2486660" cy="214884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</p:spPr>
      </p:sp>
      <p:sp>
        <p:nvSpPr>
          <p:cNvPr id="14" name="TextBox 15"/>
          <p:cNvSpPr txBox="1"/>
          <p:nvPr/>
        </p:nvSpPr>
        <p:spPr>
          <a:xfrm>
            <a:off x="6437630" y="3172460"/>
            <a:ext cx="1938020" cy="2374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6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安全执行层</a:t>
            </a:r>
            <a:endParaRPr lang="en-US" sz="1600" noProof="1"/>
          </a:p>
        </p:txBody>
      </p:sp>
      <p:sp>
        <p:nvSpPr>
          <p:cNvPr id="15" name="TextBox 16"/>
          <p:cNvSpPr txBox="1"/>
          <p:nvPr/>
        </p:nvSpPr>
        <p:spPr>
          <a:xfrm>
            <a:off x="6418580" y="3629660"/>
            <a:ext cx="197485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工具分读写危险三级，写入需审批，危险工具默认拒绝。</a:t>
            </a:r>
            <a:endParaRPr lang="en-US" sz="1100" noProof="1"/>
          </a:p>
        </p:txBody>
      </p:sp>
      <p:sp>
        <p:nvSpPr>
          <p:cNvPr id="16" name="Rounded Rectangle 17"/>
          <p:cNvSpPr/>
          <p:nvPr/>
        </p:nvSpPr>
        <p:spPr>
          <a:xfrm>
            <a:off x="8915400" y="2834640"/>
            <a:ext cx="2486660" cy="214884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</p:spPr>
      </p:sp>
      <p:sp>
        <p:nvSpPr>
          <p:cNvPr id="17" name="TextBox 18"/>
          <p:cNvSpPr txBox="1"/>
          <p:nvPr/>
        </p:nvSpPr>
        <p:spPr>
          <a:xfrm>
            <a:off x="9189720" y="3172460"/>
            <a:ext cx="1938020" cy="2374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6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可持续扩展</a:t>
            </a:r>
            <a:endParaRPr lang="en-US" sz="1600" noProof="1"/>
          </a:p>
        </p:txBody>
      </p:sp>
      <p:sp>
        <p:nvSpPr>
          <p:cNvPr id="18" name="TextBox 19"/>
          <p:cNvSpPr txBox="1"/>
          <p:nvPr/>
        </p:nvSpPr>
        <p:spPr>
          <a:xfrm>
            <a:off x="9171940" y="3629660"/>
            <a:ext cx="1974850" cy="3390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通过内置工具、MCP 服务和 Skill 持续扩展专业能力。</a:t>
            </a:r>
            <a:endParaRPr lang="en-US" sz="1100" noProof="1"/>
          </a:p>
        </p:txBody>
      </p:sp>
      <p:sp>
        <p:nvSpPr>
          <p:cNvPr id="19" name="Rectangle 20-shape"/>
          <p:cNvSpPr/>
          <p:nvPr/>
        </p:nvSpPr>
        <p:spPr>
          <a:xfrm>
            <a:off x="657860" y="5303520"/>
            <a:ext cx="10881360" cy="566420"/>
          </a:xfrm>
          <a:prstGeom prst="rect">
            <a:avLst/>
          </a:prstGeom>
          <a:solidFill>
            <a:srgbClr val="F2F7FC"/>
          </a:solidFill>
          <a:ln w="12700">
            <a:solidFill>
              <a:srgbClr val="E89924"/>
            </a:solidFill>
          </a:ln>
        </p:spPr>
      </p:sp>
      <p:sp>
        <p:nvSpPr>
          <p:cNvPr id="20" name="Rectangle 20-text"/>
          <p:cNvSpPr txBox="1"/>
          <p:nvPr/>
        </p:nvSpPr>
        <p:spPr>
          <a:xfrm>
            <a:off x="657860" y="5303520"/>
            <a:ext cx="10881360" cy="5664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当前基础版已实现 Agent Loop 执行流程、工具审批、附件分析、MCP 和 Skill 能力。</a:t>
            </a:r>
            <a:endParaRPr lang="en-US" sz="1300" noProof="1"/>
          </a:p>
        </p:txBody>
      </p:sp>
      <p:sp>
        <p:nvSpPr>
          <p:cNvPr id="21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22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0"/>
            <a:ext cx="530860" cy="44831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988060"/>
            <a:ext cx="8841740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8832850" y="988060"/>
            <a:ext cx="3365500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14070" y="265430"/>
            <a:ext cx="8669020" cy="4394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Agent 任务执行主流程</a:t>
            </a:r>
            <a:endParaRPr lang="en-US" sz="2400" noProof="1"/>
          </a:p>
        </p:txBody>
      </p:sp>
      <p:sp>
        <p:nvSpPr>
          <p:cNvPr id="6" name="TextBox 7"/>
          <p:cNvSpPr txBox="1"/>
          <p:nvPr/>
        </p:nvSpPr>
        <p:spPr>
          <a:xfrm>
            <a:off x="822960" y="1804670"/>
            <a:ext cx="10661650" cy="307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Agent Loop 运行在 Electron 主进程中，通过 IPC 将任务状态和流式结果同步到前端UI界面。</a:t>
            </a:r>
            <a:endParaRPr lang="en-US" sz="2000" noProof="1"/>
          </a:p>
        </p:txBody>
      </p:sp>
      <p:sp>
        <p:nvSpPr>
          <p:cNvPr id="7" name="Rounded Rectangle 8"/>
          <p:cNvSpPr/>
          <p:nvPr/>
        </p:nvSpPr>
        <p:spPr>
          <a:xfrm>
            <a:off x="594360" y="2936240"/>
            <a:ext cx="1658620" cy="192024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</p:spPr>
      </p:sp>
      <p:sp>
        <p:nvSpPr>
          <p:cNvPr id="8" name="TextBox 9"/>
          <p:cNvSpPr txBox="1"/>
          <p:nvPr/>
        </p:nvSpPr>
        <p:spPr>
          <a:xfrm>
            <a:off x="814070" y="3237230"/>
            <a:ext cx="12192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用户输入</a:t>
            </a:r>
            <a:endParaRPr lang="en-US" sz="1400" noProof="1"/>
          </a:p>
        </p:txBody>
      </p:sp>
      <p:sp>
        <p:nvSpPr>
          <p:cNvPr id="9" name="TextBox 10"/>
          <p:cNvSpPr txBox="1"/>
          <p:nvPr/>
        </p:nvSpPr>
        <p:spPr>
          <a:xfrm>
            <a:off x="850900" y="3694430"/>
            <a:ext cx="1145540" cy="5067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自然语言任务 + 附件 + 会话上下文 + 启用的Skill</a:t>
            </a:r>
            <a:endParaRPr lang="en-US" sz="1100" noProof="1"/>
          </a:p>
        </p:txBody>
      </p:sp>
      <p:sp>
        <p:nvSpPr>
          <p:cNvPr id="10" name="Right Arrow 11"/>
          <p:cNvSpPr/>
          <p:nvPr/>
        </p:nvSpPr>
        <p:spPr>
          <a:xfrm>
            <a:off x="2261870" y="3713480"/>
            <a:ext cx="191770" cy="383540"/>
          </a:xfrm>
          <a:prstGeom prst="rightArrow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11" name="Rounded Rectangle 12"/>
          <p:cNvSpPr/>
          <p:nvPr/>
        </p:nvSpPr>
        <p:spPr>
          <a:xfrm>
            <a:off x="2462530" y="2936240"/>
            <a:ext cx="1658620" cy="192024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</p:spPr>
      </p:sp>
      <p:sp>
        <p:nvSpPr>
          <p:cNvPr id="12" name="TextBox 13"/>
          <p:cNvSpPr txBox="1"/>
          <p:nvPr/>
        </p:nvSpPr>
        <p:spPr>
          <a:xfrm>
            <a:off x="2682240" y="3237230"/>
            <a:ext cx="12192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附件准备</a:t>
            </a:r>
            <a:endParaRPr lang="en-US" sz="1400" noProof="1"/>
          </a:p>
        </p:txBody>
      </p:sp>
      <p:sp>
        <p:nvSpPr>
          <p:cNvPr id="13" name="TextBox 14"/>
          <p:cNvSpPr txBox="1"/>
          <p:nvPr/>
        </p:nvSpPr>
        <p:spPr>
          <a:xfrm>
            <a:off x="2719070" y="3694430"/>
            <a:ext cx="1145540" cy="3390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附件接收至安全目录，系统预处理</a:t>
            </a:r>
            <a:endParaRPr lang="en-US" sz="1100" noProof="1"/>
          </a:p>
        </p:txBody>
      </p:sp>
      <p:sp>
        <p:nvSpPr>
          <p:cNvPr id="14" name="Right Arrow 15"/>
          <p:cNvSpPr/>
          <p:nvPr/>
        </p:nvSpPr>
        <p:spPr>
          <a:xfrm>
            <a:off x="4130040" y="3713480"/>
            <a:ext cx="191770" cy="383540"/>
          </a:xfrm>
          <a:prstGeom prst="rightArrow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15" name="Rounded Rectangle 16"/>
          <p:cNvSpPr/>
          <p:nvPr/>
        </p:nvSpPr>
        <p:spPr>
          <a:xfrm>
            <a:off x="4330700" y="2936240"/>
            <a:ext cx="1658620" cy="192024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</p:spPr>
      </p:sp>
      <p:sp>
        <p:nvSpPr>
          <p:cNvPr id="16" name="TextBox 17"/>
          <p:cNvSpPr txBox="1"/>
          <p:nvPr/>
        </p:nvSpPr>
        <p:spPr>
          <a:xfrm>
            <a:off x="4550410" y="3237230"/>
            <a:ext cx="12192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模型决策</a:t>
            </a:r>
            <a:endParaRPr lang="en-US" sz="1400" noProof="1"/>
          </a:p>
        </p:txBody>
      </p:sp>
      <p:sp>
        <p:nvSpPr>
          <p:cNvPr id="17" name="TextBox 18"/>
          <p:cNvSpPr txBox="1"/>
          <p:nvPr/>
        </p:nvSpPr>
        <p:spPr>
          <a:xfrm>
            <a:off x="4587240" y="3694430"/>
            <a:ext cx="114554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协议适配层构造请求，模型输出文本或工具调用</a:t>
            </a:r>
            <a:endParaRPr lang="en-US" sz="1100" noProof="1"/>
          </a:p>
        </p:txBody>
      </p:sp>
      <p:sp>
        <p:nvSpPr>
          <p:cNvPr id="18" name="Right Arrow 19"/>
          <p:cNvSpPr/>
          <p:nvPr/>
        </p:nvSpPr>
        <p:spPr>
          <a:xfrm>
            <a:off x="5998210" y="3713480"/>
            <a:ext cx="191770" cy="383540"/>
          </a:xfrm>
          <a:prstGeom prst="rightArrow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19" name="Rounded Rectangle 20"/>
          <p:cNvSpPr/>
          <p:nvPr/>
        </p:nvSpPr>
        <p:spPr>
          <a:xfrm>
            <a:off x="6200140" y="2936240"/>
            <a:ext cx="1658620" cy="192024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</p:spPr>
      </p:sp>
      <p:sp>
        <p:nvSpPr>
          <p:cNvPr id="20" name="TextBox 21"/>
          <p:cNvSpPr txBox="1"/>
          <p:nvPr/>
        </p:nvSpPr>
        <p:spPr>
          <a:xfrm>
            <a:off x="6418580" y="3237230"/>
            <a:ext cx="12192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权限审批</a:t>
            </a:r>
            <a:endParaRPr lang="en-US" sz="1400" noProof="1"/>
          </a:p>
        </p:txBody>
      </p:sp>
      <p:sp>
        <p:nvSpPr>
          <p:cNvPr id="21" name="TextBox 22"/>
          <p:cNvSpPr txBox="1"/>
          <p:nvPr/>
        </p:nvSpPr>
        <p:spPr>
          <a:xfrm>
            <a:off x="6455410" y="3694430"/>
            <a:ext cx="1145540" cy="5067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涉及写入的操作先展示审批信息，用户确认后才执行。</a:t>
            </a:r>
            <a:endParaRPr lang="en-US" sz="1100" noProof="1"/>
          </a:p>
        </p:txBody>
      </p:sp>
      <p:sp>
        <p:nvSpPr>
          <p:cNvPr id="22" name="Right Arrow 23"/>
          <p:cNvSpPr/>
          <p:nvPr/>
        </p:nvSpPr>
        <p:spPr>
          <a:xfrm>
            <a:off x="7866380" y="3713480"/>
            <a:ext cx="191770" cy="383540"/>
          </a:xfrm>
          <a:prstGeom prst="rightArrow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23" name="Rounded Rectangle 24"/>
          <p:cNvSpPr/>
          <p:nvPr/>
        </p:nvSpPr>
        <p:spPr>
          <a:xfrm>
            <a:off x="8068310" y="2936240"/>
            <a:ext cx="1658620" cy="192024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</p:spPr>
      </p:sp>
      <p:sp>
        <p:nvSpPr>
          <p:cNvPr id="24" name="TextBox 25"/>
          <p:cNvSpPr txBox="1"/>
          <p:nvPr/>
        </p:nvSpPr>
        <p:spPr>
          <a:xfrm>
            <a:off x="8288020" y="3237230"/>
            <a:ext cx="12192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工具执行</a:t>
            </a:r>
            <a:endParaRPr lang="en-US" sz="1400" noProof="1"/>
          </a:p>
        </p:txBody>
      </p:sp>
      <p:sp>
        <p:nvSpPr>
          <p:cNvPr id="25" name="TextBox 26"/>
          <p:cNvSpPr txBox="1"/>
          <p:nvPr/>
        </p:nvSpPr>
        <p:spPr>
          <a:xfrm>
            <a:off x="8323580" y="3694430"/>
            <a:ext cx="1145540" cy="5067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调用工具、执行、超时、取消和结果截断</a:t>
            </a:r>
            <a:endParaRPr lang="en-US" sz="1100" noProof="1"/>
          </a:p>
        </p:txBody>
      </p:sp>
      <p:sp>
        <p:nvSpPr>
          <p:cNvPr id="26" name="Right Arrow 27"/>
          <p:cNvSpPr/>
          <p:nvPr/>
        </p:nvSpPr>
        <p:spPr>
          <a:xfrm>
            <a:off x="9735820" y="3713480"/>
            <a:ext cx="191770" cy="383540"/>
          </a:xfrm>
          <a:prstGeom prst="rightArrow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27" name="Rounded Rectangle 28"/>
          <p:cNvSpPr/>
          <p:nvPr/>
        </p:nvSpPr>
        <p:spPr>
          <a:xfrm>
            <a:off x="9936480" y="2936240"/>
            <a:ext cx="1658620" cy="192024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</p:spPr>
      </p:sp>
      <p:sp>
        <p:nvSpPr>
          <p:cNvPr id="28" name="TextBox 29"/>
          <p:cNvSpPr txBox="1"/>
          <p:nvPr/>
        </p:nvSpPr>
        <p:spPr>
          <a:xfrm>
            <a:off x="10156190" y="3237230"/>
            <a:ext cx="12192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结果回写</a:t>
            </a:r>
            <a:endParaRPr lang="en-US" sz="1400" noProof="1"/>
          </a:p>
        </p:txBody>
      </p:sp>
      <p:sp>
        <p:nvSpPr>
          <p:cNvPr id="29" name="TextBox 30"/>
          <p:cNvSpPr txBox="1"/>
          <p:nvPr/>
        </p:nvSpPr>
        <p:spPr>
          <a:xfrm>
            <a:off x="10193020" y="3694430"/>
            <a:ext cx="114554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工具结果进入下一轮模型上下文，直到生成最终回答</a:t>
            </a:r>
            <a:endParaRPr lang="en-US" sz="1100" noProof="1"/>
          </a:p>
        </p:txBody>
      </p:sp>
      <p:sp>
        <p:nvSpPr>
          <p:cNvPr id="30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31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>
              <a:alphaModFix amt="30000"/>
            </a:blip>
            <a:stretch>
              <a:fillRect/>
            </a:stretch>
          </a:blipFill>
          <a:ln>
            <a:noFill/>
          </a:ln>
        </p:spPr>
      </p:sp>
      <p:sp>
        <p:nvSpPr>
          <p:cNvPr id="3" name="band"/>
          <p:cNvSpPr/>
          <p:nvPr/>
        </p:nvSpPr>
        <p:spPr>
          <a:xfrm>
            <a:off x="0" y="2865120"/>
            <a:ext cx="12192000" cy="1136650"/>
          </a:xfrm>
          <a:prstGeom prst="rect">
            <a:avLst/>
          </a:prstGeom>
          <a:solidFill>
            <a:srgbClr val="5B9BD5"/>
          </a:solidFill>
          <a:ln>
            <a:noFill/>
          </a:ln>
        </p:spPr>
      </p:sp>
      <p:sp>
        <p:nvSpPr>
          <p:cNvPr id="4" name="num-box"/>
          <p:cNvSpPr/>
          <p:nvPr/>
        </p:nvSpPr>
        <p:spPr>
          <a:xfrm>
            <a:off x="1351280" y="2306320"/>
            <a:ext cx="1651000" cy="2306320"/>
          </a:xfrm>
          <a:prstGeom prst="roundRect">
            <a:avLst/>
          </a:prstGeom>
          <a:noFill/>
          <a:ln w="38100">
            <a:solidFill>
              <a:srgbClr val="5B9BD5"/>
            </a:solidFill>
          </a:ln>
          <a:effectLst>
            <a:outerShdw blurRad="6350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num"/>
          <p:cNvSpPr txBox="1"/>
          <p:nvPr/>
        </p:nvSpPr>
        <p:spPr>
          <a:xfrm>
            <a:off x="1473200" y="2848610"/>
            <a:ext cx="1409700" cy="1231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7600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03</a:t>
            </a:r>
            <a:endParaRPr lang="en-US" sz="7600" noProof="1"/>
          </a:p>
        </p:txBody>
      </p:sp>
      <p:sp>
        <p:nvSpPr>
          <p:cNvPr id="6" name="ch-title"/>
          <p:cNvSpPr txBox="1"/>
          <p:nvPr/>
        </p:nvSpPr>
        <p:spPr>
          <a:xfrm>
            <a:off x="3723640" y="3048000"/>
            <a:ext cx="78740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        技术方案</a:t>
            </a:r>
            <a:endParaRPr lang="en-US" sz="4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0"/>
            <a:ext cx="530860" cy="44831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988060"/>
            <a:ext cx="8841740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8832850" y="988060"/>
            <a:ext cx="3365500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14070" y="265430"/>
            <a:ext cx="8669020" cy="4394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技术架构</a:t>
            </a:r>
            <a:endParaRPr lang="en-US" sz="2400" noProof="1"/>
          </a:p>
        </p:txBody>
      </p:sp>
      <p:sp>
        <p:nvSpPr>
          <p:cNvPr id="6" name="Rounded Rectangle 7"/>
          <p:cNvSpPr/>
          <p:nvPr/>
        </p:nvSpPr>
        <p:spPr>
          <a:xfrm>
            <a:off x="622300" y="1325880"/>
            <a:ext cx="10927080" cy="96012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</p:spPr>
      </p:sp>
      <p:sp>
        <p:nvSpPr>
          <p:cNvPr id="7" name="TextBox 8"/>
          <p:cNvSpPr txBox="1"/>
          <p:nvPr/>
        </p:nvSpPr>
        <p:spPr>
          <a:xfrm>
            <a:off x="977900" y="1517650"/>
            <a:ext cx="2843530" cy="2463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前端UI层</a:t>
            </a:r>
            <a:endParaRPr lang="en-US" sz="1600" noProof="1"/>
          </a:p>
        </p:txBody>
      </p:sp>
      <p:sp>
        <p:nvSpPr>
          <p:cNvPr id="8" name="TextBox 9"/>
          <p:cNvSpPr txBox="1"/>
          <p:nvPr/>
        </p:nvSpPr>
        <p:spPr>
          <a:xfrm>
            <a:off x="4178300" y="1536700"/>
            <a:ext cx="6912610" cy="3390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渲染进程 / React 18</a:t>
            </a:r>
            <a:endParaRPr lang="en-US" sz="1100" noProof="1"/>
          </a:p>
          <a:p>
            <a:pPr algn="l">
              <a:lnSpc>
                <a:spcPct val="120000"/>
              </a:lnSpc>
            </a:pPr>
            <a:r>
              <a:rPr lang="en-US" sz="1100" b="1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聊天对话界面与消息流组件、侧边导航栏、系统设置面板、可用工具列表等</a:t>
            </a:r>
            <a:r>
              <a:rPr lang="en-US" sz="11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sz="1100" noProof="1"/>
          </a:p>
        </p:txBody>
      </p:sp>
      <p:sp>
        <p:nvSpPr>
          <p:cNvPr id="9" name="Rounded Rectangle 10"/>
          <p:cNvSpPr/>
          <p:nvPr/>
        </p:nvSpPr>
        <p:spPr>
          <a:xfrm>
            <a:off x="622300" y="2459990"/>
            <a:ext cx="10927080" cy="96012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</p:spPr>
      </p:sp>
      <p:sp>
        <p:nvSpPr>
          <p:cNvPr id="10" name="TextBox 11"/>
          <p:cNvSpPr txBox="1"/>
          <p:nvPr/>
        </p:nvSpPr>
        <p:spPr>
          <a:xfrm>
            <a:off x="977900" y="2651760"/>
            <a:ext cx="2843530" cy="2463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桥接层</a:t>
            </a:r>
            <a:endParaRPr lang="en-US" sz="1600" noProof="1"/>
          </a:p>
        </p:txBody>
      </p:sp>
      <p:sp>
        <p:nvSpPr>
          <p:cNvPr id="11" name="TextBox 12"/>
          <p:cNvSpPr txBox="1"/>
          <p:nvPr/>
        </p:nvSpPr>
        <p:spPr>
          <a:xfrm>
            <a:off x="4178300" y="2669540"/>
            <a:ext cx="6912610" cy="3390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Electron Preload</a:t>
            </a:r>
            <a:endParaRPr lang="en-US" sz="1100" noProof="1"/>
          </a:p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通过 contextBridge 构建通信通道，避免渲染进程直接触碰 Node.js能力，与UI隔离。</a:t>
            </a:r>
            <a:endParaRPr lang="en-US" sz="1100" noProof="1"/>
          </a:p>
        </p:txBody>
      </p:sp>
      <p:sp>
        <p:nvSpPr>
          <p:cNvPr id="12" name="Rounded Rectangle 13"/>
          <p:cNvSpPr/>
          <p:nvPr/>
        </p:nvSpPr>
        <p:spPr>
          <a:xfrm>
            <a:off x="622300" y="3594100"/>
            <a:ext cx="10927080" cy="96012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</p:spPr>
      </p:sp>
      <p:sp>
        <p:nvSpPr>
          <p:cNvPr id="13" name="TextBox 14"/>
          <p:cNvSpPr txBox="1"/>
          <p:nvPr/>
        </p:nvSpPr>
        <p:spPr>
          <a:xfrm>
            <a:off x="977900" y="3785870"/>
            <a:ext cx="2843530" cy="2463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核心逻辑层</a:t>
            </a:r>
            <a:endParaRPr lang="en-US" sz="1600" noProof="1"/>
          </a:p>
        </p:txBody>
      </p:sp>
      <p:sp>
        <p:nvSpPr>
          <p:cNvPr id="14" name="TextBox 15"/>
          <p:cNvSpPr txBox="1"/>
          <p:nvPr/>
        </p:nvSpPr>
        <p:spPr>
          <a:xfrm>
            <a:off x="4178300" y="3803650"/>
            <a:ext cx="6912610" cy="5067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agent引擎 / Electron 主进程</a:t>
            </a:r>
            <a:endParaRPr lang="en-US" sz="1100" noProof="1"/>
          </a:p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独立的 Agent Loop驱动智能体决策，统筹网络请求代理、SSE 流式解析、工具执行审批及 MCP 服务生命周期管理。</a:t>
            </a:r>
            <a:endParaRPr lang="en-US" sz="1100" noProof="1"/>
          </a:p>
        </p:txBody>
      </p:sp>
      <p:sp>
        <p:nvSpPr>
          <p:cNvPr id="15" name="Rounded Rectangle 16"/>
          <p:cNvSpPr/>
          <p:nvPr/>
        </p:nvSpPr>
        <p:spPr>
          <a:xfrm>
            <a:off x="622300" y="4726940"/>
            <a:ext cx="10927080" cy="96012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</p:spPr>
      </p:sp>
      <p:sp>
        <p:nvSpPr>
          <p:cNvPr id="16" name="TextBox 17"/>
          <p:cNvSpPr txBox="1"/>
          <p:nvPr/>
        </p:nvSpPr>
        <p:spPr>
          <a:xfrm>
            <a:off x="977900" y="4919980"/>
            <a:ext cx="2843530" cy="2463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持久化存储层</a:t>
            </a:r>
            <a:endParaRPr lang="en-US" sz="1600" noProof="1"/>
          </a:p>
        </p:txBody>
      </p:sp>
      <p:sp>
        <p:nvSpPr>
          <p:cNvPr id="17" name="TextBox 18"/>
          <p:cNvSpPr txBox="1"/>
          <p:nvPr/>
        </p:nvSpPr>
        <p:spPr>
          <a:xfrm>
            <a:off x="4178300" y="4937760"/>
            <a:ext cx="6912610" cy="5067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本地资源存储</a:t>
            </a:r>
            <a:endParaRPr lang="en-US" sz="1100" noProof="1"/>
          </a:p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维护前端会话状态，持久化存储任务审批记录，管理 Skills 插件目录及 MCP 子进程运行环境。</a:t>
            </a:r>
            <a:endParaRPr lang="en-US" sz="1100" noProof="1"/>
          </a:p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(后期可更扩展为OpenViking管理所有上下文)</a:t>
            </a:r>
            <a:endParaRPr lang="en-US" sz="1100" noProof="1"/>
          </a:p>
        </p:txBody>
      </p:sp>
      <p:sp>
        <p:nvSpPr>
          <p:cNvPr id="18" name="TextBox 19"/>
          <p:cNvSpPr txBox="1"/>
          <p:nvPr/>
        </p:nvSpPr>
        <p:spPr>
          <a:xfrm>
            <a:off x="768350" y="5989320"/>
            <a:ext cx="1066165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技术栈：Electron + Node.js + React + TypeScript + Vite + MCP SDK + 文档/文件处理工具</a:t>
            </a:r>
            <a:endParaRPr lang="en-US" sz="1300" noProof="1"/>
          </a:p>
        </p:txBody>
      </p:sp>
      <p:sp>
        <p:nvSpPr>
          <p:cNvPr id="19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20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0"/>
            <a:ext cx="530860" cy="44831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988060"/>
            <a:ext cx="8841740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8832850" y="988060"/>
            <a:ext cx="3365500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14070" y="265430"/>
            <a:ext cx="8669020" cy="4394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Agent Loop 设计</a:t>
            </a:r>
            <a:endParaRPr lang="en-US" sz="2400" noProof="1"/>
          </a:p>
        </p:txBody>
      </p:sp>
      <p:sp>
        <p:nvSpPr>
          <p:cNvPr id="6" name="Rounded Rectangle 7"/>
          <p:cNvSpPr/>
          <p:nvPr/>
        </p:nvSpPr>
        <p:spPr>
          <a:xfrm>
            <a:off x="640080" y="1325880"/>
            <a:ext cx="10927080" cy="89662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</p:spPr>
      </p:sp>
      <p:sp>
        <p:nvSpPr>
          <p:cNvPr id="7" name="Rounded Rectangle 8-shape"/>
          <p:cNvSpPr/>
          <p:nvPr/>
        </p:nvSpPr>
        <p:spPr>
          <a:xfrm>
            <a:off x="805180" y="1522730"/>
            <a:ext cx="502920" cy="50292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8" name="Rounded Rectangle 8-text"/>
          <p:cNvSpPr txBox="1"/>
          <p:nvPr/>
        </p:nvSpPr>
        <p:spPr>
          <a:xfrm>
            <a:off x="805180" y="152273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1300" noProof="1"/>
          </a:p>
        </p:txBody>
      </p:sp>
      <p:sp>
        <p:nvSpPr>
          <p:cNvPr id="9" name="TextBox 9"/>
          <p:cNvSpPr txBox="1"/>
          <p:nvPr/>
        </p:nvSpPr>
        <p:spPr>
          <a:xfrm>
            <a:off x="1617980" y="1480820"/>
            <a:ext cx="8467090" cy="231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定义全生命周期状态流转</a:t>
            </a:r>
            <a:endParaRPr lang="en-US" sz="1500" noProof="1"/>
          </a:p>
        </p:txBody>
      </p:sp>
      <p:sp>
        <p:nvSpPr>
          <p:cNvPr id="10" name="TextBox 10"/>
          <p:cNvSpPr txBox="1"/>
          <p:nvPr/>
        </p:nvSpPr>
        <p:spPr>
          <a:xfrm>
            <a:off x="1617980" y="1811020"/>
            <a:ext cx="9564370" cy="1689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涵盖运行中、待审批、已取消、执行失败、已完成及未知异常等状态，通过事件驱动机制确保流程可控。</a:t>
            </a:r>
            <a:endParaRPr lang="en-US" sz="1100" noProof="1"/>
          </a:p>
        </p:txBody>
      </p:sp>
      <p:sp>
        <p:nvSpPr>
          <p:cNvPr id="11" name="Rounded Rectangle 11"/>
          <p:cNvSpPr/>
          <p:nvPr/>
        </p:nvSpPr>
        <p:spPr>
          <a:xfrm>
            <a:off x="640080" y="2359660"/>
            <a:ext cx="10927080" cy="89662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</p:spPr>
      </p:sp>
      <p:sp>
        <p:nvSpPr>
          <p:cNvPr id="12" name="Rounded Rectangle 12-shape"/>
          <p:cNvSpPr/>
          <p:nvPr/>
        </p:nvSpPr>
        <p:spPr>
          <a:xfrm>
            <a:off x="805180" y="2555240"/>
            <a:ext cx="502920" cy="50292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13" name="Rounded Rectangle 12-text"/>
          <p:cNvSpPr txBox="1"/>
          <p:nvPr/>
        </p:nvSpPr>
        <p:spPr>
          <a:xfrm>
            <a:off x="805180" y="25552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1300" noProof="1"/>
          </a:p>
        </p:txBody>
      </p:sp>
      <p:sp>
        <p:nvSpPr>
          <p:cNvPr id="14" name="TextBox 13"/>
          <p:cNvSpPr txBox="1"/>
          <p:nvPr/>
        </p:nvSpPr>
        <p:spPr>
          <a:xfrm>
            <a:off x="1617980" y="2514600"/>
            <a:ext cx="846709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多轮工具循环</a:t>
            </a:r>
            <a:endParaRPr lang="en-US" sz="1500" noProof="1"/>
          </a:p>
        </p:txBody>
      </p:sp>
      <p:sp>
        <p:nvSpPr>
          <p:cNvPr id="15" name="TextBox 14"/>
          <p:cNvSpPr txBox="1"/>
          <p:nvPr/>
        </p:nvSpPr>
        <p:spPr>
          <a:xfrm>
            <a:off x="1617980" y="2843530"/>
            <a:ext cx="9564370" cy="1689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构建“思考-执行”闭环： 模型生成工具调用指令后，由客户端接管执行并将结果回填，驱动模型基于反馈对下一轮决策，实现复杂任务拆解与处理。</a:t>
            </a:r>
            <a:endParaRPr lang="en-US" sz="1100" noProof="1"/>
          </a:p>
        </p:txBody>
      </p:sp>
      <p:sp>
        <p:nvSpPr>
          <p:cNvPr id="16" name="Rounded Rectangle 15"/>
          <p:cNvSpPr/>
          <p:nvPr/>
        </p:nvSpPr>
        <p:spPr>
          <a:xfrm>
            <a:off x="640080" y="3392170"/>
            <a:ext cx="10927080" cy="89662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</p:spPr>
      </p:sp>
      <p:sp>
        <p:nvSpPr>
          <p:cNvPr id="17" name="Rounded Rectangle 16-shape"/>
          <p:cNvSpPr/>
          <p:nvPr/>
        </p:nvSpPr>
        <p:spPr>
          <a:xfrm>
            <a:off x="805180" y="3589020"/>
            <a:ext cx="502920" cy="50292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18" name="Rounded Rectangle 16-text"/>
          <p:cNvSpPr txBox="1"/>
          <p:nvPr/>
        </p:nvSpPr>
        <p:spPr>
          <a:xfrm>
            <a:off x="805180" y="35890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1300" noProof="1"/>
          </a:p>
        </p:txBody>
      </p:sp>
      <p:sp>
        <p:nvSpPr>
          <p:cNvPr id="19" name="TextBox 17"/>
          <p:cNvSpPr txBox="1"/>
          <p:nvPr/>
        </p:nvSpPr>
        <p:spPr>
          <a:xfrm>
            <a:off x="1617980" y="3548380"/>
            <a:ext cx="846709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可中断与恢复</a:t>
            </a:r>
            <a:endParaRPr lang="en-US" sz="1500" noProof="1"/>
          </a:p>
        </p:txBody>
      </p:sp>
      <p:sp>
        <p:nvSpPr>
          <p:cNvPr id="20" name="TextBox 18"/>
          <p:cNvSpPr txBox="1"/>
          <p:nvPr/>
        </p:nvSpPr>
        <p:spPr>
          <a:xfrm>
            <a:off x="1617980" y="3877310"/>
            <a:ext cx="9564370" cy="1689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支持灵活的任务管控： 利用中断机制实现生成的即时停止；同时将审批记录持久化存储，确保页面刷新或异常退出后，待办任务仍可追溯并继续处理。</a:t>
            </a:r>
            <a:endParaRPr lang="en-US" sz="1100" noProof="1"/>
          </a:p>
        </p:txBody>
      </p:sp>
      <p:sp>
        <p:nvSpPr>
          <p:cNvPr id="21" name="Rounded Rectangle 19"/>
          <p:cNvSpPr/>
          <p:nvPr/>
        </p:nvSpPr>
        <p:spPr>
          <a:xfrm>
            <a:off x="640080" y="4425950"/>
            <a:ext cx="10927080" cy="89662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</p:spPr>
      </p:sp>
      <p:sp>
        <p:nvSpPr>
          <p:cNvPr id="22" name="Rounded Rectangle 20-shape"/>
          <p:cNvSpPr/>
          <p:nvPr/>
        </p:nvSpPr>
        <p:spPr>
          <a:xfrm>
            <a:off x="805180" y="4622800"/>
            <a:ext cx="502920" cy="50292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23" name="Rounded Rectangle 20-text"/>
          <p:cNvSpPr txBox="1"/>
          <p:nvPr/>
        </p:nvSpPr>
        <p:spPr>
          <a:xfrm>
            <a:off x="805180" y="46228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sz="1300" noProof="1"/>
          </a:p>
        </p:txBody>
      </p:sp>
      <p:sp>
        <p:nvSpPr>
          <p:cNvPr id="24" name="TextBox 21"/>
          <p:cNvSpPr txBox="1"/>
          <p:nvPr/>
        </p:nvSpPr>
        <p:spPr>
          <a:xfrm>
            <a:off x="1617980" y="4580890"/>
            <a:ext cx="846709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错误分级反馈</a:t>
            </a:r>
            <a:endParaRPr lang="en-US" sz="1500" noProof="1"/>
          </a:p>
        </p:txBody>
      </p:sp>
      <p:sp>
        <p:nvSpPr>
          <p:cNvPr id="25" name="TextBox 22"/>
          <p:cNvSpPr txBox="1"/>
          <p:nvPr/>
        </p:nvSpPr>
        <p:spPr>
          <a:xfrm>
            <a:off x="1617980" y="4909820"/>
            <a:ext cx="9564370" cy="1689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建立精细化异常处理机制： 针对协议连接、工具执行、附件解析及审批超时等不同场景提供差异化进行提示。</a:t>
            </a:r>
            <a:endParaRPr lang="en-US" sz="1100" noProof="1"/>
          </a:p>
        </p:txBody>
      </p:sp>
      <p:sp>
        <p:nvSpPr>
          <p:cNvPr id="26" name="Rounded Rectangle 23"/>
          <p:cNvSpPr/>
          <p:nvPr/>
        </p:nvSpPr>
        <p:spPr>
          <a:xfrm>
            <a:off x="640080" y="5458460"/>
            <a:ext cx="10927080" cy="89662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</p:spPr>
      </p:sp>
      <p:sp>
        <p:nvSpPr>
          <p:cNvPr id="27" name="Rounded Rectangle 24-shape"/>
          <p:cNvSpPr/>
          <p:nvPr/>
        </p:nvSpPr>
        <p:spPr>
          <a:xfrm>
            <a:off x="805180" y="5655310"/>
            <a:ext cx="502920" cy="50292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28" name="Rounded Rectangle 24-text"/>
          <p:cNvSpPr txBox="1"/>
          <p:nvPr/>
        </p:nvSpPr>
        <p:spPr>
          <a:xfrm>
            <a:off x="805180" y="565531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sz="1300" noProof="1"/>
          </a:p>
        </p:txBody>
      </p:sp>
      <p:sp>
        <p:nvSpPr>
          <p:cNvPr id="29" name="TextBox 25"/>
          <p:cNvSpPr txBox="1"/>
          <p:nvPr/>
        </p:nvSpPr>
        <p:spPr>
          <a:xfrm>
            <a:off x="1617980" y="5614670"/>
            <a:ext cx="846709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结果体积控制</a:t>
            </a:r>
            <a:endParaRPr lang="en-US" sz="1500" noProof="1"/>
          </a:p>
        </p:txBody>
      </p:sp>
      <p:sp>
        <p:nvSpPr>
          <p:cNvPr id="30" name="TextBox 26"/>
          <p:cNvSpPr txBox="1"/>
          <p:nvPr/>
        </p:nvSpPr>
        <p:spPr>
          <a:xfrm>
            <a:off x="1617980" y="5943600"/>
            <a:ext cx="9564370" cy="1689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实施输出内容的边界防护： 对工具返回结果进行控制，有效防止超长数据溢出占上下文窗口，保障模型记忆的稳定性与效率。</a:t>
            </a:r>
            <a:endParaRPr lang="en-US" sz="1100" noProof="1"/>
          </a:p>
        </p:txBody>
      </p:sp>
      <p:sp>
        <p:nvSpPr>
          <p:cNvPr id="31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32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0"/>
            <a:ext cx="530860" cy="44831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988060"/>
            <a:ext cx="8841740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8832850" y="988060"/>
            <a:ext cx="3365500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14070" y="265430"/>
            <a:ext cx="8669020" cy="4394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工具系统与权限模型</a:t>
            </a:r>
            <a:endParaRPr lang="en-US" sz="2400" noProof="1"/>
          </a:p>
        </p:txBody>
      </p:sp>
      <p:sp>
        <p:nvSpPr>
          <p:cNvPr id="6" name="Rectangle 7"/>
          <p:cNvSpPr txBox="1"/>
          <p:nvPr/>
        </p:nvSpPr>
        <p:spPr>
          <a:xfrm>
            <a:off x="640080" y="1262380"/>
            <a:ext cx="4297680" cy="457200"/>
          </a:xfrm>
          <a:prstGeom prst="rect">
            <a:avLst/>
          </a:prstGeom>
          <a:solidFill>
            <a:srgbClr val="22396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工具</a:t>
            </a:r>
            <a:endParaRPr lang="en-US" sz="1400" noProof="1"/>
          </a:p>
        </p:txBody>
      </p:sp>
      <p:sp>
        <p:nvSpPr>
          <p:cNvPr id="7" name="Rectangle 8"/>
          <p:cNvSpPr txBox="1"/>
          <p:nvPr/>
        </p:nvSpPr>
        <p:spPr>
          <a:xfrm>
            <a:off x="4937760" y="1262380"/>
            <a:ext cx="219456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权限</a:t>
            </a:r>
            <a:endParaRPr lang="en-US" sz="1400" noProof="1"/>
          </a:p>
        </p:txBody>
      </p:sp>
      <p:sp>
        <p:nvSpPr>
          <p:cNvPr id="8" name="Rectangle 9"/>
          <p:cNvSpPr txBox="1"/>
          <p:nvPr/>
        </p:nvSpPr>
        <p:spPr>
          <a:xfrm>
            <a:off x="7132320" y="1262380"/>
            <a:ext cx="4434840" cy="457200"/>
          </a:xfrm>
          <a:prstGeom prst="rect">
            <a:avLst/>
          </a:prstGeom>
          <a:solidFill>
            <a:srgbClr val="22396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行为说明</a:t>
            </a:r>
            <a:endParaRPr lang="en-US" sz="1400" noProof="1"/>
          </a:p>
        </p:txBody>
      </p:sp>
      <p:sp>
        <p:nvSpPr>
          <p:cNvPr id="9" name="Rectangle 10-shape"/>
          <p:cNvSpPr/>
          <p:nvPr/>
        </p:nvSpPr>
        <p:spPr>
          <a:xfrm>
            <a:off x="640080" y="1811020"/>
            <a:ext cx="4297680" cy="822960"/>
          </a:xfrm>
          <a:prstGeom prst="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</p:spPr>
      </p:sp>
      <p:sp>
        <p:nvSpPr>
          <p:cNvPr id="10" name="Rectangle 10-text"/>
          <p:cNvSpPr txBox="1"/>
          <p:nvPr/>
        </p:nvSpPr>
        <p:spPr>
          <a:xfrm>
            <a:off x="640080" y="1811020"/>
            <a:ext cx="429768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file_read</a:t>
            </a:r>
            <a:endParaRPr lang="en-US" sz="1200" noProof="1"/>
          </a:p>
        </p:txBody>
      </p:sp>
      <p:sp>
        <p:nvSpPr>
          <p:cNvPr id="11" name="Rectangle 11-shape"/>
          <p:cNvSpPr/>
          <p:nvPr/>
        </p:nvSpPr>
        <p:spPr>
          <a:xfrm>
            <a:off x="4937760" y="1811020"/>
            <a:ext cx="2194560" cy="822960"/>
          </a:xfrm>
          <a:prstGeom prst="rect">
            <a:avLst/>
          </a:prstGeom>
          <a:solidFill>
            <a:srgbClr val="E7F6EF"/>
          </a:solidFill>
          <a:ln w="12700">
            <a:solidFill>
              <a:srgbClr val="00825A"/>
            </a:solidFill>
          </a:ln>
        </p:spPr>
      </p:sp>
      <p:sp>
        <p:nvSpPr>
          <p:cNvPr id="12" name="Rectangle 11-text"/>
          <p:cNvSpPr txBox="1"/>
          <p:nvPr/>
        </p:nvSpPr>
        <p:spPr>
          <a:xfrm>
            <a:off x="4937760" y="1811020"/>
            <a:ext cx="21945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read</a:t>
            </a:r>
            <a:endParaRPr lang="en-US" sz="1200" noProof="1"/>
          </a:p>
        </p:txBody>
      </p:sp>
      <p:sp>
        <p:nvSpPr>
          <p:cNvPr id="13" name="Rectangle 12-shape"/>
          <p:cNvSpPr/>
          <p:nvPr/>
        </p:nvSpPr>
        <p:spPr>
          <a:xfrm>
            <a:off x="7132320" y="1811020"/>
            <a:ext cx="4434840" cy="822960"/>
          </a:xfrm>
          <a:prstGeom prst="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</p:spPr>
      </p:sp>
      <p:sp>
        <p:nvSpPr>
          <p:cNvPr id="14" name="Rectangle 12-text"/>
          <p:cNvSpPr txBox="1"/>
          <p:nvPr/>
        </p:nvSpPr>
        <p:spPr>
          <a:xfrm>
            <a:off x="7132320" y="1811020"/>
            <a:ext cx="443484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读取文件内容，支持编码识别与大小限制。</a:t>
            </a:r>
            <a:endParaRPr lang="en-US" sz="1100" noProof="1"/>
          </a:p>
        </p:txBody>
      </p:sp>
      <p:sp>
        <p:nvSpPr>
          <p:cNvPr id="15" name="Rectangle 13-shape"/>
          <p:cNvSpPr/>
          <p:nvPr/>
        </p:nvSpPr>
        <p:spPr>
          <a:xfrm>
            <a:off x="640080" y="2725420"/>
            <a:ext cx="4297680" cy="822960"/>
          </a:xfrm>
          <a:prstGeom prst="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</p:spPr>
      </p:sp>
      <p:sp>
        <p:nvSpPr>
          <p:cNvPr id="16" name="Rectangle 13-text"/>
          <p:cNvSpPr txBox="1"/>
          <p:nvPr/>
        </p:nvSpPr>
        <p:spPr>
          <a:xfrm>
            <a:off x="640080" y="2725420"/>
            <a:ext cx="429768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file_write</a:t>
            </a:r>
            <a:endParaRPr lang="en-US" sz="1200" noProof="1"/>
          </a:p>
        </p:txBody>
      </p:sp>
      <p:sp>
        <p:nvSpPr>
          <p:cNvPr id="17" name="Rectangle 14-shape"/>
          <p:cNvSpPr/>
          <p:nvPr/>
        </p:nvSpPr>
        <p:spPr>
          <a:xfrm>
            <a:off x="4937760" y="2725420"/>
            <a:ext cx="2194560" cy="822960"/>
          </a:xfrm>
          <a:prstGeom prst="rect">
            <a:avLst/>
          </a:prstGeom>
          <a:solidFill>
            <a:srgbClr val="E7F6EF"/>
          </a:solidFill>
          <a:ln w="12700">
            <a:solidFill>
              <a:srgbClr val="00825A"/>
            </a:solidFill>
          </a:ln>
        </p:spPr>
      </p:sp>
      <p:sp>
        <p:nvSpPr>
          <p:cNvPr id="18" name="Rectangle 14-text"/>
          <p:cNvSpPr txBox="1"/>
          <p:nvPr/>
        </p:nvSpPr>
        <p:spPr>
          <a:xfrm>
            <a:off x="4937760" y="2725420"/>
            <a:ext cx="21945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write</a:t>
            </a:r>
            <a:endParaRPr lang="en-US" sz="1200" noProof="1"/>
          </a:p>
        </p:txBody>
      </p:sp>
      <p:sp>
        <p:nvSpPr>
          <p:cNvPr id="19" name="Rectangle 15-shape"/>
          <p:cNvSpPr/>
          <p:nvPr/>
        </p:nvSpPr>
        <p:spPr>
          <a:xfrm>
            <a:off x="7132320" y="2725420"/>
            <a:ext cx="4434840" cy="822960"/>
          </a:xfrm>
          <a:prstGeom prst="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</p:spPr>
      </p:sp>
      <p:sp>
        <p:nvSpPr>
          <p:cNvPr id="20" name="Rectangle 15-text"/>
          <p:cNvSpPr txBox="1"/>
          <p:nvPr/>
        </p:nvSpPr>
        <p:spPr>
          <a:xfrm>
            <a:off x="7132320" y="2725420"/>
            <a:ext cx="443484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写入或修改文件；ask 模式需用户审批，full 模式仍校验路径。</a:t>
            </a:r>
            <a:endParaRPr lang="en-US" sz="1100" noProof="1"/>
          </a:p>
        </p:txBody>
      </p:sp>
      <p:sp>
        <p:nvSpPr>
          <p:cNvPr id="21" name="Rectangle 16-shape"/>
          <p:cNvSpPr/>
          <p:nvPr/>
        </p:nvSpPr>
        <p:spPr>
          <a:xfrm>
            <a:off x="640080" y="3639820"/>
            <a:ext cx="4297680" cy="822960"/>
          </a:xfrm>
          <a:prstGeom prst="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</p:spPr>
      </p:sp>
      <p:sp>
        <p:nvSpPr>
          <p:cNvPr id="22" name="Rectangle 16-text"/>
          <p:cNvSpPr txBox="1"/>
          <p:nvPr/>
        </p:nvSpPr>
        <p:spPr>
          <a:xfrm>
            <a:off x="640080" y="3639820"/>
            <a:ext cx="429768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dangerous 工具</a:t>
            </a:r>
            <a:endParaRPr lang="en-US" sz="1200" noProof="1"/>
          </a:p>
        </p:txBody>
      </p:sp>
      <p:sp>
        <p:nvSpPr>
          <p:cNvPr id="23" name="Rectangle 17-shape"/>
          <p:cNvSpPr/>
          <p:nvPr/>
        </p:nvSpPr>
        <p:spPr>
          <a:xfrm>
            <a:off x="4937760" y="3639820"/>
            <a:ext cx="2194560" cy="822960"/>
          </a:xfrm>
          <a:prstGeom prst="rect">
            <a:avLst/>
          </a:prstGeom>
          <a:solidFill>
            <a:srgbClr val="E7F6EF"/>
          </a:solidFill>
          <a:ln w="12700">
            <a:solidFill>
              <a:srgbClr val="00825A"/>
            </a:solidFill>
          </a:ln>
        </p:spPr>
      </p:sp>
      <p:sp>
        <p:nvSpPr>
          <p:cNvPr id="24" name="Rectangle 17-text"/>
          <p:cNvSpPr txBox="1"/>
          <p:nvPr/>
        </p:nvSpPr>
        <p:spPr>
          <a:xfrm>
            <a:off x="4937760" y="3639820"/>
            <a:ext cx="21945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dangerous</a:t>
            </a:r>
            <a:endParaRPr lang="en-US" sz="1200" noProof="1"/>
          </a:p>
        </p:txBody>
      </p:sp>
      <p:sp>
        <p:nvSpPr>
          <p:cNvPr id="25" name="Rectangle 18-shape"/>
          <p:cNvSpPr/>
          <p:nvPr/>
        </p:nvSpPr>
        <p:spPr>
          <a:xfrm>
            <a:off x="7132320" y="3639820"/>
            <a:ext cx="4434840" cy="822960"/>
          </a:xfrm>
          <a:prstGeom prst="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</p:spPr>
      </p:sp>
      <p:sp>
        <p:nvSpPr>
          <p:cNvPr id="26" name="Rectangle 18-text"/>
          <p:cNvSpPr txBox="1"/>
          <p:nvPr/>
        </p:nvSpPr>
        <p:spPr>
          <a:xfrm>
            <a:off x="7132320" y="3639820"/>
            <a:ext cx="443484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执行命令等高危动作，当前版本默认拒绝。</a:t>
            </a:r>
            <a:endParaRPr lang="en-US" sz="1100" noProof="1"/>
          </a:p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（如 Shell 命令 rm -rf、curl 下载执行脚本）</a:t>
            </a:r>
            <a:endParaRPr lang="en-US" sz="1100" noProof="1"/>
          </a:p>
        </p:txBody>
      </p:sp>
      <p:sp>
        <p:nvSpPr>
          <p:cNvPr id="27" name="Rectangle 19-shape"/>
          <p:cNvSpPr/>
          <p:nvPr/>
        </p:nvSpPr>
        <p:spPr>
          <a:xfrm>
            <a:off x="640080" y="4554220"/>
            <a:ext cx="4297680" cy="822960"/>
          </a:xfrm>
          <a:prstGeom prst="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</p:spPr>
      </p:sp>
      <p:sp>
        <p:nvSpPr>
          <p:cNvPr id="28" name="Rectangle 19-text"/>
          <p:cNvSpPr txBox="1"/>
          <p:nvPr/>
        </p:nvSpPr>
        <p:spPr>
          <a:xfrm>
            <a:off x="640080" y="4554220"/>
            <a:ext cx="429768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MCP 工具</a:t>
            </a:r>
            <a:endParaRPr lang="en-US" sz="1200" noProof="1"/>
          </a:p>
        </p:txBody>
      </p:sp>
      <p:sp>
        <p:nvSpPr>
          <p:cNvPr id="29" name="Rectangle 20-shape"/>
          <p:cNvSpPr/>
          <p:nvPr/>
        </p:nvSpPr>
        <p:spPr>
          <a:xfrm>
            <a:off x="4937760" y="4554220"/>
            <a:ext cx="2194560" cy="822960"/>
          </a:xfrm>
          <a:prstGeom prst="rect">
            <a:avLst/>
          </a:prstGeom>
          <a:solidFill>
            <a:srgbClr val="E7F6EF"/>
          </a:solidFill>
          <a:ln w="12700">
            <a:solidFill>
              <a:srgbClr val="00825A"/>
            </a:solidFill>
          </a:ln>
        </p:spPr>
      </p:sp>
      <p:sp>
        <p:nvSpPr>
          <p:cNvPr id="30" name="Rectangle 20-text"/>
          <p:cNvSpPr txBox="1"/>
          <p:nvPr/>
        </p:nvSpPr>
        <p:spPr>
          <a:xfrm>
            <a:off x="4937760" y="4554220"/>
            <a:ext cx="21945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按服务声明</a:t>
            </a:r>
            <a:endParaRPr lang="en-US" sz="1200" noProof="1"/>
          </a:p>
        </p:txBody>
      </p:sp>
      <p:sp>
        <p:nvSpPr>
          <p:cNvPr id="31" name="Rectangle 21-shape"/>
          <p:cNvSpPr/>
          <p:nvPr/>
        </p:nvSpPr>
        <p:spPr>
          <a:xfrm>
            <a:off x="7132320" y="4554220"/>
            <a:ext cx="4434840" cy="822960"/>
          </a:xfrm>
          <a:prstGeom prst="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</p:spPr>
      </p:sp>
      <p:sp>
        <p:nvSpPr>
          <p:cNvPr id="32" name="Rectangle 21-text"/>
          <p:cNvSpPr txBox="1"/>
          <p:nvPr/>
        </p:nvSpPr>
        <p:spPr>
          <a:xfrm>
            <a:off x="7132320" y="4554220"/>
            <a:ext cx="443484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服务启动后注册为工具，权限映射到 read/write/dangerous。</a:t>
            </a:r>
            <a:endParaRPr lang="en-US" sz="1100" noProof="1"/>
          </a:p>
        </p:txBody>
      </p:sp>
      <p:sp>
        <p:nvSpPr>
          <p:cNvPr id="33" name="Rectangle 22"/>
          <p:cNvSpPr txBox="1"/>
          <p:nvPr/>
        </p:nvSpPr>
        <p:spPr>
          <a:xfrm>
            <a:off x="640080" y="5486400"/>
            <a:ext cx="10927080" cy="622300"/>
          </a:xfrm>
          <a:prstGeom prst="rect">
            <a:avLst/>
          </a:prstGeom>
          <a:solidFill>
            <a:srgbClr val="22396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安全原则：严格限定操作路径范围；高危操作默认禁止执行。</a:t>
            </a:r>
            <a:endParaRPr lang="en-US" sz="1300" noProof="1"/>
          </a:p>
        </p:txBody>
      </p:sp>
      <p:sp>
        <p:nvSpPr>
          <p:cNvPr id="34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35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0"/>
            <a:ext cx="530860" cy="44831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988060"/>
            <a:ext cx="8841740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8832850" y="988060"/>
            <a:ext cx="3365500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14070" y="265430"/>
            <a:ext cx="8669020" cy="4394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附件解析能力</a:t>
            </a:r>
            <a:endParaRPr lang="en-US" sz="2400" noProof="1"/>
          </a:p>
        </p:txBody>
      </p:sp>
      <p:sp>
        <p:nvSpPr>
          <p:cNvPr id="6" name="Rounded Rectangle 7"/>
          <p:cNvSpPr/>
          <p:nvPr/>
        </p:nvSpPr>
        <p:spPr>
          <a:xfrm>
            <a:off x="685800" y="1371600"/>
            <a:ext cx="2468880" cy="137160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</p:spPr>
      </p:sp>
      <p:sp>
        <p:nvSpPr>
          <p:cNvPr id="7" name="TextBox 8"/>
          <p:cNvSpPr txBox="1"/>
          <p:nvPr/>
        </p:nvSpPr>
        <p:spPr>
          <a:xfrm>
            <a:off x="795020" y="1673860"/>
            <a:ext cx="224917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6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文本</a:t>
            </a:r>
            <a:endParaRPr lang="en-US" sz="1600" noProof="1"/>
          </a:p>
        </p:txBody>
      </p:sp>
      <p:sp>
        <p:nvSpPr>
          <p:cNvPr id="8" name="TextBox 9"/>
          <p:cNvSpPr txBox="1"/>
          <p:nvPr/>
        </p:nvSpPr>
        <p:spPr>
          <a:xfrm>
            <a:off x="795020" y="2131060"/>
            <a:ext cx="224917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TXT / MD</a:t>
            </a:r>
            <a:endParaRPr lang="en-US" sz="1200" noProof="1"/>
          </a:p>
        </p:txBody>
      </p:sp>
      <p:sp>
        <p:nvSpPr>
          <p:cNvPr id="9" name="Rounded Rectangle 10"/>
          <p:cNvSpPr/>
          <p:nvPr/>
        </p:nvSpPr>
        <p:spPr>
          <a:xfrm>
            <a:off x="3429000" y="1371600"/>
            <a:ext cx="2468880" cy="137160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</p:spPr>
      </p:sp>
      <p:sp>
        <p:nvSpPr>
          <p:cNvPr id="10" name="TextBox 11"/>
          <p:cNvSpPr txBox="1"/>
          <p:nvPr/>
        </p:nvSpPr>
        <p:spPr>
          <a:xfrm>
            <a:off x="3538220" y="1673860"/>
            <a:ext cx="224917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6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表格</a:t>
            </a:r>
            <a:endParaRPr lang="en-US" sz="1600" noProof="1"/>
          </a:p>
        </p:txBody>
      </p:sp>
      <p:sp>
        <p:nvSpPr>
          <p:cNvPr id="11" name="TextBox 12"/>
          <p:cNvSpPr txBox="1"/>
          <p:nvPr/>
        </p:nvSpPr>
        <p:spPr>
          <a:xfrm>
            <a:off x="3538220" y="2131060"/>
            <a:ext cx="224917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CSV / JSON / XLSX</a:t>
            </a:r>
            <a:endParaRPr lang="en-US" sz="1200" noProof="1"/>
          </a:p>
        </p:txBody>
      </p:sp>
      <p:sp>
        <p:nvSpPr>
          <p:cNvPr id="12" name="Rounded Rectangle 13"/>
          <p:cNvSpPr/>
          <p:nvPr/>
        </p:nvSpPr>
        <p:spPr>
          <a:xfrm>
            <a:off x="6172200" y="1371600"/>
            <a:ext cx="2468880" cy="137160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</p:spPr>
      </p:sp>
      <p:sp>
        <p:nvSpPr>
          <p:cNvPr id="13" name="TextBox 14"/>
          <p:cNvSpPr txBox="1"/>
          <p:nvPr/>
        </p:nvSpPr>
        <p:spPr>
          <a:xfrm>
            <a:off x="6281420" y="1673860"/>
            <a:ext cx="224917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6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文档</a:t>
            </a:r>
            <a:endParaRPr lang="en-US" sz="1600" noProof="1"/>
          </a:p>
        </p:txBody>
      </p:sp>
      <p:sp>
        <p:nvSpPr>
          <p:cNvPr id="14" name="TextBox 15"/>
          <p:cNvSpPr txBox="1"/>
          <p:nvPr/>
        </p:nvSpPr>
        <p:spPr>
          <a:xfrm>
            <a:off x="6281420" y="2131060"/>
            <a:ext cx="224917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PDF / DOCX</a:t>
            </a:r>
            <a:endParaRPr lang="en-US" sz="1200" noProof="1"/>
          </a:p>
        </p:txBody>
      </p:sp>
      <p:sp>
        <p:nvSpPr>
          <p:cNvPr id="15" name="Rounded Rectangle 16"/>
          <p:cNvSpPr/>
          <p:nvPr/>
        </p:nvSpPr>
        <p:spPr>
          <a:xfrm>
            <a:off x="8915400" y="1371600"/>
            <a:ext cx="2468880" cy="137160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</p:spPr>
      </p:sp>
      <p:sp>
        <p:nvSpPr>
          <p:cNvPr id="16" name="TextBox 17"/>
          <p:cNvSpPr txBox="1"/>
          <p:nvPr/>
        </p:nvSpPr>
        <p:spPr>
          <a:xfrm>
            <a:off x="9024620" y="1673860"/>
            <a:ext cx="224917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6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演示</a:t>
            </a:r>
            <a:endParaRPr lang="en-US" sz="1600" noProof="1"/>
          </a:p>
        </p:txBody>
      </p:sp>
      <p:sp>
        <p:nvSpPr>
          <p:cNvPr id="17" name="TextBox 18"/>
          <p:cNvSpPr txBox="1"/>
          <p:nvPr/>
        </p:nvSpPr>
        <p:spPr>
          <a:xfrm>
            <a:off x="9024620" y="2131060"/>
            <a:ext cx="224917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PPTX</a:t>
            </a:r>
            <a:endParaRPr lang="en-US" sz="1200" noProof="1"/>
          </a:p>
        </p:txBody>
      </p:sp>
      <p:sp>
        <p:nvSpPr>
          <p:cNvPr id="18" name="Rounded Rectangle 19"/>
          <p:cNvSpPr/>
          <p:nvPr/>
        </p:nvSpPr>
        <p:spPr>
          <a:xfrm>
            <a:off x="685800" y="3154680"/>
            <a:ext cx="2468880" cy="123444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5B9BD5"/>
            </a:solidFill>
          </a:ln>
        </p:spPr>
      </p:sp>
      <p:sp>
        <p:nvSpPr>
          <p:cNvPr id="19" name="TextBox 20"/>
          <p:cNvSpPr txBox="1"/>
          <p:nvPr/>
        </p:nvSpPr>
        <p:spPr>
          <a:xfrm>
            <a:off x="795020" y="3411220"/>
            <a:ext cx="224917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上传选择</a:t>
            </a:r>
            <a:endParaRPr lang="en-US" sz="1400" noProof="1"/>
          </a:p>
        </p:txBody>
      </p:sp>
      <p:sp>
        <p:nvSpPr>
          <p:cNvPr id="20" name="TextBox 21"/>
          <p:cNvSpPr txBox="1"/>
          <p:nvPr/>
        </p:nvSpPr>
        <p:spPr>
          <a:xfrm>
            <a:off x="886460" y="3776980"/>
            <a:ext cx="206629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渲染进程选择附件</a:t>
            </a:r>
            <a:endParaRPr lang="en-US" sz="1100" noProof="1"/>
          </a:p>
        </p:txBody>
      </p:sp>
      <p:sp>
        <p:nvSpPr>
          <p:cNvPr id="21" name="Rounded Rectangle 22"/>
          <p:cNvSpPr/>
          <p:nvPr/>
        </p:nvSpPr>
        <p:spPr>
          <a:xfrm>
            <a:off x="3429000" y="3154680"/>
            <a:ext cx="2468880" cy="123444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5B9BD5"/>
            </a:solidFill>
          </a:ln>
        </p:spPr>
      </p:sp>
      <p:sp>
        <p:nvSpPr>
          <p:cNvPr id="22" name="TextBox 23"/>
          <p:cNvSpPr txBox="1"/>
          <p:nvPr/>
        </p:nvSpPr>
        <p:spPr>
          <a:xfrm>
            <a:off x="3538220" y="3411220"/>
            <a:ext cx="224917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复制解析</a:t>
            </a:r>
            <a:endParaRPr lang="en-US" sz="1400" noProof="1"/>
          </a:p>
        </p:txBody>
      </p:sp>
      <p:sp>
        <p:nvSpPr>
          <p:cNvPr id="23" name="TextBox 24"/>
          <p:cNvSpPr txBox="1"/>
          <p:nvPr/>
        </p:nvSpPr>
        <p:spPr>
          <a:xfrm>
            <a:off x="3629660" y="3776980"/>
            <a:ext cx="206629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主进程复制到安全目录</a:t>
            </a:r>
            <a:endParaRPr lang="en-US" sz="1100" noProof="1"/>
          </a:p>
        </p:txBody>
      </p:sp>
      <p:sp>
        <p:nvSpPr>
          <p:cNvPr id="24" name="Rounded Rectangle 25"/>
          <p:cNvSpPr/>
          <p:nvPr/>
        </p:nvSpPr>
        <p:spPr>
          <a:xfrm>
            <a:off x="6172200" y="3154680"/>
            <a:ext cx="2468880" cy="123444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5B9BD5"/>
            </a:solidFill>
          </a:ln>
        </p:spPr>
      </p:sp>
      <p:sp>
        <p:nvSpPr>
          <p:cNvPr id="25" name="TextBox 26"/>
          <p:cNvSpPr txBox="1"/>
          <p:nvPr/>
        </p:nvSpPr>
        <p:spPr>
          <a:xfrm>
            <a:off x="6281420" y="3411220"/>
            <a:ext cx="224917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状态同步</a:t>
            </a:r>
            <a:endParaRPr lang="en-US" sz="1400" noProof="1"/>
          </a:p>
        </p:txBody>
      </p:sp>
      <p:sp>
        <p:nvSpPr>
          <p:cNvPr id="26" name="TextBox 27"/>
          <p:cNvSpPr txBox="1"/>
          <p:nvPr/>
        </p:nvSpPr>
        <p:spPr>
          <a:xfrm>
            <a:off x="6372860" y="3776980"/>
            <a:ext cx="206629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任务进入解析态</a:t>
            </a:r>
            <a:endParaRPr lang="en-US" sz="1100" noProof="1"/>
          </a:p>
        </p:txBody>
      </p:sp>
      <p:sp>
        <p:nvSpPr>
          <p:cNvPr id="27" name="Rounded Rectangle 28"/>
          <p:cNvSpPr/>
          <p:nvPr/>
        </p:nvSpPr>
        <p:spPr>
          <a:xfrm>
            <a:off x="8915400" y="3154680"/>
            <a:ext cx="2468880" cy="123444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5B9BD5"/>
            </a:solidFill>
          </a:ln>
        </p:spPr>
      </p:sp>
      <p:sp>
        <p:nvSpPr>
          <p:cNvPr id="28" name="TextBox 29"/>
          <p:cNvSpPr txBox="1"/>
          <p:nvPr/>
        </p:nvSpPr>
        <p:spPr>
          <a:xfrm>
            <a:off x="9024620" y="3411220"/>
            <a:ext cx="224917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注入上下文</a:t>
            </a:r>
            <a:endParaRPr lang="en-US" sz="1400" noProof="1"/>
          </a:p>
        </p:txBody>
      </p:sp>
      <p:sp>
        <p:nvSpPr>
          <p:cNvPr id="29" name="TextBox 30"/>
          <p:cNvSpPr txBox="1"/>
          <p:nvPr/>
        </p:nvSpPr>
        <p:spPr>
          <a:xfrm>
            <a:off x="9116060" y="3776980"/>
            <a:ext cx="206629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解析结果交给 Agent</a:t>
            </a:r>
            <a:endParaRPr lang="en-US" sz="1100" noProof="1"/>
          </a:p>
        </p:txBody>
      </p:sp>
      <p:sp>
        <p:nvSpPr>
          <p:cNvPr id="30" name="Rectangle 31-shape"/>
          <p:cNvSpPr/>
          <p:nvPr/>
        </p:nvSpPr>
        <p:spPr>
          <a:xfrm>
            <a:off x="685800" y="4800600"/>
            <a:ext cx="10835640" cy="1051560"/>
          </a:xfrm>
          <a:prstGeom prst="rect">
            <a:avLst/>
          </a:prstGeom>
          <a:solidFill>
            <a:srgbClr val="DEEBF7"/>
          </a:solidFill>
          <a:ln w="12700">
            <a:solidFill>
              <a:srgbClr val="E89924"/>
            </a:solidFill>
          </a:ln>
        </p:spPr>
      </p:sp>
      <p:sp>
        <p:nvSpPr>
          <p:cNvPr id="31" name="Rectangle 31-text"/>
          <p:cNvSpPr txBox="1"/>
          <p:nvPr/>
        </p:nvSpPr>
        <p:spPr>
          <a:xfrm>
            <a:off x="685800" y="4800600"/>
            <a:ext cx="1083564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单次最多上传 5 个附件，单个附件大小上限为 20MB；Office 文件本地解析；解析失败不阻断对话，仅提示错误；临时文件由清理流程移除。</a:t>
            </a:r>
            <a:endParaRPr lang="en-US" sz="1300" noProof="1"/>
          </a:p>
        </p:txBody>
      </p:sp>
      <p:sp>
        <p:nvSpPr>
          <p:cNvPr id="32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3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0"/>
            <a:ext cx="530860" cy="44831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988060"/>
            <a:ext cx="8841740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8832850" y="988060"/>
            <a:ext cx="3365500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14070" y="265430"/>
            <a:ext cx="8669020" cy="4394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Skill 与 MCP 扩展体系</a:t>
            </a:r>
            <a:endParaRPr lang="en-US" sz="2400" noProof="1"/>
          </a:p>
        </p:txBody>
      </p:sp>
      <p:sp>
        <p:nvSpPr>
          <p:cNvPr id="6" name="Rounded Rectangle 7"/>
          <p:cNvSpPr/>
          <p:nvPr/>
        </p:nvSpPr>
        <p:spPr>
          <a:xfrm>
            <a:off x="594360" y="1234440"/>
            <a:ext cx="5257800" cy="475488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</p:spPr>
      </p:sp>
      <p:sp>
        <p:nvSpPr>
          <p:cNvPr id="7" name="TextBox 8"/>
          <p:cNvSpPr txBox="1"/>
          <p:nvPr/>
        </p:nvSpPr>
        <p:spPr>
          <a:xfrm>
            <a:off x="977900" y="1526540"/>
            <a:ext cx="448945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Skill（提示词能力包）</a:t>
            </a:r>
            <a:endParaRPr lang="en-US" sz="1800" noProof="1"/>
          </a:p>
        </p:txBody>
      </p:sp>
      <p:sp>
        <p:nvSpPr>
          <p:cNvPr id="8" name="TextBox 9"/>
          <p:cNvSpPr txBox="1"/>
          <p:nvPr/>
        </p:nvSpPr>
        <p:spPr>
          <a:xfrm>
            <a:off x="977900" y="2103120"/>
            <a:ext cx="444373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• 目录约定</a:t>
            </a:r>
            <a:endParaRPr lang="en-US" sz="1300" noProof="1"/>
          </a:p>
        </p:txBody>
      </p:sp>
      <p:sp>
        <p:nvSpPr>
          <p:cNvPr id="9" name="TextBox 10"/>
          <p:cNvSpPr txBox="1"/>
          <p:nvPr/>
        </p:nvSpPr>
        <p:spPr>
          <a:xfrm>
            <a:off x="1188720" y="2377440"/>
            <a:ext cx="4260850" cy="3479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全局 &lt;userData&gt;/skills；项目 &lt;项目&gt;/.agent/skills。</a:t>
            </a:r>
            <a:endParaRPr lang="en-US" sz="1100" noProof="1"/>
          </a:p>
        </p:txBody>
      </p:sp>
      <p:sp>
        <p:nvSpPr>
          <p:cNvPr id="10" name="TextBox 11"/>
          <p:cNvSpPr txBox="1"/>
          <p:nvPr/>
        </p:nvSpPr>
        <p:spPr>
          <a:xfrm>
            <a:off x="977900" y="2862580"/>
            <a:ext cx="444373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• 启用方式</a:t>
            </a:r>
            <a:endParaRPr lang="en-US" sz="1300" noProof="1"/>
          </a:p>
        </p:txBody>
      </p:sp>
      <p:sp>
        <p:nvSpPr>
          <p:cNvPr id="11" name="TextBox 12"/>
          <p:cNvSpPr txBox="1"/>
          <p:nvPr/>
        </p:nvSpPr>
        <p:spPr>
          <a:xfrm>
            <a:off x="1188720" y="3136900"/>
            <a:ext cx="4260850" cy="3479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Skills 页面扫描，按会话勾选启用。</a:t>
            </a:r>
            <a:endParaRPr lang="en-US" sz="1100" noProof="1"/>
          </a:p>
        </p:txBody>
      </p:sp>
      <p:sp>
        <p:nvSpPr>
          <p:cNvPr id="12" name="TextBox 13"/>
          <p:cNvSpPr txBox="1"/>
          <p:nvPr/>
        </p:nvSpPr>
        <p:spPr>
          <a:xfrm>
            <a:off x="977900" y="3620770"/>
            <a:ext cx="444373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• 覆盖规则</a:t>
            </a:r>
            <a:endParaRPr lang="en-US" sz="1300" noProof="1"/>
          </a:p>
        </p:txBody>
      </p:sp>
      <p:sp>
        <p:nvSpPr>
          <p:cNvPr id="13" name="TextBox 14"/>
          <p:cNvSpPr txBox="1"/>
          <p:nvPr/>
        </p:nvSpPr>
        <p:spPr>
          <a:xfrm>
            <a:off x="1188720" y="3895090"/>
            <a:ext cx="4260850" cy="3479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同名项目 Skill 覆盖全局 Skill。</a:t>
            </a:r>
            <a:endParaRPr lang="en-US" sz="1100" noProof="1"/>
          </a:p>
        </p:txBody>
      </p:sp>
      <p:sp>
        <p:nvSpPr>
          <p:cNvPr id="14" name="Rounded Rectangle 15"/>
          <p:cNvSpPr/>
          <p:nvPr/>
        </p:nvSpPr>
        <p:spPr>
          <a:xfrm>
            <a:off x="6337300" y="1234440"/>
            <a:ext cx="5257800" cy="4754880"/>
          </a:xfrm>
          <a:prstGeom prst="roundRect">
            <a:avLst/>
          </a:prstGeom>
          <a:solidFill>
            <a:srgbClr val="E7F6EF"/>
          </a:solidFill>
          <a:ln w="12700">
            <a:solidFill>
              <a:srgbClr val="00825A"/>
            </a:solidFill>
          </a:ln>
        </p:spPr>
      </p:sp>
      <p:sp>
        <p:nvSpPr>
          <p:cNvPr id="15" name="TextBox 16"/>
          <p:cNvSpPr txBox="1"/>
          <p:nvPr/>
        </p:nvSpPr>
        <p:spPr>
          <a:xfrm>
            <a:off x="6720840" y="1526540"/>
            <a:ext cx="448945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MCP（外部工具服务）</a:t>
            </a:r>
            <a:endParaRPr lang="en-US" sz="1800" noProof="1"/>
          </a:p>
        </p:txBody>
      </p:sp>
      <p:sp>
        <p:nvSpPr>
          <p:cNvPr id="16" name="TextBox 17"/>
          <p:cNvSpPr txBox="1"/>
          <p:nvPr/>
        </p:nvSpPr>
        <p:spPr>
          <a:xfrm>
            <a:off x="6720840" y="2103120"/>
            <a:ext cx="444373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• 服务配置</a:t>
            </a:r>
            <a:endParaRPr lang="en-US" sz="1300" noProof="1"/>
          </a:p>
        </p:txBody>
      </p:sp>
      <p:sp>
        <p:nvSpPr>
          <p:cNvPr id="17" name="TextBox 18"/>
          <p:cNvSpPr txBox="1"/>
          <p:nvPr/>
        </p:nvSpPr>
        <p:spPr>
          <a:xfrm>
            <a:off x="6931660" y="2377440"/>
            <a:ext cx="4260850" cy="3479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McpManager 维护服务名、命令、参数与状态。</a:t>
            </a:r>
            <a:endParaRPr lang="en-US" sz="1100" noProof="1"/>
          </a:p>
        </p:txBody>
      </p:sp>
      <p:sp>
        <p:nvSpPr>
          <p:cNvPr id="18" name="TextBox 19"/>
          <p:cNvSpPr txBox="1"/>
          <p:nvPr/>
        </p:nvSpPr>
        <p:spPr>
          <a:xfrm>
            <a:off x="6720840" y="2862580"/>
            <a:ext cx="444373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• 生命周期</a:t>
            </a:r>
            <a:endParaRPr lang="en-US" sz="1300" noProof="1"/>
          </a:p>
        </p:txBody>
      </p:sp>
      <p:sp>
        <p:nvSpPr>
          <p:cNvPr id="19" name="TextBox 20"/>
          <p:cNvSpPr txBox="1"/>
          <p:nvPr/>
        </p:nvSpPr>
        <p:spPr>
          <a:xfrm>
            <a:off x="6931660" y="3136900"/>
            <a:ext cx="4260850" cy="3479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启动 / 停止 / 自动重启；工具按服务注册。</a:t>
            </a:r>
            <a:endParaRPr lang="en-US" sz="1100" noProof="1"/>
          </a:p>
        </p:txBody>
      </p:sp>
      <p:sp>
        <p:nvSpPr>
          <p:cNvPr id="20" name="TextBox 21"/>
          <p:cNvSpPr txBox="1"/>
          <p:nvPr/>
        </p:nvSpPr>
        <p:spPr>
          <a:xfrm>
            <a:off x="6720840" y="3620770"/>
            <a:ext cx="444373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• 权限映射</a:t>
            </a:r>
            <a:endParaRPr lang="en-US" sz="1300" noProof="1"/>
          </a:p>
        </p:txBody>
      </p:sp>
      <p:sp>
        <p:nvSpPr>
          <p:cNvPr id="21" name="TextBox 22"/>
          <p:cNvSpPr txBox="1"/>
          <p:nvPr/>
        </p:nvSpPr>
        <p:spPr>
          <a:xfrm>
            <a:off x="6931660" y="3895090"/>
            <a:ext cx="4260850" cy="3479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MCP 工具映射到现有权限模型。</a:t>
            </a:r>
            <a:endParaRPr lang="en-US" sz="1100" noProof="1"/>
          </a:p>
        </p:txBody>
      </p:sp>
      <p:sp>
        <p:nvSpPr>
          <p:cNvPr id="22" name="Rectangle 23"/>
          <p:cNvSpPr txBox="1"/>
          <p:nvPr/>
        </p:nvSpPr>
        <p:spPr>
          <a:xfrm>
            <a:off x="594360" y="6144260"/>
            <a:ext cx="11000740" cy="439420"/>
          </a:xfrm>
          <a:prstGeom prst="rect">
            <a:avLst/>
          </a:prstGeom>
          <a:solidFill>
            <a:srgbClr val="22396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Skill 只注入文本规范，MCP 只接入受控工具入口；二者都不会绕过权限审批。</a:t>
            </a:r>
            <a:endParaRPr lang="en-US" sz="1200" noProof="1"/>
          </a:p>
        </p:txBody>
      </p:sp>
      <p:sp>
        <p:nvSpPr>
          <p:cNvPr id="23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24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>
              <a:alphaModFix amt="30000"/>
            </a:blip>
            <a:stretch>
              <a:fillRect/>
            </a:stretch>
          </a:blipFill>
          <a:ln>
            <a:noFill/>
          </a:ln>
        </p:spPr>
      </p:sp>
      <p:sp>
        <p:nvSpPr>
          <p:cNvPr id="3" name="band"/>
          <p:cNvSpPr/>
          <p:nvPr/>
        </p:nvSpPr>
        <p:spPr>
          <a:xfrm>
            <a:off x="0" y="2865120"/>
            <a:ext cx="12192000" cy="1136650"/>
          </a:xfrm>
          <a:prstGeom prst="rect">
            <a:avLst/>
          </a:prstGeom>
          <a:solidFill>
            <a:srgbClr val="5B9BD5"/>
          </a:solidFill>
          <a:ln>
            <a:noFill/>
          </a:ln>
        </p:spPr>
      </p:sp>
      <p:sp>
        <p:nvSpPr>
          <p:cNvPr id="4" name="num-box"/>
          <p:cNvSpPr/>
          <p:nvPr/>
        </p:nvSpPr>
        <p:spPr>
          <a:xfrm>
            <a:off x="1351280" y="2306320"/>
            <a:ext cx="1651000" cy="2306320"/>
          </a:xfrm>
          <a:prstGeom prst="roundRect">
            <a:avLst/>
          </a:prstGeom>
          <a:noFill/>
          <a:ln w="38100">
            <a:solidFill>
              <a:srgbClr val="5B9BD5"/>
            </a:solidFill>
          </a:ln>
          <a:effectLst>
            <a:outerShdw blurRad="6350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num"/>
          <p:cNvSpPr txBox="1"/>
          <p:nvPr/>
        </p:nvSpPr>
        <p:spPr>
          <a:xfrm>
            <a:off x="1473200" y="2848610"/>
            <a:ext cx="1409700" cy="1231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7600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04</a:t>
            </a:r>
            <a:endParaRPr lang="en-US" sz="7600" noProof="1"/>
          </a:p>
        </p:txBody>
      </p:sp>
      <p:sp>
        <p:nvSpPr>
          <p:cNvPr id="6" name="ch-title"/>
          <p:cNvSpPr txBox="1"/>
          <p:nvPr/>
        </p:nvSpPr>
        <p:spPr>
          <a:xfrm>
            <a:off x="3723640" y="3048000"/>
            <a:ext cx="78740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        安全与应用场景</a:t>
            </a:r>
            <a:endParaRPr lang="en-US" sz="4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27050" cy="4445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5520"/>
            <a:ext cx="8839200" cy="4318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29040" y="985520"/>
            <a:ext cx="3362960" cy="4318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701040" y="254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rPr>
              <a:t>安全治理</a:t>
            </a:r>
            <a:endParaRPr lang="en-US" sz="3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8" name="sec0-card"/>
          <p:cNvSpPr/>
          <p:nvPr/>
        </p:nvSpPr>
        <p:spPr>
          <a:xfrm>
            <a:off x="635000" y="1270000"/>
            <a:ext cx="5308600" cy="241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ec0-circle"/>
          <p:cNvSpPr/>
          <p:nvPr/>
        </p:nvSpPr>
        <p:spPr>
          <a:xfrm>
            <a:off x="939800" y="1574800"/>
            <a:ext cx="558800" cy="558800"/>
          </a:xfrm>
          <a:prstGeom prst="ellipse">
            <a:avLst/>
          </a:prstGeom>
          <a:solidFill>
            <a:srgbClr val="EAF3FB"/>
          </a:solidFill>
          <a:ln>
            <a:noFill/>
          </a:ln>
        </p:spPr>
      </p:sp>
      <p:sp>
        <p:nvSpPr>
          <p:cNvPr id="10" name="sec0-icon"/>
          <p:cNvSpPr/>
          <p:nvPr/>
        </p:nvSpPr>
        <p:spPr>
          <a:xfrm>
            <a:off x="1079500" y="1714500"/>
            <a:ext cx="279400" cy="2794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11" name="sec0-title"/>
          <p:cNvSpPr txBox="1"/>
          <p:nvPr/>
        </p:nvSpPr>
        <p:spPr>
          <a:xfrm>
            <a:off x="1676400" y="1574800"/>
            <a:ext cx="39624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密钥与请求安全</a:t>
            </a:r>
            <a:endParaRPr lang="en-US" sz="1800" noProof="1"/>
          </a:p>
        </p:txBody>
      </p:sp>
      <p:sp>
        <p:nvSpPr>
          <p:cNvPr id="12" name="sec0-desc"/>
          <p:cNvSpPr txBox="1"/>
          <p:nvPr/>
        </p:nvSpPr>
        <p:spPr>
          <a:xfrm>
            <a:off x="939800" y="2311400"/>
            <a:ext cx="4699000" cy="1193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000000"/>
                </a:solidFill>
                <a:latin typeface="MiSans" charset="-122"/>
                <a:ea typeface="MiSans" charset="-122"/>
              </a:rPr>
              <a:t>·凭证不落地：现阶段模型请求由 Electron 主进程统一发起；当前 API 配置保存在本机 localStorage，后续可迁移至主进程安全存储。</a:t>
            </a:r>
            <a:endParaRPr lang="en-US" sz="1200" noProof="1"/>
          </a:p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000000"/>
                </a:solidFill>
                <a:latin typeface="MiSans" charset="-122"/>
                <a:ea typeface="MiSans" charset="-122"/>
              </a:rPr>
              <a:t>·请求统一调度： 所有对外（如 OpenAI）的请求均经过内部适配层转换，确保数据流向清晰可控。</a:t>
            </a:r>
            <a:endParaRPr lang="en-US" sz="1200" noProof="1"/>
          </a:p>
        </p:txBody>
      </p:sp>
      <p:sp>
        <p:nvSpPr>
          <p:cNvPr id="13" name="sec1-card"/>
          <p:cNvSpPr/>
          <p:nvPr/>
        </p:nvSpPr>
        <p:spPr>
          <a:xfrm>
            <a:off x="6248400" y="1270000"/>
            <a:ext cx="5308600" cy="241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sec1-circle"/>
          <p:cNvSpPr/>
          <p:nvPr/>
        </p:nvSpPr>
        <p:spPr>
          <a:xfrm>
            <a:off x="6553200" y="1574800"/>
            <a:ext cx="558800" cy="558800"/>
          </a:xfrm>
          <a:prstGeom prst="ellipse">
            <a:avLst/>
          </a:prstGeom>
          <a:solidFill>
            <a:srgbClr val="EAF3FB"/>
          </a:solidFill>
          <a:ln>
            <a:noFill/>
          </a:ln>
        </p:spPr>
      </p:sp>
      <p:sp>
        <p:nvSpPr>
          <p:cNvPr id="15" name="sec1-icon"/>
          <p:cNvSpPr/>
          <p:nvPr/>
        </p:nvSpPr>
        <p:spPr>
          <a:xfrm>
            <a:off x="6692900" y="1714500"/>
            <a:ext cx="279400" cy="2794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16" name="sec1-title"/>
          <p:cNvSpPr txBox="1"/>
          <p:nvPr/>
        </p:nvSpPr>
        <p:spPr>
          <a:xfrm>
            <a:off x="7289800" y="1574800"/>
            <a:ext cx="39624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文件与路径安全</a:t>
            </a:r>
            <a:endParaRPr lang="en-US" sz="1800" noProof="1"/>
          </a:p>
        </p:txBody>
      </p:sp>
      <p:sp>
        <p:nvSpPr>
          <p:cNvPr id="17" name="sec1-desc"/>
          <p:cNvSpPr txBox="1"/>
          <p:nvPr/>
        </p:nvSpPr>
        <p:spPr>
          <a:xfrm>
            <a:off x="6553200" y="2311400"/>
            <a:ext cx="4699000" cy="1193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·活动范围锁定：文件工具默认限制在关联项目目录内；严禁越界访问系统其他文件。</a:t>
            </a:r>
            <a:endParaRPr lang="en-US" sz="1200" noProof="1"/>
          </a:p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·读写校验：读取内容限制长度防止内存溢出，写入文件时强制校验目标位置，防止误改配置。</a:t>
            </a:r>
            <a:endParaRPr lang="en-US" sz="1200" noProof="1"/>
          </a:p>
        </p:txBody>
      </p:sp>
      <p:sp>
        <p:nvSpPr>
          <p:cNvPr id="18" name="sec2-card"/>
          <p:cNvSpPr/>
          <p:nvPr/>
        </p:nvSpPr>
        <p:spPr>
          <a:xfrm>
            <a:off x="635000" y="3911600"/>
            <a:ext cx="5308600" cy="241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ec2-circle"/>
          <p:cNvSpPr/>
          <p:nvPr/>
        </p:nvSpPr>
        <p:spPr>
          <a:xfrm>
            <a:off x="939800" y="4216400"/>
            <a:ext cx="558800" cy="558800"/>
          </a:xfrm>
          <a:prstGeom prst="ellipse">
            <a:avLst/>
          </a:prstGeom>
          <a:solidFill>
            <a:srgbClr val="EAF3FB"/>
          </a:solidFill>
          <a:ln>
            <a:noFill/>
          </a:ln>
        </p:spPr>
      </p:sp>
      <p:sp>
        <p:nvSpPr>
          <p:cNvPr id="20" name="sec2-icon"/>
          <p:cNvSpPr/>
          <p:nvPr/>
        </p:nvSpPr>
        <p:spPr>
          <a:xfrm>
            <a:off x="1079500" y="4356100"/>
            <a:ext cx="279400" cy="2794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21" name="sec2-title"/>
          <p:cNvSpPr txBox="1"/>
          <p:nvPr/>
        </p:nvSpPr>
        <p:spPr>
          <a:xfrm>
            <a:off x="1676400" y="4216400"/>
            <a:ext cx="39624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工具安全</a:t>
            </a:r>
            <a:endParaRPr lang="en-US" sz="1800" noProof="1"/>
          </a:p>
        </p:txBody>
      </p:sp>
      <p:sp>
        <p:nvSpPr>
          <p:cNvPr id="22" name="sec2-desc"/>
          <p:cNvSpPr txBox="1"/>
          <p:nvPr/>
        </p:nvSpPr>
        <p:spPr>
          <a:xfrm>
            <a:off x="939800" y="4953000"/>
            <a:ext cx="4699000" cy="1193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000000"/>
                </a:solidFill>
                <a:latin typeface="MiSans" charset="-122"/>
                <a:ea typeface="MiSans" charset="-122"/>
              </a:rPr>
              <a:t>·读写权限分离：只读操作自动执行以提升效率；涉及修改操作触发人工确认。</a:t>
            </a:r>
            <a:endParaRPr lang="en-US" sz="1200" noProof="1"/>
          </a:p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000000"/>
                </a:solidFill>
                <a:latin typeface="MiSans" charset="-122"/>
                <a:ea typeface="MiSans" charset="-122"/>
              </a:rPr>
              <a:t>·高危指令屏蔽：具有破坏性的危险工具默认拒绝执行。</a:t>
            </a:r>
            <a:endParaRPr lang="en-US" sz="1200" noProof="1"/>
          </a:p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000000"/>
                </a:solidFill>
                <a:latin typeface="MiSans" charset="-122"/>
                <a:ea typeface="MiSans" charset="-122"/>
              </a:rPr>
              <a:t>·兜底保障：提供超时取消和结果截断机制。</a:t>
            </a:r>
            <a:endParaRPr lang="en-US" sz="1200" noProof="1"/>
          </a:p>
        </p:txBody>
      </p:sp>
      <p:sp>
        <p:nvSpPr>
          <p:cNvPr id="23" name="sec3-card"/>
          <p:cNvSpPr/>
          <p:nvPr/>
        </p:nvSpPr>
        <p:spPr>
          <a:xfrm>
            <a:off x="6248400" y="3911600"/>
            <a:ext cx="5308600" cy="241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ec3-circle"/>
          <p:cNvSpPr/>
          <p:nvPr/>
        </p:nvSpPr>
        <p:spPr>
          <a:xfrm>
            <a:off x="6553200" y="4216400"/>
            <a:ext cx="558800" cy="558800"/>
          </a:xfrm>
          <a:prstGeom prst="ellipse">
            <a:avLst/>
          </a:prstGeom>
          <a:solidFill>
            <a:srgbClr val="EAF3FB"/>
          </a:solidFill>
          <a:ln>
            <a:noFill/>
          </a:ln>
        </p:spPr>
      </p:sp>
      <p:sp>
        <p:nvSpPr>
          <p:cNvPr id="25" name="sec3-icon"/>
          <p:cNvSpPr/>
          <p:nvPr/>
        </p:nvSpPr>
        <p:spPr>
          <a:xfrm>
            <a:off x="6692900" y="4356100"/>
            <a:ext cx="279400" cy="2794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26" name="sec3-title"/>
          <p:cNvSpPr txBox="1"/>
          <p:nvPr/>
        </p:nvSpPr>
        <p:spPr>
          <a:xfrm>
            <a:off x="7289800" y="4216400"/>
            <a:ext cx="39624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附件安全</a:t>
            </a:r>
            <a:endParaRPr lang="en-US" sz="1800" noProof="1"/>
          </a:p>
        </p:txBody>
      </p:sp>
      <p:sp>
        <p:nvSpPr>
          <p:cNvPr id="27" name="sec3-desc"/>
          <p:cNvSpPr txBox="1"/>
          <p:nvPr/>
        </p:nvSpPr>
        <p:spPr>
          <a:xfrm>
            <a:off x="6553200" y="4953000"/>
            <a:ext cx="4699000" cy="1193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·限隔离解析与清理： 附件必须先复制到受控的临时目录才能被处理，任务结束后自动删除。</a:t>
            </a:r>
            <a:endParaRPr lang="en-US" sz="1200" noProof="1"/>
          </a:p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·只读不写原则： 附件仅作为参考信息输入，不会修改文件的权限，防止通过附件注入恶意指令。</a:t>
            </a:r>
            <a:endParaRPr lang="en-US" sz="1200" noProof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27050" cy="4445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5520"/>
            <a:ext cx="8839200" cy="4318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29040" y="985520"/>
            <a:ext cx="3362960" cy="4318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701040" y="254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rPr>
              <a:t>典型使用场景</a:t>
            </a:r>
            <a:endParaRPr lang="en-US" sz="3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8" name="sc0-card"/>
          <p:cNvSpPr/>
          <p:nvPr/>
        </p:nvSpPr>
        <p:spPr>
          <a:xfrm>
            <a:off x="635000" y="1270000"/>
            <a:ext cx="35306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c0-circle"/>
          <p:cNvSpPr/>
          <p:nvPr/>
        </p:nvSpPr>
        <p:spPr>
          <a:xfrm>
            <a:off x="939800" y="1574800"/>
            <a:ext cx="558800" cy="558800"/>
          </a:xfrm>
          <a:prstGeom prst="ellipse">
            <a:avLst/>
          </a:prstGeom>
          <a:solidFill>
            <a:srgbClr val="EAF3FB"/>
          </a:solidFill>
          <a:ln>
            <a:noFill/>
          </a:ln>
        </p:spPr>
      </p:sp>
      <p:sp>
        <p:nvSpPr>
          <p:cNvPr id="10" name="sc0-icon"/>
          <p:cNvSpPr/>
          <p:nvPr/>
        </p:nvSpPr>
        <p:spPr>
          <a:xfrm>
            <a:off x="1079500" y="1714500"/>
            <a:ext cx="279400" cy="2794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11" name="sc0-title"/>
          <p:cNvSpPr txBox="1"/>
          <p:nvPr/>
        </p:nvSpPr>
        <p:spPr>
          <a:xfrm>
            <a:off x="1676400" y="1574800"/>
            <a:ext cx="21844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知识资产问答</a:t>
            </a:r>
            <a:endParaRPr lang="en-US" sz="1800" noProof="1"/>
          </a:p>
        </p:txBody>
      </p:sp>
      <p:sp>
        <p:nvSpPr>
          <p:cNvPr id="12" name="sc0-desc"/>
          <p:cNvSpPr txBox="1"/>
          <p:nvPr/>
        </p:nvSpPr>
        <p:spPr>
          <a:xfrm>
            <a:off x="939800" y="2311400"/>
            <a:ext cx="2921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读取本地制度、审计资料、项目说明或历史技术资产，快速完成摘要、问答、差异提取和重点标注。</a:t>
            </a:r>
            <a:endParaRPr lang="en-US" sz="1200" noProof="1"/>
          </a:p>
        </p:txBody>
      </p:sp>
      <p:sp>
        <p:nvSpPr>
          <p:cNvPr id="13" name="sc1-card"/>
          <p:cNvSpPr/>
          <p:nvPr/>
        </p:nvSpPr>
        <p:spPr>
          <a:xfrm>
            <a:off x="4330700" y="1270000"/>
            <a:ext cx="35306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sc1-circle"/>
          <p:cNvSpPr/>
          <p:nvPr/>
        </p:nvSpPr>
        <p:spPr>
          <a:xfrm>
            <a:off x="4635500" y="1574800"/>
            <a:ext cx="558800" cy="558800"/>
          </a:xfrm>
          <a:prstGeom prst="ellipse">
            <a:avLst/>
          </a:prstGeom>
          <a:solidFill>
            <a:srgbClr val="EAF3FB"/>
          </a:solidFill>
          <a:ln>
            <a:noFill/>
          </a:ln>
        </p:spPr>
      </p:sp>
      <p:sp>
        <p:nvSpPr>
          <p:cNvPr id="15" name="sc1-icon"/>
          <p:cNvSpPr/>
          <p:nvPr/>
        </p:nvSpPr>
        <p:spPr>
          <a:xfrm>
            <a:off x="4775200" y="1714500"/>
            <a:ext cx="279400" cy="2794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16" name="sc1-title"/>
          <p:cNvSpPr txBox="1"/>
          <p:nvPr/>
        </p:nvSpPr>
        <p:spPr>
          <a:xfrm>
            <a:off x="5372100" y="1574800"/>
            <a:ext cx="21844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文件整理与审查</a:t>
            </a:r>
            <a:endParaRPr lang="en-US" sz="1800" noProof="1"/>
          </a:p>
        </p:txBody>
      </p:sp>
      <p:sp>
        <p:nvSpPr>
          <p:cNvPr id="17" name="sc1-desc"/>
          <p:cNvSpPr txBox="1"/>
          <p:nvPr/>
        </p:nvSpPr>
        <p:spPr>
          <a:xfrm>
            <a:off x="4635500" y="2311400"/>
            <a:ext cx="2921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将 PDF、DOCX、XLSX、PPTX 等交给 Agent，完成表格整理、文档对比、风险点提取和会议材料初稿。</a:t>
            </a:r>
            <a:endParaRPr lang="en-US" sz="1200" noProof="1"/>
          </a:p>
        </p:txBody>
      </p:sp>
      <p:sp>
        <p:nvSpPr>
          <p:cNvPr id="18" name="sc2-card"/>
          <p:cNvSpPr/>
          <p:nvPr/>
        </p:nvSpPr>
        <p:spPr>
          <a:xfrm>
            <a:off x="8026400" y="1270000"/>
            <a:ext cx="35306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c2-circle"/>
          <p:cNvSpPr/>
          <p:nvPr/>
        </p:nvSpPr>
        <p:spPr>
          <a:xfrm>
            <a:off x="8331200" y="1574800"/>
            <a:ext cx="558800" cy="558800"/>
          </a:xfrm>
          <a:prstGeom prst="ellipse">
            <a:avLst/>
          </a:prstGeom>
          <a:solidFill>
            <a:srgbClr val="EAF3FB"/>
          </a:solidFill>
          <a:ln>
            <a:noFill/>
          </a:ln>
        </p:spPr>
      </p:sp>
      <p:sp>
        <p:nvSpPr>
          <p:cNvPr id="20" name="sc2-icon"/>
          <p:cNvSpPr/>
          <p:nvPr/>
        </p:nvSpPr>
        <p:spPr>
          <a:xfrm>
            <a:off x="8470900" y="1714500"/>
            <a:ext cx="279400" cy="2794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21" name="sc2-title"/>
          <p:cNvSpPr txBox="1"/>
          <p:nvPr/>
        </p:nvSpPr>
        <p:spPr>
          <a:xfrm>
            <a:off x="9067800" y="1574800"/>
            <a:ext cx="21844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研发辅助</a:t>
            </a:r>
            <a:endParaRPr lang="en-US" sz="1800" noProof="1"/>
          </a:p>
        </p:txBody>
      </p:sp>
      <p:sp>
        <p:nvSpPr>
          <p:cNvPr id="22" name="sc2-desc"/>
          <p:cNvSpPr txBox="1"/>
          <p:nvPr/>
        </p:nvSpPr>
        <p:spPr>
          <a:xfrm>
            <a:off x="8331200" y="2311400"/>
            <a:ext cx="2921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关联项目目录后，在路径安全边界内读取源码、测试文件和项目文档，辅助代码审查、文档整理和问题定位。</a:t>
            </a:r>
            <a:endParaRPr lang="en-US" sz="1200" noProof="1"/>
          </a:p>
        </p:txBody>
      </p:sp>
      <p:sp>
        <p:nvSpPr>
          <p:cNvPr id="23" name="sc3-card"/>
          <p:cNvSpPr/>
          <p:nvPr/>
        </p:nvSpPr>
        <p:spPr>
          <a:xfrm>
            <a:off x="2489200" y="3759200"/>
            <a:ext cx="35306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c3-circle"/>
          <p:cNvSpPr/>
          <p:nvPr/>
        </p:nvSpPr>
        <p:spPr>
          <a:xfrm>
            <a:off x="2794000" y="4064000"/>
            <a:ext cx="558800" cy="558800"/>
          </a:xfrm>
          <a:prstGeom prst="ellipse">
            <a:avLst/>
          </a:prstGeom>
          <a:solidFill>
            <a:srgbClr val="EAF3FB"/>
          </a:solidFill>
          <a:ln>
            <a:noFill/>
          </a:ln>
        </p:spPr>
      </p:sp>
      <p:sp>
        <p:nvSpPr>
          <p:cNvPr id="25" name="sc3-icon"/>
          <p:cNvSpPr/>
          <p:nvPr/>
        </p:nvSpPr>
        <p:spPr>
          <a:xfrm>
            <a:off x="2933700" y="4203700"/>
            <a:ext cx="279400" cy="2794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26" name="sc3-title"/>
          <p:cNvSpPr txBox="1"/>
          <p:nvPr/>
        </p:nvSpPr>
        <p:spPr>
          <a:xfrm>
            <a:off x="3530600" y="4064000"/>
            <a:ext cx="21844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办公智能助手</a:t>
            </a:r>
            <a:endParaRPr lang="en-US" sz="1800" noProof="1"/>
          </a:p>
        </p:txBody>
      </p:sp>
      <p:sp>
        <p:nvSpPr>
          <p:cNvPr id="27" name="sc3-desc"/>
          <p:cNvSpPr txBox="1"/>
          <p:nvPr/>
        </p:nvSpPr>
        <p:spPr>
          <a:xfrm>
            <a:off x="2794000" y="4800600"/>
            <a:ext cx="2921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通过自然语言完成总结、改写、清单生成、会议纪要和报告初稿，写入文件时保留审批和人工确认环节。</a:t>
            </a:r>
            <a:endParaRPr lang="en-US" sz="1200" noProof="1"/>
          </a:p>
        </p:txBody>
      </p:sp>
      <p:sp>
        <p:nvSpPr>
          <p:cNvPr id="28" name="sc4-card"/>
          <p:cNvSpPr/>
          <p:nvPr/>
        </p:nvSpPr>
        <p:spPr>
          <a:xfrm>
            <a:off x="6172200" y="3759200"/>
            <a:ext cx="35306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9" name="sc4-circle"/>
          <p:cNvSpPr/>
          <p:nvPr/>
        </p:nvSpPr>
        <p:spPr>
          <a:xfrm>
            <a:off x="6477000" y="4064000"/>
            <a:ext cx="558800" cy="558800"/>
          </a:xfrm>
          <a:prstGeom prst="ellipse">
            <a:avLst/>
          </a:prstGeom>
          <a:solidFill>
            <a:srgbClr val="EAF3FB"/>
          </a:solidFill>
          <a:ln>
            <a:noFill/>
          </a:ln>
        </p:spPr>
      </p:sp>
      <p:sp>
        <p:nvSpPr>
          <p:cNvPr id="30" name="sc4-icon"/>
          <p:cNvSpPr/>
          <p:nvPr/>
        </p:nvSpPr>
        <p:spPr>
          <a:xfrm>
            <a:off x="6616700" y="4203700"/>
            <a:ext cx="279400" cy="2794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1" name="sc4-title"/>
          <p:cNvSpPr txBox="1"/>
          <p:nvPr/>
        </p:nvSpPr>
        <p:spPr>
          <a:xfrm>
            <a:off x="7213600" y="4064000"/>
            <a:ext cx="21844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MCP 专业工具接入</a:t>
            </a:r>
            <a:endParaRPr lang="en-US" sz="1800" noProof="1"/>
          </a:p>
        </p:txBody>
      </p:sp>
      <p:sp>
        <p:nvSpPr>
          <p:cNvPr id="32" name="sc4-desc"/>
          <p:cNvSpPr txBox="1"/>
          <p:nvPr/>
        </p:nvSpPr>
        <p:spPr>
          <a:xfrm>
            <a:off x="6477000" y="4800600"/>
            <a:ext cx="2921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将企业内部或本地部署的 MCP Server 接入客户端，为 Agent 增加专业工具，同时复用既有权限和审批机制。</a:t>
            </a:r>
            <a:endParaRPr lang="en-US" sz="1200" noProof="1"/>
          </a:p>
        </p:txBody>
      </p:sp>
      <p:sp>
        <p:nvSpPr>
          <p:cNvPr id="33" name="sc-bar"/>
          <p:cNvSpPr/>
          <p:nvPr/>
        </p:nvSpPr>
        <p:spPr>
          <a:xfrm>
            <a:off x="635000" y="6248400"/>
            <a:ext cx="10922000" cy="10160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27050" cy="4445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5520"/>
            <a:ext cx="8839200" cy="4318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29040" y="985520"/>
            <a:ext cx="3362960" cy="4318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701040" y="254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rPr>
              <a:t>后续规划</a:t>
            </a:r>
            <a:endParaRPr lang="en-US" sz="3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8" name="rm-note"/>
          <p:cNvSpPr txBox="1"/>
          <p:nvPr/>
        </p:nvSpPr>
        <p:spPr>
          <a:xfrm>
            <a:off x="637540" y="1295400"/>
            <a:ext cx="10795000" cy="10299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000000"/>
                </a:solidFill>
                <a:latin typeface="MiSans" charset="-122"/>
                <a:ea typeface="MiSans" charset="-122"/>
              </a:rPr>
              <a:t>可扩充OpenViking Server 客户端，统一的共享知识空间</a:t>
            </a:r>
            <a:endParaRPr lang="en-US" sz="1300" noProof="1"/>
          </a:p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000000"/>
                </a:solidFill>
                <a:latin typeface="MiSans" charset="-122"/>
                <a:ea typeface="MiSans" charset="-122"/>
              </a:rPr>
              <a:t>什么是OpenViking：是一个开源的 AI 智能体上下文数据库，作为独立服务运行，可作为知识资源之上的上下文管理与语义检索层。，还将用户记忆和Agent技能Skills统一纳入管理。</a:t>
            </a:r>
            <a:endParaRPr lang="en-US" sz="1300" noProof="1"/>
          </a:p>
        </p:txBody>
      </p:sp>
      <p:sp>
        <p:nvSpPr>
          <p:cNvPr id="9" name="rm0-card"/>
          <p:cNvSpPr/>
          <p:nvPr/>
        </p:nvSpPr>
        <p:spPr>
          <a:xfrm>
            <a:off x="574040" y="2520950"/>
            <a:ext cx="35306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rm0-top"/>
          <p:cNvSpPr/>
          <p:nvPr/>
        </p:nvSpPr>
        <p:spPr>
          <a:xfrm>
            <a:off x="574040" y="2520950"/>
            <a:ext cx="3530600" cy="6350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11" name="rm0-t"/>
          <p:cNvSpPr txBox="1"/>
          <p:nvPr/>
        </p:nvSpPr>
        <p:spPr>
          <a:xfrm>
            <a:off x="802640" y="2698750"/>
            <a:ext cx="3073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长上下文</a:t>
            </a:r>
            <a:endParaRPr lang="en-US" sz="1600" noProof="1"/>
          </a:p>
        </p:txBody>
      </p:sp>
      <p:sp>
        <p:nvSpPr>
          <p:cNvPr id="12" name="rm0-d"/>
          <p:cNvSpPr txBox="1"/>
          <p:nvPr/>
        </p:nvSpPr>
        <p:spPr>
          <a:xfrm>
            <a:off x="802640" y="3079750"/>
            <a:ext cx="30734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压缩、摘要和关键消息保留</a:t>
            </a:r>
            <a:endParaRPr lang="en-US" sz="1200" noProof="1"/>
          </a:p>
        </p:txBody>
      </p:sp>
      <p:sp>
        <p:nvSpPr>
          <p:cNvPr id="13" name="rm1-card"/>
          <p:cNvSpPr/>
          <p:nvPr/>
        </p:nvSpPr>
        <p:spPr>
          <a:xfrm>
            <a:off x="4269740" y="2520950"/>
            <a:ext cx="35306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rm1-top"/>
          <p:cNvSpPr/>
          <p:nvPr/>
        </p:nvSpPr>
        <p:spPr>
          <a:xfrm>
            <a:off x="4269740" y="2520950"/>
            <a:ext cx="3530600" cy="6350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15" name="rm1-t"/>
          <p:cNvSpPr txBox="1"/>
          <p:nvPr/>
        </p:nvSpPr>
        <p:spPr>
          <a:xfrm>
            <a:off x="4498340" y="2698750"/>
            <a:ext cx="3073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长期记忆</a:t>
            </a:r>
            <a:endParaRPr lang="en-US" sz="1600" noProof="1"/>
          </a:p>
        </p:txBody>
      </p:sp>
      <p:sp>
        <p:nvSpPr>
          <p:cNvPr id="16" name="rm1-d"/>
          <p:cNvSpPr txBox="1"/>
          <p:nvPr/>
        </p:nvSpPr>
        <p:spPr>
          <a:xfrm>
            <a:off x="4498340" y="3079750"/>
            <a:ext cx="30734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全局或项目级长期记忆</a:t>
            </a:r>
            <a:endParaRPr lang="en-US" sz="1200" noProof="1"/>
          </a:p>
        </p:txBody>
      </p:sp>
      <p:sp>
        <p:nvSpPr>
          <p:cNvPr id="17" name="rm2-card"/>
          <p:cNvSpPr/>
          <p:nvPr/>
        </p:nvSpPr>
        <p:spPr>
          <a:xfrm>
            <a:off x="7965440" y="2520950"/>
            <a:ext cx="35306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rm2-top"/>
          <p:cNvSpPr/>
          <p:nvPr/>
        </p:nvSpPr>
        <p:spPr>
          <a:xfrm>
            <a:off x="7965440" y="2520950"/>
            <a:ext cx="3530600" cy="6350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19" name="rm2-t"/>
          <p:cNvSpPr txBox="1"/>
          <p:nvPr/>
        </p:nvSpPr>
        <p:spPr>
          <a:xfrm>
            <a:off x="8194040" y="2698750"/>
            <a:ext cx="3073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审计日志</a:t>
            </a:r>
            <a:endParaRPr lang="en-US" sz="1600" noProof="1"/>
          </a:p>
        </p:txBody>
      </p:sp>
      <p:sp>
        <p:nvSpPr>
          <p:cNvPr id="20" name="rm2-d"/>
          <p:cNvSpPr txBox="1"/>
          <p:nvPr/>
        </p:nvSpPr>
        <p:spPr>
          <a:xfrm>
            <a:off x="8194040" y="3079750"/>
            <a:ext cx="30734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审批历史和完整审计日志</a:t>
            </a:r>
            <a:endParaRPr lang="en-US" sz="1200" noProof="1"/>
          </a:p>
        </p:txBody>
      </p:sp>
      <p:sp>
        <p:nvSpPr>
          <p:cNvPr id="21" name="rm3-card"/>
          <p:cNvSpPr/>
          <p:nvPr/>
        </p:nvSpPr>
        <p:spPr>
          <a:xfrm>
            <a:off x="574040" y="4108450"/>
            <a:ext cx="35306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rm3-top"/>
          <p:cNvSpPr/>
          <p:nvPr/>
        </p:nvSpPr>
        <p:spPr>
          <a:xfrm>
            <a:off x="574040" y="4108450"/>
            <a:ext cx="3530600" cy="6350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23" name="rm3-t"/>
          <p:cNvSpPr txBox="1"/>
          <p:nvPr/>
        </p:nvSpPr>
        <p:spPr>
          <a:xfrm>
            <a:off x="802640" y="4286250"/>
            <a:ext cx="3073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更多工具</a:t>
            </a:r>
            <a:endParaRPr lang="en-US" sz="1600" noProof="1"/>
          </a:p>
        </p:txBody>
      </p:sp>
      <p:sp>
        <p:nvSpPr>
          <p:cNvPr id="24" name="rm3-d"/>
          <p:cNvSpPr txBox="1"/>
          <p:nvPr/>
        </p:nvSpPr>
        <p:spPr>
          <a:xfrm>
            <a:off x="802640" y="4667250"/>
            <a:ext cx="30734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Shell 执行沙箱、数据库查询、Web 搜索和代码解释器</a:t>
            </a:r>
            <a:endParaRPr lang="en-US" sz="1200" noProof="1"/>
          </a:p>
          <a:p>
            <a:pPr algn="l">
              <a:lnSpc>
                <a:spcPts val="1800"/>
              </a:lnSpc>
            </a:pPr>
            <a:r>
              <a:rPr lang="en-US" sz="1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 </a:t>
            </a:r>
            <a:endParaRPr lang="en-US" sz="1200" noProof="1"/>
          </a:p>
        </p:txBody>
      </p:sp>
      <p:sp>
        <p:nvSpPr>
          <p:cNvPr id="25" name="rm4-card"/>
          <p:cNvSpPr/>
          <p:nvPr/>
        </p:nvSpPr>
        <p:spPr>
          <a:xfrm>
            <a:off x="4269740" y="4108450"/>
            <a:ext cx="35306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rm4-top"/>
          <p:cNvSpPr/>
          <p:nvPr/>
        </p:nvSpPr>
        <p:spPr>
          <a:xfrm>
            <a:off x="4269740" y="4108450"/>
            <a:ext cx="3530600" cy="6350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27" name="rm4-t"/>
          <p:cNvSpPr txBox="1"/>
          <p:nvPr/>
        </p:nvSpPr>
        <p:spPr>
          <a:xfrm>
            <a:off x="4498340" y="4286250"/>
            <a:ext cx="3073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跨窗口</a:t>
            </a:r>
            <a:endParaRPr lang="en-US" sz="1600" noProof="1"/>
          </a:p>
        </p:txBody>
      </p:sp>
      <p:sp>
        <p:nvSpPr>
          <p:cNvPr id="28" name="rm4-d"/>
          <p:cNvSpPr txBox="1"/>
          <p:nvPr/>
        </p:nvSpPr>
        <p:spPr>
          <a:xfrm>
            <a:off x="4498340" y="4667250"/>
            <a:ext cx="30734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跨窗口会话与审批同步</a:t>
            </a:r>
            <a:endParaRPr lang="en-US" sz="1200" noProof="1"/>
          </a:p>
        </p:txBody>
      </p:sp>
      <p:sp>
        <p:nvSpPr>
          <p:cNvPr id="29" name="rm5-card"/>
          <p:cNvSpPr/>
          <p:nvPr/>
        </p:nvSpPr>
        <p:spPr>
          <a:xfrm>
            <a:off x="7965440" y="4108450"/>
            <a:ext cx="35306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rm5-top"/>
          <p:cNvSpPr/>
          <p:nvPr/>
        </p:nvSpPr>
        <p:spPr>
          <a:xfrm>
            <a:off x="7965440" y="4108450"/>
            <a:ext cx="3530600" cy="6350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31" name="rm5-t"/>
          <p:cNvSpPr txBox="1"/>
          <p:nvPr/>
        </p:nvSpPr>
        <p:spPr>
          <a:xfrm>
            <a:off x="8194040" y="4286250"/>
            <a:ext cx="3073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多模态</a:t>
            </a:r>
            <a:endParaRPr lang="en-US" sz="1600" noProof="1"/>
          </a:p>
        </p:txBody>
      </p:sp>
      <p:sp>
        <p:nvSpPr>
          <p:cNvPr id="32" name="rm5-d"/>
          <p:cNvSpPr txBox="1"/>
          <p:nvPr/>
        </p:nvSpPr>
        <p:spPr>
          <a:xfrm>
            <a:off x="8194040" y="4667250"/>
            <a:ext cx="30734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图片 OCR、视频和音频文件支持</a:t>
            </a:r>
            <a:endParaRPr lang="en-US" sz="1200" noProof="1"/>
          </a:p>
        </p:txBody>
      </p:sp>
      <p:sp>
        <p:nvSpPr>
          <p:cNvPr id="33" name="rm6-d"/>
          <p:cNvSpPr/>
          <p:nvPr/>
        </p:nvSpPr>
        <p:spPr>
          <a:xfrm>
            <a:off x="863600" y="4997450"/>
            <a:ext cx="3073400" cy="736600"/>
          </a:xfrm>
          <a:prstGeom prst="rect">
            <a:avLst/>
          </a:prstGeom>
          <a:noFill/>
          <a:ln>
            <a:noFill/>
          </a:ln>
        </p:spPr>
      </p:sp>
      <p:sp>
        <p:nvSpPr>
          <p:cNvPr id="34" name="slogan"/>
          <p:cNvSpPr/>
          <p:nvPr/>
        </p:nvSpPr>
        <p:spPr>
          <a:xfrm>
            <a:off x="830580" y="5867400"/>
            <a:ext cx="10081260" cy="5080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文本框 33"/>
          <p:cNvSpPr txBox="1"/>
          <p:nvPr/>
        </p:nvSpPr>
        <p:spPr>
          <a:xfrm>
            <a:off x="792480" y="6031230"/>
            <a:ext cx="10896600" cy="2768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noProof="1">
                <a:solidFill>
                  <a:srgbClr val="000000"/>
                </a:solidFill>
                <a:latin typeface="MiSans" charset="-122"/>
                <a:ea typeface="MiSans" charset="-122"/>
              </a:rPr>
              <a:t>当前版本尚未真正接入 OpenViking，后续推荐采用独立 OpenViking Server，由 Electron 主进程通过 HTTP 或 SDK 访问。</a:t>
            </a:r>
            <a:endParaRPr lang="en-US" sz="1500" noProof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>
              <a:alphaModFix amt="30000"/>
            </a:blip>
            <a:stretch>
              <a:fillRect/>
            </a:stretch>
          </a:blipFill>
          <a:ln>
            <a:noFill/>
          </a:ln>
        </p:spPr>
      </p:sp>
      <p:sp>
        <p:nvSpPr>
          <p:cNvPr id="3" name="band"/>
          <p:cNvSpPr/>
          <p:nvPr/>
        </p:nvSpPr>
        <p:spPr>
          <a:xfrm>
            <a:off x="0" y="2865120"/>
            <a:ext cx="12192000" cy="1136650"/>
          </a:xfrm>
          <a:prstGeom prst="rect">
            <a:avLst/>
          </a:prstGeom>
          <a:solidFill>
            <a:srgbClr val="5B9BD5"/>
          </a:solidFill>
          <a:ln>
            <a:noFill/>
          </a:ln>
        </p:spPr>
      </p:sp>
      <p:sp>
        <p:nvSpPr>
          <p:cNvPr id="4" name="num-box"/>
          <p:cNvSpPr/>
          <p:nvPr/>
        </p:nvSpPr>
        <p:spPr>
          <a:xfrm>
            <a:off x="1351280" y="2306320"/>
            <a:ext cx="1651000" cy="2306320"/>
          </a:xfrm>
          <a:prstGeom prst="roundRect">
            <a:avLst/>
          </a:prstGeom>
          <a:noFill/>
          <a:ln w="38100">
            <a:solidFill>
              <a:srgbClr val="5B9BD5"/>
            </a:solidFill>
          </a:ln>
          <a:effectLst>
            <a:outerShdw blurRad="6350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num"/>
          <p:cNvSpPr txBox="1"/>
          <p:nvPr/>
        </p:nvSpPr>
        <p:spPr>
          <a:xfrm>
            <a:off x="1473200" y="2848610"/>
            <a:ext cx="1409700" cy="1231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7600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05</a:t>
            </a:r>
            <a:endParaRPr lang="en-US" sz="7600" noProof="1"/>
          </a:p>
        </p:txBody>
      </p:sp>
      <p:sp>
        <p:nvSpPr>
          <p:cNvPr id="6" name="ch-title"/>
          <p:cNvSpPr txBox="1"/>
          <p:nvPr/>
        </p:nvSpPr>
        <p:spPr>
          <a:xfrm>
            <a:off x="3723640" y="3048000"/>
            <a:ext cx="78740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        内嵌个人知识库</a:t>
            </a:r>
            <a:endParaRPr lang="en-US" sz="4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27050" cy="4445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5520"/>
            <a:ext cx="8839200" cy="4318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29040" y="985520"/>
            <a:ext cx="3362960" cy="4318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701040" y="254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rPr>
              <a:t>界面</a:t>
            </a:r>
            <a:r>
              <a:rPr lang="zh-CN" altLang="en-US" sz="3000" noProof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rPr>
              <a:t>展示</a:t>
            </a:r>
            <a:endParaRPr lang="zh-CN" altLang="en-US" sz="3000" noProof="1">
              <a:solidFill>
                <a:srgbClr val="000000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080" y="1905635"/>
            <a:ext cx="10705465" cy="4605020"/>
          </a:xfrm>
          <a:prstGeom prst="rect">
            <a:avLst/>
          </a:prstGeom>
        </p:spPr>
      </p:pic>
      <p:sp>
        <p:nvSpPr>
          <p:cNvPr id="25" name="pos-box"/>
          <p:cNvSpPr/>
          <p:nvPr/>
        </p:nvSpPr>
        <p:spPr>
          <a:xfrm>
            <a:off x="701040" y="1244600"/>
            <a:ext cx="10795000" cy="561340"/>
          </a:xfrm>
          <a:prstGeom prst="roundRect">
            <a:avLst>
              <a:gd name="adj" fmla="val 5000"/>
            </a:avLst>
          </a:prstGeom>
          <a:solidFill>
            <a:srgbClr val="F4F9FE"/>
          </a:solidFill>
          <a:ln w="12700">
            <a:solidFill>
              <a:srgbClr val="BDD7EE"/>
            </a:solidFill>
          </a:ln>
        </p:spPr>
      </p:sp>
      <p:sp>
        <p:nvSpPr>
          <p:cNvPr id="26" name="pos-tag"/>
          <p:cNvSpPr/>
          <p:nvPr/>
        </p:nvSpPr>
        <p:spPr>
          <a:xfrm flipH="1">
            <a:off x="690880" y="1226820"/>
            <a:ext cx="76200" cy="633095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27" name="pos-text"/>
          <p:cNvSpPr txBox="1"/>
          <p:nvPr/>
        </p:nvSpPr>
        <p:spPr>
          <a:xfrm>
            <a:off x="907415" y="1298575"/>
            <a:ext cx="10160000" cy="4292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zh-CN" altLang="en-US" sz="15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示例界面展示</a:t>
            </a:r>
            <a:r>
              <a:rPr lang="en-US" sz="15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：</a:t>
            </a:r>
            <a:endParaRPr lang="en-US" sz="1500" noProof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27050" cy="4445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5520"/>
            <a:ext cx="8839200" cy="4318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29040" y="985520"/>
            <a:ext cx="3362960" cy="4318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701040" y="254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rPr>
              <a:t>功能定位与界面</a:t>
            </a:r>
            <a:endParaRPr lang="en-US" sz="3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8" name="pos-box"/>
          <p:cNvSpPr/>
          <p:nvPr/>
        </p:nvSpPr>
        <p:spPr>
          <a:xfrm>
            <a:off x="701040" y="1244600"/>
            <a:ext cx="10795000" cy="1270000"/>
          </a:xfrm>
          <a:prstGeom prst="roundRect">
            <a:avLst>
              <a:gd name="adj" fmla="val 5000"/>
            </a:avLst>
          </a:prstGeom>
          <a:solidFill>
            <a:srgbClr val="F4F9FE"/>
          </a:solidFill>
          <a:ln w="12700">
            <a:solidFill>
              <a:srgbClr val="BDD7EE"/>
            </a:solidFill>
          </a:ln>
        </p:spPr>
      </p:sp>
      <p:sp>
        <p:nvSpPr>
          <p:cNvPr id="9" name="pos-tag"/>
          <p:cNvSpPr/>
          <p:nvPr/>
        </p:nvSpPr>
        <p:spPr>
          <a:xfrm>
            <a:off x="701040" y="1244600"/>
            <a:ext cx="101600" cy="127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10" name="pos-text"/>
          <p:cNvSpPr txBox="1"/>
          <p:nvPr/>
        </p:nvSpPr>
        <p:spPr>
          <a:xfrm>
            <a:off x="1016000" y="1346200"/>
            <a:ext cx="10160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5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功能定位：</a:t>
            </a:r>
            <a:r>
              <a:rPr lang="en-US" sz="15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内嵌个人知识库是 Agent 桌面客户端中的本地知识管理空间，帮助用户沉淀个人资料、整理文档，并在对话中调用这些内容辅助回答。它面向个人长期使用，强调本地优先、轻量和可控，建立“资料保存、快速查找、Agent 辅助使用”的个人闭环。</a:t>
            </a:r>
            <a:endParaRPr lang="en-US" sz="1500" noProof="1"/>
          </a:p>
        </p:txBody>
      </p:sp>
      <p:sp>
        <p:nvSpPr>
          <p:cNvPr id="11" name="sec-title"/>
          <p:cNvSpPr txBox="1"/>
          <p:nvPr/>
        </p:nvSpPr>
        <p:spPr>
          <a:xfrm>
            <a:off x="706120" y="31877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三栏式工作界面</a:t>
            </a:r>
            <a:endParaRPr lang="en-US" sz="2000" noProof="1"/>
          </a:p>
        </p:txBody>
      </p:sp>
      <p:sp>
        <p:nvSpPr>
          <p:cNvPr id="12" name="kb0-card"/>
          <p:cNvSpPr/>
          <p:nvPr>
            <p:custDataLst>
              <p:tags r:id="rId1"/>
            </p:custDataLst>
          </p:nvPr>
        </p:nvSpPr>
        <p:spPr>
          <a:xfrm>
            <a:off x="627380" y="3644900"/>
            <a:ext cx="347472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kb0-top"/>
          <p:cNvSpPr/>
          <p:nvPr>
            <p:custDataLst>
              <p:tags r:id="rId2"/>
            </p:custDataLst>
          </p:nvPr>
        </p:nvSpPr>
        <p:spPr>
          <a:xfrm>
            <a:off x="627380" y="3644900"/>
            <a:ext cx="3474720" cy="6350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14" name="kb0-t"/>
          <p:cNvSpPr txBox="1"/>
          <p:nvPr>
            <p:custDataLst>
              <p:tags r:id="rId3"/>
            </p:custDataLst>
          </p:nvPr>
        </p:nvSpPr>
        <p:spPr>
          <a:xfrm>
            <a:off x="855980" y="3822700"/>
            <a:ext cx="30226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左侧文档目录</a:t>
            </a:r>
            <a:endParaRPr lang="en-US" sz="1600" noProof="1"/>
          </a:p>
        </p:txBody>
      </p:sp>
      <p:sp>
        <p:nvSpPr>
          <p:cNvPr id="15" name="kb0-d"/>
          <p:cNvSpPr txBox="1"/>
          <p:nvPr>
            <p:custDataLst>
              <p:tags r:id="rId4"/>
            </p:custDataLst>
          </p:nvPr>
        </p:nvSpPr>
        <p:spPr>
          <a:xfrm>
            <a:off x="855980" y="4203700"/>
            <a:ext cx="30226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显示全部笔记和文件夹，用于切换资料范围，快速定位目标目录。</a:t>
            </a:r>
            <a:endParaRPr lang="en-US" sz="1200" noProof="1"/>
          </a:p>
        </p:txBody>
      </p:sp>
      <p:sp>
        <p:nvSpPr>
          <p:cNvPr id="16" name="kb1-card"/>
          <p:cNvSpPr/>
          <p:nvPr>
            <p:custDataLst>
              <p:tags r:id="rId5"/>
            </p:custDataLst>
          </p:nvPr>
        </p:nvSpPr>
        <p:spPr>
          <a:xfrm>
            <a:off x="4330700" y="3644900"/>
            <a:ext cx="347472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kb1-top"/>
          <p:cNvSpPr/>
          <p:nvPr>
            <p:custDataLst>
              <p:tags r:id="rId6"/>
            </p:custDataLst>
          </p:nvPr>
        </p:nvSpPr>
        <p:spPr>
          <a:xfrm>
            <a:off x="4330700" y="3644900"/>
            <a:ext cx="3474720" cy="6350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18" name="kb1-t"/>
          <p:cNvSpPr txBox="1"/>
          <p:nvPr>
            <p:custDataLst>
              <p:tags r:id="rId7"/>
            </p:custDataLst>
          </p:nvPr>
        </p:nvSpPr>
        <p:spPr>
          <a:xfrm>
            <a:off x="4559300" y="3822700"/>
            <a:ext cx="30226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中间文档列表</a:t>
            </a:r>
            <a:endParaRPr lang="en-US" sz="1600" noProof="1"/>
          </a:p>
        </p:txBody>
      </p:sp>
      <p:sp>
        <p:nvSpPr>
          <p:cNvPr id="19" name="kb1-d"/>
          <p:cNvSpPr txBox="1"/>
          <p:nvPr>
            <p:custDataLst>
              <p:tags r:id="rId8"/>
            </p:custDataLst>
          </p:nvPr>
        </p:nvSpPr>
        <p:spPr>
          <a:xfrm>
            <a:off x="4559300" y="4203700"/>
            <a:ext cx="30226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显示当前目录中的文档，提供关键词搜索和文档操作入口。</a:t>
            </a:r>
            <a:endParaRPr lang="en-US" sz="1200" noProof="1"/>
          </a:p>
        </p:txBody>
      </p:sp>
      <p:sp>
        <p:nvSpPr>
          <p:cNvPr id="20" name="kb2-card"/>
          <p:cNvSpPr/>
          <p:nvPr>
            <p:custDataLst>
              <p:tags r:id="rId9"/>
            </p:custDataLst>
          </p:nvPr>
        </p:nvSpPr>
        <p:spPr>
          <a:xfrm>
            <a:off x="8034020" y="3644900"/>
            <a:ext cx="347472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kb2-top"/>
          <p:cNvSpPr/>
          <p:nvPr>
            <p:custDataLst>
              <p:tags r:id="rId10"/>
            </p:custDataLst>
          </p:nvPr>
        </p:nvSpPr>
        <p:spPr>
          <a:xfrm>
            <a:off x="8034020" y="3644900"/>
            <a:ext cx="3474720" cy="6350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22" name="kb2-t"/>
          <p:cNvSpPr txBox="1"/>
          <p:nvPr>
            <p:custDataLst>
              <p:tags r:id="rId11"/>
            </p:custDataLst>
          </p:nvPr>
        </p:nvSpPr>
        <p:spPr>
          <a:xfrm>
            <a:off x="8262620" y="3822700"/>
            <a:ext cx="30226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右侧文档内容</a:t>
            </a:r>
            <a:endParaRPr lang="en-US" sz="1600" noProof="1"/>
          </a:p>
        </p:txBody>
      </p:sp>
      <p:sp>
        <p:nvSpPr>
          <p:cNvPr id="23" name="kb2-d"/>
          <p:cNvSpPr txBox="1"/>
          <p:nvPr>
            <p:custDataLst>
              <p:tags r:id="rId12"/>
            </p:custDataLst>
          </p:nvPr>
        </p:nvSpPr>
        <p:spPr>
          <a:xfrm>
            <a:off x="8262620" y="4203700"/>
            <a:ext cx="30226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查看和编辑当前选中的 Markdown 笔记或导入文档内容。</a:t>
            </a:r>
            <a:endParaRPr lang="en-US" sz="1200" noProof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27050" cy="4445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5520"/>
            <a:ext cx="8839200" cy="4318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29040" y="985520"/>
            <a:ext cx="3362960" cy="4318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701040" y="254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rPr>
              <a:t>文档管理与文件导入</a:t>
            </a:r>
            <a:endParaRPr lang="en-US" sz="3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8" name="doc-card"/>
          <p:cNvSpPr/>
          <p:nvPr/>
        </p:nvSpPr>
        <p:spPr>
          <a:xfrm>
            <a:off x="622300" y="1244600"/>
            <a:ext cx="5334000" cy="50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doc-top"/>
          <p:cNvSpPr/>
          <p:nvPr/>
        </p:nvSpPr>
        <p:spPr>
          <a:xfrm>
            <a:off x="622300" y="1244600"/>
            <a:ext cx="5334000" cy="6350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10" name="doc-t"/>
          <p:cNvSpPr txBox="1"/>
          <p:nvPr/>
        </p:nvSpPr>
        <p:spPr>
          <a:xfrm>
            <a:off x="876300" y="1447800"/>
            <a:ext cx="4826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文档管理</a:t>
            </a:r>
            <a:endParaRPr lang="en-US" sz="1600" noProof="1"/>
          </a:p>
        </p:txBody>
      </p:sp>
      <p:sp>
        <p:nvSpPr>
          <p:cNvPr id="11" name="doc-d"/>
          <p:cNvSpPr txBox="1"/>
          <p:nvPr/>
        </p:nvSpPr>
        <p:spPr>
          <a:xfrm>
            <a:off x="876300" y="1905000"/>
            <a:ext cx="4826000" cy="421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直接新建 Markdown 笔记，填写标题和正文，并选择所属文件夹，保存后出现在对应目录的文档列表中；</a:t>
            </a:r>
            <a:endParaRPr lang="en-US" sz="1200" noProof="1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文档列表支持按标题、正文、来源和文件夹进行关键词搜索，可从大量个人资料中快速找到目标内容；</a:t>
            </a:r>
            <a:endParaRPr lang="en-US" sz="1200" noProof="1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每篇文档提供三个点操作菜单：</a:t>
            </a:r>
            <a:endParaRPr lang="en-US" sz="1200" noProof="1"/>
          </a:p>
          <a:p>
            <a:pPr marL="152400" algn="l">
              <a:lnSpc>
                <a:spcPct val="150000"/>
              </a:lnSpc>
              <a:spcBef>
                <a:spcPts val="600"/>
              </a:spcBef>
            </a:pPr>
            <a:r>
              <a:rPr lang="en-US" sz="12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移动</a:t>
            </a: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：归入其他文件夹，原文档内容和附件保持不变；</a:t>
            </a:r>
            <a:endParaRPr lang="en-US" sz="1200" noProof="1"/>
          </a:p>
          <a:p>
            <a:pPr marL="152400" algn="l">
              <a:lnSpc>
                <a:spcPct val="150000"/>
              </a:lnSpc>
              <a:spcBef>
                <a:spcPts val="600"/>
              </a:spcBef>
            </a:pPr>
            <a:r>
              <a:rPr lang="en-US" sz="12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复制</a:t>
            </a: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：生成独立副本，关联附件也会生成独立副本；</a:t>
            </a:r>
            <a:endParaRPr lang="en-US" sz="1200" noProof="1"/>
          </a:p>
          <a:p>
            <a:pPr marL="152400" algn="l">
              <a:lnSpc>
                <a:spcPct val="150000"/>
              </a:lnSpc>
              <a:spcBef>
                <a:spcPts val="600"/>
              </a:spcBef>
            </a:pPr>
            <a:r>
              <a:rPr lang="en-US" sz="12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删除</a:t>
            </a: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：删除当前文档；导入文档删除时，同时删除知识库内部保存的提取内容和附件副本。</a:t>
            </a:r>
            <a:endParaRPr lang="en-US" sz="1200" noProof="1"/>
          </a:p>
        </p:txBody>
      </p:sp>
      <p:sp>
        <p:nvSpPr>
          <p:cNvPr id="12" name="imp-card"/>
          <p:cNvSpPr/>
          <p:nvPr/>
        </p:nvSpPr>
        <p:spPr>
          <a:xfrm>
            <a:off x="6235700" y="1244600"/>
            <a:ext cx="5334000" cy="50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imp-top"/>
          <p:cNvSpPr/>
          <p:nvPr/>
        </p:nvSpPr>
        <p:spPr>
          <a:xfrm>
            <a:off x="6235700" y="1244600"/>
            <a:ext cx="5334000" cy="6350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14" name="imp-t"/>
          <p:cNvSpPr txBox="1"/>
          <p:nvPr/>
        </p:nvSpPr>
        <p:spPr>
          <a:xfrm>
            <a:off x="6489700" y="1447800"/>
            <a:ext cx="4826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文件导入</a:t>
            </a:r>
            <a:endParaRPr lang="en-US" sz="1600" noProof="1"/>
          </a:p>
        </p:txBody>
      </p:sp>
      <p:sp>
        <p:nvSpPr>
          <p:cNvPr id="15" name="imp-d"/>
          <p:cNvSpPr txBox="1"/>
          <p:nvPr/>
        </p:nvSpPr>
        <p:spPr>
          <a:xfrm>
            <a:off x="6489700" y="1905000"/>
            <a:ext cx="4826000" cy="421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支持导入 Markdown、TXT、JSON、CSV、HTML，以及 PDF、DOCX、XLSX、PPTX 等常见办公文件；</a:t>
            </a:r>
            <a:endParaRPr lang="en-US" sz="1200" noProof="1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支持文件选择器批量导入和直接拖拽导入；</a:t>
            </a:r>
            <a:endParaRPr lang="en-US" sz="1200" noProof="1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导入后保留一份知识库内部的原始文件副本，同时提取文本内容，用于搜索和 Agent 阅读；</a:t>
            </a:r>
            <a:endParaRPr lang="en-US" sz="1200" noProof="1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导入目标遵循当前选择的目录：“全部笔记”下导入进入“默认”文件夹；具体文件夹下导入进入当前文件夹；</a:t>
            </a:r>
            <a:endParaRPr lang="en-US" sz="1200" noProof="1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用户电脑中原始位置的文件不会因知识库的删除操作而被删除。</a:t>
            </a:r>
            <a:endParaRPr lang="en-US" sz="1200" noProof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27050" cy="4445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5520"/>
            <a:ext cx="8839200" cy="4318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29040" y="985520"/>
            <a:ext cx="3362960" cy="4318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701040" y="254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rPr>
              <a:t>文件夹管理与菜单体验优化</a:t>
            </a:r>
            <a:endParaRPr lang="en-US" sz="3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8" name="dir-card"/>
          <p:cNvSpPr/>
          <p:nvPr/>
        </p:nvSpPr>
        <p:spPr>
          <a:xfrm>
            <a:off x="622300" y="1244600"/>
            <a:ext cx="5334000" cy="50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dir-top"/>
          <p:cNvSpPr/>
          <p:nvPr/>
        </p:nvSpPr>
        <p:spPr>
          <a:xfrm>
            <a:off x="622300" y="1244600"/>
            <a:ext cx="5334000" cy="6350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10" name="dir-t"/>
          <p:cNvSpPr txBox="1"/>
          <p:nvPr/>
        </p:nvSpPr>
        <p:spPr>
          <a:xfrm>
            <a:off x="876300" y="1447800"/>
            <a:ext cx="4826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文件夹管理</a:t>
            </a:r>
            <a:endParaRPr lang="en-US" sz="1600" noProof="1"/>
          </a:p>
        </p:txBody>
      </p:sp>
      <p:sp>
        <p:nvSpPr>
          <p:cNvPr id="11" name="dir-d"/>
          <p:cNvSpPr txBox="1"/>
          <p:nvPr/>
        </p:nvSpPr>
        <p:spPr>
          <a:xfrm>
            <a:off x="876300" y="1905000"/>
            <a:ext cx="4826000" cy="421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初始化时自动创建“默认”文件夹：系统保留目录，不能重命名、置顶或删除，用于承接未指定目录的内容；</a:t>
            </a:r>
            <a:endParaRPr lang="en-US" sz="1200" noProof="1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普通文件夹可按主题、项目或用途创建，支持新建、置顶或取消置顶、修改名称、删除文件夹及其内容；</a:t>
            </a:r>
            <a:endParaRPr lang="en-US" sz="1200" noProof="1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新建和重命名时名称必填，不能超过 7 个字符，也不能与已有文件夹重名；</a:t>
            </a:r>
            <a:endParaRPr lang="en-US" sz="1200" noProof="1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删除前会明确提示，确认后一并删除该文件夹下的笔记和知识库内部附件；</a:t>
            </a:r>
            <a:endParaRPr lang="en-US" sz="1200" noProof="1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展示顺序：默认文件夹、已置顶文件夹、普通文件夹。</a:t>
            </a:r>
            <a:endParaRPr lang="en-US" sz="1200" noProof="1"/>
          </a:p>
        </p:txBody>
      </p:sp>
      <p:sp>
        <p:nvSpPr>
          <p:cNvPr id="12" name="menu-card"/>
          <p:cNvSpPr/>
          <p:nvPr/>
        </p:nvSpPr>
        <p:spPr>
          <a:xfrm>
            <a:off x="6235700" y="1244600"/>
            <a:ext cx="5334000" cy="50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menu-top"/>
          <p:cNvSpPr/>
          <p:nvPr/>
        </p:nvSpPr>
        <p:spPr>
          <a:xfrm>
            <a:off x="6235700" y="1244600"/>
            <a:ext cx="5334000" cy="6350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14" name="menu-t"/>
          <p:cNvSpPr txBox="1"/>
          <p:nvPr/>
        </p:nvSpPr>
        <p:spPr>
          <a:xfrm>
            <a:off x="6489700" y="1447800"/>
            <a:ext cx="4826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文档编辑菜单体验优化</a:t>
            </a:r>
            <a:endParaRPr lang="en-US" sz="1600" noProof="1"/>
          </a:p>
        </p:txBody>
      </p:sp>
      <p:sp>
        <p:nvSpPr>
          <p:cNvPr id="15" name="menu-d"/>
          <p:cNvSpPr txBox="1"/>
          <p:nvPr/>
        </p:nvSpPr>
        <p:spPr>
          <a:xfrm>
            <a:off x="6489700" y="1905000"/>
            <a:ext cx="4826000" cy="421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文档列表和文件夹列表均提供三个点操作入口，集中放置移动、复制、删除、置顶和重命名等操作；</a:t>
            </a:r>
            <a:endParaRPr lang="en-US" sz="1200" noProof="1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菜单打开后，点击文档编辑区、搜索框、目录区、列表空白处或页面其他区域，菜单自动关闭，避免长期停留遮挡文档内容；</a:t>
            </a:r>
            <a:endParaRPr lang="en-US" sz="1200" noProof="1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点击另一个菜单按钮时，原菜单自动收起，只保留当前操作菜单；点击菜单内部的具体操作不会被外部点击逻辑误关闭；</a:t>
            </a:r>
            <a:endParaRPr lang="en-US" sz="1200" noProof="1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移动、复制、删除以及新建文件夹的弹窗属于独立交互，不会因普通菜单的自动关闭而被取消。</a:t>
            </a:r>
            <a:endParaRPr lang="en-US" sz="1200" noProof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27050" cy="4445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5520"/>
            <a:ext cx="8839200" cy="4318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29040" y="985520"/>
            <a:ext cx="3362960" cy="4318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701040" y="254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rPr>
              <a:t>对话中启用知识库</a:t>
            </a:r>
            <a:endParaRPr lang="en-US" sz="3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8" name="sw-box"/>
          <p:cNvSpPr/>
          <p:nvPr/>
        </p:nvSpPr>
        <p:spPr>
          <a:xfrm>
            <a:off x="701040" y="1193800"/>
            <a:ext cx="10795000" cy="1320800"/>
          </a:xfrm>
          <a:prstGeom prst="roundRect">
            <a:avLst>
              <a:gd name="adj" fmla="val 5000"/>
            </a:avLst>
          </a:prstGeom>
          <a:solidFill>
            <a:srgbClr val="F4F9FE"/>
          </a:solidFill>
          <a:ln w="12700">
            <a:solidFill>
              <a:srgbClr val="BDD7EE"/>
            </a:solidFill>
          </a:ln>
        </p:spPr>
      </p:sp>
      <p:sp>
        <p:nvSpPr>
          <p:cNvPr id="9" name="sw-tag"/>
          <p:cNvSpPr/>
          <p:nvPr/>
        </p:nvSpPr>
        <p:spPr>
          <a:xfrm>
            <a:off x="701040" y="1193800"/>
            <a:ext cx="101600" cy="13208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10" name="sw-text"/>
          <p:cNvSpPr txBox="1"/>
          <p:nvPr/>
        </p:nvSpPr>
        <p:spPr>
          <a:xfrm>
            <a:off x="1016000" y="1270000"/>
            <a:ext cx="101600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5000"/>
              </a:lnSpc>
            </a:pPr>
            <a:r>
              <a:rPr lang="en-US" sz="13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“使用知识库”开关：</a:t>
            </a:r>
            <a:r>
              <a:rPr lang="en-US" sz="13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对话输入区新增开关按钮，状态按对话独立保存，新对话默认关闭；开启后发送问题前先检索本地知识库，关闭后按普通对话流程处理；对话生成或检索过程中不能切换，避免请求状态不一致。</a:t>
            </a:r>
            <a:endParaRPr lang="en-US" sz="1300" noProof="1"/>
          </a:p>
        </p:txBody>
      </p:sp>
      <p:sp>
        <p:nvSpPr>
          <p:cNvPr id="11" name="flow-title"/>
          <p:cNvSpPr txBox="1"/>
          <p:nvPr/>
        </p:nvSpPr>
        <p:spPr>
          <a:xfrm>
            <a:off x="701040" y="2692400"/>
            <a:ext cx="5080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知识库辅助回答流程</a:t>
            </a:r>
            <a:endParaRPr lang="en-US" sz="2000" noProof="1"/>
          </a:p>
        </p:txBody>
      </p:sp>
      <p:sp>
        <p:nvSpPr>
          <p:cNvPr id="12" name="f0-card"/>
          <p:cNvSpPr/>
          <p:nvPr/>
        </p:nvSpPr>
        <p:spPr>
          <a:xfrm>
            <a:off x="594360" y="3149600"/>
            <a:ext cx="1658620" cy="175260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</p:spPr>
      </p:sp>
      <p:sp>
        <p:nvSpPr>
          <p:cNvPr id="13" name="f0-t"/>
          <p:cNvSpPr txBox="1"/>
          <p:nvPr/>
        </p:nvSpPr>
        <p:spPr>
          <a:xfrm>
            <a:off x="721360" y="3352800"/>
            <a:ext cx="140462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用户提出问题</a:t>
            </a:r>
            <a:endParaRPr lang="en-US" sz="1400" noProof="1"/>
          </a:p>
        </p:txBody>
      </p:sp>
      <p:sp>
        <p:nvSpPr>
          <p:cNvPr id="14" name="f0-d"/>
          <p:cNvSpPr txBox="1"/>
          <p:nvPr/>
        </p:nvSpPr>
        <p:spPr>
          <a:xfrm>
            <a:off x="749300" y="3784600"/>
            <a:ext cx="13462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用户在对话中输入问题</a:t>
            </a:r>
            <a:endParaRPr lang="en-US" sz="1100" noProof="1"/>
          </a:p>
        </p:txBody>
      </p:sp>
      <p:sp>
        <p:nvSpPr>
          <p:cNvPr id="15" name="f0-arrow"/>
          <p:cNvSpPr/>
          <p:nvPr/>
        </p:nvSpPr>
        <p:spPr>
          <a:xfrm>
            <a:off x="2261870" y="3835400"/>
            <a:ext cx="191770" cy="383540"/>
          </a:xfrm>
          <a:prstGeom prst="rightArrow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16" name="f1-card"/>
          <p:cNvSpPr/>
          <p:nvPr/>
        </p:nvSpPr>
        <p:spPr>
          <a:xfrm>
            <a:off x="2462530" y="3149600"/>
            <a:ext cx="1658620" cy="175260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</p:spPr>
      </p:sp>
      <p:sp>
        <p:nvSpPr>
          <p:cNvPr id="17" name="f1-t"/>
          <p:cNvSpPr txBox="1"/>
          <p:nvPr/>
        </p:nvSpPr>
        <p:spPr>
          <a:xfrm>
            <a:off x="2589530" y="3352800"/>
            <a:ext cx="140462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判断是否开启</a:t>
            </a:r>
            <a:endParaRPr lang="en-US" sz="1400" noProof="1"/>
          </a:p>
        </p:txBody>
      </p:sp>
      <p:sp>
        <p:nvSpPr>
          <p:cNvPr id="18" name="f1-d"/>
          <p:cNvSpPr txBox="1"/>
          <p:nvPr/>
        </p:nvSpPr>
        <p:spPr>
          <a:xfrm>
            <a:off x="2616200" y="3784600"/>
            <a:ext cx="13462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未开启则按普通对话流程处理</a:t>
            </a:r>
            <a:endParaRPr lang="en-US" sz="1100" noProof="1"/>
          </a:p>
        </p:txBody>
      </p:sp>
      <p:sp>
        <p:nvSpPr>
          <p:cNvPr id="19" name="f1-arrow"/>
          <p:cNvSpPr/>
          <p:nvPr/>
        </p:nvSpPr>
        <p:spPr>
          <a:xfrm>
            <a:off x="4130040" y="3835400"/>
            <a:ext cx="191770" cy="383540"/>
          </a:xfrm>
          <a:prstGeom prst="rightArrow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20" name="f2-card"/>
          <p:cNvSpPr/>
          <p:nvPr/>
        </p:nvSpPr>
        <p:spPr>
          <a:xfrm>
            <a:off x="4330700" y="3149600"/>
            <a:ext cx="1658620" cy="175260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</p:spPr>
      </p:sp>
      <p:sp>
        <p:nvSpPr>
          <p:cNvPr id="21" name="f2-t"/>
          <p:cNvSpPr txBox="1"/>
          <p:nvPr/>
        </p:nvSpPr>
        <p:spPr>
          <a:xfrm>
            <a:off x="4457700" y="3352800"/>
            <a:ext cx="140462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检索本地文档</a:t>
            </a:r>
            <a:endParaRPr lang="en-US" sz="1400" noProof="1"/>
          </a:p>
        </p:txBody>
      </p:sp>
      <p:sp>
        <p:nvSpPr>
          <p:cNvPr id="22" name="f2-d"/>
          <p:cNvSpPr txBox="1"/>
          <p:nvPr/>
        </p:nvSpPr>
        <p:spPr>
          <a:xfrm>
            <a:off x="4485640" y="3784600"/>
            <a:ext cx="13462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检索本地相关知识库文档</a:t>
            </a:r>
            <a:endParaRPr lang="en-US" sz="1100" noProof="1"/>
          </a:p>
        </p:txBody>
      </p:sp>
      <p:sp>
        <p:nvSpPr>
          <p:cNvPr id="23" name="f2-arrow"/>
          <p:cNvSpPr/>
          <p:nvPr/>
        </p:nvSpPr>
        <p:spPr>
          <a:xfrm>
            <a:off x="5998210" y="3835400"/>
            <a:ext cx="191770" cy="383540"/>
          </a:xfrm>
          <a:prstGeom prst="rightArrow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24" name="f3-card"/>
          <p:cNvSpPr/>
          <p:nvPr/>
        </p:nvSpPr>
        <p:spPr>
          <a:xfrm>
            <a:off x="6200140" y="3149600"/>
            <a:ext cx="1658620" cy="175260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</p:spPr>
      </p:sp>
      <p:sp>
        <p:nvSpPr>
          <p:cNvPr id="25" name="f3-t"/>
          <p:cNvSpPr txBox="1"/>
          <p:nvPr/>
        </p:nvSpPr>
        <p:spPr>
          <a:xfrm>
            <a:off x="6327140" y="3352800"/>
            <a:ext cx="140462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提取相关内容</a:t>
            </a:r>
            <a:endParaRPr lang="en-US" sz="1400" noProof="1"/>
          </a:p>
        </p:txBody>
      </p:sp>
      <p:sp>
        <p:nvSpPr>
          <p:cNvPr id="26" name="f3-d"/>
          <p:cNvSpPr txBox="1"/>
          <p:nvPr/>
        </p:nvSpPr>
        <p:spPr>
          <a:xfrm>
            <a:off x="6355080" y="3784600"/>
            <a:ext cx="13462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提取最多 5 条相关内容</a:t>
            </a:r>
            <a:endParaRPr lang="en-US" sz="1100" noProof="1"/>
          </a:p>
        </p:txBody>
      </p:sp>
      <p:sp>
        <p:nvSpPr>
          <p:cNvPr id="27" name="f3-arrow"/>
          <p:cNvSpPr/>
          <p:nvPr/>
        </p:nvSpPr>
        <p:spPr>
          <a:xfrm>
            <a:off x="7866380" y="3835400"/>
            <a:ext cx="191770" cy="383540"/>
          </a:xfrm>
          <a:prstGeom prst="rightArrow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28" name="f4-card"/>
          <p:cNvSpPr/>
          <p:nvPr/>
        </p:nvSpPr>
        <p:spPr>
          <a:xfrm>
            <a:off x="8068310" y="3149600"/>
            <a:ext cx="1658620" cy="175260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</p:spPr>
      </p:sp>
      <p:sp>
        <p:nvSpPr>
          <p:cNvPr id="29" name="f4-t"/>
          <p:cNvSpPr txBox="1"/>
          <p:nvPr/>
        </p:nvSpPr>
        <p:spPr>
          <a:xfrm>
            <a:off x="8195310" y="3352800"/>
            <a:ext cx="140462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交给 Agent</a:t>
            </a:r>
            <a:endParaRPr lang="en-US" sz="1400" noProof="1"/>
          </a:p>
        </p:txBody>
      </p:sp>
      <p:sp>
        <p:nvSpPr>
          <p:cNvPr id="30" name="f4-d"/>
          <p:cNvSpPr txBox="1"/>
          <p:nvPr/>
        </p:nvSpPr>
        <p:spPr>
          <a:xfrm>
            <a:off x="8223250" y="3784600"/>
            <a:ext cx="13462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检索结果标记为参考资料</a:t>
            </a:r>
            <a:endParaRPr lang="en-US" sz="1100" noProof="1"/>
          </a:p>
        </p:txBody>
      </p:sp>
      <p:sp>
        <p:nvSpPr>
          <p:cNvPr id="31" name="f4-arrow"/>
          <p:cNvSpPr/>
          <p:nvPr/>
        </p:nvSpPr>
        <p:spPr>
          <a:xfrm>
            <a:off x="9735820" y="3835400"/>
            <a:ext cx="191770" cy="383540"/>
          </a:xfrm>
          <a:prstGeom prst="rightArrow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32" name="f5-card"/>
          <p:cNvSpPr/>
          <p:nvPr/>
        </p:nvSpPr>
        <p:spPr>
          <a:xfrm>
            <a:off x="9936480" y="3149600"/>
            <a:ext cx="1658620" cy="175260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</p:spPr>
      </p:sp>
      <p:sp>
        <p:nvSpPr>
          <p:cNvPr id="33" name="f5-t"/>
          <p:cNvSpPr txBox="1"/>
          <p:nvPr/>
        </p:nvSpPr>
        <p:spPr>
          <a:xfrm>
            <a:off x="10063480" y="3352800"/>
            <a:ext cx="140462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生成回答</a:t>
            </a:r>
            <a:endParaRPr lang="en-US" sz="1400" noProof="1"/>
          </a:p>
        </p:txBody>
      </p:sp>
      <p:sp>
        <p:nvSpPr>
          <p:cNvPr id="34" name="f5-d"/>
          <p:cNvSpPr txBox="1"/>
          <p:nvPr/>
        </p:nvSpPr>
        <p:spPr>
          <a:xfrm>
            <a:off x="10091420" y="3784600"/>
            <a:ext cx="13462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Agent 结合问题生成回答</a:t>
            </a:r>
            <a:endParaRPr lang="en-US" sz="1100" noProof="1"/>
          </a:p>
        </p:txBody>
      </p:sp>
      <p:sp>
        <p:nvSpPr>
          <p:cNvPr id="35" name="note-box"/>
          <p:cNvSpPr/>
          <p:nvPr/>
        </p:nvSpPr>
        <p:spPr>
          <a:xfrm>
            <a:off x="701040" y="5207000"/>
            <a:ext cx="10795000" cy="965200"/>
          </a:xfrm>
          <a:prstGeom prst="roundRect">
            <a:avLst>
              <a:gd name="adj" fmla="val 5000"/>
            </a:avLst>
          </a:prstGeom>
          <a:solidFill>
            <a:srgbClr val="F4F9FE"/>
          </a:solidFill>
          <a:ln w="12700">
            <a:solidFill>
              <a:srgbClr val="BDD7EE"/>
            </a:solidFill>
          </a:ln>
        </p:spPr>
      </p:sp>
      <p:sp>
        <p:nvSpPr>
          <p:cNvPr id="36" name="note-tag"/>
          <p:cNvSpPr/>
          <p:nvPr/>
        </p:nvSpPr>
        <p:spPr>
          <a:xfrm>
            <a:off x="701040" y="5207000"/>
            <a:ext cx="101600" cy="9652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7" name="note-text"/>
          <p:cNvSpPr txBox="1"/>
          <p:nvPr/>
        </p:nvSpPr>
        <p:spPr>
          <a:xfrm>
            <a:off x="1016000" y="5283200"/>
            <a:ext cx="10160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5000"/>
              </a:lnSpc>
            </a:pPr>
            <a:r>
              <a:rPr lang="en-US" sz="13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检索结果包含文档标题、所属文件夹、来源和正文片段，明确标记为参考资料，不覆盖系统指令，也不会被当作操作命令执行；未检索到相关内容或检索异常时自动降级为普通对话，检索上下文不重复写入聊天记录。</a:t>
            </a:r>
            <a:endParaRPr lang="en-US" sz="1300" noProof="1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27050" cy="4445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5520"/>
            <a:ext cx="8839200" cy="4318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29040" y="985520"/>
            <a:ext cx="3362960" cy="4318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701040" y="254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rPr>
              <a:t>Agent 能力与数据安全</a:t>
            </a:r>
            <a:endParaRPr lang="en-US" sz="3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8" name="ag-card"/>
          <p:cNvSpPr/>
          <p:nvPr/>
        </p:nvSpPr>
        <p:spPr>
          <a:xfrm>
            <a:off x="622300" y="1244600"/>
            <a:ext cx="5334000" cy="50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ag-top"/>
          <p:cNvSpPr/>
          <p:nvPr/>
        </p:nvSpPr>
        <p:spPr>
          <a:xfrm>
            <a:off x="622300" y="1244600"/>
            <a:ext cx="5334000" cy="6350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10" name="ag-t"/>
          <p:cNvSpPr txBox="1"/>
          <p:nvPr/>
        </p:nvSpPr>
        <p:spPr>
          <a:xfrm>
            <a:off x="876300" y="1447800"/>
            <a:ext cx="4826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Agent 可执行能力</a:t>
            </a:r>
            <a:endParaRPr lang="en-US" sz="1600" noProof="1"/>
          </a:p>
        </p:txBody>
      </p:sp>
      <p:sp>
        <p:nvSpPr>
          <p:cNvPr id="11" name="ag-d"/>
          <p:cNvSpPr txBox="1"/>
          <p:nvPr/>
        </p:nvSpPr>
        <p:spPr>
          <a:xfrm>
            <a:off x="876300" y="1905000"/>
            <a:ext cx="4826000" cy="421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在用户授权范围内，Agent 可以使用以下知识库能力：</a:t>
            </a:r>
            <a:endParaRPr lang="en-US" sz="1200" noProof="1"/>
          </a:p>
          <a:p>
            <a:pPr marL="152400" algn="l">
              <a:lnSpc>
                <a:spcPct val="150000"/>
              </a:lnSpc>
              <a:spcBef>
                <a:spcPts val="600"/>
              </a:spcBef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搜索个人知识库；</a:t>
            </a:r>
            <a:endParaRPr lang="en-US" sz="1200" noProof="1"/>
          </a:p>
          <a:p>
            <a:pPr marL="152400" algn="l">
              <a:lnSpc>
                <a:spcPct val="150000"/>
              </a:lnSpc>
              <a:spcBef>
                <a:spcPts val="600"/>
              </a:spcBef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读取指定文档的完整内容；</a:t>
            </a:r>
            <a:endParaRPr lang="en-US" sz="1200" noProof="1"/>
          </a:p>
          <a:p>
            <a:pPr marL="152400" algn="l">
              <a:lnSpc>
                <a:spcPct val="150000"/>
              </a:lnSpc>
              <a:spcBef>
                <a:spcPts val="600"/>
              </a:spcBef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创建新的知识笔记；</a:t>
            </a:r>
            <a:endParaRPr lang="en-US" sz="1200" noProof="1"/>
          </a:p>
          <a:p>
            <a:pPr marL="152400" algn="l">
              <a:lnSpc>
                <a:spcPct val="150000"/>
              </a:lnSpc>
              <a:spcBef>
                <a:spcPts val="600"/>
              </a:spcBef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更新已有知识笔记；</a:t>
            </a:r>
            <a:endParaRPr lang="en-US" sz="1200" noProof="1"/>
          </a:p>
          <a:p>
            <a:pPr marL="152400" algn="l">
              <a:lnSpc>
                <a:spcPct val="150000"/>
              </a:lnSpc>
              <a:spcBef>
                <a:spcPts val="600"/>
              </a:spcBef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根据当前问题引用本地资料辅助回答。</a:t>
            </a:r>
            <a:endParaRPr lang="en-US" sz="1200" noProof="1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2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开关约束：</a:t>
            </a: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关闭“使用知识库”时，Agent 不会自动检索，也不能通过搜索或读取工具绕过开关；该开关控制读取和检索，不影响用户明确要求 Agent 创建或更新知识笔记。</a:t>
            </a:r>
            <a:endParaRPr lang="en-US" sz="1200" noProof="1"/>
          </a:p>
        </p:txBody>
      </p:sp>
      <p:sp>
        <p:nvSpPr>
          <p:cNvPr id="12" name="sec-card"/>
          <p:cNvSpPr/>
          <p:nvPr/>
        </p:nvSpPr>
        <p:spPr>
          <a:xfrm>
            <a:off x="6235700" y="1244600"/>
            <a:ext cx="5334000" cy="50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ec-top"/>
          <p:cNvSpPr/>
          <p:nvPr/>
        </p:nvSpPr>
        <p:spPr>
          <a:xfrm>
            <a:off x="6235700" y="1244600"/>
            <a:ext cx="5334000" cy="6350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14" name="sec-t"/>
          <p:cNvSpPr txBox="1"/>
          <p:nvPr/>
        </p:nvSpPr>
        <p:spPr>
          <a:xfrm>
            <a:off x="6489700" y="1447800"/>
            <a:ext cx="4826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数据安全与本地存储</a:t>
            </a:r>
            <a:endParaRPr lang="en-US" sz="1600" noProof="1"/>
          </a:p>
        </p:txBody>
      </p:sp>
      <p:sp>
        <p:nvSpPr>
          <p:cNvPr id="15" name="sec-d"/>
          <p:cNvSpPr txBox="1"/>
          <p:nvPr/>
        </p:nvSpPr>
        <p:spPr>
          <a:xfrm>
            <a:off x="6489700" y="1905000"/>
            <a:ext cx="4826000" cy="421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知识库采用本地优先的存储方式：</a:t>
            </a:r>
            <a:endParaRPr lang="en-US" sz="1200" noProof="1"/>
          </a:p>
          <a:p>
            <a:pPr marL="152400" algn="l">
              <a:lnSpc>
                <a:spcPct val="150000"/>
              </a:lnSpc>
              <a:spcBef>
                <a:spcPts val="600"/>
              </a:spcBef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用户笔记以 Markdown 文件形式保存；</a:t>
            </a:r>
            <a:endParaRPr lang="en-US" sz="1200" noProof="1"/>
          </a:p>
          <a:p>
            <a:pPr marL="152400" algn="l">
              <a:lnSpc>
                <a:spcPct val="150000"/>
              </a:lnSpc>
              <a:spcBef>
                <a:spcPts val="600"/>
              </a:spcBef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导入文件保存在知识库内部的原始文件副本目录；</a:t>
            </a:r>
            <a:endParaRPr lang="en-US" sz="1200" noProof="1"/>
          </a:p>
          <a:p>
            <a:pPr marL="152400" algn="l">
              <a:lnSpc>
                <a:spcPct val="150000"/>
              </a:lnSpc>
              <a:spcBef>
                <a:spcPts val="600"/>
              </a:spcBef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索引记录标题、文件夹、来源和更新时间等信息；</a:t>
            </a:r>
            <a:endParaRPr lang="en-US" sz="1200" noProof="1"/>
          </a:p>
          <a:p>
            <a:pPr marL="152400" algn="l">
              <a:lnSpc>
                <a:spcPct val="150000"/>
              </a:lnSpc>
              <a:spcBef>
                <a:spcPts val="600"/>
              </a:spcBef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删除导入文档时只删除知识库内部副本，不删除用户电脑原始位置的文件。</a:t>
            </a:r>
            <a:endParaRPr lang="en-US" sz="1200" noProof="1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2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检索方式：</a:t>
            </a: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当前版本使用关键词检索；SQLite、FTS5、sqlite-vec 和语义向量检索属于后续可评估的优化方向。</a:t>
            </a:r>
            <a:endParaRPr lang="en-US" sz="1200" noProof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27050" cy="4445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5520"/>
            <a:ext cx="8839200" cy="4318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29040" y="985520"/>
            <a:ext cx="3362960" cy="4318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701040" y="254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rPr>
              <a:t>功能价值与当前验证情况</a:t>
            </a:r>
            <a:endParaRPr lang="en-US" sz="3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8" name="val-title"/>
          <p:cNvSpPr txBox="1"/>
          <p:nvPr/>
        </p:nvSpPr>
        <p:spPr>
          <a:xfrm>
            <a:off x="701040" y="1219200"/>
            <a:ext cx="3810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功能价值</a:t>
            </a:r>
            <a:endParaRPr lang="en-US" sz="2000" noProof="1"/>
          </a:p>
        </p:txBody>
      </p:sp>
      <p:graphicFrame>
        <p:nvGraphicFramePr>
          <p:cNvPr id="9" name="val-table"/>
          <p:cNvGraphicFramePr>
            <a:graphicFrameLocks noGrp="1"/>
          </p:cNvGraphicFramePr>
          <p:nvPr/>
        </p:nvGraphicFramePr>
        <p:xfrm>
          <a:off x="701040" y="1676400"/>
          <a:ext cx="8924925" cy="4495800"/>
        </p:xfrm>
        <a:graphic>
          <a:graphicData uri="http://schemas.openxmlformats.org/drawingml/2006/table">
            <a:tbl>
              <a:tblPr/>
              <a:tblGrid>
                <a:gridCol w="1651000"/>
                <a:gridCol w="7273925"/>
              </a:tblGrid>
              <a:tr h="584454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500" b="1" noProof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</a:rPr>
                        <a:t>价值</a:t>
                      </a:r>
                      <a:endParaRPr lang="en-US" sz="1500" b="1" noProof="1">
                        <a:solidFill>
                          <a:srgbClr val="FFFFFF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0070C0"/>
                      </a:solidFill>
                    </a:lnL>
                    <a:lnR w="12700">
                      <a:solidFill>
                        <a:srgbClr val="0070C0"/>
                      </a:solidFill>
                    </a:lnR>
                    <a:lnT w="12700">
                      <a:solidFill>
                        <a:srgbClr val="0070C0"/>
                      </a:solidFill>
                    </a:lnT>
                    <a:lnB w="12700">
                      <a:solidFill>
                        <a:srgbClr val="0070C0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500" b="1" noProof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</a:rPr>
                        <a:t>说明</a:t>
                      </a:r>
                      <a:endParaRPr lang="en-US" sz="1500" b="1" noProof="1">
                        <a:solidFill>
                          <a:srgbClr val="FFFFFF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0070C0"/>
                      </a:solidFill>
                    </a:lnL>
                    <a:lnR w="12700">
                      <a:solidFill>
                        <a:srgbClr val="0070C0"/>
                      </a:solidFill>
                    </a:lnR>
                    <a:lnT w="12700">
                      <a:solidFill>
                        <a:srgbClr val="0070C0"/>
                      </a:solidFill>
                    </a:lnT>
                    <a:lnB w="12700">
                      <a:solidFill>
                        <a:srgbClr val="0070C0"/>
                      </a:solidFill>
                    </a:lnB>
                    <a:solidFill>
                      <a:srgbClr val="0070C0"/>
                    </a:solidFill>
                  </a:tcPr>
                </a:tc>
              </a:tr>
              <a:tr h="782269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资料对话闭环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让个人资料与 Agent 对话形成闭环。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2269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降低重复成本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降低重复查找和重复说明的成本。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</a:tr>
              <a:tr h="782269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知识沉淀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将零散文件逐步沉淀为可管理、可检索的知识内容。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2269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灵活与隐私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通过开关控制知识库是否参与当前对话，兼顾灵活性和隐私控制。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</a:tr>
              <a:tr h="782269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本地轻量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保持本地化、轻量化和可迁移，适合个人长期使用。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"/>
          <p:cNvSpPr txBox="1"/>
          <p:nvPr/>
        </p:nvSpPr>
        <p:spPr>
          <a:xfrm>
            <a:off x="4191000" y="7620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800" noProof="1"/>
          </a:p>
        </p:txBody>
      </p:sp>
      <p:sp>
        <p:nvSpPr>
          <p:cNvPr id="3" name="thanks"/>
          <p:cNvSpPr txBox="1"/>
          <p:nvPr/>
        </p:nvSpPr>
        <p:spPr>
          <a:xfrm>
            <a:off x="2921000" y="2413000"/>
            <a:ext cx="6350000" cy="139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72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谢谢</a:t>
            </a:r>
            <a:endParaRPr lang="en-US" sz="7200" noProof="1"/>
          </a:p>
        </p:txBody>
      </p:sp>
      <p:sp>
        <p:nvSpPr>
          <p:cNvPr id="4" name="slogan"/>
          <p:cNvSpPr txBox="1"/>
          <p:nvPr/>
        </p:nvSpPr>
        <p:spPr>
          <a:xfrm>
            <a:off x="1651000" y="4191000"/>
            <a:ext cx="8890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00" noProof="1">
                <a:solidFill>
                  <a:srgbClr val="000000"/>
                </a:solidFill>
                <a:latin typeface="MiSans" charset="-122"/>
                <a:ea typeface="MiSans" charset="-122"/>
              </a:rPr>
              <a:t>用桌面 Agent 连接本地文件、工具与大模型，让每个人都能安全、高效地完成业务工作</a:t>
            </a:r>
            <a:endParaRPr lang="en-US" sz="1700" noProof="1"/>
          </a:p>
        </p:txBody>
      </p:sp>
      <p:sp>
        <p:nvSpPr>
          <p:cNvPr id="5" name="company"/>
          <p:cNvSpPr txBox="1"/>
          <p:nvPr/>
        </p:nvSpPr>
        <p:spPr>
          <a:xfrm>
            <a:off x="4191000" y="53340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>
                <a:solidFill>
                  <a:srgbClr val="7F7F7F"/>
                </a:solidFill>
                <a:latin typeface="MiSans" charset="-122"/>
                <a:ea typeface="MiSans" charset="-122"/>
              </a:rPr>
              <a:t>北京四方上行软件技术有限公司</a:t>
            </a:r>
            <a:endParaRPr lang="en-US" sz="1400" noProof="1"/>
          </a:p>
        </p:txBody>
      </p:sp>
      <p:sp>
        <p:nvSpPr>
          <p:cNvPr id="6" name="bar"/>
          <p:cNvSpPr/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85,&quot;left&quot;:49,&quot;top&quot;:252,&quot;width&quot;:857.2}"/>
</p:tagLst>
</file>

<file path=ppt/tags/tag2.xml><?xml version="1.0" encoding="utf-8"?>
<p:tagLst xmlns:p="http://schemas.openxmlformats.org/presentationml/2006/main">
  <p:tag name="KSO_WM_DIAGRAM_VIRTUALLY_FRAME" val="{&quot;height&quot;:185,&quot;left&quot;:49,&quot;top&quot;:252,&quot;width&quot;:857.2}"/>
</p:tagLst>
</file>

<file path=ppt/tags/tag3.xml><?xml version="1.0" encoding="utf-8"?>
<p:tagLst xmlns:p="http://schemas.openxmlformats.org/presentationml/2006/main">
  <p:tag name="KSO_WM_DIAGRAM_VIRTUALLY_FRAME" val="{&quot;height&quot;:185,&quot;left&quot;:49,&quot;top&quot;:252,&quot;width&quot;:857.2}"/>
</p:tagLst>
</file>

<file path=ppt/tags/tag4.xml><?xml version="1.0" encoding="utf-8"?>
<p:tagLst xmlns:p="http://schemas.openxmlformats.org/presentationml/2006/main">
  <p:tag name="KSO_WM_DIAGRAM_VIRTUALLY_FRAME" val="{&quot;height&quot;:185,&quot;left&quot;:49,&quot;top&quot;:252,&quot;width&quot;:857.2}"/>
</p:tagLst>
</file>

<file path=ppt/tags/tag5.xml><?xml version="1.0" encoding="utf-8"?>
<p:tagLst xmlns:p="http://schemas.openxmlformats.org/presentationml/2006/main">
  <p:tag name="KSO_WM_DIAGRAM_VIRTUALLY_FRAME" val="{&quot;height&quot;:185,&quot;left&quot;:49,&quot;top&quot;:252,&quot;width&quot;:857.2}"/>
</p:tagLst>
</file>

<file path=ppt/tags/tag6.xml><?xml version="1.0" encoding="utf-8"?>
<p:tagLst xmlns:p="http://schemas.openxmlformats.org/presentationml/2006/main">
  <p:tag name="KSO_WM_DIAGRAM_VIRTUALLY_FRAME" val="{&quot;height&quot;:185,&quot;left&quot;:49,&quot;top&quot;:252,&quot;width&quot;:857.2}"/>
</p:tagLst>
</file>

<file path=ppt/tags/tag7.xml><?xml version="1.0" encoding="utf-8"?>
<p:tagLst xmlns:p="http://schemas.openxmlformats.org/presentationml/2006/main">
  <p:tag name="KSO_WM_DIAGRAM_VIRTUALLY_FRAME" val="{&quot;height&quot;:185,&quot;left&quot;:49,&quot;top&quot;:252,&quot;width&quot;:857.2}"/>
</p:tagLst>
</file>

<file path=ppt/tags/tag8.xml><?xml version="1.0" encoding="utf-8"?>
<p:tagLst xmlns:p="http://schemas.openxmlformats.org/presentationml/2006/main">
  <p:tag name="KSO_WM_DIAGRAM_VIRTUALLY_FRAME" val="{&quot;height&quot;:185,&quot;left&quot;:49,&quot;top&quot;:252,&quot;width&quot;:857.2}"/>
</p:tagLst>
</file>

<file path=ppt/tags/tag9.xml><?xml version="1.0" encoding="utf-8"?>
<p:tagLst xmlns:p="http://schemas.openxmlformats.org/presentationml/2006/main">
  <p:tag name="KSO_WM_DIAGRAM_VIRTUALLY_FRAME" val="{&quot;height&quot;:185,&quot;left&quot;:49,&quot;top&quot;:252,&quot;width&quot;:857.2}"/>
</p:tagLst>
</file>

<file path=ppt/tags/tag10.xml><?xml version="1.0" encoding="utf-8"?>
<p:tagLst xmlns:p="http://schemas.openxmlformats.org/presentationml/2006/main">
  <p:tag name="KSO_WM_DIAGRAM_VIRTUALLY_FRAME" val="{&quot;height&quot;:185,&quot;left&quot;:49,&quot;top&quot;:252,&quot;width&quot;:857.2}"/>
</p:tagLst>
</file>

<file path=ppt/tags/tag11.xml><?xml version="1.0" encoding="utf-8"?>
<p:tagLst xmlns:p="http://schemas.openxmlformats.org/presentationml/2006/main">
  <p:tag name="KSO_WM_DIAGRAM_VIRTUALLY_FRAME" val="{&quot;height&quot;:185,&quot;left&quot;:49,&quot;top&quot;:252,&quot;width&quot;:857.2}"/>
</p:tagLst>
</file>

<file path=ppt/tags/tag12.xml><?xml version="1.0" encoding="utf-8"?>
<p:tagLst xmlns:p="http://schemas.openxmlformats.org/presentationml/2006/main">
  <p:tag name="KSO_WM_DIAGRAM_VIRTUALLY_FRAME" val="{&quot;height&quot;:185,&quot;left&quot;:49,&quot;top&quot;:252,&quot;width&quot;:857.2}"/>
</p:tagLst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6564</Words>
  <Application>WPS 演示</Application>
  <PresentationFormat/>
  <Paragraphs>637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7" baseType="lpstr">
      <vt:lpstr>Arial</vt:lpstr>
      <vt:lpstr>宋体</vt:lpstr>
      <vt:lpstr>Wingdings</vt:lpstr>
      <vt:lpstr>Arial</vt:lpstr>
      <vt:lpstr>微软雅黑</vt:lpstr>
      <vt:lpstr>MiSans</vt:lpstr>
      <vt:lpstr>Arial Unicode MS</vt:lpstr>
      <vt:lpstr>Calibri</vt:lpstr>
      <vt:lpstr>PPTD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LINGQI（令旗）桌面客户端 Agent 产品介绍</dc:title>
  <dc:creator/>
  <cp:lastModifiedBy>阿卡</cp:lastModifiedBy>
  <cp:revision>5</cp:revision>
  <dcterms:created xsi:type="dcterms:W3CDTF">2026-10-08T05:25:57Z</dcterms:created>
  <dcterms:modified xsi:type="dcterms:W3CDTF">2026-10-08T05:31:11Z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  <property fmtid="{D5CDD505-2E9C-101B-9397-08002B2CF9AE}" pid="3" name="ICV">
    <vt:lpwstr>C1583D995F4D4F7784F3594E1F7E1C1F_12</vt:lpwstr>
  </property>
  <property fmtid="{D5CDD505-2E9C-101B-9397-08002B2CF9AE}" pid="4" name="KSOProductBuildVer">
    <vt:lpwstr>2052-12.1.0.28599</vt:lpwstr>
  </property>
</Properties>
</file>